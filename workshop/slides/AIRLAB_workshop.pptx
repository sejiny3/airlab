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charts/chart1.xml" ContentType="application/vnd.openxmlformats-officedocument.drawingml.chart+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Lst>
  <p:notesMasterIdLst>
    <p:notesMasterId r:id="rId1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14e8e3d2-4340-6ebd-809d-4376a1ec7620}">
          <p14:sldIdLst>
            <p14:sldId id="256"/>
            <p14:sldId id="257"/>
            <p14:sldId id="258"/>
            <p14:sldId id="259"/>
            <p14:sldId id="260"/>
            <p14:sldId id="261"/>
            <p14:sldId id="262"/>
            <p14:sldId id="263"/>
            <p14:sldId id="264"/>
            <p14:sldId id="265"/>
            <p14:sldId id="266"/>
            <p14:sldId id="267"/>
            <p14:sldId id="268"/>
          </p14:sldIdLst>
        </p14:section>
        <p14:section name="설치" id="{6c305c0c-e55a-802e-3bfe-e80ee2ad52fc}">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7c49d4be-c16b-5393-21ab-feb86537375f}">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11ac8997-20b9-5107-a7cd-fee30403e5ac}">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1e284860-9c8a-7f14-7c00-dc95c7cabaa2}">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07f3d70e-910a-61c6-6ae0-708dc9d3c9c5}">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Lst>
        </p14:section>
        <p14:section name="심화 모듈 5: VLA" id="{3f920100-ebe5-8ff3-bb9f-bc599b64c529}">
          <p14:sldIdLst>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 id="430"/>
          </p14:sldIdLst>
        </p14:section>
        <p14:section name="마무리" id="{0e608a33-a240-de68-b264-56cfef5a719b}">
          <p14:sldIdLst>
            <p14:sldId id="431"/>
            <p14:sldId id="432"/>
            <p14:sldId id="433"/>
            <p14:sldId id="434"/>
            <p14:sldId id="435"/>
            <p14:sldId id="436"/>
            <p14:sldId id="437"/>
            <p14:sldId id="438"/>
            <p14:sldId id="43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notesMaster" Target="notesMasters/notesMaster1.xml"/><Relationship Id="rId187" Type="http://schemas.openxmlformats.org/officeDocument/2006/relationships/presProps" Target="presProps.xml"/><Relationship Id="rId188" Type="http://schemas.openxmlformats.org/officeDocument/2006/relationships/viewProps" Target="viewProps.xml"/><Relationship Id="rId189" Type="http://schemas.openxmlformats.org/officeDocument/2006/relationships/theme" Target="theme/theme1.xml"/><Relationship Id="rId19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430"/>
                </a:solidFill>
                <a:latin typeface="+mn-lt"/>
              </a:defRPr>
            </a:pPr>
            <a:r>
              <a:rPr sz="1500" b="0" i="0" u="none" strike="noStrike">
                <a:solidFill>
                  <a:srgbClr val="1B2430"/>
                </a:solidFill>
                <a:latin typeface="+mn-lt"/>
              </a:rPr>
              <a:t>검증 L1 (500단계마다)</a:t>
            </a:r>
          </a:p>
        </c:rich>
      </c:tx>
      <c:layout/>
      <c:overlay val="0"/>
    </c:title>
    <c:autoTitleDeleted val="0"/>
    <c:plotArea>
      <c:layout/>
      <c:lineChart>
        <c:varyColors val="0"/>
        <c:ser>
          <c:idx val="0"/>
          <c:order val="0"/>
          <c:tx>
            <c:strRef>
              <c:f>Sheet1!$B$1</c:f>
              <c:strCache>
                <c:ptCount val="1"/>
                <c:pt idx="0">
                  <c:v>테이블 넷 · 상자 셋, 1,155편</c:v>
                </c:pt>
              </c:strCache>
            </c:strRef>
          </c:tx>
          <c:spPr>
            <a:solidFill>
              <a:srgbClr val="F2711C"/>
            </a:solidFill>
            <a:ln w="31750" cap="flat">
              <a:solidFill>
                <a:srgbClr val="F271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711C"/>
              </a:solidFill>
              <a:ln w="9525" cap="flat">
                <a:solidFill>
                  <a:srgbClr val="F2711C"/>
                </a:solidFill>
                <a:prstDash val="solid"/>
                <a:round/>
              </a:ln>
              <a:effectLst/>
            </c:spPr>
          </c:marker>
          <c:cat>
            <c:multiLvlStrRef>
              <c:f>Sheet1!$A$2:$A$41</c:f>
              <c:multiLvlStrCache>
                <c:ptCount val="40"/>
                <c:lvl>
                  <c:pt idx="0">
                    <c:v>500</c:v>
                  </c:pt>
                  <c:pt idx="1">
                    <c:v>1000</c:v>
                  </c:pt>
                  <c:pt idx="2">
                    <c:v>1500</c:v>
                  </c:pt>
                  <c:pt idx="3">
                    <c:v>2000</c:v>
                  </c:pt>
                  <c:pt idx="4">
                    <c:v>2500</c:v>
                  </c:pt>
                  <c:pt idx="5">
                    <c:v>3000</c:v>
                  </c:pt>
                  <c:pt idx="6">
                    <c:v>3500</c:v>
                  </c:pt>
                  <c:pt idx="7">
                    <c:v>4000</c:v>
                  </c:pt>
                  <c:pt idx="8">
                    <c:v>4500</c:v>
                  </c:pt>
                  <c:pt idx="9">
                    <c:v>5000</c:v>
                  </c:pt>
                  <c:pt idx="10">
                    <c:v>5500</c:v>
                  </c:pt>
                  <c:pt idx="11">
                    <c:v>6000</c:v>
                  </c:pt>
                  <c:pt idx="12">
                    <c:v>6500</c:v>
                  </c:pt>
                  <c:pt idx="13">
                    <c:v>7000</c:v>
                  </c:pt>
                  <c:pt idx="14">
                    <c:v>7500</c:v>
                  </c:pt>
                  <c:pt idx="15">
                    <c:v>8000</c:v>
                  </c:pt>
                  <c:pt idx="16">
                    <c:v>8500</c:v>
                  </c:pt>
                  <c:pt idx="17">
                    <c:v>9000</c:v>
                  </c:pt>
                  <c:pt idx="18">
                    <c:v>9500</c:v>
                  </c:pt>
                  <c:pt idx="19">
                    <c:v>10000</c:v>
                  </c:pt>
                  <c:pt idx="20">
                    <c:v>10500</c:v>
                  </c:pt>
                  <c:pt idx="21">
                    <c:v>11000</c:v>
                  </c:pt>
                  <c:pt idx="22">
                    <c:v>11500</c:v>
                  </c:pt>
                  <c:pt idx="23">
                    <c:v>12000</c:v>
                  </c:pt>
                  <c:pt idx="24">
                    <c:v>12500</c:v>
                  </c:pt>
                  <c:pt idx="25">
                    <c:v>13000</c:v>
                  </c:pt>
                  <c:pt idx="26">
                    <c:v>13500</c:v>
                  </c:pt>
                  <c:pt idx="27">
                    <c:v>14000</c:v>
                  </c:pt>
                  <c:pt idx="28">
                    <c:v>14500</c:v>
                  </c:pt>
                  <c:pt idx="29">
                    <c:v>15000</c:v>
                  </c:pt>
                  <c:pt idx="30">
                    <c:v>15500</c:v>
                  </c:pt>
                  <c:pt idx="31">
                    <c:v>16000</c:v>
                  </c:pt>
                  <c:pt idx="32">
                    <c:v>16500</c:v>
                  </c:pt>
                  <c:pt idx="33">
                    <c:v>17000</c:v>
                  </c:pt>
                  <c:pt idx="34">
                    <c:v>17500</c:v>
                  </c:pt>
                  <c:pt idx="35">
                    <c:v>18000</c:v>
                  </c:pt>
                  <c:pt idx="36">
                    <c:v>18500</c:v>
                  </c:pt>
                  <c:pt idx="37">
                    <c:v>19000</c:v>
                  </c:pt>
                  <c:pt idx="38">
                    <c:v>19500</c:v>
                  </c:pt>
                  <c:pt idx="39">
                    <c:v>20000</c:v>
                  </c:pt>
                </c:lvl>
              </c:multiLvlStrCache>
            </c:multiLvlStrRef>
          </c:cat>
          <c:val>
            <c:numRef>
              <c:f>Sheet1!$B$2:$B$41</c:f>
              <c:numCache>
                <c:formatCode>General</c:formatCode>
                <c:ptCount val="40"/>
                <c:pt idx="0">
                  <c:v>0.1263</c:v>
                </c:pt>
                <c:pt idx="1">
                  <c:v>0.0982</c:v>
                </c:pt>
                <c:pt idx="2">
                  <c:v>0.082</c:v>
                </c:pt>
                <c:pt idx="3">
                  <c:v>0.0714</c:v>
                </c:pt>
                <c:pt idx="4">
                  <c:v>0.0678</c:v>
                </c:pt>
                <c:pt idx="5">
                  <c:v>0.0669</c:v>
                </c:pt>
                <c:pt idx="6">
                  <c:v>0.0667</c:v>
                </c:pt>
                <c:pt idx="7">
                  <c:v>0.0638</c:v>
                </c:pt>
                <c:pt idx="8">
                  <c:v>0.0636</c:v>
                </c:pt>
                <c:pt idx="9">
                  <c:v>0.0613</c:v>
                </c:pt>
                <c:pt idx="10">
                  <c:v>0.058</c:v>
                </c:pt>
                <c:pt idx="11">
                  <c:v>0.0589</c:v>
                </c:pt>
                <c:pt idx="12">
                  <c:v>0.0559</c:v>
                </c:pt>
                <c:pt idx="13">
                  <c:v>0.0517</c:v>
                </c:pt>
                <c:pt idx="14">
                  <c:v>0.0523</c:v>
                </c:pt>
                <c:pt idx="15">
                  <c:v>0.0517</c:v>
                </c:pt>
                <c:pt idx="16">
                  <c:v>0.0502</c:v>
                </c:pt>
                <c:pt idx="17">
                  <c:v>0.0487</c:v>
                </c:pt>
                <c:pt idx="18">
                  <c:v>0.0499</c:v>
                </c:pt>
                <c:pt idx="19">
                  <c:v>0.0486</c:v>
                </c:pt>
                <c:pt idx="20">
                  <c:v>0.0477</c:v>
                </c:pt>
                <c:pt idx="21">
                  <c:v>0.0467</c:v>
                </c:pt>
                <c:pt idx="22">
                  <c:v>0.0473</c:v>
                </c:pt>
                <c:pt idx="23">
                  <c:v>0.046</c:v>
                </c:pt>
                <c:pt idx="24">
                  <c:v>0.046</c:v>
                </c:pt>
                <c:pt idx="25">
                  <c:v>0.0438</c:v>
                </c:pt>
                <c:pt idx="26">
                  <c:v>0.044</c:v>
                </c:pt>
                <c:pt idx="27">
                  <c:v>0.0428</c:v>
                </c:pt>
                <c:pt idx="28">
                  <c:v>0.0423</c:v>
                </c:pt>
                <c:pt idx="29">
                  <c:v>0.042</c:v>
                </c:pt>
                <c:pt idx="30">
                  <c:v>0.0408</c:v>
                </c:pt>
                <c:pt idx="31">
                  <c:v>0.0403</c:v>
                </c:pt>
                <c:pt idx="32">
                  <c:v>0.0395</c:v>
                </c:pt>
                <c:pt idx="33">
                  <c:v>0.0397</c:v>
                </c:pt>
                <c:pt idx="34">
                  <c:v>0.039</c:v>
                </c:pt>
                <c:pt idx="35">
                  <c:v>0.0388</c:v>
                </c:pt>
                <c:pt idx="36">
                  <c:v>0.039</c:v>
                </c:pt>
                <c:pt idx="37">
                  <c:v>0.0385</c:v>
                </c:pt>
                <c:pt idx="38">
                  <c:v>0.0385</c:v>
                </c:pt>
                <c:pt idx="39">
                  <c:v>0.0385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2"/>
        <c:crosses val="autoZero"/>
        <c:auto val="1"/>
        <c:lblAlgn val="ctr"/>
        <c:noMultiLvlLbl val="1"/>
        <c:tickLblSkip val="8"/>
      </c:catAx>
      <c:valAx>
        <c:axId val="2094734552"/>
        <c:scaling>
          <c:orientation val="minMax"/>
          <c:max val="0.14"/>
          <c:min val="0"/>
        </c:scaling>
        <c:delete val="0"/>
        <c:axPos val="l"/>
        <c:majorGridlines>
          <c:spPr>
            <a:ln w="9525" cap="flat">
              <a:solidFill>
                <a:srgbClr val="F1F3F6"/>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~/airlab를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~/airlab 대신 /home/&lt;이름&gt;/airlab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~/airlab가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airlab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models/airlab_robot.xml의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월드입니다(약 85 m²). 번호를 짚으며 공급 테이블 세 개(빨강·초록·파랑 상자가 하나씩 있는 곳)와 작업대(상자를 모을 곳, 자리 3칸)를 먼저 익히게 합니다. 3번 공급 테이블은 칸막이 너머 서쪽 방에 있어서,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문(x −1.2 m, y −0.6~1.0 m)을 지나 3번 공급 테이블이 있는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−0.1). 원점에서 (4.0, −2.4)로 가는 원래 경로가 수납장 북쪽으로 곧장 동쪽으로 가다가 내려가는데,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airlab_navigation/scripts/frontier_explorer.py입니다.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방을 넓힌 뒤 강사 노트북에서 약 7분, 목표 19개, 실패 1번, 알아낸 넓이 84 m²였습니다.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켭니다(airlab_dashboard mapping.launch.py). 준비되면 탐색이 저절로 시작됩니다. 지도 카드에서 지도가 자라는 모습과 목표가 바뀌는 순간을 같이 보세요. 터미널로만 하려면 ros2 launch airlab_navigation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 세 개와 작업대의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1번 공급 테이블(남쪽 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 check_table과 wait는 조건·순서가 있는 명령을 위해 넣은 도구입니다(실습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기록입니다(10 × 8.5 m 방, 총 약 80초). 실제 Claude도 거의 같은 순서를 고릅니다. 자리를 말하지 않았으니 auto로 놓고, 작업대의 첫 빈자리(왼쪽)에 놓입니다.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1번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물건(노란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방이 10 × 8.5 m로 넓어지고 공급 테이블이 세 개가 되었습니다. 상자마다 처음 자리가 있고, 작업대에는 놓을 자리가 세 칸 있습니다. 그래서 "무엇을 어디로"뿐 아니라 어느 자리에, 어떤 순서로, 어떤 조건일 때만이 명령에 들어갈 수 있습니다. 순서를 정하고 조건을 판단하는 것은 LLM입니다. 새 도구는 자리(spot), 눈으로 확인(check_table), 기다리기(wait) 세 가지뿐입니다.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조건은 LLM이 판단합니다. 시스템 프롬프트의 규칙: 순서는 사람이 말한 대로, 조건은 행동 전에 상태를 보고 판단(평소에는 기억 get_world_state, "가서 봐/확인해"라고 하거나 실패 직후처럼 기억이 틀렸을 수 있으면 check_table), 조건이 거짓이면 그 부분을 건너뛰고 답에서 알린다. 체크포인트 4-3B. 명령 하나에 2~4분 걸리는 것도 있으니 차례로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다섯 명령과 모르는 물건(노란 공)을 한 번의 실행에서 차례로 보낸 결과입니다(claude-opus-5-5, 합계 약 $0.50). 두 번째 명령의 답 "로봇 기억으로는 없었어요"처럼 판단 근거를 말하게 해 두면, 기억이 틀렸을 가능성을 사람이 알아챌 수 있습니다. 마지막 명령에서도 "빨간 상자는 기억상 이미 제자리라 옮기지 않았다(카메라로 확인하지는 않았다)"고 덧붙였습니다.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4까지 끝낸 뒤 시간이 남거나 관심 있는 학생을 위한 심화 모듈입니다. GPU는 필요 없고 PyTorch CPU판만 있으면 됩니다. 녹화 약 40분과 학습 약 65분이 걸리므로 녹화와 학습을 먼저 걸어 두고 개념을 설명하면 시간이 맞습니다. 시간이 부족하면 강사가 미리 학습한 정책으로 평가와 대시보드만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pick()은 마커에서 상자의 위치와 방향을 숫자로 얻고, 손 자세를 계산해 MoveIt에 맡깁니다. 정확하지만 마커가 붙은 물체만 집을 수 있고, 잡는 법을 사람이 코드로 정해야 합니다. 학습된 정책은 숫자 좌표 없이 영상에서 바로 관절 명령을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RT-2, OpenVLA, π0 같은 큰 VLA는 인터넷 규모 데이터로 미리 학습한 수십억 매개변수 모델이고 GPU가 필요합니다. 여기서는 같은 입출력 구조를 아주 작게(60만 매개변수) 만들어 노트북 CPU에서 학습합니다. 작게 만들어도 "영상을 보고 관절을 낸다"는 핵심은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전체를 학습으로 바꾸지 않고 집기 한 단계만 바꿉니다. 그래야 성공률을 기존 방식과 바로 비교할 수 있고, 실패하면 원인이 정책에 있다는 것을 압니다. 정책은 상자가 오른손 앞 대략 그 자리에 있을 때만 학습했으므로, 정렬(마커 정밀 접근)은 그대로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시뮬레이션과 데이터는 MuJoCo와 NumPy, 신경망과 학습은 PyTorch(CPU판), 로봇 시스템에 붙이는 일은 ROS 2(rclpy)가 맡습니다. LeRobot 같은 로봇 학습 프레임워크나 미리 학습된 가중치는 일부러 쓰지 않았습니다. 전체가 939줄이라 처음부터 끝까지 읽을 수 있고, 모든 숫자가 어디서 나오는지 보입니다. 구조를 이해한 뒤 LeRobot으로 옮기면 같은 시연으로 ACT를 학습해 비교할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네 단계는 ROS 없이 돌고, 마지막만 ROS 2 노드입니다. 시연 1편은 0.1초마다 한 장면씩 77장면이고, 학습은 장면 하나하나를 표본으로 씁니다. evaluate는 같은 장면 코드로 정책과 전문가를 나란히 시켜 성공률을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사람 대신 expert.py입니다. 시뮬레이터가 아는 상자의 실제 위치로 IK를 풀어 pick()과 같은 순서로 움직입니다. 정책은 실제 위치를 모르고 영상만 봅니다. 그래서 "영상에서 위치를 알아내는 법"까지 스스로 배워야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보는 것(관찰)과 내는 것(행동)을 정하는 곳입니다. 행동은 토크가 아니라 관절 위치 목표라서, 정책이 조금 틀려도 MuJoCo의 위치 액추에이터가 부드럽게 따라갑니다. 머리 카메라는 ROS 노드가 1280×720을 줄이는 것과 같아지도록 3배 크게 그린 뒤 3×3 평균으로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MoveIt 대신 IK를 직접 풉니다. 목표와 지금 손의 위치·자세 차이(6차원)를 자코비안으로 관절 7개의 변화로 바꿉니다. λ를 더해 팔이 쭉 펴진 특이점 근처에서도 값이 튀지 않게 합니다. 팔이 접힌 tuck은 시작점으로 나빠서 home 자세부터 시도하고, 같은 시작점을 먼저 써서 시연마다 팔 모양이 같게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공급 테이블에서 "pick up the green cube from the table"을 녹화한 시연입니다. 옆자리에 파란 상자가 있습니다. 위는 머리 카메라, 아래는 손목 카메라입니다. 손목 카메라에서 상자가 점점 커지다가 손가락 사이로 들어옵니다. 집는 순간에는 머리 카메라에서 손이 상자를 가리기 때문에, 마지막 몇 cm는 손목 카메라가 결정적입니다.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조금만 틀려도 다음 장면은 시연에 없던 장면이 되고, 거기서 더 틀리게 됩니다(compounding error). 모방 학습의 가장 큰 문제입니다. 세 가지로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영상마다 작은 합성곱 신경망을 지나 공간 소프트맥스로 "특징이 가장 강한 위치 (x, y)" 64개를 뽑습니다. 상자와 손가락이 어디 있는지가 숫자로 나오는 셈이라 적은 데이터로도 잘 배웁니다. 명령은 단어를 해시해서 어떤 문장이든 벡터로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nn.Sequential로 쌓은 인코더 두 개(머리, 손목은 가중치를 따로 가짐), 단어 임베딩 표, MLP입니다. 매개변수 대부분(76%)은 MLP에 있습니다. 직접 확인: python3 -c "from airlab_vla.model import PickPolicy; print(PickPolicy())"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특징 지도 한 장을 화면 전체에 대한 확률로 바꾸고, 그 확률로 화면 좌표의 평균을 냅니다. 결과는 "이 특징이 화면 어디에 있나"라는 숫자 두 개입니다. 학습하면서 어떤 키포인트는 상자를, 어떤 것은 손가락 끝을 따라가게 됩니다. Levine 등(2016)이 로봇 손-눈 협응 학습에 쓴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시연의 모든 장면이 표본 하나입니다. 그 순간의 영상 두 장·관절각·문장을 넣고, 그 장면부터 10단계의 전문가 목표를 맞히게 합니다. 손실은 묶음 전체의 L1과 "끝" 판단의 이진 교차 엔트로피입니다. 검증은 편 단위로 떼어 둔 10%로 합니다(같은 편의 장면이 양쪽에 섞이면 검증이 너무 쉬워짐).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저장소의 실제 학습 기록입니다(테이블 넷, 시연 1,155편, 20000단계). 검증 L1은 정규화 단위라 0.0385는 관절마다 평균 0.4~1.4° 차이입니다. 오른쪽 표의 아래 두 줄은 방을 넓히기 전(테이블 둘)의 실험입니다. 공급 테이블만 쓴 학습도 곡선은 비슷하게 내려갔지만 작업대에서는 0/20이었습니다. 검증 데이터가 학습 데이터와 같은 범위에서만 왔기 때문입니다. 낮은 검증 오차가 "처음 보는 곳에서도 잘한다"를 뜻하지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정책은 0.1초마다 앞으로 10단계를 예측합니다. 그러면 "지금"에 대한 예측이 최근 10번의 호출에서 하나씩 쌓입니다. 이것을 가중 평균해 보냅니다(ACT의 temporal ensembling). 오래된 예측에 조금 더 무게를 둬서 움직임이 매끄럽고, 한 번 튄 예측이 바로 팔을 흔들지 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녹화는 MuJoCo만 쓰고 ROS는 필요 없습니다. 8코어 노트북에서 녹화 약 40분, 학습 약 65분입니다(학습 중에 ROS를 같이 돌리면 더 걸림). 학습을 걸어 두고 앞의 개념 슬라이드와 model.py를 읽으면 시간이 맞습니다. 검증 오차가 가장 낮을 때마다 policy.pt를 덮어씁니다.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evaluate는 학습에 쓰지 않은 무작위 배치 100개(테이블·자리·색·옆 상자 모두 무작위)에서 정책과 전문가를 똑같이 시킵니다. 정책은 "다 집었다"를 세 번 연속 말하거나 12초가 지나면 멈춥니다. 성공 = 상자가 3 cm 이상 들렸다. 이 저장소의 정책(시연 1,155개, 20000단계)은 네 테이블 모두 100%, 옆에 다른 색 상자가 있던 43번도 모두 맞는 상자를 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100/100은 틀린 숫자가 아니지만 "색 낱말을 읽고 골랐다"는 증거는 아닙니다. evaluate --ask-other는 두 상자가 있는 배치에서 로봇을 한 상자에 정렬하고, 명령으로는 옆 상자의 색을 말합니다. 정책은 20번 모두 정렬한 상자를 집었습니다. 시연에서는 늘 "오른손 앞에 정렬된 상자 = 집으라는 상자"였기 때문에, 더 쉬운 단서(정렬 위치)를 배운 것입니다. 이것을 shortcut learning이라고 합니다. 실제 작업에서는 작업 관리자가 집을 상자의 마커로 정렬하므로 이 지름길로도 맞게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방을 넓히기 전(테이블 둘, 빨간 상자 하나)의 실험입니다. 그래서 지금은 네 테이블 모두에서 시연을 모읍니다. 처음에는 공급 테이블 시연만으로 학습했습니다. 공급 테이블에서는 거의 다 집었지만, 나무색 작업대에서는 한 번도 못 집었고, 팔을 조금 움직이다 2초 만에 "다 집었다"고 말했습니다. "원래 자리에 갖다 놔"는 작업대에서 집어야 하므로 작업대 시연을 더해 다시 학습했습니다. 멈춤(stall)도 시연을 늘리자 사라졌습니다.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pick:=vla로 켜면 브리지가 손목 카메라를 켜고 머리 카메라를 10 Hz로 올립니다(정책은 매 단계 새 영상으로 학습). 작업 관리자는 정렬까지 한 뒤 /vla/pick에 명령 문장을 보내고 /vla/result를 기다립니다. 성공하면 MoveIt으로 팔을 접는 것부터는 기존과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 공급 테이블에서 정책이 빨간 상자를 집은 직후입니다. 아래 카드에 손목 카메라(정책이 보는 96×96), 단계 수, "다 집었다" 확률, 마지막 결과가 나옵니다. vla_pick은 정책의 "다 집었다"를 그대로 믿지 않고, 손을 닫으라고 명령했고 손가락이 물체에 걸려 덜 닫혔을 때만 성공으로 보고합니다. 처음에는 손가락 각도만 봐서, 벌린 손도 성공으로 잘못 보고된 적이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같고 크기와 부품이 다릅니다. ACT는 같은 "묶음 예측 + 시간 평균"을 트랜스포머와 CVAE로 합니다. OpenVLA는 큰 언어 모델이 행동을 토큰으로 하나씩 말하고, π0는 비전-언어 모델 옆의 "행동 전문가"가 flow matching으로 50단계 묶음을 만듭니다. LeRobot은 이런 정책과 데이터 형식, 학습 스크립트를 모아 둔 Hugging Face의 프레임워크입니다.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모듈의 정책은 장난감 크기입니다. 그래도 큰 VLA가 부딪히는 문제를 그대로 겪어 볼 수 있습니다. 과제에서 하나씩 건드려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영상에 상자가 보이고, 같은 영상에서 전문가가 낸 관절 목표를 수만 번 보며 "영상 속 위치 → 관절" 관계를 배웠기 때문이다. 공간 소프트맥스가 위치를 숫자로 뽑는 것을 돕는다.
2. 잡음 섞인 목표를 정답으로 두면 잡음까지 따라 한다. 어긋난 장면에서 "원래 가야 할 곳"을 정답으로 줘야 돌아오는 법을 배운다.
3. 움직임이 매끄럽고, 한 번 틀린 예측의 영향이 겹치는 다른 예측과 평균되어 줄어든다. 결정 횟수가 줄어 오차가 덜 쌓인다.
4. 정책은 상자가 오른손 앞 대략 그 자리(±수 cm)에 있을 때만 학습했다. 그 범위로 데려다 놓는 일은 검증된 방식이 맡는다.
5. 렌더링과 실제 카메라 영상의 차이(색·조명·노이즈), 상자·테이블의 다양성, 실제 관절 응답과 지연의 차이 등.
6. 평균 풀링은 위치 정보를 지우지만 공간 소프트맥스는 특징의 화면 좌표를 숫자로 넘긴다. 집기는 "어디에"가 핵심이라 적은 데이터로도 배운다.
7. 색 낱말이 아니라 "오른손 앞에 정렬된 상자"를 본다. 시연에서는 그 둘이 늘 같았으므로 더 쉬운 단서를 배웠다(shortcut learning). 단서를 어긋나게 만든 시험을 해야 드러난다.
8. 검증 데이터도 공급 테이블에서만 왔다. 검증 오차는 본 적 있는 종류의 장면에서의 실력일 뿐이고, 처음 보는 장면(색·배경·방향)에서는 닫힌 루프로 평가해야 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AIRLAB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image" Target="../media/image-136-2.png"/><Relationship Id="rId3" Type="http://schemas.openxmlformats.org/officeDocument/2006/relationships/slideLayout" Target="../slideLayouts/slideLayout4.xml"/><Relationship Id="rId4"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4.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image" Target="../media/image-141-2.png"/><Relationship Id="rId3" Type="http://schemas.openxmlformats.org/officeDocument/2006/relationships/slideLayout" Target="../slideLayouts/slideLayout4.xml"/><Relationship Id="rId4"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4.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slideLayout" Target="../slideLayouts/slideLayout4.xml"/><Relationship Id="rId4"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4.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image" Target="../media/image-146-2.png"/><Relationship Id="rId3" Type="http://schemas.openxmlformats.org/officeDocument/2006/relationships/image" Target="../media/image-146-3.png"/><Relationship Id="rId4" Type="http://schemas.openxmlformats.org/officeDocument/2006/relationships/image" Target="../media/image-146-4.png"/><Relationship Id="rId5" Type="http://schemas.openxmlformats.org/officeDocument/2006/relationships/image" Target="../media/image-146-5.png"/><Relationship Id="rId6" Type="http://schemas.openxmlformats.org/officeDocument/2006/relationships/slideLayout" Target="../slideLayouts/slideLayout4.xml"/><Relationship Id="rId7"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image" Target="../media/image-148-2.png"/><Relationship Id="rId3" Type="http://schemas.openxmlformats.org/officeDocument/2006/relationships/image" Target="../media/image-148-3.png"/><Relationship Id="rId4" Type="http://schemas.openxmlformats.org/officeDocument/2006/relationships/image" Target="../media/image-148-4.png"/><Relationship Id="rId5" Type="http://schemas.openxmlformats.org/officeDocument/2006/relationships/slideLayout" Target="../slideLayouts/slideLayout4.xml"/><Relationship Id="rId6"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image" Target="../media/image-150-2.png"/><Relationship Id="rId3" Type="http://schemas.openxmlformats.org/officeDocument/2006/relationships/image" Target="../media/image-150-3.png"/><Relationship Id="rId4" Type="http://schemas.openxmlformats.org/officeDocument/2006/relationships/slideLayout" Target="../slideLayouts/slideLayout4.xml"/><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slideLayout" Target="../slideLayouts/slideLayout4.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slideLayout" Target="../slideLayouts/slideLayout4.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slideLayout" Target="../slideLayouts/slideLayout4.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slideLayout" Target="../slideLayouts/slideLayout4.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png"/><Relationship Id="rId2" Type="http://schemas.openxmlformats.org/officeDocument/2006/relationships/image" Target="../media/image-157-2.png"/><Relationship Id="rId3" Type="http://schemas.openxmlformats.org/officeDocument/2006/relationships/slideLayout" Target="../slideLayouts/slideLayout4.xml"/><Relationship Id="rId4"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png"/><Relationship Id="rId2" Type="http://schemas.openxmlformats.org/officeDocument/2006/relationships/slideLayout" Target="../slideLayouts/slideLayout4.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image" Target="../media/image-159-2.png"/><Relationship Id="rId3" Type="http://schemas.openxmlformats.org/officeDocument/2006/relationships/image" Target="../media/image-159-3.png"/><Relationship Id="rId4" Type="http://schemas.openxmlformats.org/officeDocument/2006/relationships/image" Target="../media/image-159-4.png"/><Relationship Id="rId5" Type="http://schemas.openxmlformats.org/officeDocument/2006/relationships/slideLayout" Target="../slideLayouts/slideLayout4.xml"/><Relationship Id="rId6"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image" Target="../media/image-162-2.png"/><Relationship Id="rId3" Type="http://schemas.openxmlformats.org/officeDocument/2006/relationships/slideLayout" Target="../slideLayouts/slideLayout4.xml"/><Relationship Id="rId4"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4-1.png"/><Relationship Id="rId3" Type="http://schemas.openxmlformats.org/officeDocument/2006/relationships/slideLayout" Target="../slideLayouts/slideLayout4.xml"/><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4.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png"/><Relationship Id="rId2" Type="http://schemas.openxmlformats.org/officeDocument/2006/relationships/image" Target="../media/image-166-2.png"/><Relationship Id="rId3" Type="http://schemas.openxmlformats.org/officeDocument/2006/relationships/slideLayout" Target="../slideLayouts/slideLayout4.xml"/><Relationship Id="rId4"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png"/><Relationship Id="rId2" Type="http://schemas.openxmlformats.org/officeDocument/2006/relationships/image" Target="../media/image-167-2.png"/><Relationship Id="rId3" Type="http://schemas.openxmlformats.org/officeDocument/2006/relationships/slideLayout" Target="../slideLayouts/slideLayout4.xml"/><Relationship Id="rId4"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image" Target="../media/image-168-2.png"/><Relationship Id="rId3" Type="http://schemas.openxmlformats.org/officeDocument/2006/relationships/slideLayout" Target="../slideLayouts/slideLayout4.xml"/><Relationship Id="rId4"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image" Target="../media/image-169-2.png"/><Relationship Id="rId3" Type="http://schemas.openxmlformats.org/officeDocument/2006/relationships/slideLayout" Target="../slideLayouts/slideLayout4.xml"/><Relationship Id="rId4"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image" Target="../media/image-171-2.png"/><Relationship Id="rId3" Type="http://schemas.openxmlformats.org/officeDocument/2006/relationships/image" Target="../media/image-171-3.png"/><Relationship Id="rId4" Type="http://schemas.openxmlformats.org/officeDocument/2006/relationships/slideLayout" Target="../slideLayouts/slideLayout4.xml"/><Relationship Id="rId5"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png"/><Relationship Id="rId2" Type="http://schemas.openxmlformats.org/officeDocument/2006/relationships/slideLayout" Target="../slideLayouts/slideLayout4.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image" Target="../media/image-173-2.png"/><Relationship Id="rId3" Type="http://schemas.openxmlformats.org/officeDocument/2006/relationships/image" Target="../media/image-173-3.png"/><Relationship Id="rId4" Type="http://schemas.openxmlformats.org/officeDocument/2006/relationships/image" Target="../media/image-173-4.png"/><Relationship Id="rId5" Type="http://schemas.openxmlformats.org/officeDocument/2006/relationships/slideLayout" Target="../slideLayouts/slideLayout4.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png"/><Relationship Id="rId2" Type="http://schemas.openxmlformats.org/officeDocument/2006/relationships/image" Target="../media/image-174-2.png"/><Relationship Id="rId3" Type="http://schemas.openxmlformats.org/officeDocument/2006/relationships/image" Target="../media/image-174-3.png"/><Relationship Id="rId4" Type="http://schemas.openxmlformats.org/officeDocument/2006/relationships/image" Target="../media/image-174-4.png"/><Relationship Id="rId5" Type="http://schemas.openxmlformats.org/officeDocument/2006/relationships/image" Target="../media/image-174-5.png"/><Relationship Id="rId6" Type="http://schemas.openxmlformats.org/officeDocument/2006/relationships/slideLayout" Target="../slideLayouts/slideLayout4.xml"/><Relationship Id="rId7"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png"/><Relationship Id="rId2" Type="http://schemas.openxmlformats.org/officeDocument/2006/relationships/slideLayout" Target="../slideLayouts/slideLayout4.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image" Target="../media/image-178-2.png"/><Relationship Id="rId3" Type="http://schemas.openxmlformats.org/officeDocument/2006/relationships/image" Target="../media/image-178-3.png"/><Relationship Id="rId4" Type="http://schemas.openxmlformats.org/officeDocument/2006/relationships/image" Target="../media/image-178-4.png"/><Relationship Id="rId5" Type="http://schemas.openxmlformats.org/officeDocument/2006/relationships/slideLayout" Target="../slideLayouts/slideLayout4.xml"/><Relationship Id="rId6"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png"/><Relationship Id="rId2" Type="http://schemas.openxmlformats.org/officeDocument/2006/relationships/image" Target="../media/image-180-2.png"/><Relationship Id="rId3" Type="http://schemas.openxmlformats.org/officeDocument/2006/relationships/image" Target="../media/image-180-3.png"/><Relationship Id="rId4" Type="http://schemas.openxmlformats.org/officeDocument/2006/relationships/slideLayout" Target="../slideLayouts/slideLayout4.xml"/><Relationship Id="rId5"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png"/><Relationship Id="rId2" Type="http://schemas.openxmlformats.org/officeDocument/2006/relationships/slideLayout" Target="../slideLayouts/slideLayout2.xml"/><Relationship Id="rId3" Type="http://schemas.openxmlformats.org/officeDocument/2006/relationships/notesSlide" Target="../notesSlides/notesSlide18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939290"/>
            <a:ext cx="5212080" cy="36195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AIRLAB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AIRLAB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~/airlab</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~/airlab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~/airlab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~/airlab에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~/airlab로.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~/airlab/workshop/setup/install_airlab.sh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~/airlab/ros2_ws/install/setup.bash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(airlab_dashboard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'airlab_…'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AIRLAB_ROOT=~/airlab</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airlab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~/airlab/ros2_ws/install/setup.bash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AIRLAB_ROOT=~/airlab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~/.airlab_key ] &amp;&amp; source ~/.airlab_key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airlab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airlab"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airlab_dashboard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/home/student/airlab/ros2_ws/install/airlab_dashboard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$AIRLAB_ROOT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/home/student/airlab</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REPO=~/airlab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airlab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AIRLAB_ROOT=$REPO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airlab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'airlab_dashboard'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~/airlab/ros2_ws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~/airlab/workshop/setup/check_env.sh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AIRLAB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~/airlab/workshop/setup/setup_api_key.sh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~/.airlab_key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'airlab_…'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airlab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~/airlab,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install_airlab.sh가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AIRLAB_ROOT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airlab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~/airlab에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'airlab_dashboard'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10 × 8.5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네 개,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308878"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308878"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08878" y="5215773"/>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08878" y="521577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200561" y="1916547"/>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200561" y="1916547"/>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1993646" y="2406972"/>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1993646" y="240697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5448917" y="3566160"/>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5448917"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815"/>
          <p:cNvSpPr/>
          <p:nvPr/>
        </p:nvSpPr>
        <p:spPr>
          <a:xfrm>
            <a:off x="2773868" y="3476992"/>
            <a:ext cx="365760" cy="365760"/>
          </a:xfrm>
          <a:prstGeom prst="ellipse">
            <a:avLst/>
          </a:prstGeom>
          <a:solidFill>
            <a:schemeClr val="accent1"/>
          </a:solidFill>
          <a:ln w="19050">
            <a:solidFill>
              <a:schemeClr val="bg1"/>
            </a:solidFill>
            <a:prstDash val="solid"/>
          </a:ln>
        </p:spPr>
      </p:sp>
      <p:sp>
        <p:nvSpPr>
          <p:cNvPr id="18" name="text_816"/>
          <p:cNvSpPr txBox="1"/>
          <p:nvPr/>
        </p:nvSpPr>
        <p:spPr>
          <a:xfrm>
            <a:off x="2773868" y="34769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817"/>
          <p:cNvSpPr/>
          <p:nvPr/>
        </p:nvSpPr>
        <p:spPr>
          <a:xfrm>
            <a:off x="3933056" y="4324090"/>
            <a:ext cx="365760" cy="365760"/>
          </a:xfrm>
          <a:prstGeom prst="ellipse">
            <a:avLst/>
          </a:prstGeom>
          <a:solidFill>
            <a:schemeClr val="accent1"/>
          </a:solidFill>
          <a:ln w="19050">
            <a:solidFill>
              <a:schemeClr val="bg1"/>
            </a:solidFill>
            <a:prstDash val="solid"/>
          </a:ln>
        </p:spPr>
      </p:sp>
      <p:sp>
        <p:nvSpPr>
          <p:cNvPr id="20" name="text_818"/>
          <p:cNvSpPr txBox="1"/>
          <p:nvPr/>
        </p:nvSpPr>
        <p:spPr>
          <a:xfrm>
            <a:off x="3933056" y="432409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graphicFrame>
        <p:nvGraphicFramePr>
          <p:cNvPr id="45" name="table_819"/>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548640"/>
                <a:gridCol w="1371600"/>
                <a:gridCol w="164592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시작 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로봇이 처음 서 있는 곳 (0, 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1번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남쪽 벽, 빨간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2번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북쪽 벽, 초록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3번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서쪽 방, 파란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왼쪽·가운데·오른쪽 자리 (마커 1·2·3)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칸막이 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서쪽 방으로 가는 통로 (폭 1.6 m)</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기둥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피해 가야 하는 장애물 (2개)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22"/>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23"/>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~/airlab/models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4"/>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3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3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3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3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7"/>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9"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4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41"/>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42"/>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43"/>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4"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6"/>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상자를 굴려 보자</a:t>
            </a:r>
            <a:endParaRPr lang="ko-KR" altLang="en-US" sz="1600" dirty="0"/>
          </a:p>
        </p:txBody>
      </p:sp>
      <p:sp>
        <p:nvSpPr>
          <p:cNvPr id="16" name="box_847"/>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8"/>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9"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50"/>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51"/>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52"/>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53"/>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4"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5"/>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6"/>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9"/>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60"/>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61"/>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62"/>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63"/>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4"/>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5"/>
          <p:cNvSpPr/>
          <p:nvPr/>
        </p:nvSpPr>
        <p:spPr>
          <a:xfrm>
            <a:off x="3703320" y="2377440"/>
            <a:ext cx="777240" cy="0"/>
          </a:xfrm>
          <a:prstGeom prst="line">
            <a:avLst/>
          </a:prstGeom>
          <a:noFill/>
          <a:ln w="25400">
            <a:solidFill>
              <a:schemeClr val="tx2"/>
            </a:solidFill>
            <a:prstDash val="solid"/>
            <a:tailEnd type="triangle"/>
          </a:ln>
        </p:spPr>
      </p:sp>
      <p:sp>
        <p:nvSpPr>
          <p:cNvPr id="13" name="arrow_866"/>
          <p:cNvSpPr/>
          <p:nvPr/>
        </p:nvSpPr>
        <p:spPr>
          <a:xfrm>
            <a:off x="7680960" y="2377440"/>
            <a:ext cx="777240" cy="0"/>
          </a:xfrm>
          <a:prstGeom prst="line">
            <a:avLst/>
          </a:prstGeom>
          <a:noFill/>
          <a:ln w="25400">
            <a:solidFill>
              <a:schemeClr val="tx2"/>
            </a:solidFill>
            <a:prstDash val="solid"/>
            <a:tailEnd type="triangle"/>
          </a:ln>
        </p:spPr>
      </p:sp>
      <p:sp>
        <p:nvSpPr>
          <p:cNvPr id="14" name="arrow_867"/>
          <p:cNvSpPr/>
          <p:nvPr/>
        </p:nvSpPr>
        <p:spPr>
          <a:xfrm flipH="1">
            <a:off x="7680960" y="3840480"/>
            <a:ext cx="777240" cy="0"/>
          </a:xfrm>
          <a:prstGeom prst="line">
            <a:avLst/>
          </a:prstGeom>
          <a:noFill/>
          <a:ln w="25400">
            <a:solidFill>
              <a:schemeClr val="tx2"/>
            </a:solidFill>
            <a:prstDash val="solid"/>
            <a:tailEnd type="triangle"/>
          </a:ln>
        </p:spPr>
      </p:sp>
      <p:sp>
        <p:nvSpPr>
          <p:cNvPr id="15" name="arrow_868"/>
          <p:cNvSpPr/>
          <p:nvPr/>
        </p:nvSpPr>
        <p:spPr>
          <a:xfrm flipH="1">
            <a:off x="3703320" y="3840480"/>
            <a:ext cx="777240" cy="0"/>
          </a:xfrm>
          <a:prstGeom prst="line">
            <a:avLst/>
          </a:prstGeom>
          <a:noFill/>
          <a:ln w="25400">
            <a:solidFill>
              <a:schemeClr val="tx2"/>
            </a:solidFill>
            <a:prstDash val="solid"/>
            <a:tailEnd type="triangle"/>
          </a:ln>
        </p:spPr>
      </p:sp>
      <p:sp>
        <p:nvSpPr>
          <p:cNvPr id="16" name="box_869"/>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7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7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72"/>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73"/>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6"/>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7"/>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8"/>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9"/>
          <p:cNvSpPr/>
          <p:nvPr/>
        </p:nvSpPr>
        <p:spPr>
          <a:xfrm>
            <a:off x="3429000" y="2331720"/>
            <a:ext cx="0" cy="228600"/>
          </a:xfrm>
          <a:prstGeom prst="line">
            <a:avLst/>
          </a:prstGeom>
          <a:noFill/>
          <a:ln w="25400">
            <a:solidFill>
              <a:schemeClr val="tx2"/>
            </a:solidFill>
            <a:prstDash val="solid"/>
            <a:tailEnd type="triangle"/>
          </a:ln>
        </p:spPr>
      </p:sp>
      <p:sp>
        <p:nvSpPr>
          <p:cNvPr id="10" name="box_880"/>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81"/>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82"/>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83"/>
          <p:cNvSpPr/>
          <p:nvPr/>
        </p:nvSpPr>
        <p:spPr>
          <a:xfrm>
            <a:off x="3429000" y="3520440"/>
            <a:ext cx="0" cy="228600"/>
          </a:xfrm>
          <a:prstGeom prst="line">
            <a:avLst/>
          </a:prstGeom>
          <a:noFill/>
          <a:ln w="25400">
            <a:solidFill>
              <a:schemeClr val="tx2"/>
            </a:solidFill>
            <a:prstDash val="solid"/>
            <a:tailEnd type="triangle"/>
          </a:ln>
        </p:spPr>
      </p:sp>
      <p:sp>
        <p:nvSpPr>
          <p:cNvPr id="14" name="box_884"/>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5"/>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6"/>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7"/>
          <p:cNvSpPr/>
          <p:nvPr/>
        </p:nvSpPr>
        <p:spPr>
          <a:xfrm>
            <a:off x="3429000" y="4709160"/>
            <a:ext cx="0" cy="228600"/>
          </a:xfrm>
          <a:prstGeom prst="line">
            <a:avLst/>
          </a:prstGeom>
          <a:noFill/>
          <a:ln w="25400">
            <a:solidFill>
              <a:schemeClr val="tx2"/>
            </a:solidFill>
            <a:prstDash val="solid"/>
            <a:tailEnd type="triangle"/>
          </a:ln>
        </p:spPr>
      </p:sp>
      <p:sp>
        <p:nvSpPr>
          <p:cNvPr id="18" name="box_888"/>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9"/>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90"/>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91"/>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92"/>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/clock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시뮬레이션 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관절 20개의 각도·속도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/odom + TF</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바퀴로 계산한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/imu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기울기·회전 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LiDAR 360빔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 영상 (camera_rate)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/wrist_camera/*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 /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손목 카메라, VLA 모드만 (모듈 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/ground_truth/*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진짜 위치 (평가용)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5"/>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6"/>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7"/>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8"/>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9"/>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900"/>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901"/>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90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903"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4"/>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5"/>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6"/>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7"/>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8"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9"/>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10"/>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13"/>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4"/>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5"/>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2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2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2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2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8"/>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9"/>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30"/>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31"/>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32"/>
          <p:cNvSpPr/>
          <p:nvPr/>
        </p:nvSpPr>
        <p:spPr>
          <a:xfrm>
            <a:off x="1828800" y="2148840"/>
            <a:ext cx="0" cy="347472"/>
          </a:xfrm>
          <a:prstGeom prst="line">
            <a:avLst/>
          </a:prstGeom>
          <a:noFill/>
          <a:ln w="25400">
            <a:solidFill>
              <a:schemeClr val="tx2"/>
            </a:solidFill>
            <a:prstDash val="solid"/>
            <a:tailEnd type="triangle"/>
          </a:ln>
        </p:spPr>
      </p:sp>
      <p:sp>
        <p:nvSpPr>
          <p:cNvPr id="11" name="text_933"/>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4"/>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5"/>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6"/>
          <p:cNvSpPr/>
          <p:nvPr/>
        </p:nvSpPr>
        <p:spPr>
          <a:xfrm>
            <a:off x="1828800" y="3200400"/>
            <a:ext cx="0" cy="347472"/>
          </a:xfrm>
          <a:prstGeom prst="line">
            <a:avLst/>
          </a:prstGeom>
          <a:noFill/>
          <a:ln w="25400">
            <a:solidFill>
              <a:schemeClr val="tx2"/>
            </a:solidFill>
            <a:prstDash val="solid"/>
            <a:tailEnd type="triangle"/>
          </a:ln>
        </p:spPr>
      </p:sp>
      <p:sp>
        <p:nvSpPr>
          <p:cNvPr id="15" name="text_937"/>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8"/>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9"/>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40"/>
          <p:cNvSpPr/>
          <p:nvPr/>
        </p:nvSpPr>
        <p:spPr>
          <a:xfrm>
            <a:off x="1828800" y="4251960"/>
            <a:ext cx="0" cy="347472"/>
          </a:xfrm>
          <a:prstGeom prst="line">
            <a:avLst/>
          </a:prstGeom>
          <a:noFill/>
          <a:ln w="25400">
            <a:solidFill>
              <a:schemeClr val="tx2"/>
            </a:solidFill>
            <a:prstDash val="solid"/>
            <a:tailEnd type="triangle"/>
          </a:ln>
        </p:spPr>
      </p:sp>
      <p:sp>
        <p:nvSpPr>
          <p:cNvPr id="19" name="text_941"/>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42"/>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43"/>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4"/>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5"/>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6"/>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7"/>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8"/>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9"/>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50"/>
          <p:cNvSpPr/>
          <p:nvPr/>
        </p:nvSpPr>
        <p:spPr>
          <a:xfrm flipV="1">
            <a:off x="3154680" y="4480560"/>
            <a:ext cx="731520" cy="475488"/>
          </a:xfrm>
          <a:prstGeom prst="line">
            <a:avLst/>
          </a:prstGeom>
          <a:noFill/>
          <a:ln w="25400">
            <a:solidFill>
              <a:schemeClr val="tx2"/>
            </a:solidFill>
            <a:prstDash val="solid"/>
            <a:tailEnd type="triangle"/>
          </a:ln>
        </p:spPr>
      </p:sp>
      <p:sp>
        <p:nvSpPr>
          <p:cNvPr id="29" name="box_951"/>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52"/>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53"/>
          <p:cNvSpPr/>
          <p:nvPr/>
        </p:nvSpPr>
        <p:spPr>
          <a:xfrm>
            <a:off x="3154680" y="4956048"/>
            <a:ext cx="731520" cy="438912"/>
          </a:xfrm>
          <a:prstGeom prst="line">
            <a:avLst/>
          </a:prstGeom>
          <a:noFill/>
          <a:ln w="25400">
            <a:solidFill>
              <a:schemeClr val="tx2"/>
            </a:solidFill>
            <a:prstDash val="solid"/>
            <a:tailEnd type="triangle"/>
          </a:ln>
        </p:spPr>
      </p:sp>
      <p:sp>
        <p:nvSpPr>
          <p:cNvPr id="32" name="text_954"/>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5"/>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6"/>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7"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8"/>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9"/>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60"/>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61"/>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62"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63"/>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4"/>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7"/>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8"/>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9"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70"/>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71"/>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72"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73"/>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4"/>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7"/>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9"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80"/>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models/airlab_robot.xml</a:t>
            </a:r>
            <a:endParaRPr lang="ko-KR" altLang="en-US" sz="1700" dirty="0"/>
          </a:p>
        </p:txBody>
      </p:sp>
      <p:sp>
        <p:nvSpPr>
          <p:cNvPr id="10" name="text_981"/>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82"/>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83"/>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4"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5"/>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airlab.urdf.xacro</a:t>
            </a:r>
            <a:endParaRPr lang="ko-KR" altLang="en-US" sz="1700" dirty="0"/>
          </a:p>
        </p:txBody>
      </p:sp>
      <p:sp>
        <p:nvSpPr>
          <p:cNvPr id="15" name="text_986"/>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7"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8"/>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9"/>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90"/>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91"/>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92"/>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93"/>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4"/>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5"/>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6"/>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9"/>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1000"/>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1001"/>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1002"/>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1003"/>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4"/>
          <p:cNvSpPr/>
          <p:nvPr/>
        </p:nvSpPr>
        <p:spPr>
          <a:xfrm>
            <a:off x="7406640" y="2057400"/>
            <a:ext cx="548640" cy="0"/>
          </a:xfrm>
          <a:prstGeom prst="line">
            <a:avLst/>
          </a:prstGeom>
          <a:noFill/>
          <a:ln w="25400">
            <a:solidFill>
              <a:schemeClr val="tx2"/>
            </a:solidFill>
            <a:prstDash val="solid"/>
            <a:tailEnd type="triangle"/>
          </a:ln>
        </p:spPr>
      </p:sp>
      <p:sp>
        <p:nvSpPr>
          <p:cNvPr id="12" name="box_1005"/>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6"/>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7"/>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8"/>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9"/>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10"/>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11"/>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12"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13"/>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4"/>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7"/>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8"/>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9"/>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20"/>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21"/>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22"/>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23"/>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4"/>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5"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6"/>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7"/>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8"/>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9"/>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30"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31"/>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32"/>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5"/>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6"/>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7"/>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4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4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4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4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50"/>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51"/>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52"/>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53"/>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4"/>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5"/>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6"/>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7"/>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8"/>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9"/>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60"/>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61"/>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62"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63"/>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4"/>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5"/>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6"/>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7"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8"/>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9"/>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72"/>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73"/>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4"/>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8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8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8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8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8"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9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9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92"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9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6"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100"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10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10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10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4"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10"/>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11"/>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12"/>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13"/>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4"/>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5"/>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6"/>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7"/>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8"/>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9"/>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20"/>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21"/>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22"/>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23"/>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4"/>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7"/>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9"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30"/>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31"/>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model_path:=$AIRLAB_ROOT/models/my_scene.xml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32"/>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33"/>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4"/>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5"/>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6"/>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7"/>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model_path:=$AIRLAB_ROOT/models/scene.xml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8"/>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9"/>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40"/>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41"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42"/>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43"/>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6"/>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7"/>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8"/>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9"/>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50"/>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51"/>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52"/>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53"/>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4"/>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5"/>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6"/>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7"/>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8"/>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9"/>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60"/>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61"/>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62"/>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63"/>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4"/>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5"/>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6"/>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7"/>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8"/>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9"/>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70"/>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71"/>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72"/>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73"/>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4"/>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5"/>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8"/>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9"/>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80"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81"/>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82"/>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83"/>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4"/>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5"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6"/>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7"/>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8"/>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9"/>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90"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91"/>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92"/>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93"/>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4"/>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5"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6"/>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7"/>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00"/>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201"/>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202"/>
          <p:cNvSpPr/>
          <p:nvPr/>
        </p:nvSpPr>
        <p:spPr>
          <a:xfrm>
            <a:off x="3703320" y="1920240"/>
            <a:ext cx="731520" cy="0"/>
          </a:xfrm>
          <a:prstGeom prst="line">
            <a:avLst/>
          </a:prstGeom>
          <a:noFill/>
          <a:ln w="25400">
            <a:solidFill>
              <a:schemeClr val="tx2"/>
            </a:solidFill>
            <a:prstDash val="solid"/>
            <a:tailEnd type="triangle"/>
          </a:ln>
        </p:spPr>
      </p:sp>
      <p:sp>
        <p:nvSpPr>
          <p:cNvPr id="9" name="box_1203"/>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4"/>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5"/>
          <p:cNvSpPr/>
          <p:nvPr/>
        </p:nvSpPr>
        <p:spPr>
          <a:xfrm>
            <a:off x="7635240" y="1920240"/>
            <a:ext cx="731520" cy="0"/>
          </a:xfrm>
          <a:prstGeom prst="line">
            <a:avLst/>
          </a:prstGeom>
          <a:noFill/>
          <a:ln w="25400">
            <a:solidFill>
              <a:schemeClr val="tx2"/>
            </a:solidFill>
            <a:prstDash val="solid"/>
            <a:tailEnd type="triangle"/>
          </a:ln>
        </p:spPr>
      </p:sp>
      <p:sp>
        <p:nvSpPr>
          <p:cNvPr id="12" name="box_1206"/>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7"/>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8"/>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9"/>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10"/>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11"/>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12"/>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13"/>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4"/>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5"/>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6"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7"/>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8"/>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2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2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2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23"/>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4"/>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5"/>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6"/>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7"/>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8"/>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9"/>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30"/>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31"/>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32"/>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33"/>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4"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7"/>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8"/>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9"/>
          <p:cNvSpPr/>
          <p:nvPr/>
        </p:nvSpPr>
        <p:spPr>
          <a:xfrm>
            <a:off x="6035040" y="3154680"/>
            <a:ext cx="365760" cy="0"/>
          </a:xfrm>
          <a:prstGeom prst="line">
            <a:avLst/>
          </a:prstGeom>
          <a:noFill/>
          <a:ln w="25400">
            <a:solidFill>
              <a:schemeClr val="tx2"/>
            </a:solidFill>
            <a:prstDash val="solid"/>
            <a:tailEnd type="triangle"/>
          </a:ln>
        </p:spPr>
      </p:sp>
      <p:sp>
        <p:nvSpPr>
          <p:cNvPr id="13" name="box_1240"/>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41"/>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42"/>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43"/>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4"/>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5"/>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6"/>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7"/>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8"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9"/>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50"/>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5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3분)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6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6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6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6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8"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9"/>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70"/>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71"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72"/>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73"/>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4"/>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5"/>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6"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7"/>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8"/>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9"/>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80"/>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81"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82"/>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83"/>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6"/>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7"/>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8"/>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9"/>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9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9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9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93"/>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4"/>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5"/>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6"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7"/>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8"/>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01"/>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302"/>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303"/>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4"/>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5"/>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6"/>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7"/>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8"/>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9"/>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10"/>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11"/>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12"/>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13"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4"/>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5"/>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8"/>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9"/>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20"/>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21"/>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22"/>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23"/>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4"/>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5"/>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6"/>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7"/>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8"/>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9"/>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30"/>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31"/>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32"/>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33"/>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4"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5"/>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6"/>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7"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8"/>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9"/>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40"/>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41"/>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42"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43"/>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4"/>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7"/>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8"/>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9"/>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50"/>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51"/>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52"/>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53"/>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4"/>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5"/>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6"/>
          <p:cNvSpPr/>
          <p:nvPr/>
        </p:nvSpPr>
        <p:spPr>
          <a:xfrm>
            <a:off x="3383280" y="4343400"/>
            <a:ext cx="0" cy="365760"/>
          </a:xfrm>
          <a:prstGeom prst="line">
            <a:avLst/>
          </a:prstGeom>
          <a:noFill/>
          <a:ln w="25400">
            <a:solidFill>
              <a:schemeClr val="tx2"/>
            </a:solidFill>
            <a:prstDash val="solid"/>
            <a:tailEnd type="triangle"/>
          </a:ln>
        </p:spPr>
      </p:sp>
      <p:sp>
        <p:nvSpPr>
          <p:cNvPr id="16" name="box_1357"/>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8"/>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9"/>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60"/>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61"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62"/>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63"/>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4"/>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5"/>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6"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7"/>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8"/>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71"/>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72"/>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73"/>
          <p:cNvSpPr/>
          <p:nvPr/>
        </p:nvSpPr>
        <p:spPr>
          <a:xfrm>
            <a:off x="2971800" y="1920240"/>
            <a:ext cx="548640" cy="0"/>
          </a:xfrm>
          <a:prstGeom prst="line">
            <a:avLst/>
          </a:prstGeom>
          <a:noFill/>
          <a:ln w="25400">
            <a:solidFill>
              <a:schemeClr val="tx2"/>
            </a:solidFill>
            <a:prstDash val="solid"/>
            <a:tailEnd type="triangle"/>
          </a:ln>
        </p:spPr>
      </p:sp>
      <p:sp>
        <p:nvSpPr>
          <p:cNvPr id="9" name="box_1374"/>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5"/>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6"/>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7"/>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8"/>
          <p:cNvSpPr/>
          <p:nvPr/>
        </p:nvSpPr>
        <p:spPr>
          <a:xfrm>
            <a:off x="6720840" y="1920240"/>
            <a:ext cx="548640" cy="0"/>
          </a:xfrm>
          <a:prstGeom prst="line">
            <a:avLst/>
          </a:prstGeom>
          <a:noFill/>
          <a:ln w="25400">
            <a:solidFill>
              <a:schemeClr val="tx2"/>
            </a:solidFill>
            <a:prstDash val="solid"/>
            <a:tailEnd type="triangle"/>
          </a:ln>
        </p:spPr>
      </p:sp>
      <p:sp>
        <p:nvSpPr>
          <p:cNvPr id="14" name="box_1379"/>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80"/>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81"/>
          <p:cNvSpPr/>
          <p:nvPr/>
        </p:nvSpPr>
        <p:spPr>
          <a:xfrm>
            <a:off x="6675120" y="2395728"/>
            <a:ext cx="621792" cy="758952"/>
          </a:xfrm>
          <a:prstGeom prst="line">
            <a:avLst/>
          </a:prstGeom>
          <a:noFill/>
          <a:ln w="25400">
            <a:solidFill>
              <a:schemeClr val="tx2"/>
            </a:solidFill>
            <a:prstDash val="solid"/>
            <a:tailEnd type="triangle"/>
          </a:ln>
        </p:spPr>
      </p:sp>
      <p:sp>
        <p:nvSpPr>
          <p:cNvPr id="17" name="box_1382"/>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83"/>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4"/>
          <p:cNvSpPr/>
          <p:nvPr/>
        </p:nvSpPr>
        <p:spPr>
          <a:xfrm>
            <a:off x="9464040" y="3749040"/>
            <a:ext cx="0" cy="411480"/>
          </a:xfrm>
          <a:prstGeom prst="line">
            <a:avLst/>
          </a:prstGeom>
          <a:noFill/>
          <a:ln w="25400">
            <a:solidFill>
              <a:schemeClr val="tx2"/>
            </a:solidFill>
            <a:prstDash val="solid"/>
            <a:tailEnd type="triangle"/>
          </a:ln>
        </p:spPr>
      </p:sp>
      <p:sp>
        <p:nvSpPr>
          <p:cNvPr id="20" name="box_1385"/>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6"/>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7"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8"/>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9"/>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90"/>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91"/>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92"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93"/>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4"/>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7"/>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9"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40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401"/>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402"/>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403"/>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4"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6"/>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7"/>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8"/>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9"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10"/>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11"/>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4"/>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5"/>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6"/>
          <p:cNvSpPr/>
          <p:nvPr/>
        </p:nvSpPr>
        <p:spPr>
          <a:xfrm>
            <a:off x="2740152" y="1874520"/>
            <a:ext cx="356616" cy="0"/>
          </a:xfrm>
          <a:prstGeom prst="line">
            <a:avLst/>
          </a:prstGeom>
          <a:noFill/>
          <a:ln w="25400">
            <a:solidFill>
              <a:schemeClr val="tx2"/>
            </a:solidFill>
            <a:prstDash val="solid"/>
            <a:tailEnd type="triangle"/>
          </a:ln>
        </p:spPr>
      </p:sp>
      <p:sp>
        <p:nvSpPr>
          <p:cNvPr id="9" name="box_1417"/>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8"/>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9"/>
          <p:cNvSpPr/>
          <p:nvPr/>
        </p:nvSpPr>
        <p:spPr>
          <a:xfrm>
            <a:off x="5315712" y="1874520"/>
            <a:ext cx="356616" cy="0"/>
          </a:xfrm>
          <a:prstGeom prst="line">
            <a:avLst/>
          </a:prstGeom>
          <a:noFill/>
          <a:ln w="25400">
            <a:solidFill>
              <a:schemeClr val="tx2"/>
            </a:solidFill>
            <a:prstDash val="solid"/>
            <a:tailEnd type="triangle"/>
          </a:ln>
        </p:spPr>
      </p:sp>
      <p:sp>
        <p:nvSpPr>
          <p:cNvPr id="12" name="box_1420"/>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21"/>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22"/>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23"/>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4"/>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5"/>
          <p:cNvSpPr/>
          <p:nvPr/>
        </p:nvSpPr>
        <p:spPr>
          <a:xfrm>
            <a:off x="3067812" y="3246120"/>
            <a:ext cx="310896" cy="0"/>
          </a:xfrm>
          <a:prstGeom prst="line">
            <a:avLst/>
          </a:prstGeom>
          <a:noFill/>
          <a:ln w="25400">
            <a:solidFill>
              <a:schemeClr val="tx2"/>
            </a:solidFill>
            <a:prstDash val="solid"/>
            <a:tailEnd type="triangle"/>
          </a:ln>
        </p:spPr>
      </p:sp>
      <p:sp>
        <p:nvSpPr>
          <p:cNvPr id="18" name="box_1426"/>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7"/>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8"/>
          <p:cNvSpPr/>
          <p:nvPr/>
        </p:nvSpPr>
        <p:spPr>
          <a:xfrm>
            <a:off x="5925312" y="3246120"/>
            <a:ext cx="310896" cy="0"/>
          </a:xfrm>
          <a:prstGeom prst="line">
            <a:avLst/>
          </a:prstGeom>
          <a:noFill/>
          <a:ln w="25400">
            <a:solidFill>
              <a:schemeClr val="tx2"/>
            </a:solidFill>
            <a:prstDash val="solid"/>
            <a:tailEnd type="triangle"/>
          </a:ln>
        </p:spPr>
      </p:sp>
      <p:sp>
        <p:nvSpPr>
          <p:cNvPr id="21" name="box_1429"/>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30"/>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31"/>
          <p:cNvSpPr/>
          <p:nvPr/>
        </p:nvSpPr>
        <p:spPr>
          <a:xfrm>
            <a:off x="8782812" y="3246120"/>
            <a:ext cx="310896" cy="0"/>
          </a:xfrm>
          <a:prstGeom prst="line">
            <a:avLst/>
          </a:prstGeom>
          <a:noFill/>
          <a:ln w="25400">
            <a:solidFill>
              <a:schemeClr val="tx2"/>
            </a:solidFill>
            <a:prstDash val="solid"/>
            <a:tailEnd type="triangle"/>
          </a:ln>
        </p:spPr>
      </p:sp>
      <p:sp>
        <p:nvSpPr>
          <p:cNvPr id="24" name="box_1432"/>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33"/>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4"/>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5"/>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6"/>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7"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8"/>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9"/>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40"/>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41"/>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42"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43"/>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4"/>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8"/>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airlab_navigation/config/nav2_params.yaml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51"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52"/>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53"/>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a:t>
            </a:r>
            <a:endParaRPr lang="ko-KR" altLang="en-US" sz="1300" dirty="0"/>
          </a:p>
        </p:txBody>
      </p:sp>
      <p:sp>
        <p:nvSpPr>
          <p:cNvPr id="9" name="num_1454"/>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5"/>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6"/>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7"/>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8"/>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9"/>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60"/>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61"/>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62"/>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63"/>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4"/>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5"/>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6"/>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7"/>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8"/>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9"/>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72"/>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73"/>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4"/>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(4.0, −2.4)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(−2.0, 1.2)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5"/>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6"/>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7"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8"/>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9"/>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80"/>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81"/>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82"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83"/>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4"/>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8"/>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9"/>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airlab_navigation)/share/airlab_navigation/config/nav2_params.yaml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 params_file:=$HOME/my_nav2.yaml</a:t>
            </a:r>
            <a:endParaRPr lang="ko-KR" altLang="en-US" sz="1300" dirty="0"/>
          </a:p>
        </p:txBody>
      </p:sp>
      <p:sp>
        <p:nvSpPr>
          <p:cNvPr id="9" name="box_149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91"/>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92"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9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7"/>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8"/>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18초</a:t>
            </a:r>
            <a:endParaRPr lang="ko-KR" altLang="en-US" sz="5400" dirty="0"/>
          </a:p>
        </p:txBody>
      </p:sp>
      <p:sp>
        <p:nvSpPr>
          <p:cNvPr id="8" name="text_1499"/>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수납장 북쪽으로 곧장 동쪽, 그다음 남쪽</a:t>
            </a:r>
            <a:endParaRPr lang="ko-KR" altLang="en-US" sz="1600" dirty="0"/>
          </a:p>
        </p:txBody>
      </p:sp>
      <p:sp>
        <p:nvSpPr>
          <p:cNvPr id="9" name="box_1500"/>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501"/>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22초</a:t>
            </a:r>
            <a:endParaRPr lang="ko-KR" altLang="en-US" sz="5400" dirty="0"/>
          </a:p>
        </p:txBody>
      </p:sp>
      <p:sp>
        <p:nvSpPr>
          <p:cNvPr id="11" name="text_1502"/>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상자를 보고 돌아서 감</a:t>
            </a:r>
            <a:endParaRPr lang="ko-KR" altLang="en-US" sz="1600" dirty="0"/>
          </a:p>
        </p:txBody>
      </p:sp>
      <p:sp>
        <p:nvSpPr>
          <p:cNvPr id="12" name="box_1503"/>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4"/>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pos="2.0 -0.1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model_path:=$AIRLAB_ROOT/models/my_scene.xml       # 지도는 옛 지도 그대로</a:t>
            </a:r>
            <a:endParaRPr lang="ko-KR" altLang="en-US" sz="1300" dirty="0"/>
          </a:p>
        </p:txBody>
      </p:sp>
      <p:sp>
        <p:nvSpPr>
          <p:cNvPr id="14" name="list_1505"/>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6"/>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(4.0, −2.4)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9"/>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10"/>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[(3.8, 2.8, 0.0), (4.0, -2.4,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(-2.0, 1.2,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11"/>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12"/>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13"/>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4"/>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5"/>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6"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7"/>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8"/>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9"/>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20"/>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21"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22"/>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23"/>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9" descr="지도 만들기 모드의 지도: 자라는 SLAM 지도, 하늘색 프론티어, 탐색 목표와 경로">    </p:cNvPr>
          <p:cNvPicPr>
            <a:picLocks noChangeAspect="1"/>
          </p:cNvPicPr>
          <p:nvPr/>
        </p:nvPicPr>
        <p:blipFill>
          <a:blip r:embed="rId1"/>
          <a:stretch>
            <a:fillRect/>
          </a:stretch>
        </p:blipFill>
        <p:spPr>
          <a:xfrm>
            <a:off x="1200090" y="1371600"/>
            <a:ext cx="5006461" cy="4754880"/>
          </a:xfrm>
          <a:prstGeom prst="rect">
            <a:avLst/>
          </a:prstGeom>
        </p:spPr>
      </p:pic>
      <p:sp>
        <p:nvSpPr>
          <p:cNvPr id="7" name="box_1530"/>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31"/>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32"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33"/>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4"/>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5"/>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6"/>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7"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8"/>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9"/>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40"/>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41"/>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42"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43"/>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4"/>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5"/>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6"/>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7"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8"/>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9"/>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52"/>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53"/>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4"/>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5"/>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6"/>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7"/>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8"/>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9"/>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60"/>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61"/>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62"/>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63"/>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4"/>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5"/>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6"/>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7"/>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8"/>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9"/>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70"/>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71"/>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72"/>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73"/>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4"/>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5"/>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6"/>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7"/>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8"/>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9"/>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80"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81"/>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82"/>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8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5"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6"/>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7"/>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8"/>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9"/>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90"/>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91"/>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92"/>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93"/>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4"/>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5"/>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6"/>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7"/>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8"/>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9"/>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600"/>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601"/>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602"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603"/>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4"/>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7"/>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8"/>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9"/>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10"/>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11"/>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12"/>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13"/>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4"/>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5"/>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6"/>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7"/>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8"/>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9"/>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20"/>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21"/>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22"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23"/>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4"/>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5"/>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6"/>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7"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8"/>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9"/>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30"/>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31"/>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32"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33"/>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4"/>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5"/>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6"/>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7"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8"/>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9"/>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42"/>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43"/>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4"/>
          <p:cNvSpPr/>
          <p:nvPr/>
        </p:nvSpPr>
        <p:spPr>
          <a:xfrm>
            <a:off x="1960735" y="2011680"/>
            <a:ext cx="173736" cy="0"/>
          </a:xfrm>
          <a:prstGeom prst="line">
            <a:avLst/>
          </a:prstGeom>
          <a:noFill/>
          <a:ln w="25400">
            <a:solidFill>
              <a:schemeClr val="tx2"/>
            </a:solidFill>
            <a:prstDash val="solid"/>
            <a:tailEnd type="triangle"/>
          </a:ln>
        </p:spPr>
      </p:sp>
      <p:sp>
        <p:nvSpPr>
          <p:cNvPr id="9" name="box_1645"/>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6"/>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7"/>
          <p:cNvSpPr/>
          <p:nvPr/>
        </p:nvSpPr>
        <p:spPr>
          <a:xfrm>
            <a:off x="3573998" y="2011680"/>
            <a:ext cx="173736" cy="0"/>
          </a:xfrm>
          <a:prstGeom prst="line">
            <a:avLst/>
          </a:prstGeom>
          <a:noFill/>
          <a:ln w="25400">
            <a:solidFill>
              <a:schemeClr val="tx2"/>
            </a:solidFill>
            <a:prstDash val="solid"/>
            <a:tailEnd type="triangle"/>
          </a:ln>
        </p:spPr>
      </p:sp>
      <p:sp>
        <p:nvSpPr>
          <p:cNvPr id="12" name="box_1648"/>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9"/>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50"/>
          <p:cNvSpPr/>
          <p:nvPr/>
        </p:nvSpPr>
        <p:spPr>
          <a:xfrm>
            <a:off x="5187261" y="2011680"/>
            <a:ext cx="173736" cy="0"/>
          </a:xfrm>
          <a:prstGeom prst="line">
            <a:avLst/>
          </a:prstGeom>
          <a:noFill/>
          <a:ln w="25400">
            <a:solidFill>
              <a:schemeClr val="tx2"/>
            </a:solidFill>
            <a:prstDash val="solid"/>
            <a:tailEnd type="triangle"/>
          </a:ln>
        </p:spPr>
      </p:sp>
      <p:sp>
        <p:nvSpPr>
          <p:cNvPr id="15" name="box_1651"/>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52"/>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53"/>
          <p:cNvSpPr/>
          <p:nvPr/>
        </p:nvSpPr>
        <p:spPr>
          <a:xfrm>
            <a:off x="6800523" y="2011680"/>
            <a:ext cx="173736" cy="0"/>
          </a:xfrm>
          <a:prstGeom prst="line">
            <a:avLst/>
          </a:prstGeom>
          <a:noFill/>
          <a:ln w="25400">
            <a:solidFill>
              <a:schemeClr val="tx2"/>
            </a:solidFill>
            <a:prstDash val="solid"/>
            <a:tailEnd type="triangle"/>
          </a:ln>
        </p:spPr>
      </p:sp>
      <p:sp>
        <p:nvSpPr>
          <p:cNvPr id="18" name="box_1654"/>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5"/>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6"/>
          <p:cNvSpPr/>
          <p:nvPr/>
        </p:nvSpPr>
        <p:spPr>
          <a:xfrm>
            <a:off x="8413786" y="2011680"/>
            <a:ext cx="173736" cy="0"/>
          </a:xfrm>
          <a:prstGeom prst="line">
            <a:avLst/>
          </a:prstGeom>
          <a:noFill/>
          <a:ln w="25400">
            <a:solidFill>
              <a:schemeClr val="tx2"/>
            </a:solidFill>
            <a:prstDash val="solid"/>
            <a:tailEnd type="triangle"/>
          </a:ln>
        </p:spPr>
      </p:sp>
      <p:sp>
        <p:nvSpPr>
          <p:cNvPr id="21" name="box_1657"/>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8"/>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9"/>
          <p:cNvSpPr/>
          <p:nvPr/>
        </p:nvSpPr>
        <p:spPr>
          <a:xfrm>
            <a:off x="10027049" y="2011680"/>
            <a:ext cx="173736" cy="0"/>
          </a:xfrm>
          <a:prstGeom prst="line">
            <a:avLst/>
          </a:prstGeom>
          <a:noFill/>
          <a:ln w="25400">
            <a:solidFill>
              <a:schemeClr val="tx2"/>
            </a:solidFill>
            <a:prstDash val="solid"/>
            <a:tailEnd type="triangle"/>
          </a:ln>
        </p:spPr>
      </p:sp>
      <p:sp>
        <p:nvSpPr>
          <p:cNvPr id="24" name="box_1660"/>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61"/>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62"/>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63"/>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4"/>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5"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6"/>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7"/>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8"/>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9"/>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70"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71"/>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72"/>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5"/>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6"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7"/>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8"/>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9"/>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80"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81"/>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82"/>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83"/>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4"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5"/>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6"/>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7"/>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8"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9"/>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90"/>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91"/>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92"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93"/>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4"/>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7"/>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8"/>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9"/>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700"/>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701"/>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702"/>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703"/>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4"/>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5"/>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6"/>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7"/>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8"/>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9"/>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10"/>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11"/>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12"/>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13"/>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4"/>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5"/>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8"/>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2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2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22"/>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23"/>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4"/>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5"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6"/>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7"/>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8"/>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9"/>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30"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31"/>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32"/>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5"/>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6"/>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7"/>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8"/>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9"/>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40"/>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41"/>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42"/>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43"/>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4"/>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5"/>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6"/>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7"/>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8"/>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9"/>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50"/>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51"/>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52"/>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53"/>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4"/>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5"/>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6"/>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7"/>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8"/>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9"/>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62"/>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63"/>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4"/>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5"/>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6"/>
          <p:cNvSpPr/>
          <p:nvPr/>
        </p:nvSpPr>
        <p:spPr>
          <a:xfrm>
            <a:off x="4663440" y="2148840"/>
            <a:ext cx="2834640" cy="0"/>
          </a:xfrm>
          <a:prstGeom prst="line">
            <a:avLst/>
          </a:prstGeom>
          <a:noFill/>
          <a:ln w="25400">
            <a:solidFill>
              <a:schemeClr val="tx2"/>
            </a:solidFill>
            <a:prstDash val="solid"/>
            <a:tailEnd type="triangle"/>
          </a:ln>
        </p:spPr>
      </p:sp>
      <p:sp>
        <p:nvSpPr>
          <p:cNvPr id="11" name="arrow_1767"/>
          <p:cNvSpPr/>
          <p:nvPr/>
        </p:nvSpPr>
        <p:spPr>
          <a:xfrm flipH="1">
            <a:off x="4663440" y="2971800"/>
            <a:ext cx="2834640" cy="0"/>
          </a:xfrm>
          <a:prstGeom prst="line">
            <a:avLst/>
          </a:prstGeom>
          <a:noFill/>
          <a:ln w="25400">
            <a:solidFill>
              <a:schemeClr val="tx2"/>
            </a:solidFill>
            <a:prstDash val="solid"/>
            <a:tailEnd type="triangle"/>
          </a:ln>
        </p:spPr>
      </p:sp>
      <p:sp>
        <p:nvSpPr>
          <p:cNvPr id="12" name="text_1768"/>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9"/>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70"/>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71"/>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72"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73"/>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4"/>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5"/>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6"/>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7"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8"/>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9"/>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82"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83"/>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5"/>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6"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9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9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93"/>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4"/>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5"/>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6"/>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7"/>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8"/>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9"/>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800"/>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801"/>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802"/>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803"/>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4"/>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5"/>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6"/>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7"/>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8"/>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9"/>
          <p:cNvSpPr/>
          <p:nvPr/>
        </p:nvSpPr>
        <p:spPr>
          <a:xfrm>
            <a:off x="2569464" y="4160520"/>
            <a:ext cx="219456" cy="0"/>
          </a:xfrm>
          <a:prstGeom prst="line">
            <a:avLst/>
          </a:prstGeom>
          <a:noFill/>
          <a:ln w="25400">
            <a:solidFill>
              <a:schemeClr val="tx2"/>
            </a:solidFill>
            <a:prstDash val="solid"/>
            <a:tailEnd type="triangle"/>
          </a:ln>
        </p:spPr>
      </p:sp>
      <p:sp>
        <p:nvSpPr>
          <p:cNvPr id="25" name="box_1810"/>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11"/>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12"/>
          <p:cNvSpPr/>
          <p:nvPr/>
        </p:nvSpPr>
        <p:spPr>
          <a:xfrm>
            <a:off x="4837176" y="4160520"/>
            <a:ext cx="219456" cy="0"/>
          </a:xfrm>
          <a:prstGeom prst="line">
            <a:avLst/>
          </a:prstGeom>
          <a:noFill/>
          <a:ln w="25400">
            <a:solidFill>
              <a:schemeClr val="tx2"/>
            </a:solidFill>
            <a:prstDash val="solid"/>
            <a:tailEnd type="triangle"/>
          </a:ln>
        </p:spPr>
      </p:sp>
      <p:sp>
        <p:nvSpPr>
          <p:cNvPr id="28" name="box_1813"/>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4"/>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5"/>
          <p:cNvSpPr/>
          <p:nvPr/>
        </p:nvSpPr>
        <p:spPr>
          <a:xfrm>
            <a:off x="7104888" y="4160520"/>
            <a:ext cx="219456" cy="0"/>
          </a:xfrm>
          <a:prstGeom prst="line">
            <a:avLst/>
          </a:prstGeom>
          <a:noFill/>
          <a:ln w="25400">
            <a:solidFill>
              <a:schemeClr val="tx2"/>
            </a:solidFill>
            <a:prstDash val="solid"/>
            <a:tailEnd type="triangle"/>
          </a:ln>
        </p:spPr>
      </p:sp>
      <p:sp>
        <p:nvSpPr>
          <p:cNvPr id="31" name="box_1816"/>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7"/>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8"/>
          <p:cNvSpPr/>
          <p:nvPr/>
        </p:nvSpPr>
        <p:spPr>
          <a:xfrm>
            <a:off x="9372600" y="4160520"/>
            <a:ext cx="219456" cy="0"/>
          </a:xfrm>
          <a:prstGeom prst="line">
            <a:avLst/>
          </a:prstGeom>
          <a:noFill/>
          <a:ln w="25400">
            <a:solidFill>
              <a:schemeClr val="tx2"/>
            </a:solidFill>
            <a:prstDash val="solid"/>
            <a:tailEnd type="triangle"/>
          </a:ln>
        </p:spPr>
      </p:sp>
      <p:sp>
        <p:nvSpPr>
          <p:cNvPr id="34" name="box_1819"/>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20"/>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2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2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23"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9"/>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30"/>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31"/>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32"/>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33"/>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4"/>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5"/>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6"/>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7"/>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8"/>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9"/>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40"/>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41"/>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42"/>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43"/>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4"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5"/>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6"/>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9"/>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50"/>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51"/>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네 개, 상자 세 개</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52"/>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53"/>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4"/>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5"/>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6"/>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7"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8"/>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9"/>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60"/>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61"/>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62"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63"/>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4"/>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7"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8"/>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9"/>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airlab_moveit_config moveit.launch.py</a:t>
            </a:r>
            <a:endParaRPr lang="ko-KR" altLang="en-US" sz="1300" dirty="0"/>
          </a:p>
        </p:txBody>
      </p:sp>
      <p:sp>
        <p:nvSpPr>
          <p:cNvPr id="9" name="num_187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7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7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7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8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8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8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8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8"/>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9"/>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90"/>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9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9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9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90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9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03"/>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4"/>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5"/>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6"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7"/>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8"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9"/>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10"/>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11"/>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12"/>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13"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4"/>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5"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6"/>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7"/>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20"/>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21"/>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22"/>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23"/>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4"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5"/>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6"/>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7"/>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8"/>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9"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30"/>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31"/>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32"/>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33"/>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4"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5"/>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6"/>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40"/>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41"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4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4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5"/>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6"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50"/>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51"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5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5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5"/>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6"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61" descr="1번 공급 테이블 앞 헤드 카메라: 빨간 상자 마커 7과 빈자리 마커 12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62" descr="작업대 앞 헤드 카메라: 놓을 자리 마커 1·2·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63"/>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1번 공급 테이블 앞: 상자 마커 7 (3.75 cm), 빈자리 12</a:t>
            </a:r>
            <a:endParaRPr lang="ko-KR" altLang="en-US" sz="1500" dirty="0"/>
          </a:p>
        </p:txBody>
      </p:sp>
      <p:sp>
        <p:nvSpPr>
          <p:cNvPr id="9" name="text_1964"/>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1·2·3 (7.5 cm)</a:t>
            </a:r>
            <a:endParaRPr lang="ko-KR" altLang="en-US" sz="1500" dirty="0"/>
          </a:p>
        </p:txBody>
      </p:sp>
      <p:sp>
        <p:nvSpPr>
          <p:cNvPr id="10" name="box_1965"/>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6"/>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7"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8"/>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9"/>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72"/>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73"/>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4"/>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5"/>
          <p:cNvSpPr/>
          <p:nvPr/>
        </p:nvSpPr>
        <p:spPr>
          <a:xfrm>
            <a:off x="3977640" y="2423160"/>
            <a:ext cx="320040" cy="0"/>
          </a:xfrm>
          <a:prstGeom prst="line">
            <a:avLst/>
          </a:prstGeom>
          <a:noFill/>
          <a:ln w="25400">
            <a:solidFill>
              <a:schemeClr val="tx2"/>
            </a:solidFill>
            <a:prstDash val="solid"/>
            <a:tailEnd type="triangle"/>
          </a:ln>
        </p:spPr>
      </p:sp>
      <p:sp>
        <p:nvSpPr>
          <p:cNvPr id="10" name="box_1976"/>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7"/>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8"/>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9"/>
          <p:cNvSpPr/>
          <p:nvPr/>
        </p:nvSpPr>
        <p:spPr>
          <a:xfrm>
            <a:off x="7772400" y="2423160"/>
            <a:ext cx="320040" cy="0"/>
          </a:xfrm>
          <a:prstGeom prst="line">
            <a:avLst/>
          </a:prstGeom>
          <a:noFill/>
          <a:ln w="25400">
            <a:solidFill>
              <a:schemeClr val="tx2"/>
            </a:solidFill>
            <a:prstDash val="solid"/>
            <a:tailEnd type="triangle"/>
          </a:ln>
        </p:spPr>
      </p:sp>
      <p:sp>
        <p:nvSpPr>
          <p:cNvPr id="14" name="box_1980"/>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81"/>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82"/>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83"/>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4"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5"/>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 · 8 · 9</a:t>
            </a:r>
            <a:endParaRPr lang="ko-KR" altLang="en-US" sz="1600" dirty="0"/>
          </a:p>
        </p:txBody>
      </p:sp>
      <p:sp>
        <p:nvSpPr>
          <p:cNvPr id="20" name="text_1986"/>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빨강·초록·파랑 상자 윗면, 3.75 cm</a:t>
            </a:r>
            <a:endParaRPr lang="ko-KR" altLang="en-US" sz="1400" dirty="0"/>
          </a:p>
        </p:txBody>
      </p:sp>
      <p:sp>
        <p:nvSpPr>
          <p:cNvPr id="21" name="iconbg_1987"/>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8"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9"/>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N1 · N2</a:t>
            </a:r>
            <a:endParaRPr lang="ko-KR" altLang="en-US" sz="1600" dirty="0"/>
          </a:p>
        </p:txBody>
      </p:sp>
      <p:sp>
        <p:nvSpPr>
          <p:cNvPr id="24" name="text_1990"/>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N번 공급 테이블 오른쪽·왼쪽 자리, 7.5 cm</a:t>
            </a:r>
            <a:endParaRPr lang="ko-KR" altLang="en-US" sz="1400" dirty="0"/>
          </a:p>
        </p:txBody>
      </p:sp>
      <p:sp>
        <p:nvSpPr>
          <p:cNvPr id="25" name="iconbg_1991"/>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92"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93"/>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1 · 2 · 3</a:t>
            </a:r>
            <a:endParaRPr lang="ko-KR" altLang="en-US" sz="1600" dirty="0"/>
          </a:p>
        </p:txBody>
      </p:sp>
      <p:sp>
        <p:nvSpPr>
          <p:cNvPr id="28" name="text_1994"/>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왼쪽·가운데·오른쪽 자리, 7.5 cm</a:t>
            </a:r>
            <a:endParaRPr lang="ko-KR" altLang="en-US" sz="1400" dirty="0"/>
          </a:p>
        </p:txBody>
      </p:sp>
      <p:sp>
        <p:nvSpPr>
          <p:cNvPr id="29" name="box_1995"/>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6"/>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7"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8"/>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9"/>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20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02"/>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2003"/>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4"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5"/>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6"/>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7"/>
          <p:cNvSpPr/>
          <p:nvPr/>
        </p:nvSpPr>
        <p:spPr>
          <a:xfrm>
            <a:off x="1600200" y="3063240"/>
            <a:ext cx="1097280" cy="0"/>
          </a:xfrm>
          <a:prstGeom prst="line">
            <a:avLst/>
          </a:prstGeom>
          <a:noFill/>
          <a:ln w="25400">
            <a:solidFill>
              <a:schemeClr val="tx2"/>
            </a:solidFill>
            <a:prstDash val="solid"/>
            <a:tailEnd type="triangle"/>
          </a:ln>
        </p:spPr>
      </p:sp>
      <p:sp>
        <p:nvSpPr>
          <p:cNvPr id="16" name="arrow_2008"/>
          <p:cNvSpPr/>
          <p:nvPr/>
        </p:nvSpPr>
        <p:spPr>
          <a:xfrm>
            <a:off x="3703320" y="3063240"/>
            <a:ext cx="1371600" cy="0"/>
          </a:xfrm>
          <a:prstGeom prst="line">
            <a:avLst/>
          </a:prstGeom>
          <a:noFill/>
          <a:ln w="25400">
            <a:solidFill>
              <a:schemeClr val="tx2"/>
            </a:solidFill>
            <a:prstDash val="solid"/>
            <a:tailEnd type="triangle"/>
          </a:ln>
        </p:spPr>
      </p:sp>
      <p:sp>
        <p:nvSpPr>
          <p:cNvPr id="17" name="box_2009"/>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10"/>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11"/>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12"/>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13"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4"/>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5"/>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6"/>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7"/>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8"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9"/>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20"/>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2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1번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3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3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3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3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8"/>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9"/>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40"/>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41"/>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42"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43"/>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4"/>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5"/>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6"/>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7"/>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8"/>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9"/>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50"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51"/>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52"/>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53"/>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4"/>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5"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6"/>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7"/>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60"/>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61"/>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62"/>
          <p:cNvSpPr/>
          <p:nvPr/>
        </p:nvSpPr>
        <p:spPr>
          <a:xfrm>
            <a:off x="3102102" y="2103120"/>
            <a:ext cx="265176" cy="0"/>
          </a:xfrm>
          <a:prstGeom prst="line">
            <a:avLst/>
          </a:prstGeom>
          <a:noFill/>
          <a:ln w="25400">
            <a:solidFill>
              <a:schemeClr val="tx2"/>
            </a:solidFill>
            <a:prstDash val="solid"/>
            <a:tailEnd type="triangle"/>
          </a:ln>
        </p:spPr>
      </p:sp>
      <p:sp>
        <p:nvSpPr>
          <p:cNvPr id="9" name="box_2063"/>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4"/>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5"/>
          <p:cNvSpPr/>
          <p:nvPr/>
        </p:nvSpPr>
        <p:spPr>
          <a:xfrm>
            <a:off x="5948172" y="2103120"/>
            <a:ext cx="265176" cy="0"/>
          </a:xfrm>
          <a:prstGeom prst="line">
            <a:avLst/>
          </a:prstGeom>
          <a:noFill/>
          <a:ln w="25400">
            <a:solidFill>
              <a:schemeClr val="tx2"/>
            </a:solidFill>
            <a:prstDash val="solid"/>
            <a:tailEnd type="triangle"/>
          </a:ln>
        </p:spPr>
      </p:sp>
      <p:sp>
        <p:nvSpPr>
          <p:cNvPr id="12" name="box_2066"/>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7"/>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8"/>
          <p:cNvSpPr/>
          <p:nvPr/>
        </p:nvSpPr>
        <p:spPr>
          <a:xfrm>
            <a:off x="8794242" y="2103120"/>
            <a:ext cx="265176" cy="0"/>
          </a:xfrm>
          <a:prstGeom prst="line">
            <a:avLst/>
          </a:prstGeom>
          <a:noFill/>
          <a:ln w="25400">
            <a:solidFill>
              <a:schemeClr val="tx2"/>
            </a:solidFill>
            <a:prstDash val="solid"/>
            <a:tailEnd type="triangle"/>
          </a:ln>
        </p:spPr>
      </p:sp>
      <p:sp>
        <p:nvSpPr>
          <p:cNvPr id="15" name="box_2069"/>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70"/>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71"/>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72"/>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73"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4"/>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5"/>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6"/>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7"/>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8"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9"/>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80"/>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81"/>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82"/>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83"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4"/>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5"/>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8"/>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9"/>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90"/>
          <p:cNvSpPr/>
          <p:nvPr/>
        </p:nvSpPr>
        <p:spPr>
          <a:xfrm>
            <a:off x="3081528" y="1737360"/>
            <a:ext cx="283464" cy="0"/>
          </a:xfrm>
          <a:prstGeom prst="line">
            <a:avLst/>
          </a:prstGeom>
          <a:noFill/>
          <a:ln w="25400">
            <a:solidFill>
              <a:schemeClr val="tx2"/>
            </a:solidFill>
            <a:prstDash val="solid"/>
            <a:tailEnd type="triangle"/>
          </a:ln>
        </p:spPr>
      </p:sp>
      <p:sp>
        <p:nvSpPr>
          <p:cNvPr id="9" name="box_2091"/>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92"/>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1번 공급 테이블</a:t>
            </a:r>
            <a:endParaRPr lang="ko-KR" altLang="en-US" sz="1500" dirty="0"/>
          </a:p>
        </p:txBody>
      </p:sp>
      <p:sp>
        <p:nvSpPr>
          <p:cNvPr id="11" name="arrow_2093"/>
          <p:cNvSpPr/>
          <p:nvPr/>
        </p:nvSpPr>
        <p:spPr>
          <a:xfrm>
            <a:off x="5916168" y="1737360"/>
            <a:ext cx="283464" cy="0"/>
          </a:xfrm>
          <a:prstGeom prst="line">
            <a:avLst/>
          </a:prstGeom>
          <a:noFill/>
          <a:ln w="25400">
            <a:solidFill>
              <a:schemeClr val="tx2"/>
            </a:solidFill>
            <a:prstDash val="solid"/>
            <a:tailEnd type="triangle"/>
          </a:ln>
        </p:spPr>
      </p:sp>
      <p:sp>
        <p:nvSpPr>
          <p:cNvPr id="12" name="box_2094"/>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5"/>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6"/>
          <p:cNvSpPr/>
          <p:nvPr/>
        </p:nvSpPr>
        <p:spPr>
          <a:xfrm>
            <a:off x="8750808" y="1737360"/>
            <a:ext cx="283464" cy="0"/>
          </a:xfrm>
          <a:prstGeom prst="line">
            <a:avLst/>
          </a:prstGeom>
          <a:noFill/>
          <a:ln w="25400">
            <a:solidFill>
              <a:schemeClr val="tx2"/>
            </a:solidFill>
            <a:prstDash val="solid"/>
            <a:tailEnd type="triangle"/>
          </a:ln>
        </p:spPr>
      </p:sp>
      <p:sp>
        <p:nvSpPr>
          <p:cNvPr id="15" name="box_2097"/>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8"/>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9"/>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100"/>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101"/>
          <p:cNvSpPr/>
          <p:nvPr/>
        </p:nvSpPr>
        <p:spPr>
          <a:xfrm>
            <a:off x="3081528" y="2834640"/>
            <a:ext cx="283464" cy="0"/>
          </a:xfrm>
          <a:prstGeom prst="line">
            <a:avLst/>
          </a:prstGeom>
          <a:noFill/>
          <a:ln w="25400">
            <a:solidFill>
              <a:schemeClr val="tx2"/>
            </a:solidFill>
            <a:prstDash val="solid"/>
            <a:tailEnd type="triangle"/>
          </a:ln>
        </p:spPr>
      </p:sp>
      <p:sp>
        <p:nvSpPr>
          <p:cNvPr id="20" name="box_2102"/>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103"/>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4"/>
          <p:cNvSpPr/>
          <p:nvPr/>
        </p:nvSpPr>
        <p:spPr>
          <a:xfrm>
            <a:off x="5916168" y="2834640"/>
            <a:ext cx="283464" cy="0"/>
          </a:xfrm>
          <a:prstGeom prst="line">
            <a:avLst/>
          </a:prstGeom>
          <a:noFill/>
          <a:ln w="25400">
            <a:solidFill>
              <a:schemeClr val="tx2"/>
            </a:solidFill>
            <a:prstDash val="solid"/>
            <a:tailEnd type="triangle"/>
          </a:ln>
        </p:spPr>
      </p:sp>
      <p:sp>
        <p:nvSpPr>
          <p:cNvPr id="23" name="box_2105"/>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6"/>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2</a:t>
            </a:r>
            <a:endParaRPr lang="ko-KR" altLang="en-US" sz="1500" dirty="0"/>
          </a:p>
        </p:txBody>
      </p:sp>
      <p:sp>
        <p:nvSpPr>
          <p:cNvPr id="25" name="arrow_2107"/>
          <p:cNvSpPr/>
          <p:nvPr/>
        </p:nvSpPr>
        <p:spPr>
          <a:xfrm>
            <a:off x="8750808" y="2834640"/>
            <a:ext cx="283464" cy="0"/>
          </a:xfrm>
          <a:prstGeom prst="line">
            <a:avLst/>
          </a:prstGeom>
          <a:noFill/>
          <a:ln w="25400">
            <a:solidFill>
              <a:schemeClr val="tx2"/>
            </a:solidFill>
            <a:prstDash val="solid"/>
            <a:tailEnd type="triangle"/>
          </a:ln>
        </p:spPr>
      </p:sp>
      <p:sp>
        <p:nvSpPr>
          <p:cNvPr id="26" name="box_2108"/>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9"/>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10"/>
          <p:cNvSpPr/>
          <p:nvPr/>
        </p:nvSpPr>
        <p:spPr>
          <a:xfrm>
            <a:off x="10927080" y="2121408"/>
            <a:ext cx="0" cy="329184"/>
          </a:xfrm>
          <a:prstGeom prst="line">
            <a:avLst/>
          </a:prstGeom>
          <a:noFill/>
          <a:ln w="25400">
            <a:solidFill>
              <a:schemeClr val="tx2"/>
            </a:solidFill>
            <a:prstDash val="solid"/>
            <a:tailEnd type="triangle"/>
          </a:ln>
        </p:spPr>
      </p:sp>
      <p:pic>
        <p:nvPicPr>
          <p:cNvPr id="29" name="img_2111"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6"/>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7"/>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8"/>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9"/>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20"/>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21"/>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22"/>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23"/>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4"/>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5"/>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6"/>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7"/>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8"/>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9"/>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30"/>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31"/>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32"/>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33"/>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4"/>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5"/>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6"/>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7"/>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2 위 8 cm로</a:t>
            </a:r>
            <a:endParaRPr lang="ko-KR" altLang="en-US" sz="1700" dirty="0"/>
          </a:p>
        </p:txBody>
      </p:sp>
      <p:sp>
        <p:nvSpPr>
          <p:cNvPr id="9" name="text_2143"/>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7"/>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8"/>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9"/>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50"/>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51"/>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52"/>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53"/>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4"/>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5"/>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6"/>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7"/>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8"/>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9"/>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60"/>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61"/>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62"/>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63"/>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4"/>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5"/>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6"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7"/>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8"/>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71"/>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72"/>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73"/>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8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8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8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8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7"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9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91"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9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9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5"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9"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20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20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20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203"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1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1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1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1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2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2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2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2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6"/>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30"/>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1번 공급 테이블(처음 자리, 마커 11)로 되돌리는 put_back.py</a:t>
            </a:r>
            <a:endParaRPr lang="ko-KR" altLang="en-US" sz="1500" dirty="0"/>
          </a:p>
        </p:txBody>
      </p:sp>
      <p:sp>
        <p:nvSpPr>
          <p:cNvPr id="11" name="box_2231"/>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32"/>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33"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5"/>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6"/>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7"/>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8"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9"/>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40"/>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43"/>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4"/>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5"/>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6"/>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7"/>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8"/>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9"/>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50"/>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51"/>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52"/>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53"/>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4"/>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5"/>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6"/>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7"/>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8"/>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9"/>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60"/>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61"/>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62"/>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63"/>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4"/>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5"/>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6"/>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7"/>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8"/>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9"/>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70"/>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71"/>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72"/>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5"/>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6"/>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7"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9"/>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80"/>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81"/>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82"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8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4"/>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5"/>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6"/>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7"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8"/>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9"/>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92"/>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93"/>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4"/>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5"/>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6"/>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7"/>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8"/>
          <p:cNvSpPr/>
          <p:nvPr/>
        </p:nvSpPr>
        <p:spPr>
          <a:xfrm>
            <a:off x="2377440" y="2468880"/>
            <a:ext cx="2926080" cy="0"/>
          </a:xfrm>
          <a:prstGeom prst="line">
            <a:avLst/>
          </a:prstGeom>
          <a:noFill/>
          <a:ln w="25400">
            <a:solidFill>
              <a:srgbClr val="3D5A80"/>
            </a:solidFill>
            <a:prstDash val="solid"/>
            <a:tailEnd type="triangle"/>
          </a:ln>
        </p:spPr>
      </p:sp>
      <p:sp>
        <p:nvSpPr>
          <p:cNvPr id="13" name="text_2299"/>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300"/>
          <p:cNvSpPr/>
          <p:nvPr/>
        </p:nvSpPr>
        <p:spPr>
          <a:xfrm>
            <a:off x="5303520" y="3108960"/>
            <a:ext cx="4023360" cy="0"/>
          </a:xfrm>
          <a:prstGeom prst="line">
            <a:avLst/>
          </a:prstGeom>
          <a:noFill/>
          <a:ln w="25400">
            <a:solidFill>
              <a:srgbClr val="3D5A80"/>
            </a:solidFill>
            <a:prstDash val="solid"/>
            <a:tailEnd type="triangle"/>
          </a:ln>
        </p:spPr>
      </p:sp>
      <p:sp>
        <p:nvSpPr>
          <p:cNvPr id="15" name="text_2301"/>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navigate_to(supply_1)</a:t>
            </a:r>
            <a:endParaRPr lang="ko-KR" altLang="en-US" sz="1300" dirty="0"/>
          </a:p>
        </p:txBody>
      </p:sp>
      <p:sp>
        <p:nvSpPr>
          <p:cNvPr id="16" name="arrow_2302"/>
          <p:cNvSpPr/>
          <p:nvPr/>
        </p:nvSpPr>
        <p:spPr>
          <a:xfrm flipH="1">
            <a:off x="5303520" y="3749040"/>
            <a:ext cx="4023360" cy="0"/>
          </a:xfrm>
          <a:prstGeom prst="line">
            <a:avLst/>
          </a:prstGeom>
          <a:noFill/>
          <a:ln w="25400">
            <a:solidFill>
              <a:srgbClr val="F2711C"/>
            </a:solidFill>
            <a:prstDash val="solid"/>
            <a:tailEnd type="triangle"/>
          </a:ln>
        </p:spPr>
      </p:sp>
      <p:sp>
        <p:nvSpPr>
          <p:cNvPr id="17" name="text_2303"/>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supply_1</a:t>
            </a:r>
            <a:endParaRPr lang="ko-KR" altLang="en-US" sz="1300" dirty="0"/>
          </a:p>
        </p:txBody>
      </p:sp>
      <p:sp>
        <p:nvSpPr>
          <p:cNvPr id="18" name="arrow_2304"/>
          <p:cNvSpPr/>
          <p:nvPr/>
        </p:nvSpPr>
        <p:spPr>
          <a:xfrm>
            <a:off x="5303520" y="4389120"/>
            <a:ext cx="4023360" cy="0"/>
          </a:xfrm>
          <a:prstGeom prst="line">
            <a:avLst/>
          </a:prstGeom>
          <a:noFill/>
          <a:ln w="25400">
            <a:solidFill>
              <a:srgbClr val="3D5A80"/>
            </a:solidFill>
            <a:prstDash val="solid"/>
            <a:tailEnd type="triangle"/>
          </a:ln>
        </p:spPr>
      </p:sp>
      <p:sp>
        <p:nvSpPr>
          <p:cNvPr id="19" name="text_2305"/>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6"/>
          <p:cNvSpPr/>
          <p:nvPr/>
        </p:nvSpPr>
        <p:spPr>
          <a:xfrm flipH="1">
            <a:off x="5303520" y="5029200"/>
            <a:ext cx="4023360" cy="0"/>
          </a:xfrm>
          <a:prstGeom prst="line">
            <a:avLst/>
          </a:prstGeom>
          <a:noFill/>
          <a:ln w="25400">
            <a:solidFill>
              <a:srgbClr val="F2711C"/>
            </a:solidFill>
            <a:prstDash val="solid"/>
            <a:tailEnd type="triangle"/>
          </a:ln>
        </p:spPr>
      </p:sp>
      <p:sp>
        <p:nvSpPr>
          <p:cNvPr id="21" name="text_2307"/>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8"/>
          <p:cNvSpPr/>
          <p:nvPr/>
        </p:nvSpPr>
        <p:spPr>
          <a:xfrm flipH="1">
            <a:off x="2377440" y="5669280"/>
            <a:ext cx="2926080" cy="0"/>
          </a:xfrm>
          <a:prstGeom prst="line">
            <a:avLst/>
          </a:prstGeom>
          <a:noFill/>
          <a:ln w="25400">
            <a:solidFill>
              <a:srgbClr val="F2711C"/>
            </a:solidFill>
            <a:prstDash val="solid"/>
            <a:tailEnd type="triangle"/>
          </a:ln>
        </p:spPr>
      </p:sp>
      <p:sp>
        <p:nvSpPr>
          <p:cNvPr id="23" name="text_2309"/>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10"/>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13"/>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4"/>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5"/>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6"/>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7"/>
          <p:cNvSpPr/>
          <p:nvPr/>
        </p:nvSpPr>
        <p:spPr>
          <a:xfrm>
            <a:off x="3840480" y="2651760"/>
            <a:ext cx="0" cy="320040"/>
          </a:xfrm>
          <a:prstGeom prst="line">
            <a:avLst/>
          </a:prstGeom>
          <a:noFill/>
          <a:ln w="25400">
            <a:solidFill>
              <a:schemeClr val="tx2"/>
            </a:solidFill>
            <a:prstDash val="solid"/>
            <a:tailEnd type="triangle"/>
          </a:ln>
        </p:spPr>
      </p:sp>
      <p:sp>
        <p:nvSpPr>
          <p:cNvPr id="11" name="box_2318"/>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9"/>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20"/>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21"/>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22"/>
          <p:cNvSpPr/>
          <p:nvPr/>
        </p:nvSpPr>
        <p:spPr>
          <a:xfrm>
            <a:off x="3840480" y="4251960"/>
            <a:ext cx="0" cy="320040"/>
          </a:xfrm>
          <a:prstGeom prst="line">
            <a:avLst/>
          </a:prstGeom>
          <a:noFill/>
          <a:ln w="25400">
            <a:solidFill>
              <a:schemeClr val="tx2"/>
            </a:solidFill>
            <a:prstDash val="solid"/>
            <a:tailEnd type="triangle"/>
          </a:ln>
        </p:spPr>
      </p:sp>
      <p:sp>
        <p:nvSpPr>
          <p:cNvPr id="16" name="box_2323"/>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4"/>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5"/>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6"/>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9"/>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0"/>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0.65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["supply_1", "supply_2", "supply_3",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31"/>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일곱 개</a:t>
            </a:r>
            <a:endParaRPr lang="ko-KR" altLang="en-US" sz="3000" dirty="0"/>
          </a:p>
        </p:txBody>
      </p:sp>
      <p:sp>
        <p:nvSpPr>
          <p:cNvPr id="3" name="pill_23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3657600"/>
                <a:gridCol w="539496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입력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안에서 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get_world_state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 위치, 들고 있는 것, 상자마다 테이블·자리, 빈자리 (기억, 빠름)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navigate_to</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location: supply_1~3 / work_table / home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 tuck → Nav2로 테이블 앞 0.65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pick_object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object: red_box / green_box / blue_box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마커 찾기 → 정밀 접근 → 집기 → 들기 → 후진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place_object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location: 테이블, spot: left / middle / right / auto</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자리 마커로 정밀 접근 → 내려놓기 → 후진 (자리가 차 있으면 거부)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check_table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location: 지금 선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카메라로 보고 자리마다 무엇이 있는지 → 기억을 고친다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set_arm_posture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posture: tuck / home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두 팔 자세 바꾸기 (물체를 들고 있으면 거부)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wait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seconds (1~120)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그 자리에서 기다리기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5"/>
          <p:cNvSpPr/>
          <p:nvPr/>
        </p:nvSpPr>
        <p:spPr>
          <a:xfrm>
            <a:off x="548640" y="5074920"/>
            <a:ext cx="11064240" cy="1051560"/>
          </a:xfrm>
          <a:prstGeom prst="roundRect">
            <a:avLst>
              <a:gd name="adj" fmla="val 6957"/>
            </a:avLst>
          </a:prstGeom>
          <a:solidFill>
            <a:schemeClr val="bg2"/>
          </a:solidFill>
          <a:ln w="12700">
            <a:solidFill>
              <a:schemeClr val="bg2"/>
            </a:solidFill>
            <a:prstDash val="solid"/>
          </a:ln>
        </p:spPr>
      </p:sp>
      <p:sp>
        <p:nvSpPr>
          <p:cNvPr id="8" name="iconbg_2336"/>
          <p:cNvSpPr/>
          <p:nvPr/>
        </p:nvSpPr>
        <p:spPr>
          <a:xfrm>
            <a:off x="777240" y="5184648"/>
            <a:ext cx="411480" cy="411480"/>
          </a:xfrm>
          <a:prstGeom prst="ellipse">
            <a:avLst/>
          </a:prstGeom>
          <a:solidFill>
            <a:schemeClr val="accent3"/>
          </a:solidFill>
          <a:ln w="12700">
            <a:solidFill>
              <a:schemeClr val="accent3"/>
            </a:solidFill>
            <a:prstDash val="solid"/>
          </a:ln>
        </p:spPr>
      </p:sp>
      <p:pic>
        <p:nvPicPr>
          <p:cNvPr id="9" name="icon_2337" descr="QuestionCircle 아이콘">    </p:cNvPr>
          <p:cNvPicPr>
            <a:picLocks noChangeAspect="1"/>
          </p:cNvPicPr>
          <p:nvPr/>
        </p:nvPicPr>
        <p:blipFill>
          <a:blip r:embed="rId1"/>
          <a:stretch>
            <a:fillRect/>
          </a:stretch>
        </p:blipFill>
        <p:spPr>
          <a:xfrm>
            <a:off x="867766" y="5275174"/>
            <a:ext cx="230429" cy="230429"/>
          </a:xfrm>
          <a:prstGeom prst="rect">
            <a:avLst/>
          </a:prstGeom>
        </p:spPr>
      </p:pic>
      <p:sp>
        <p:nvSpPr>
          <p:cNvPr id="10" name="text_2338"/>
          <p:cNvSpPr txBox="1"/>
          <p:nvPr/>
        </p:nvSpPr>
        <p:spPr>
          <a:xfrm>
            <a:off x="1325880" y="516636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1" name="text_2339"/>
          <p:cNvSpPr txBox="1"/>
          <p:nvPr/>
        </p:nvSpPr>
        <p:spPr>
          <a:xfrm>
            <a:off x="777240" y="5641848"/>
            <a:ext cx="1060704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42"/>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43"/>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AIRLAB,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"1번/2번/3번 공급 테이블"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 supply_1/2/3; "원래 자리" of a box is its start spot.</a:t>
            </a:r>
            <a:endParaRPr lang="ko-KR" altLang="en-US" sz="1300" dirty="0"/>
          </a:p>
        </p:txBody>
      </p:sp>
      <p:sp>
        <p:nvSpPr>
          <p:cNvPr id="8" name="box_2344"/>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5"/>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6"/>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7"/>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8"/>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9"/>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50"/>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51"/>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52"/>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53"/>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4"/>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5"/>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6"/>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7"/>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8"/>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61"/>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62"/>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63"/>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4"/>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5"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6"/>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7"/>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8"/>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9"/>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70"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71"/>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72"/>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5"/>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6"/>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7"/>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8"/>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9"/>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80"/>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81"/>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빨간 상자는 supply_1 오른쪽 자리</a:t>
            </a:r>
            <a:endParaRPr lang="ko-KR" altLang="en-US" sz="1400" dirty="0"/>
          </a:p>
        </p:txBody>
      </p:sp>
      <p:sp>
        <p:nvSpPr>
          <p:cNvPr id="13" name="text_2382"/>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83"/>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4"/>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navigate_to(supply_1)</a:t>
            </a:r>
            <a:endParaRPr lang="ko-KR" altLang="en-US" sz="1400" dirty="0"/>
          </a:p>
        </p:txBody>
      </p:sp>
      <p:sp>
        <p:nvSpPr>
          <p:cNvPr id="16" name="text_2385"/>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supply_1</a:t>
            </a:r>
            <a:endParaRPr lang="ko-KR" altLang="en-US" sz="1400" dirty="0"/>
          </a:p>
        </p:txBody>
      </p:sp>
      <p:sp>
        <p:nvSpPr>
          <p:cNvPr id="17" name="text_2386"/>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13 s</a:t>
            </a:r>
            <a:endParaRPr lang="ko-KR" altLang="en-US" sz="1400" dirty="0"/>
          </a:p>
        </p:txBody>
      </p:sp>
      <p:sp>
        <p:nvSpPr>
          <p:cNvPr id="18" name="box_2387"/>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8"/>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9"/>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from the right spot of supply_1</a:t>
            </a:r>
            <a:endParaRPr lang="ko-KR" altLang="en-US" sz="1400" dirty="0"/>
          </a:p>
        </p:txBody>
      </p:sp>
      <p:sp>
        <p:nvSpPr>
          <p:cNvPr id="21" name="text_2390"/>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24 s</a:t>
            </a:r>
            <a:endParaRPr lang="ko-KR" altLang="en-US" sz="1400" dirty="0"/>
          </a:p>
        </p:txBody>
      </p:sp>
      <p:sp>
        <p:nvSpPr>
          <p:cNvPr id="22" name="box_2391"/>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92"/>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93"/>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4"/>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20 s</a:t>
            </a:r>
            <a:endParaRPr lang="ko-KR" altLang="en-US" sz="1400" dirty="0"/>
          </a:p>
        </p:txBody>
      </p:sp>
      <p:sp>
        <p:nvSpPr>
          <p:cNvPr id="26" name="box_2395"/>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6"/>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 auto)</a:t>
            </a:r>
            <a:endParaRPr lang="ko-KR" altLang="en-US" sz="1400" dirty="0"/>
          </a:p>
        </p:txBody>
      </p:sp>
      <p:sp>
        <p:nvSpPr>
          <p:cNvPr id="28" name="text_2397"/>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the left spot of work_table</a:t>
            </a:r>
            <a:endParaRPr lang="ko-KR" altLang="en-US" sz="1400" dirty="0"/>
          </a:p>
        </p:txBody>
      </p:sp>
      <p:sp>
        <p:nvSpPr>
          <p:cNvPr id="29" name="text_2398"/>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23 s</a:t>
            </a:r>
            <a:endParaRPr lang="ko-KR" altLang="en-US" sz="1400" dirty="0"/>
          </a:p>
        </p:txBody>
      </p:sp>
      <p:sp>
        <p:nvSpPr>
          <p:cNvPr id="30" name="box_2399"/>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400"/>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401"/>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402"/>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80 s</a:t>
            </a:r>
            <a:endParaRPr lang="ko-KR" altLang="en-US" sz="1400" dirty="0"/>
          </a:p>
        </p:txBody>
      </p:sp>
      <p:sp>
        <p:nvSpPr>
          <p:cNvPr id="34" name="text_2403"/>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6"/>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7"/>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8"/>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9"/>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supply_1~3 / work_table / home 중 하나인가</a:t>
            </a:r>
            <a:endParaRPr lang="ko-KR" altLang="en-US" sz="1700" dirty="0"/>
          </a:p>
        </p:txBody>
      </p:sp>
      <p:sp>
        <p:nvSpPr>
          <p:cNvPr id="10" name="text_2410"/>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11"/>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12"/>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13"/>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4"/>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5"/>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6"/>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7"/>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20"/>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21"/>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spot = self.where[object]             # 기억: (테이블, 자리)</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location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{location},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22"/>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23"/>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4"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5"/>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6"/>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7"/>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8"/>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9"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30"/>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31"/>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4"/>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5"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6"/>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7"/>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8"/>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9"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40"/>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41"/>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42"/>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43"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4"/>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5"/>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8"/>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9"/>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(13 s) arrived at supply_1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(24 s) picked red_box from the right spot of supply_1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80 s: 빨간 상자를 작업대로 옮겼습니다. (scripted)</a:t>
            </a:r>
            <a:endParaRPr lang="ko-KR" altLang="en-US" sz="1200" dirty="0"/>
          </a:p>
        </p:txBody>
      </p:sp>
      <p:sp>
        <p:nvSpPr>
          <p:cNvPr id="8" name="box_245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5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5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5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62"/>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63"/>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4"/>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"supply_1"}}</a:t>
            </a:r>
            <a:endParaRPr lang="ko-KR" altLang="en-US" sz="1200" dirty="0"/>
          </a:p>
        </p:txBody>
      </p:sp>
      <p:sp>
        <p:nvSpPr>
          <p:cNvPr id="9" name="box_2465"/>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6"/>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7"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8"/>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9"/>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2"/>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73"/>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"노란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"작업대 앞에 갔다가 처음 위치로 돌아와"</a:t>
            </a:r>
            <a:endParaRPr lang="ko-KR" altLang="en-US" sz="1300" dirty="0"/>
          </a:p>
        </p:txBody>
      </p:sp>
      <p:graphicFrame>
        <p:nvGraphicFramePr>
          <p:cNvPr id="133" name="table_2474"/>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노란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5"/>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6"/>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7"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8"/>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9"/>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82"/>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83"/>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4"/>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5"/>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6"/>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7"/>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8"/>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9"/>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90"/>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91"/>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92"/>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93"/>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4"/>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5"/>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6"/>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7"/>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8"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9"/>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500"/>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501"/>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502"/>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503"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4"/>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5"/>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8"/>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9"/>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p:txBody>
      </p:sp>
      <p:sp>
        <p:nvSpPr>
          <p:cNvPr id="8" name="list_2510"/>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1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1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1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2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테이블 넷, 상자 셋, 자리 아홉: 명령이 다양해진다</a:t>
            </a:r>
            <a:endParaRPr lang="ko-KR" altLang="en-US" sz="3000" dirty="0"/>
          </a:p>
        </p:txBody>
      </p:sp>
      <p:sp>
        <p:nvSpPr>
          <p:cNvPr id="3" name="pill_25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23" descr="방 배치: 공급 테이블 1·2·3, 작업대, 로봇이 서는 곳(주황 화살표)">    </p:cNvPr>
          <p:cNvPicPr>
            <a:picLocks noChangeAspect="1"/>
          </p:cNvPicPr>
          <p:nvPr/>
        </p:nvPicPr>
        <p:blipFill>
          <a:blip r:embed="rId1"/>
          <a:stretch>
            <a:fillRect/>
          </a:stretch>
        </p:blipFill>
        <p:spPr>
          <a:xfrm>
            <a:off x="548640" y="1334452"/>
            <a:ext cx="6309360" cy="3549015"/>
          </a:xfrm>
          <a:prstGeom prst="rect">
            <a:avLst/>
          </a:prstGeom>
        </p:spPr>
      </p:pic>
      <p:graphicFrame>
        <p:nvGraphicFramePr>
          <p:cNvPr id="136" name="table_2524"/>
          <p:cNvGraphicFramePr>
            <a:graphicFrameLocks noGrp="1"/>
          </p:cNvGraphicFramePr>
          <p:nvPr>
            <p:extLst>
              <p:ext uri="{D42A27DB-BD31-4B8C-83A1-F6EECF244321}">
                <p14:modId xmlns:p14="http://schemas.microsoft.com/office/powerpoint/2010/main" val="1579011935"/>
              </p:ext>
            </p:extLst>
          </p:nvPr>
        </p:nvGraphicFramePr>
        <p:xfrm>
          <a:off x="7132320" y="1325880"/>
          <a:ext cx="4480560" cy="914400"/>
        </p:xfrm>
        <a:graphic>
          <a:graphicData uri="http://schemas.openxmlformats.org/drawingml/2006/table">
            <a:tbl>
              <a:tblPr/>
              <a:tblGrid>
                <a:gridCol w="1463040"/>
                <a:gridCol w="3017520"/>
              </a:tblGrid>
              <a:tr h="0">
                <a:tc>
                  <a:txBody>
                    <a:bodyPr/>
                    <a:lstStyle/>
                    <a:p>
                      <a:pPr eaLnBrk="0" indent="0" marL="0">
                        <a:buNone/>
                      </a:pPr>
                      <a:r>
                        <a:rPr lang="ko-KR" altLang="en-US" sz="1300" b="1" dirty="0">
                          <a:solidFill>
                            <a:schemeClr val="bg1"/>
                          </a:solidFill>
                        </a:rPr>
                        <a:t>종류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자리 지정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"파란 상자를 작업대 오른쪽 자리에"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여러 개 · 순서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"초록 먼저, 그다음 파랑"</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조건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"작업대에 빨간 상자가 없으면 가져다 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"작업대에 뭐가 있는지 가서 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되돌리기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"모두 원래 자리에 돌려놓고 원위치로"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525"/>
          <p:cNvSpPr/>
          <p:nvPr/>
        </p:nvSpPr>
        <p:spPr>
          <a:xfrm>
            <a:off x="548640" y="5074920"/>
            <a:ext cx="11064240" cy="1051560"/>
          </a:xfrm>
          <a:prstGeom prst="roundRect">
            <a:avLst>
              <a:gd name="adj" fmla="val 6957"/>
            </a:avLst>
          </a:prstGeom>
          <a:solidFill>
            <a:schemeClr val="bg2"/>
          </a:solidFill>
          <a:ln w="12700">
            <a:solidFill>
              <a:schemeClr val="bg2"/>
            </a:solidFill>
            <a:prstDash val="solid"/>
          </a:ln>
        </p:spPr>
      </p:sp>
      <p:sp>
        <p:nvSpPr>
          <p:cNvPr id="9" name="iconbg_2526"/>
          <p:cNvSpPr/>
          <p:nvPr/>
        </p:nvSpPr>
        <p:spPr>
          <a:xfrm>
            <a:off x="777240" y="5184648"/>
            <a:ext cx="411480" cy="411480"/>
          </a:xfrm>
          <a:prstGeom prst="ellipse">
            <a:avLst/>
          </a:prstGeom>
          <a:solidFill>
            <a:schemeClr val="accent3"/>
          </a:solidFill>
          <a:ln w="12700">
            <a:solidFill>
              <a:schemeClr val="accent3"/>
            </a:solidFill>
            <a:prstDash val="solid"/>
          </a:ln>
        </p:spPr>
      </p:sp>
      <p:pic>
        <p:nvPicPr>
          <p:cNvPr id="10" name="icon_2527" descr="QuestionCircle 아이콘">    </p:cNvPr>
          <p:cNvPicPr>
            <a:picLocks noChangeAspect="1"/>
          </p:cNvPicPr>
          <p:nvPr/>
        </p:nvPicPr>
        <p:blipFill>
          <a:blip r:embed="rId2"/>
          <a:stretch>
            <a:fillRect/>
          </a:stretch>
        </p:blipFill>
        <p:spPr>
          <a:xfrm>
            <a:off x="867766" y="5275174"/>
            <a:ext cx="230429" cy="230429"/>
          </a:xfrm>
          <a:prstGeom prst="rect">
            <a:avLst/>
          </a:prstGeom>
        </p:spPr>
      </p:pic>
      <p:sp>
        <p:nvSpPr>
          <p:cNvPr id="11" name="text_2528"/>
          <p:cNvSpPr txBox="1"/>
          <p:nvPr/>
        </p:nvSpPr>
        <p:spPr>
          <a:xfrm>
            <a:off x="1325880" y="516636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2529"/>
          <p:cNvSpPr txBox="1"/>
          <p:nvPr/>
        </p:nvSpPr>
        <p:spPr>
          <a:xfrm>
            <a:off x="777240" y="5641848"/>
            <a:ext cx="1060704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쪽 코드는 그대로 두고 표(LOCATIONS: 테이블·자리·마커, OBJECTS: 상자·처음 자리)와 도구 세 개만 늘렸다. 순서와 조건은 LLM이 계획한다.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4-B. 조건과 순서가 있는 명령</a:t>
            </a:r>
            <a:endParaRPr lang="ko-KR" altLang="en-US" sz="3000" dirty="0"/>
          </a:p>
        </p:txBody>
      </p:sp>
      <p:sp>
        <p:nvSpPr>
          <p:cNvPr id="3" name="pill_253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3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32"/>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33"/>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"초록 상자를 먼저 작업대 왼쪽에 놓고, 그다음 파란 상자를 오른쪽에 놓아줘"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"작업대에 빨간 상자가 없으면 가져다 놔"</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"작업대에 뭐가 있는지 가서 확인해 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"작업대에 빨간 상자가 있으면 원래 자리로 돌려놓고, 없으면 그냥 원위치로 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"상자를 모두 원래 자리에 돌려놓고 원위치로 와"</a:t>
            </a:r>
            <a:endParaRPr lang="ko-KR" altLang="en-US" sz="1200" dirty="0"/>
          </a:p>
        </p:txBody>
      </p:sp>
      <p:sp>
        <p:nvSpPr>
          <p:cNvPr id="8" name="list_2534"/>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조건을 무엇으로 판단했나? 기억(get_world_state)인가, 카메라(check_table)인가</a:t>
            </a:r>
            <a:endParaRPr lang="ko-KR" altLang="en-US" sz="1500" dirty="0"/>
          </a:p>
          <a:p>
            <a:pPr eaLnBrk="0" marL="228600" indent="-228600">
              <a:spcAft>
                <a:spcPts val="800"/>
              </a:spcAft>
              <a:buSzPct val="100000"/>
              <a:buChar char="•"/>
            </a:pPr>
            <a:r>
              <a:rPr lang="ko-KR" altLang="en-US" sz="1500" dirty="0">
                <a:solidFill>
                  <a:schemeClr val="tx1"/>
                </a:solidFill>
              </a:rPr>
              <a:t>조건이 거짓인 쪽은 건너뛰고 답에서 알리는가</a:t>
            </a:r>
            <a:endParaRPr lang="ko-KR" altLang="en-US" sz="1500" dirty="0"/>
          </a:p>
        </p:txBody>
      </p:sp>
      <p:sp>
        <p:nvSpPr>
          <p:cNvPr id="9" name="box_253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3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3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3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3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조건에 맞는 쪽만 실행하고, 판단 근거를 답에 밝힌다.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4-3B</a:t>
            </a:r>
            <a:endParaRPr lang="ko-KR" altLang="en-US" sz="1400" dirty="0"/>
          </a:p>
        </p:txBody>
      </p:sp>
      <p:sp>
        <p:nvSpPr>
          <p:cNvPr id="14" name="box_254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4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4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4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4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the left spot of work_table is taken → 자리가 이미 찼다. Claude가 다른 자리를 고르거나 물어보는지 보기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강사 노트북의 실제 결과</a:t>
            </a:r>
            <a:endParaRPr lang="ko-KR" altLang="en-US" sz="3000" dirty="0"/>
          </a:p>
        </p:txBody>
      </p:sp>
      <p:sp>
        <p:nvSpPr>
          <p:cNvPr id="3" name="pill_25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8" name="table_254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5486400"/>
                <a:gridCol w="2834640"/>
              </a:tblGrid>
              <a:tr h="0">
                <a:tc>
                  <a:txBody>
                    <a:bodyPr/>
                    <a:lstStyle/>
                    <a:p>
                      <a:pPr eaLnBrk="0" indent="0" marL="0">
                        <a:buNone/>
                      </a:pPr>
                      <a:r>
                        <a:rPr lang="ko-KR" altLang="en-US" sz="1200" b="1" dirty="0">
                          <a:solidFill>
                            <a:schemeClr val="bg1"/>
                          </a:solidFill>
                        </a:rPr>
                        <a:t>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Claude가 고른 도구 순서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결과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초록 먼저 왼쪽, 그다음 파랑 오른쪽</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상태 → 2번 → 집기 → 작업대 → 놓기(left) → 3번 → 집기 → 작업대 → 놓기(right)</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성공 195 s, $0.14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빨간 상자가 없으면 가져와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상태(기억: 없음) → 1번 → 집기 → 작업대 → 놓기(auto → 가운데)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99 s, 근거를 말함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가서 확인해</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(이미 작업대 앞) → check_table</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왼쪽 초록 · 가운데 빨강 · 오른쪽 파랑, 10 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있으면 돌려놓고 없으면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상태(있음) → 집기 → 1번 → 놓기(auto → 처음 자리)</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72 s, 원위치는 건너뜀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노란 공</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(도구 없음)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할 수 있는 일 안내, 3 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모두 원래 자리로 +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 → 초록·파랑만 처음 자리로 (빨강은 이미 제자리) →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208 s, 오차 1.2 cm 이내</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548"/>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8" name="iconbg_2549"/>
          <p:cNvSpPr/>
          <p:nvPr/>
        </p:nvSpPr>
        <p:spPr>
          <a:xfrm>
            <a:off x="777240" y="5367528"/>
            <a:ext cx="411480" cy="411480"/>
          </a:xfrm>
          <a:prstGeom prst="ellipse">
            <a:avLst/>
          </a:prstGeom>
          <a:solidFill>
            <a:schemeClr val="accent6"/>
          </a:solidFill>
          <a:ln w="12700">
            <a:solidFill>
              <a:schemeClr val="accent6"/>
            </a:solidFill>
            <a:prstDash val="solid"/>
          </a:ln>
        </p:spPr>
      </p:sp>
      <p:pic>
        <p:nvPicPr>
          <p:cNvPr id="9" name="icon_2550" descr="ExclamationTriangle 아이콘">    </p:cNvPr>
          <p:cNvPicPr>
            <a:picLocks noChangeAspect="1"/>
          </p:cNvPicPr>
          <p:nvPr/>
        </p:nvPicPr>
        <p:blipFill>
          <a:blip r:embed="rId1"/>
          <a:stretch>
            <a:fillRect/>
          </a:stretch>
        </p:blipFill>
        <p:spPr>
          <a:xfrm>
            <a:off x="867766" y="5458054"/>
            <a:ext cx="230429" cy="230429"/>
          </a:xfrm>
          <a:prstGeom prst="rect">
            <a:avLst/>
          </a:prstGeom>
        </p:spPr>
      </p:pic>
      <p:sp>
        <p:nvSpPr>
          <p:cNvPr id="10" name="text_2551"/>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11" name="text_2552"/>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기억과 실제가 다를 수 있다: MuJoCo 창에서 상자를 끌어 떨어뜨린 뒤 "있으면 …"과 "가서 보고 있으면 …"을 비교해 보자.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55"/>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56"/>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57"/>
          <p:cNvSpPr/>
          <p:nvPr/>
        </p:nvSpPr>
        <p:spPr>
          <a:xfrm>
            <a:off x="3102102" y="2103120"/>
            <a:ext cx="265176" cy="0"/>
          </a:xfrm>
          <a:prstGeom prst="line">
            <a:avLst/>
          </a:prstGeom>
          <a:noFill/>
          <a:ln w="25400">
            <a:solidFill>
              <a:schemeClr val="tx2"/>
            </a:solidFill>
            <a:prstDash val="solid"/>
            <a:tailEnd type="triangle"/>
          </a:ln>
        </p:spPr>
      </p:sp>
      <p:sp>
        <p:nvSpPr>
          <p:cNvPr id="9" name="box_2558"/>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59"/>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60"/>
          <p:cNvSpPr/>
          <p:nvPr/>
        </p:nvSpPr>
        <p:spPr>
          <a:xfrm>
            <a:off x="5948172" y="2103120"/>
            <a:ext cx="265176" cy="0"/>
          </a:xfrm>
          <a:prstGeom prst="line">
            <a:avLst/>
          </a:prstGeom>
          <a:noFill/>
          <a:ln w="25400">
            <a:solidFill>
              <a:schemeClr val="tx2"/>
            </a:solidFill>
            <a:prstDash val="solid"/>
            <a:tailEnd type="triangle"/>
          </a:ln>
        </p:spPr>
      </p:sp>
      <p:sp>
        <p:nvSpPr>
          <p:cNvPr id="12" name="box_2561"/>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62"/>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63"/>
          <p:cNvSpPr/>
          <p:nvPr/>
        </p:nvSpPr>
        <p:spPr>
          <a:xfrm>
            <a:off x="8794242" y="2103120"/>
            <a:ext cx="265176" cy="0"/>
          </a:xfrm>
          <a:prstGeom prst="line">
            <a:avLst/>
          </a:prstGeom>
          <a:noFill/>
          <a:ln w="25400">
            <a:solidFill>
              <a:schemeClr val="tx2"/>
            </a:solidFill>
            <a:prstDash val="solid"/>
            <a:tailEnd type="triangle"/>
          </a:ln>
        </p:spPr>
      </p:sp>
      <p:sp>
        <p:nvSpPr>
          <p:cNvPr id="15" name="box_2564"/>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65"/>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66"/>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67"/>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68"/>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69"/>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70"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71"/>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72"/>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73"/>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74"/>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75"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76"/>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77"/>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80"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81"/>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82"/>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83"/>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84"/>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85"/>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86"/>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87"/>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88"/>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89"/>
          <p:cNvSpPr/>
          <p:nvPr/>
        </p:nvSpPr>
        <p:spPr>
          <a:xfrm>
            <a:off x="6258154" y="2330348"/>
            <a:ext cx="365760" cy="365760"/>
          </a:xfrm>
          <a:prstGeom prst="ellipse">
            <a:avLst/>
          </a:prstGeom>
          <a:solidFill>
            <a:schemeClr val="accent1"/>
          </a:solidFill>
          <a:ln w="19050">
            <a:solidFill>
              <a:schemeClr val="bg1"/>
            </a:solidFill>
            <a:prstDash val="solid"/>
          </a:ln>
        </p:spPr>
      </p:sp>
      <p:sp>
        <p:nvSpPr>
          <p:cNvPr id="16" name="text_2590"/>
          <p:cNvSpPr txBox="1"/>
          <p:nvPr/>
        </p:nvSpPr>
        <p:spPr>
          <a:xfrm>
            <a:off x="6258154" y="233034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91"/>
          <p:cNvSpPr/>
          <p:nvPr/>
        </p:nvSpPr>
        <p:spPr>
          <a:xfrm>
            <a:off x="6742786" y="2810134"/>
            <a:ext cx="365760" cy="365760"/>
          </a:xfrm>
          <a:prstGeom prst="ellipse">
            <a:avLst/>
          </a:prstGeom>
          <a:solidFill>
            <a:schemeClr val="accent1"/>
          </a:solidFill>
          <a:ln w="19050">
            <a:solidFill>
              <a:schemeClr val="bg1"/>
            </a:solidFill>
            <a:prstDash val="solid"/>
          </a:ln>
        </p:spPr>
      </p:sp>
      <p:sp>
        <p:nvSpPr>
          <p:cNvPr id="18" name="text_2592"/>
          <p:cNvSpPr txBox="1"/>
          <p:nvPr/>
        </p:nvSpPr>
        <p:spPr>
          <a:xfrm>
            <a:off x="6742786" y="28101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93"/>
          <p:cNvSpPr/>
          <p:nvPr/>
        </p:nvSpPr>
        <p:spPr>
          <a:xfrm>
            <a:off x="5894680" y="3420770"/>
            <a:ext cx="365760" cy="365760"/>
          </a:xfrm>
          <a:prstGeom prst="ellipse">
            <a:avLst/>
          </a:prstGeom>
          <a:solidFill>
            <a:schemeClr val="accent1"/>
          </a:solidFill>
          <a:ln w="19050">
            <a:solidFill>
              <a:schemeClr val="bg1"/>
            </a:solidFill>
            <a:prstDash val="solid"/>
          </a:ln>
        </p:spPr>
      </p:sp>
      <p:sp>
        <p:nvSpPr>
          <p:cNvPr id="20" name="text_2594"/>
          <p:cNvSpPr txBox="1"/>
          <p:nvPr/>
        </p:nvSpPr>
        <p:spPr>
          <a:xfrm>
            <a:off x="5894680" y="342077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95"/>
          <p:cNvSpPr/>
          <p:nvPr/>
        </p:nvSpPr>
        <p:spPr>
          <a:xfrm>
            <a:off x="5894680" y="5359298"/>
            <a:ext cx="365760" cy="365760"/>
          </a:xfrm>
          <a:prstGeom prst="ellipse">
            <a:avLst/>
          </a:prstGeom>
          <a:solidFill>
            <a:schemeClr val="accent1"/>
          </a:solidFill>
          <a:ln w="19050">
            <a:solidFill>
              <a:schemeClr val="bg1"/>
            </a:solidFill>
            <a:prstDash val="solid"/>
          </a:ln>
        </p:spPr>
      </p:sp>
      <p:sp>
        <p:nvSpPr>
          <p:cNvPr id="22" name="text_2596"/>
          <p:cNvSpPr txBox="1"/>
          <p:nvPr/>
        </p:nvSpPr>
        <p:spPr>
          <a:xfrm>
            <a:off x="5894680" y="535929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97"/>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98"/>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99"/>
          <p:cNvSpPr/>
          <p:nvPr/>
        </p:nvSpPr>
        <p:spPr>
          <a:xfrm>
            <a:off x="7106260" y="1395009"/>
            <a:ext cx="365760" cy="365760"/>
          </a:xfrm>
          <a:prstGeom prst="ellipse">
            <a:avLst/>
          </a:prstGeom>
          <a:solidFill>
            <a:schemeClr val="accent1"/>
          </a:solidFill>
          <a:ln w="19050">
            <a:solidFill>
              <a:schemeClr val="bg1"/>
            </a:solidFill>
            <a:prstDash val="solid"/>
          </a:ln>
        </p:spPr>
      </p:sp>
      <p:sp>
        <p:nvSpPr>
          <p:cNvPr id="26" name="text_2600"/>
          <p:cNvSpPr txBox="1"/>
          <p:nvPr/>
        </p:nvSpPr>
        <p:spPr>
          <a:xfrm>
            <a:off x="7106260" y="139500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40" name="table_2601"/>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605"/>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606"/>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airlab_dashboard dashboard_launcher</a:t>
            </a:r>
            <a:endParaRPr lang="ko-KR" altLang="en-US" sz="1300" dirty="0"/>
          </a:p>
        </p:txBody>
      </p:sp>
      <p:sp>
        <p:nvSpPr>
          <p:cNvPr id="9" name="num_2607"/>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608"/>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09"/>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610"/>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611"/>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612"/>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13"/>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614"/>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VLA 집기(모듈 5) 또는 지도 만들기, MuJoCo 창, RViz</a:t>
            </a:r>
            <a:endParaRPr lang="ko-KR" altLang="en-US" sz="1400" dirty="0"/>
          </a:p>
        </p:txBody>
      </p:sp>
      <p:sp>
        <p:nvSpPr>
          <p:cNvPr id="17" name="num_2615"/>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616"/>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17"/>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618"/>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619"/>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620"/>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621"/>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622"/>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6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25"/>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626"/>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627"/>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62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62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63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63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63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63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63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63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3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3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40" descr="작업 중인 웹 대시보드">    </p:cNvPr>
          <p:cNvPicPr>
            <a:picLocks noChangeAspect="1"/>
          </p:cNvPicPr>
          <p:nvPr/>
        </p:nvPicPr>
        <p:blipFill>
          <a:blip r:embed="rId1"/>
          <a:stretch>
            <a:fillRect/>
          </a:stretch>
        </p:blipFill>
        <p:spPr>
          <a:xfrm>
            <a:off x="548640" y="1971040"/>
            <a:ext cx="5120640" cy="3556000"/>
          </a:xfrm>
          <a:prstGeom prst="rect">
            <a:avLst/>
          </a:prstGeom>
        </p:spPr>
      </p:pic>
      <p:sp>
        <p:nvSpPr>
          <p:cNvPr id="7" name="box_2641"/>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42"/>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43"/>
          <p:cNvSpPr/>
          <p:nvPr/>
        </p:nvSpPr>
        <p:spPr>
          <a:xfrm>
            <a:off x="8823960" y="2240280"/>
            <a:ext cx="0" cy="411480"/>
          </a:xfrm>
          <a:prstGeom prst="line">
            <a:avLst/>
          </a:prstGeom>
          <a:noFill/>
          <a:ln w="25400">
            <a:solidFill>
              <a:schemeClr val="tx2"/>
            </a:solidFill>
            <a:prstDash val="solid"/>
            <a:tailEnd type="triangle"/>
          </a:ln>
        </p:spPr>
      </p:sp>
      <p:sp>
        <p:nvSpPr>
          <p:cNvPr id="10" name="text_2644"/>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45"/>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46"/>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47"/>
          <p:cNvSpPr/>
          <p:nvPr/>
        </p:nvSpPr>
        <p:spPr>
          <a:xfrm>
            <a:off x="8823960" y="3566160"/>
            <a:ext cx="0" cy="365760"/>
          </a:xfrm>
          <a:prstGeom prst="line">
            <a:avLst/>
          </a:prstGeom>
          <a:noFill/>
          <a:ln w="25400">
            <a:solidFill>
              <a:schemeClr val="tx2"/>
            </a:solidFill>
            <a:prstDash val="solid"/>
            <a:tailEnd type="triangle"/>
          </a:ln>
        </p:spPr>
      </p:sp>
      <p:graphicFrame>
        <p:nvGraphicFramePr>
          <p:cNvPr id="143" name="table_2648"/>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 /task_manual_drive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/cmd_vel (키보드 조종)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51"/>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52"/>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53"/>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54"/>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55"/>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56"/>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57"/>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58"/>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59"/>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60"/>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61"/>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62"/>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63"/>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64"/>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65"/>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66"/>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67"/>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68"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69"/>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70"/>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71"/>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72"/>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73"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74"/>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75"/>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78"/>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79"/>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80"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81"/>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82"/>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83"/>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84"/>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작업대 자리 (마커 1·2·3)</a:t>
            </a:r>
            <a:endParaRPr lang="ko-KR" altLang="en-US" sz="3600" dirty="0"/>
          </a:p>
        </p:txBody>
      </p:sp>
      <p:sp>
        <p:nvSpPr>
          <p:cNvPr id="13" name="text_2685"/>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86"/>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87"/>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88"/>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89"/>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90"/>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91"/>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92"/>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93"/>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96"/>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9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9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99"/>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700"/>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701"/>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702"/>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703"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704"/>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705"/>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706"/>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707"/>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708"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709"/>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710"/>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711"/>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712"/>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713"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714"/>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715"/>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7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718"/>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719"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720"/>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721"/>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722"/>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723"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724"/>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725"/>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726"/>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727"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728"/>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729"/>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730"/>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731"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732"/>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733"/>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734"/>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735"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36"/>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37"/>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40"/>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41"/>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42"/>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43"/>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44"/>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45"/>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46"/>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47"/>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48"/>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49"/>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50"/>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51"/>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52"/>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53"/>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54"/>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55"/>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58"/>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5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6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6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62"/>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63"/>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64"/>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65"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66"/>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67"/>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68"/>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69"/>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70"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71"/>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72"/>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73"/>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74"/>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75"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76"/>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77"/>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심화 모듈 5 · 선택 · 약 3시간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VLA</a:t>
            </a:r>
            <a:endParaRPr lang="ko-KR" altLang="en-US" sz="4000" dirty="0"/>
          </a:p>
          <a:p>
            <a:pPr eaLnBrk="0" algn="l" indent="0" marL="0">
              <a:buNone/>
            </a:pPr>
            <a:r>
              <a:rPr lang="ko-KR" altLang="en-US" sz="4000" b="1" dirty="0">
                <a:solidFill>
                  <a:schemeClr val="bg1"/>
                </a:solidFill>
              </a:rPr>
              <a:t>보고 배우는 집기 정책</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"계산해서 집기"와 "배워서 집기"의 차이를 설명한다</a:t>
            </a:r>
            <a:endParaRPr lang="ko-KR" altLang="en-US" sz="1600" dirty="0"/>
          </a:p>
          <a:p>
            <a:pPr eaLnBrk="0" marL="228600" indent="-228600">
              <a:spcAft>
                <a:spcPts val="800"/>
              </a:spcAft>
              <a:buSzPct val="100000"/>
              <a:buChar char="•"/>
            </a:pPr>
            <a:r>
              <a:rPr lang="ko-KR" altLang="en-US" sz="1600" dirty="0">
                <a:solidFill>
                  <a:schemeClr val="accent5"/>
                </a:solidFill>
              </a:rPr>
              <a:t>스크립트 전문가의 시연으로 작은 정책을 노트북 CPU에서 학습한다</a:t>
            </a:r>
            <a:endParaRPr lang="ko-KR" altLang="en-US" sz="1600" dirty="0"/>
          </a:p>
          <a:p>
            <a:pPr eaLnBrk="0" marL="228600" indent="-228600">
              <a:spcAft>
                <a:spcPts val="800"/>
              </a:spcAft>
              <a:buSzPct val="100000"/>
              <a:buChar char="•"/>
            </a:pPr>
            <a:r>
              <a:rPr lang="ko-KR" altLang="en-US" sz="1600" dirty="0">
                <a:solidFill>
                  <a:schemeClr val="accent5"/>
                </a:solidFill>
              </a:rPr>
              <a:t>처음 보는 배치에서 정책과 전문가의 성공률을 비교한다</a:t>
            </a:r>
            <a:endParaRPr lang="ko-KR" altLang="en-US" sz="1600" dirty="0"/>
          </a:p>
          <a:p>
            <a:pPr eaLnBrk="0" marL="228600" indent="-228600">
              <a:spcAft>
                <a:spcPts val="800"/>
              </a:spcAft>
              <a:buSzPct val="100000"/>
              <a:buChar char="•"/>
            </a:pPr>
            <a:r>
              <a:rPr lang="ko-KR" altLang="en-US" sz="1600" dirty="0">
                <a:solidFill>
                  <a:schemeClr val="accent5"/>
                </a:solidFill>
              </a:rPr>
              <a:t>정책을 ROS 노드로 감싸 작업의 "집기" 한 단계만 바꿔 끼운다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계산해서 집기 vs 배워서 집기</a:t>
            </a:r>
            <a:endParaRPr lang="ko-KR" altLang="en-US" sz="3000" dirty="0"/>
          </a:p>
        </p:txBody>
      </p:sp>
      <p:sp>
        <p:nvSpPr>
          <p:cNvPr id="3" name="pill_27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80"/>
          <p:cNvSpPr/>
          <p:nvPr/>
        </p:nvSpPr>
        <p:spPr>
          <a:xfrm>
            <a:off x="548640" y="1371600"/>
            <a:ext cx="5440680" cy="3108960"/>
          </a:xfrm>
          <a:prstGeom prst="roundRect">
            <a:avLst>
              <a:gd name="adj" fmla="val 2353"/>
            </a:avLst>
          </a:prstGeom>
          <a:solidFill>
            <a:schemeClr val="bg2"/>
          </a:solidFill>
          <a:ln w="12700">
            <a:solidFill>
              <a:schemeClr val="bg2"/>
            </a:solidFill>
            <a:prstDash val="solid"/>
          </a:ln>
        </p:spPr>
      </p:sp>
      <p:sp>
        <p:nvSpPr>
          <p:cNvPr id="7" name="iconbg_2781"/>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82" descr="Cog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83"/>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계산해서 (모듈 3)</a:t>
            </a:r>
            <a:endParaRPr lang="ko-KR" altLang="en-US" sz="1800" dirty="0"/>
          </a:p>
        </p:txBody>
      </p:sp>
      <p:sp>
        <p:nvSpPr>
          <p:cNvPr id="10" name="text_2784"/>
          <p:cNvSpPr txBox="1"/>
          <p:nvPr/>
        </p:nvSpPr>
        <p:spPr>
          <a:xfrm>
            <a:off x="77724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 ArUco 마커 → 상자 위치·방향 (숫자)</a:t>
            </a:r>
            <a:endParaRPr lang="ko-KR" altLang="en-US" sz="1500" dirty="0"/>
          </a:p>
          <a:p>
            <a:pPr eaLnBrk="0" indent="0" marL="0">
              <a:buNone/>
            </a:pPr>
            <a:r>
              <a:rPr lang="ko-KR" altLang="en-US" sz="1500" dirty="0">
                <a:solidFill>
                  <a:schemeClr val="tx1"/>
                </a:solidFill>
              </a:rPr>
              <a:t>→ 손 목표 자세 계산 (접근 15°)</a:t>
            </a:r>
            <a:endParaRPr lang="ko-KR" altLang="en-US" sz="1500" dirty="0"/>
          </a:p>
          <a:p>
            <a:pPr eaLnBrk="0" indent="0" marL="0">
              <a:buNone/>
            </a:pPr>
            <a:r>
              <a:rPr lang="ko-KR" altLang="en-US" sz="1500" dirty="0">
                <a:solidFill>
                  <a:schemeClr val="tx1"/>
                </a:solidFill>
              </a:rPr>
              <a:t>→ MoveIt IK · 경로 계획 → 궤적</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정확하고 왜 그렇게 움직였는지 설명 가능</a:t>
            </a:r>
            <a:endParaRPr lang="ko-KR" altLang="en-US" sz="1500" dirty="0"/>
          </a:p>
          <a:p>
            <a:pPr eaLnBrk="0" indent="0" marL="0">
              <a:buNone/>
            </a:pPr>
            <a:r>
              <a:rPr lang="ko-KR" altLang="en-US" sz="1500" dirty="0">
                <a:solidFill>
                  <a:schemeClr val="tx1"/>
                </a:solidFill>
              </a:rPr>
              <a:t>• 마커 없는 물체, 새 모양은 사람이 다시 코딩</a:t>
            </a:r>
            <a:endParaRPr lang="ko-KR" altLang="en-US" sz="1500" dirty="0"/>
          </a:p>
        </p:txBody>
      </p:sp>
      <p:sp>
        <p:nvSpPr>
          <p:cNvPr id="11" name="box_2785"/>
          <p:cNvSpPr/>
          <p:nvPr/>
        </p:nvSpPr>
        <p:spPr>
          <a:xfrm>
            <a:off x="6172200" y="1371600"/>
            <a:ext cx="5440680" cy="3108960"/>
          </a:xfrm>
          <a:prstGeom prst="roundRect">
            <a:avLst>
              <a:gd name="adj" fmla="val 2353"/>
            </a:avLst>
          </a:prstGeom>
          <a:solidFill>
            <a:schemeClr val="bg2"/>
          </a:solidFill>
          <a:ln w="12700">
            <a:solidFill>
              <a:schemeClr val="bg2"/>
            </a:solidFill>
            <a:prstDash val="solid"/>
          </a:ln>
        </p:spPr>
      </p:sp>
      <p:sp>
        <p:nvSpPr>
          <p:cNvPr id="12" name="iconbg_2786"/>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87" descr="Brai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88"/>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배워서 (이 모듈)</a:t>
            </a:r>
            <a:endParaRPr lang="ko-KR" altLang="en-US" sz="1800" dirty="0"/>
          </a:p>
        </p:txBody>
      </p:sp>
      <p:sp>
        <p:nvSpPr>
          <p:cNvPr id="15" name="text_2789"/>
          <p:cNvSpPr txBox="1"/>
          <p:nvPr/>
        </p:nvSpPr>
        <p:spPr>
          <a:xfrm>
            <a:off x="640080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영상 + 명령 문장 + 관절각</a:t>
            </a:r>
            <a:endParaRPr lang="ko-KR" altLang="en-US" sz="1500" dirty="0"/>
          </a:p>
          <a:p>
            <a:pPr eaLnBrk="0" indent="0" marL="0">
              <a:buNone/>
            </a:pPr>
            <a:r>
              <a:rPr lang="ko-KR" altLang="en-US" sz="1500" dirty="0">
                <a:solidFill>
                  <a:schemeClr val="tx1"/>
                </a:solidFill>
              </a:rPr>
              <a:t>→ 신경망 → 다음 1초의 관절 목표</a:t>
            </a:r>
            <a:endParaRPr lang="ko-KR" altLang="en-US" sz="1500" dirty="0"/>
          </a:p>
          <a:p>
            <a:pPr eaLnBrk="0" indent="0" marL="0">
              <a:buNone/>
            </a:pPr>
            <a:r>
              <a:rPr lang="ko-KR" altLang="en-US" sz="1500" dirty="0">
                <a:solidFill>
                  <a:schemeClr val="tx1"/>
                </a:solidFill>
              </a:rPr>
              <a:t>(0.1초마다 다시 보고 다시 낸다)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시연만 있으면 새 물체·새 동작도 같은 방법</a:t>
            </a:r>
            <a:endParaRPr lang="ko-KR" altLang="en-US" sz="1500" dirty="0"/>
          </a:p>
          <a:p>
            <a:pPr eaLnBrk="0" indent="0" marL="0">
              <a:buNone/>
            </a:pPr>
            <a:r>
              <a:rPr lang="ko-KR" altLang="en-US" sz="1500" dirty="0">
                <a:solidFill>
                  <a:schemeClr val="tx1"/>
                </a:solidFill>
              </a:rPr>
              <a:t>• 데이터 밖 상황에서는 무엇을 할지 모른다</a:t>
            </a:r>
            <a:endParaRPr lang="ko-KR" altLang="en-US" sz="1500" dirty="0"/>
          </a:p>
        </p:txBody>
      </p:sp>
      <p:sp>
        <p:nvSpPr>
          <p:cNvPr id="16" name="box_2790"/>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17" name="iconbg_2791"/>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18" name="icon_2792" descr="Lightbulb 아이콘">    </p:cNvPr>
          <p:cNvPicPr>
            <a:picLocks noChangeAspect="1"/>
          </p:cNvPicPr>
          <p:nvPr/>
        </p:nvPicPr>
        <p:blipFill>
          <a:blip r:embed="rId3"/>
          <a:stretch>
            <a:fillRect/>
          </a:stretch>
        </p:blipFill>
        <p:spPr>
          <a:xfrm>
            <a:off x="897941" y="5012741"/>
            <a:ext cx="307238" cy="307238"/>
          </a:xfrm>
          <a:prstGeom prst="rect">
            <a:avLst/>
          </a:prstGeom>
        </p:spPr>
      </p:pic>
      <p:sp>
        <p:nvSpPr>
          <p:cNvPr id="19" name="text_2793"/>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794"/>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요리책을 보고 계량해서 만드는 사람(계산)과, 잘하는 사람 옆에서 수백 번 보고 손이 기억하는 사람(학습). 앞사람은 레시피가 없으면 못 하고, 뒷사람은 처음 보는 부엌에서 헤맨다.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VLA = Vision + Language → Action</a:t>
            </a:r>
            <a:endParaRPr lang="ko-KR" altLang="en-US" sz="3000" dirty="0"/>
          </a:p>
        </p:txBody>
      </p:sp>
      <p:sp>
        <p:nvSpPr>
          <p:cNvPr id="3" name="pill_27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97"/>
          <p:cNvSpPr/>
          <p:nvPr/>
        </p:nvSpPr>
        <p:spPr>
          <a:xfrm>
            <a:off x="548640" y="1371600"/>
            <a:ext cx="3291840" cy="603504"/>
          </a:xfrm>
          <a:prstGeom prst="roundRect">
            <a:avLst>
              <a:gd name="adj" fmla="val 12121"/>
            </a:avLst>
          </a:prstGeom>
          <a:solidFill>
            <a:schemeClr val="accent3"/>
          </a:solidFill>
          <a:ln w="12700">
            <a:solidFill>
              <a:schemeClr val="accent3"/>
            </a:solidFill>
            <a:prstDash val="solid"/>
          </a:ln>
        </p:spPr>
      </p:sp>
      <p:sp>
        <p:nvSpPr>
          <p:cNvPr id="7" name="text_2798"/>
          <p:cNvSpPr txBox="1"/>
          <p:nvPr/>
        </p:nvSpPr>
        <p:spPr>
          <a:xfrm>
            <a:off x="640080" y="1371600"/>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머리 카메라 128×72</a:t>
            </a:r>
            <a:endParaRPr lang="ko-KR" altLang="en-US" sz="1500" dirty="0"/>
          </a:p>
        </p:txBody>
      </p:sp>
      <p:sp>
        <p:nvSpPr>
          <p:cNvPr id="8" name="arrow_2799"/>
          <p:cNvSpPr/>
          <p:nvPr/>
        </p:nvSpPr>
        <p:spPr>
          <a:xfrm>
            <a:off x="3886200" y="1673352"/>
            <a:ext cx="685800" cy="1069848"/>
          </a:xfrm>
          <a:prstGeom prst="line">
            <a:avLst/>
          </a:prstGeom>
          <a:noFill/>
          <a:ln w="25400">
            <a:solidFill>
              <a:schemeClr val="tx2"/>
            </a:solidFill>
            <a:prstDash val="solid"/>
            <a:tailEnd type="triangle"/>
          </a:ln>
        </p:spPr>
      </p:sp>
      <p:sp>
        <p:nvSpPr>
          <p:cNvPr id="9" name="box_2800"/>
          <p:cNvSpPr/>
          <p:nvPr/>
        </p:nvSpPr>
        <p:spPr>
          <a:xfrm>
            <a:off x="548640" y="2121408"/>
            <a:ext cx="3291840" cy="603504"/>
          </a:xfrm>
          <a:prstGeom prst="roundRect">
            <a:avLst>
              <a:gd name="adj" fmla="val 12121"/>
            </a:avLst>
          </a:prstGeom>
          <a:solidFill>
            <a:schemeClr val="accent3"/>
          </a:solidFill>
          <a:ln w="12700">
            <a:solidFill>
              <a:schemeClr val="accent3"/>
            </a:solidFill>
            <a:prstDash val="solid"/>
          </a:ln>
        </p:spPr>
      </p:sp>
      <p:sp>
        <p:nvSpPr>
          <p:cNvPr id="10" name="text_2801"/>
          <p:cNvSpPr txBox="1"/>
          <p:nvPr/>
        </p:nvSpPr>
        <p:spPr>
          <a:xfrm>
            <a:off x="640080" y="2121408"/>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손목 카메라 96×96</a:t>
            </a:r>
            <a:endParaRPr lang="ko-KR" altLang="en-US" sz="1500" dirty="0"/>
          </a:p>
        </p:txBody>
      </p:sp>
      <p:sp>
        <p:nvSpPr>
          <p:cNvPr id="11" name="arrow_2802"/>
          <p:cNvSpPr/>
          <p:nvPr/>
        </p:nvSpPr>
        <p:spPr>
          <a:xfrm>
            <a:off x="3886200" y="2423160"/>
            <a:ext cx="685800" cy="320040"/>
          </a:xfrm>
          <a:prstGeom prst="line">
            <a:avLst/>
          </a:prstGeom>
          <a:noFill/>
          <a:ln w="25400">
            <a:solidFill>
              <a:schemeClr val="tx2"/>
            </a:solidFill>
            <a:prstDash val="solid"/>
            <a:tailEnd type="triangle"/>
          </a:ln>
        </p:spPr>
      </p:sp>
      <p:sp>
        <p:nvSpPr>
          <p:cNvPr id="12" name="box_2803"/>
          <p:cNvSpPr/>
          <p:nvPr/>
        </p:nvSpPr>
        <p:spPr>
          <a:xfrm>
            <a:off x="548640" y="2871216"/>
            <a:ext cx="3291840" cy="603504"/>
          </a:xfrm>
          <a:prstGeom prst="roundRect">
            <a:avLst>
              <a:gd name="adj" fmla="val 12121"/>
            </a:avLst>
          </a:prstGeom>
          <a:solidFill>
            <a:schemeClr val="accent4"/>
          </a:solidFill>
          <a:ln w="12700">
            <a:solidFill>
              <a:schemeClr val="accent4"/>
            </a:solidFill>
            <a:prstDash val="solid"/>
          </a:ln>
        </p:spPr>
      </p:sp>
      <p:sp>
        <p:nvSpPr>
          <p:cNvPr id="13" name="text_2804"/>
          <p:cNvSpPr txBox="1"/>
          <p:nvPr/>
        </p:nvSpPr>
        <p:spPr>
          <a:xfrm>
            <a:off x="640080" y="2871216"/>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명령 "pick up the green box"</a:t>
            </a:r>
            <a:endParaRPr lang="ko-KR" altLang="en-US" sz="1500" dirty="0"/>
          </a:p>
        </p:txBody>
      </p:sp>
      <p:sp>
        <p:nvSpPr>
          <p:cNvPr id="14" name="arrow_2805"/>
          <p:cNvSpPr/>
          <p:nvPr/>
        </p:nvSpPr>
        <p:spPr>
          <a:xfrm flipV="1">
            <a:off x="3886200" y="2743200"/>
            <a:ext cx="685800" cy="429768"/>
          </a:xfrm>
          <a:prstGeom prst="line">
            <a:avLst/>
          </a:prstGeom>
          <a:noFill/>
          <a:ln w="25400">
            <a:solidFill>
              <a:schemeClr val="tx2"/>
            </a:solidFill>
            <a:prstDash val="solid"/>
            <a:tailEnd type="triangle"/>
          </a:ln>
        </p:spPr>
      </p:sp>
      <p:sp>
        <p:nvSpPr>
          <p:cNvPr id="15" name="box_2806"/>
          <p:cNvSpPr/>
          <p:nvPr/>
        </p:nvSpPr>
        <p:spPr>
          <a:xfrm>
            <a:off x="548640" y="3621024"/>
            <a:ext cx="3291840" cy="603504"/>
          </a:xfrm>
          <a:prstGeom prst="roundRect">
            <a:avLst>
              <a:gd name="adj" fmla="val 12121"/>
            </a:avLst>
          </a:prstGeom>
          <a:solidFill>
            <a:schemeClr val="accent5"/>
          </a:solidFill>
          <a:ln w="12700">
            <a:solidFill>
              <a:schemeClr val="accent5"/>
            </a:solidFill>
            <a:prstDash val="solid"/>
          </a:ln>
        </p:spPr>
      </p:sp>
      <p:sp>
        <p:nvSpPr>
          <p:cNvPr id="16" name="text_2807"/>
          <p:cNvSpPr txBox="1"/>
          <p:nvPr/>
        </p:nvSpPr>
        <p:spPr>
          <a:xfrm>
            <a:off x="640080" y="3621024"/>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관절각 8개</a:t>
            </a:r>
            <a:endParaRPr lang="ko-KR" altLang="en-US" sz="1500" dirty="0"/>
          </a:p>
        </p:txBody>
      </p:sp>
      <p:sp>
        <p:nvSpPr>
          <p:cNvPr id="17" name="arrow_2808"/>
          <p:cNvSpPr/>
          <p:nvPr/>
        </p:nvSpPr>
        <p:spPr>
          <a:xfrm flipV="1">
            <a:off x="3886200" y="2743200"/>
            <a:ext cx="685800" cy="1179576"/>
          </a:xfrm>
          <a:prstGeom prst="line">
            <a:avLst/>
          </a:prstGeom>
          <a:noFill/>
          <a:ln w="25400">
            <a:solidFill>
              <a:schemeClr val="tx2"/>
            </a:solidFill>
            <a:prstDash val="solid"/>
            <a:tailEnd type="triangle"/>
          </a:ln>
        </p:spPr>
      </p:sp>
      <p:sp>
        <p:nvSpPr>
          <p:cNvPr id="18" name="box_2809"/>
          <p:cNvSpPr/>
          <p:nvPr/>
        </p:nvSpPr>
        <p:spPr>
          <a:xfrm>
            <a:off x="4617720" y="2011680"/>
            <a:ext cx="2377440" cy="1463040"/>
          </a:xfrm>
          <a:prstGeom prst="roundRect">
            <a:avLst>
              <a:gd name="adj" fmla="val 5000"/>
            </a:avLst>
          </a:prstGeom>
          <a:solidFill>
            <a:schemeClr val="tx1"/>
          </a:solidFill>
          <a:ln w="12700">
            <a:solidFill>
              <a:schemeClr val="tx1"/>
            </a:solidFill>
            <a:prstDash val="solid"/>
          </a:ln>
        </p:spPr>
      </p:sp>
      <p:sp>
        <p:nvSpPr>
          <p:cNvPr id="19" name="text_2810"/>
          <p:cNvSpPr txBox="1"/>
          <p:nvPr/>
        </p:nvSpPr>
        <p:spPr>
          <a:xfrm>
            <a:off x="4617720" y="2011680"/>
            <a:ext cx="237744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정책 신경망</a:t>
            </a:r>
            <a:endParaRPr lang="ko-KR" altLang="en-US" sz="1500" dirty="0"/>
          </a:p>
          <a:p>
            <a:pPr eaLnBrk="0" algn="ctr" indent="0" marL="0">
              <a:buNone/>
            </a:pPr>
            <a:r>
              <a:rPr lang="ko-KR" altLang="en-US" sz="1500" b="1" dirty="0">
                <a:solidFill>
                  <a:schemeClr val="bg1"/>
                </a:solidFill>
              </a:rPr>
              <a:t>60만 매개변수</a:t>
            </a:r>
            <a:endParaRPr lang="ko-KR" altLang="en-US" sz="1500" dirty="0"/>
          </a:p>
          <a:p>
            <a:pPr eaLnBrk="0" algn="ctr" indent="0" marL="0">
              <a:buNone/>
            </a:pPr>
            <a:r>
              <a:rPr lang="ko-KR" altLang="en-US" sz="1500" b="1" dirty="0">
                <a:solidFill>
                  <a:schemeClr val="bg1"/>
                </a:solidFill>
              </a:rPr>
              <a:t>CPU 한 번 4 ms</a:t>
            </a:r>
            <a:endParaRPr lang="ko-KR" altLang="en-US" sz="1500" dirty="0"/>
          </a:p>
        </p:txBody>
      </p:sp>
      <p:sp>
        <p:nvSpPr>
          <p:cNvPr id="20" name="arrow_2811"/>
          <p:cNvSpPr/>
          <p:nvPr/>
        </p:nvSpPr>
        <p:spPr>
          <a:xfrm>
            <a:off x="7040880" y="2743200"/>
            <a:ext cx="640080" cy="0"/>
          </a:xfrm>
          <a:prstGeom prst="line">
            <a:avLst/>
          </a:prstGeom>
          <a:noFill/>
          <a:ln w="25400">
            <a:solidFill>
              <a:schemeClr val="tx2"/>
            </a:solidFill>
            <a:prstDash val="solid"/>
            <a:tailEnd type="triangle"/>
          </a:ln>
        </p:spPr>
      </p:sp>
      <p:sp>
        <p:nvSpPr>
          <p:cNvPr id="21" name="box_2812"/>
          <p:cNvSpPr/>
          <p:nvPr/>
        </p:nvSpPr>
        <p:spPr>
          <a:xfrm>
            <a:off x="7726680" y="2011680"/>
            <a:ext cx="3886200" cy="1463040"/>
          </a:xfrm>
          <a:prstGeom prst="roundRect">
            <a:avLst>
              <a:gd name="adj" fmla="val 5000"/>
            </a:avLst>
          </a:prstGeom>
          <a:solidFill>
            <a:schemeClr val="accent1"/>
          </a:solidFill>
          <a:ln w="12700">
            <a:solidFill>
              <a:schemeClr val="accent1"/>
            </a:solidFill>
            <a:prstDash val="solid"/>
          </a:ln>
        </p:spPr>
      </p:sp>
      <p:sp>
        <p:nvSpPr>
          <p:cNvPr id="22" name="text_2813"/>
          <p:cNvSpPr txBox="1"/>
          <p:nvPr/>
        </p:nvSpPr>
        <p:spPr>
          <a:xfrm>
            <a:off x="7772400" y="2011680"/>
            <a:ext cx="379476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앞으로 1초(10단계)의</a:t>
            </a:r>
            <a:endParaRPr lang="ko-KR" altLang="en-US" sz="1500" dirty="0"/>
          </a:p>
          <a:p>
            <a:pPr eaLnBrk="0" algn="ctr" indent="0" marL="0">
              <a:buNone/>
            </a:pPr>
            <a:r>
              <a:rPr lang="ko-KR" altLang="en-US" sz="1500" b="1" dirty="0">
                <a:solidFill>
                  <a:schemeClr val="bg1"/>
                </a:solidFill>
              </a:rPr>
              <a:t>오른팔 관절 7 + 손가락 목표</a:t>
            </a:r>
            <a:endParaRPr lang="ko-KR" altLang="en-US" sz="1500" dirty="0"/>
          </a:p>
          <a:p>
            <a:pPr eaLnBrk="0" algn="ctr" indent="0" marL="0">
              <a:buNone/>
            </a:pPr>
            <a:r>
              <a:rPr lang="ko-KR" altLang="en-US" sz="1500" b="1" dirty="0">
                <a:solidFill>
                  <a:schemeClr val="bg1"/>
                </a:solidFill>
              </a:rPr>
              <a:t>+ "다 집었다" 확률</a:t>
            </a:r>
            <a:endParaRPr lang="ko-KR" altLang="en-US" sz="1500" dirty="0"/>
          </a:p>
        </p:txBody>
      </p:sp>
      <p:sp>
        <p:nvSpPr>
          <p:cNvPr id="23" name="text_2814"/>
          <p:cNvSpPr txBox="1"/>
          <p:nvPr/>
        </p:nvSpPr>
        <p:spPr>
          <a:xfrm>
            <a:off x="4617720" y="3611880"/>
            <a:ext cx="69951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0.1초마다 새 영상으로 다시 → /joint_commands</a:t>
            </a:r>
            <a:endParaRPr lang="ko-KR" altLang="en-US" sz="1300" dirty="0"/>
          </a:p>
        </p:txBody>
      </p:sp>
      <p:graphicFrame>
        <p:nvGraphicFramePr>
          <p:cNvPr id="152" name="table_2815"/>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011680"/>
                <a:gridCol w="4754880"/>
                <a:gridCol w="4297680"/>
              </a:tblGrid>
              <a:tr h="0">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큰 VLA (OpenVLA, π0)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 모듈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매개변수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30억~70억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60만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GPU 수십 대, 시연 수십만 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 CPU 약 1시간, 시연 1,155개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할 수 있는 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여러 물체, 여러 동작, 처음 보는 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세 색 상자 집기 (테이블 네 곳)</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무엇을 바꾸고 무엇을 그대로 두나</a:t>
            </a:r>
            <a:endParaRPr lang="ko-KR" altLang="en-US" sz="3000" dirty="0"/>
          </a:p>
        </p:txBody>
      </p:sp>
      <p:sp>
        <p:nvSpPr>
          <p:cNvPr id="3" name="pill_2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3" name="table_281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3657600"/>
                <a:gridCol w="4663440"/>
              </a:tblGrid>
              <a:tr h="0">
                <a:tc>
                  <a:txBody>
                    <a:bodyPr/>
                    <a:lstStyle/>
                    <a:p>
                      <a:pPr eaLnBrk="0" indent="0" marL="0">
                        <a:buNone/>
                      </a:pPr>
                      <a:r>
                        <a:rPr lang="ko-KR" altLang="en-US" sz="1600" b="1" dirty="0">
                          <a:solidFill>
                            <a:schemeClr val="bg1"/>
                          </a:solidFill>
                        </a:rPr>
                        <a:t>단계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VLA 집기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계획</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LLM (Claude)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테이블까지 주행</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Nav2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상자 앞 정렬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ArUco 정밀 접근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 (항상 오른팔 기준)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집기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마커 좌표 → 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정책이 카메라를 보고 (/joint_commands 10 Hz)</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팔 접기 · 놓기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819"/>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820"/>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821"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822"/>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823"/>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학습에서도 "한 번에 하나만 바꾸기"가 중요하다. 주행·정렬·놓기는 검증된 방식을 쓰고, 집기만 학습으로 바꿔 차이를 정확히 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무엇으로 만들었나: 프레임워크</a:t>
            </a:r>
            <a:endParaRPr lang="ko-KR" altLang="en-US" sz="3000" dirty="0"/>
          </a:p>
        </p:txBody>
      </p:sp>
      <p:sp>
        <p:nvSpPr>
          <p:cNvPr id="3" name="pill_28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4" name="table_2826"/>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2194560"/>
                <a:gridCol w="822960"/>
                <a:gridCol w="365760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버전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맡은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MuJoCo (Python)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3.12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물리(mj_step), 카메라 렌더링(Renderer), IK용 자코비안(mj_jac)</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PyTorch (CPU)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신경망(nn.Module), 자동 미분, AdamW, 저장(torch.save)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NumPy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배열, .npz 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multiprocessing</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표준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녹화를 프로세스 6개로 병렬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ROS 2 rclpy + OpenCV</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Humble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vla_pick 노드, 영상 축소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쓰지 않음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LeRobot, Hugging Face, 사전학습 가중치, GPU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07" name="table_2827"/>
          <p:cNvGraphicFramePr>
            <a:graphicFrameLocks noGrp="1"/>
          </p:cNvGraphicFramePr>
          <p:nvPr>
            <p:extLst>
              <p:ext uri="{D42A27DB-BD31-4B8C-83A1-F6EECF244321}">
                <p14:modId xmlns:p14="http://schemas.microsoft.com/office/powerpoint/2010/main" val="1579011935"/>
              </p:ext>
            </p:extLst>
          </p:nvPr>
        </p:nvGraphicFramePr>
        <p:xfrm>
          <a:off x="7498080" y="1371600"/>
          <a:ext cx="4114800" cy="914400"/>
        </p:xfrm>
        <a:graphic>
          <a:graphicData uri="http://schemas.openxmlformats.org/drawingml/2006/table">
            <a:tbl>
              <a:tblPr/>
              <a:tblGrid>
                <a:gridCol w="1737360"/>
                <a:gridCol w="548640"/>
                <a:gridCol w="1828800"/>
              </a:tblGrid>
              <a:tr h="0">
                <a:tc>
                  <a:txBody>
                    <a:bodyPr/>
                    <a:lstStyle/>
                    <a:p>
                      <a:pPr eaLnBrk="0" indent="0" marL="0">
                        <a:buNone/>
                      </a:pPr>
                      <a:r>
                        <a:rPr lang="ko-KR" altLang="en-US" sz="1300" b="1" dirty="0">
                          <a:solidFill>
                            <a:schemeClr val="bg1"/>
                          </a:solidFill>
                        </a:rPr>
                        <a:t>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sim.py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 전용 장면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expert.py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스크립트 전문가 (IK)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record.py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녹화 → .npz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model.py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정책 신경망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train.py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루프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runner.py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실행 (시간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evaluate.py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닫힌 루프 평가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vla_pick_node.py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147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노드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2828"/>
          <p:cNvSpPr/>
          <p:nvPr/>
        </p:nvSpPr>
        <p:spPr>
          <a:xfrm>
            <a:off x="548640" y="4846320"/>
            <a:ext cx="6675120" cy="1280160"/>
          </a:xfrm>
          <a:prstGeom prst="roundRect">
            <a:avLst>
              <a:gd name="adj" fmla="val 5714"/>
            </a:avLst>
          </a:prstGeom>
          <a:solidFill>
            <a:schemeClr val="bg2"/>
          </a:solidFill>
          <a:ln w="12700">
            <a:solidFill>
              <a:schemeClr val="bg2"/>
            </a:solidFill>
            <a:prstDash val="solid"/>
          </a:ln>
        </p:spPr>
      </p:sp>
      <p:sp>
        <p:nvSpPr>
          <p:cNvPr id="9" name="iconbg_2829"/>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10" name="icon_2830"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11" name="text_2831"/>
          <p:cNvSpPr txBox="1"/>
          <p:nvPr/>
        </p:nvSpPr>
        <p:spPr>
          <a:xfrm>
            <a:off x="1325880" y="4937760"/>
            <a:ext cx="56692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 없이 학습</a:t>
            </a:r>
            <a:endParaRPr lang="ko-KR" altLang="en-US" sz="1500" dirty="0"/>
          </a:p>
        </p:txBody>
      </p:sp>
      <p:sp>
        <p:nvSpPr>
          <p:cNvPr id="12" name="text_2832"/>
          <p:cNvSpPr txBox="1"/>
          <p:nvPr/>
        </p:nvSpPr>
        <p:spPr>
          <a:xfrm>
            <a:off x="777240" y="5413248"/>
            <a:ext cx="621792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학습·평가는 ROS 없이 MuJoCo만으로. 브리지와 같은 scene.xml, 같은 액추에이터·중력 보상(load_model)이라 여기서 배운 정책이 ROS 안의 로봇에 그대로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흐름: 데이터에서 로봇까지</a:t>
            </a:r>
            <a:endParaRPr lang="ko-KR" altLang="en-US" sz="3000" dirty="0"/>
          </a:p>
        </p:txBody>
      </p:sp>
      <p:sp>
        <p:nvSpPr>
          <p:cNvPr id="3" name="pill_28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35"/>
          <p:cNvSpPr/>
          <p:nvPr/>
        </p:nvSpPr>
        <p:spPr>
          <a:xfrm>
            <a:off x="548640" y="1463040"/>
            <a:ext cx="1615440" cy="1188720"/>
          </a:xfrm>
          <a:prstGeom prst="roundRect">
            <a:avLst>
              <a:gd name="adj" fmla="val 6154"/>
            </a:avLst>
          </a:prstGeom>
          <a:solidFill>
            <a:schemeClr val="accent3"/>
          </a:solidFill>
          <a:ln w="12700">
            <a:solidFill>
              <a:schemeClr val="accent3"/>
            </a:solidFill>
            <a:prstDash val="solid"/>
          </a:ln>
        </p:spPr>
      </p:sp>
      <p:sp>
        <p:nvSpPr>
          <p:cNvPr id="7" name="text_2836"/>
          <p:cNvSpPr txBox="1"/>
          <p:nvPr/>
        </p:nvSpPr>
        <p:spPr>
          <a:xfrm>
            <a:off x="5943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sim.py + expert.py</a:t>
            </a:r>
            <a:endParaRPr lang="ko-KR" altLang="en-US" sz="1300" dirty="0"/>
          </a:p>
          <a:p>
            <a:pPr eaLnBrk="0" algn="ctr" indent="0" marL="0">
              <a:buNone/>
            </a:pPr>
            <a:r>
              <a:rPr lang="ko-KR" altLang="en-US" sz="1300" b="1" dirty="0">
                <a:solidFill>
                  <a:schemeClr val="bg1"/>
                </a:solidFill>
              </a:rPr>
              <a:t>장면 + 전문가</a:t>
            </a:r>
            <a:endParaRPr lang="ko-KR" altLang="en-US" sz="1300" dirty="0"/>
          </a:p>
        </p:txBody>
      </p:sp>
      <p:sp>
        <p:nvSpPr>
          <p:cNvPr id="8" name="arrow_2837"/>
          <p:cNvSpPr/>
          <p:nvPr/>
        </p:nvSpPr>
        <p:spPr>
          <a:xfrm>
            <a:off x="2191512" y="2057400"/>
            <a:ext cx="219456" cy="0"/>
          </a:xfrm>
          <a:prstGeom prst="line">
            <a:avLst/>
          </a:prstGeom>
          <a:noFill/>
          <a:ln w="25400">
            <a:solidFill>
              <a:schemeClr val="tx2"/>
            </a:solidFill>
            <a:prstDash val="solid"/>
            <a:tailEnd type="triangle"/>
          </a:ln>
        </p:spPr>
      </p:sp>
      <p:sp>
        <p:nvSpPr>
          <p:cNvPr id="9" name="box_2838"/>
          <p:cNvSpPr/>
          <p:nvPr/>
        </p:nvSpPr>
        <p:spPr>
          <a:xfrm>
            <a:off x="2438400" y="1463040"/>
            <a:ext cx="1615440" cy="1188720"/>
          </a:xfrm>
          <a:prstGeom prst="roundRect">
            <a:avLst>
              <a:gd name="adj" fmla="val 6154"/>
            </a:avLst>
          </a:prstGeom>
          <a:solidFill>
            <a:schemeClr val="accent2"/>
          </a:solidFill>
          <a:ln w="12700">
            <a:solidFill>
              <a:schemeClr val="accent2"/>
            </a:solidFill>
            <a:prstDash val="solid"/>
          </a:ln>
        </p:spPr>
      </p:sp>
      <p:sp>
        <p:nvSpPr>
          <p:cNvPr id="10" name="text_2839"/>
          <p:cNvSpPr txBox="1"/>
          <p:nvPr/>
        </p:nvSpPr>
        <p:spPr>
          <a:xfrm>
            <a:off x="248412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record.py</a:t>
            </a:r>
            <a:endParaRPr lang="ko-KR" altLang="en-US" sz="1300" dirty="0"/>
          </a:p>
          <a:p>
            <a:pPr eaLnBrk="0" algn="ctr" indent="0" marL="0">
              <a:buNone/>
            </a:pPr>
            <a:r>
              <a:rPr lang="ko-KR" altLang="en-US" sz="1300" b="1" dirty="0">
                <a:solidFill>
                  <a:schemeClr val="bg1"/>
                </a:solidFill>
              </a:rPr>
              <a:t>40분 · 1155편</a:t>
            </a:r>
            <a:endParaRPr lang="ko-KR" altLang="en-US" sz="1300" dirty="0"/>
          </a:p>
        </p:txBody>
      </p:sp>
      <p:sp>
        <p:nvSpPr>
          <p:cNvPr id="11" name="arrow_2840"/>
          <p:cNvSpPr/>
          <p:nvPr/>
        </p:nvSpPr>
        <p:spPr>
          <a:xfrm>
            <a:off x="4081272" y="2057400"/>
            <a:ext cx="219456" cy="0"/>
          </a:xfrm>
          <a:prstGeom prst="line">
            <a:avLst/>
          </a:prstGeom>
          <a:noFill/>
          <a:ln w="25400">
            <a:solidFill>
              <a:schemeClr val="tx2"/>
            </a:solidFill>
            <a:prstDash val="solid"/>
            <a:tailEnd type="triangle"/>
          </a:ln>
        </p:spPr>
      </p:sp>
      <p:sp>
        <p:nvSpPr>
          <p:cNvPr id="12" name="box_2841"/>
          <p:cNvSpPr/>
          <p:nvPr/>
        </p:nvSpPr>
        <p:spPr>
          <a:xfrm>
            <a:off x="4328160" y="1463040"/>
            <a:ext cx="1615440" cy="1188720"/>
          </a:xfrm>
          <a:prstGeom prst="roundRect">
            <a:avLst>
              <a:gd name="adj" fmla="val 6154"/>
            </a:avLst>
          </a:prstGeom>
          <a:solidFill>
            <a:schemeClr val="bg2"/>
          </a:solidFill>
          <a:ln w="12700">
            <a:solidFill>
              <a:schemeClr val="bg2"/>
            </a:solidFill>
            <a:prstDash val="solid"/>
          </a:ln>
        </p:spPr>
      </p:sp>
      <p:sp>
        <p:nvSpPr>
          <p:cNvPr id="13" name="text_2842"/>
          <p:cNvSpPr txBox="1"/>
          <p:nvPr/>
        </p:nvSpPr>
        <p:spPr>
          <a:xfrm>
            <a:off x="437388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demos/*.npz</a:t>
            </a:r>
            <a:endParaRPr lang="ko-KR" altLang="en-US" sz="1300" dirty="0"/>
          </a:p>
          <a:p>
            <a:pPr eaLnBrk="0" algn="ctr" indent="0" marL="0">
              <a:buNone/>
            </a:pPr>
            <a:r>
              <a:rPr lang="ko-KR" altLang="en-US" sz="1300" b="1" dirty="0">
                <a:solidFill>
                  <a:schemeClr val="tx1"/>
                </a:solidFill>
              </a:rPr>
              <a:t>460 MB</a:t>
            </a:r>
            <a:endParaRPr lang="ko-KR" altLang="en-US" sz="1300" dirty="0"/>
          </a:p>
        </p:txBody>
      </p:sp>
      <p:sp>
        <p:nvSpPr>
          <p:cNvPr id="14" name="arrow_2843"/>
          <p:cNvSpPr/>
          <p:nvPr/>
        </p:nvSpPr>
        <p:spPr>
          <a:xfrm>
            <a:off x="5971032" y="2057400"/>
            <a:ext cx="219456" cy="0"/>
          </a:xfrm>
          <a:prstGeom prst="line">
            <a:avLst/>
          </a:prstGeom>
          <a:noFill/>
          <a:ln w="25400">
            <a:solidFill>
              <a:schemeClr val="tx2"/>
            </a:solidFill>
            <a:prstDash val="solid"/>
            <a:tailEnd type="triangle"/>
          </a:ln>
        </p:spPr>
      </p:sp>
      <p:sp>
        <p:nvSpPr>
          <p:cNvPr id="15" name="box_2844"/>
          <p:cNvSpPr/>
          <p:nvPr/>
        </p:nvSpPr>
        <p:spPr>
          <a:xfrm>
            <a:off x="6217920" y="1463040"/>
            <a:ext cx="1615440" cy="1188720"/>
          </a:xfrm>
          <a:prstGeom prst="roundRect">
            <a:avLst>
              <a:gd name="adj" fmla="val 6154"/>
            </a:avLst>
          </a:prstGeom>
          <a:solidFill>
            <a:schemeClr val="accent1"/>
          </a:solidFill>
          <a:ln w="12700">
            <a:solidFill>
              <a:schemeClr val="accent1"/>
            </a:solidFill>
            <a:prstDash val="solid"/>
          </a:ln>
        </p:spPr>
      </p:sp>
      <p:sp>
        <p:nvSpPr>
          <p:cNvPr id="16" name="text_2845"/>
          <p:cNvSpPr txBox="1"/>
          <p:nvPr/>
        </p:nvSpPr>
        <p:spPr>
          <a:xfrm>
            <a:off x="626364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train.py</a:t>
            </a:r>
            <a:endParaRPr lang="ko-KR" altLang="en-US" sz="1300" dirty="0"/>
          </a:p>
          <a:p>
            <a:pPr eaLnBrk="0" algn="ctr" indent="0" marL="0">
              <a:buNone/>
            </a:pPr>
            <a:r>
              <a:rPr lang="ko-KR" altLang="en-US" sz="1300" b="1" dirty="0">
                <a:solidFill>
                  <a:schemeClr val="bg1"/>
                </a:solidFill>
              </a:rPr>
              <a:t>65분 · CPU</a:t>
            </a:r>
            <a:endParaRPr lang="ko-KR" altLang="en-US" sz="1300" dirty="0"/>
          </a:p>
        </p:txBody>
      </p:sp>
      <p:sp>
        <p:nvSpPr>
          <p:cNvPr id="17" name="arrow_2846"/>
          <p:cNvSpPr/>
          <p:nvPr/>
        </p:nvSpPr>
        <p:spPr>
          <a:xfrm>
            <a:off x="7860792" y="2057400"/>
            <a:ext cx="219456" cy="0"/>
          </a:xfrm>
          <a:prstGeom prst="line">
            <a:avLst/>
          </a:prstGeom>
          <a:noFill/>
          <a:ln w="25400">
            <a:solidFill>
              <a:schemeClr val="tx2"/>
            </a:solidFill>
            <a:prstDash val="solid"/>
            <a:tailEnd type="triangle"/>
          </a:ln>
        </p:spPr>
      </p:sp>
      <p:sp>
        <p:nvSpPr>
          <p:cNvPr id="18" name="box_2847"/>
          <p:cNvSpPr/>
          <p:nvPr/>
        </p:nvSpPr>
        <p:spPr>
          <a:xfrm>
            <a:off x="8107680" y="1463040"/>
            <a:ext cx="1615440" cy="1188720"/>
          </a:xfrm>
          <a:prstGeom prst="roundRect">
            <a:avLst>
              <a:gd name="adj" fmla="val 6154"/>
            </a:avLst>
          </a:prstGeom>
          <a:solidFill>
            <a:schemeClr val="bg2"/>
          </a:solidFill>
          <a:ln w="12700">
            <a:solidFill>
              <a:schemeClr val="bg2"/>
            </a:solidFill>
            <a:prstDash val="solid"/>
          </a:ln>
        </p:spPr>
      </p:sp>
      <p:sp>
        <p:nvSpPr>
          <p:cNvPr id="19" name="text_2848"/>
          <p:cNvSpPr txBox="1"/>
          <p:nvPr/>
        </p:nvSpPr>
        <p:spPr>
          <a:xfrm>
            <a:off x="815340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policy.pt</a:t>
            </a:r>
            <a:endParaRPr lang="ko-KR" altLang="en-US" sz="1300" dirty="0"/>
          </a:p>
          <a:p>
            <a:pPr eaLnBrk="0" algn="ctr" indent="0" marL="0">
              <a:buNone/>
            </a:pPr>
            <a:r>
              <a:rPr lang="ko-KR" altLang="en-US" sz="1300" b="1" dirty="0">
                <a:solidFill>
                  <a:schemeClr val="tx1"/>
                </a:solidFill>
              </a:rPr>
              <a:t>2.4 MB</a:t>
            </a:r>
            <a:endParaRPr lang="ko-KR" altLang="en-US" sz="1300" dirty="0"/>
          </a:p>
        </p:txBody>
      </p:sp>
      <p:sp>
        <p:nvSpPr>
          <p:cNvPr id="20" name="arrow_2849"/>
          <p:cNvSpPr/>
          <p:nvPr/>
        </p:nvSpPr>
        <p:spPr>
          <a:xfrm>
            <a:off x="9750552" y="2057400"/>
            <a:ext cx="219456" cy="0"/>
          </a:xfrm>
          <a:prstGeom prst="line">
            <a:avLst/>
          </a:prstGeom>
          <a:noFill/>
          <a:ln w="25400">
            <a:solidFill>
              <a:schemeClr val="tx2"/>
            </a:solidFill>
            <a:prstDash val="solid"/>
            <a:tailEnd type="triangle"/>
          </a:ln>
        </p:spPr>
      </p:sp>
      <p:sp>
        <p:nvSpPr>
          <p:cNvPr id="21" name="box_2850"/>
          <p:cNvSpPr/>
          <p:nvPr/>
        </p:nvSpPr>
        <p:spPr>
          <a:xfrm>
            <a:off x="9997440" y="1463040"/>
            <a:ext cx="1615440" cy="1188720"/>
          </a:xfrm>
          <a:prstGeom prst="roundRect">
            <a:avLst>
              <a:gd name="adj" fmla="val 6154"/>
            </a:avLst>
          </a:prstGeom>
          <a:solidFill>
            <a:schemeClr val="tx1"/>
          </a:solidFill>
          <a:ln w="12700">
            <a:solidFill>
              <a:schemeClr val="tx1"/>
            </a:solidFill>
            <a:prstDash val="solid"/>
          </a:ln>
        </p:spPr>
      </p:sp>
      <p:sp>
        <p:nvSpPr>
          <p:cNvPr id="22" name="text_2851"/>
          <p:cNvSpPr txBox="1"/>
          <p:nvPr/>
        </p:nvSpPr>
        <p:spPr>
          <a:xfrm>
            <a:off x="100431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vla_pick 노드</a:t>
            </a:r>
            <a:endParaRPr lang="ko-KR" altLang="en-US" sz="1300" dirty="0"/>
          </a:p>
          <a:p>
            <a:pPr eaLnBrk="0" algn="ctr" indent="0" marL="0">
              <a:buNone/>
            </a:pPr>
            <a:r>
              <a:rPr lang="ko-KR" altLang="en-US" sz="1300" b="1" dirty="0">
                <a:solidFill>
                  <a:schemeClr val="bg1"/>
                </a:solidFill>
              </a:rPr>
              <a:t>ROS 2 · 10 Hz</a:t>
            </a:r>
            <a:endParaRPr lang="ko-KR" altLang="en-US" sz="1300" dirty="0"/>
          </a:p>
        </p:txBody>
      </p:sp>
      <p:sp>
        <p:nvSpPr>
          <p:cNvPr id="23" name="text_2852"/>
          <p:cNvSpPr txBox="1"/>
          <p:nvPr/>
        </p:nvSpPr>
        <p:spPr>
          <a:xfrm>
            <a:off x="5669280" y="2743200"/>
            <a:ext cx="5943600" cy="365760"/>
          </a:xfrm>
          <a:prstGeom prst="rect">
            <a:avLst/>
          </a:prstGeom>
          <a:noFill/>
          <a:ln/>
        </p:spPr>
        <p:txBody>
          <a:bodyPr wrap="square" lIns="635" tIns="635" rIns="635" bIns="635" rtlCol="0" anchor="t"/>
          <a:lstStyle/>
          <a:p>
            <a:pPr eaLnBrk="0" algn="r" indent="0" marL="0">
              <a:buNone/>
            </a:pPr>
            <a:r>
              <a:rPr lang="ko-KR" altLang="en-US" sz="1300" dirty="0">
                <a:solidFill>
                  <a:schemeClr val="tx2"/>
                </a:solidFill>
              </a:rPr>
              <a:t>└─ evaluate.py: 처음 보는 배치 100개에서 정책 vs 전문가</a:t>
            </a:r>
            <a:endParaRPr lang="ko-KR" altLang="en-US" sz="1300" dirty="0"/>
          </a:p>
        </p:txBody>
      </p:sp>
      <p:graphicFrame>
        <p:nvGraphicFramePr>
          <p:cNvPr id="155" name="table_2853"/>
          <p:cNvGraphicFramePr>
            <a:graphicFrameLocks noGrp="1"/>
          </p:cNvGraphicFramePr>
          <p:nvPr>
            <p:extLst>
              <p:ext uri="{D42A27DB-BD31-4B8C-83A1-F6EECF244321}">
                <p14:modId xmlns:p14="http://schemas.microsoft.com/office/powerpoint/2010/main" val="1579011935"/>
              </p:ext>
            </p:extLst>
          </p:nvPr>
        </p:nvGraphicFramePr>
        <p:xfrm>
          <a:off x="548640" y="3291840"/>
          <a:ext cx="11064240" cy="914400"/>
        </p:xfrm>
        <a:graphic>
          <a:graphicData uri="http://schemas.openxmlformats.org/drawingml/2006/table">
            <a:tbl>
              <a:tblPr/>
              <a:tblGrid>
                <a:gridCol w="1463040"/>
                <a:gridCol w="4572000"/>
                <a:gridCol w="5029200"/>
              </a:tblGrid>
              <a:tr h="0">
                <a:tc>
                  <a:txBody>
                    <a:bodyPr/>
                    <a:lstStyle/>
                    <a:p>
                      <a:pPr eaLnBrk="0" indent="0" marL="0">
                        <a:buNone/>
                      </a:pPr>
                      <a:r>
                        <a:rPr lang="ko-KR" altLang="en-US" sz="1400" b="1" dirty="0">
                          <a:solidFill>
                            <a:schemeClr val="bg1"/>
                          </a:solidFill>
                        </a:rPr>
                        <a:t>단계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입력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녹화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무작위 배치 (테이블, 자리, 상자 색, 옆 상자, 정렬 오차)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편마다 영상 2종·관절각·정답 목표·끝 표시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모든 장면 (80,080개) + 증강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검증 오차가 가장 낮은 가중치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평가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처음 보는 배치 (seed 100000~)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정책·전문가 성공률, GIF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실행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/camera, /wrist_camera, /joint_states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/joint_commands, /vla/result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154</a:t>
            </a:fld>
            <a:endParaRPr lang="ko-KR"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모방 학습: 잘하는 사람을 따라 하기</a:t>
            </a:r>
            <a:endParaRPr lang="ko-KR" altLang="en-US" sz="3000" dirty="0"/>
          </a:p>
        </p:txBody>
      </p:sp>
      <p:sp>
        <p:nvSpPr>
          <p:cNvPr id="3" name="pill_28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num_2856"/>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2857"/>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858"/>
          <p:cNvSpPr txBox="1"/>
          <p:nvPr/>
        </p:nvSpPr>
        <p:spPr>
          <a:xfrm>
            <a:off x="1188720" y="135331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전문가가 시연한다</a:t>
            </a:r>
            <a:endParaRPr lang="ko-KR" altLang="en-US" sz="1700" dirty="0"/>
          </a:p>
        </p:txBody>
      </p:sp>
      <p:sp>
        <p:nvSpPr>
          <p:cNvPr id="9" name="text_2859"/>
          <p:cNvSpPr txBox="1"/>
          <p:nvPr/>
        </p:nvSpPr>
        <p:spPr>
          <a:xfrm>
            <a:off x="1188720" y="182880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expert.py: 상자 실제 위치 → IK → 손 벌리며 다가가기 → 비스듬히 밀어 넣기 → 쥐기 → 들기 (7.7초)</a:t>
            </a:r>
            <a:endParaRPr lang="ko-KR" altLang="en-US" sz="1400" dirty="0"/>
          </a:p>
        </p:txBody>
      </p:sp>
      <p:sp>
        <p:nvSpPr>
          <p:cNvPr id="10" name="num_2860"/>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2861"/>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862"/>
          <p:cNvSpPr txBox="1"/>
          <p:nvPr/>
        </p:nvSpPr>
        <p:spPr>
          <a:xfrm>
            <a:off x="1188720" y="258775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0.1초마다 기록한다</a:t>
            </a:r>
            <a:endParaRPr lang="ko-KR" altLang="en-US" sz="1700" dirty="0"/>
          </a:p>
        </p:txBody>
      </p:sp>
      <p:sp>
        <p:nvSpPr>
          <p:cNvPr id="13" name="text_2863"/>
          <p:cNvSpPr txBox="1"/>
          <p:nvPr/>
        </p:nvSpPr>
        <p:spPr>
          <a:xfrm>
            <a:off x="1188720" y="306324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(머리·손목 영상, 관절각, 명령 문장) → 그 순간 전문가가 보낸 관절 목표</a:t>
            </a:r>
            <a:endParaRPr lang="ko-KR" altLang="en-US" sz="1400" dirty="0"/>
          </a:p>
        </p:txBody>
      </p:sp>
      <p:sp>
        <p:nvSpPr>
          <p:cNvPr id="14" name="num_2864"/>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5" name="text_2865"/>
          <p:cNvSpPr txBox="1"/>
          <p:nvPr/>
        </p:nvSpPr>
        <p:spPr>
          <a:xfrm>
            <a:off x="548640" y="3840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866"/>
          <p:cNvSpPr txBox="1"/>
          <p:nvPr/>
        </p:nvSpPr>
        <p:spPr>
          <a:xfrm>
            <a:off x="1188720" y="382219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같은 입력에서 같은 출력을 내게 학습</a:t>
            </a:r>
            <a:endParaRPr lang="ko-KR" altLang="en-US" sz="1700" dirty="0"/>
          </a:p>
        </p:txBody>
      </p:sp>
      <p:sp>
        <p:nvSpPr>
          <p:cNvPr id="17" name="text_2867"/>
          <p:cNvSpPr txBox="1"/>
          <p:nvPr/>
        </p:nvSpPr>
        <p:spPr>
          <a:xfrm>
            <a:off x="1188720" y="429768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 학습. 정답과 예측의 차이(L1)를 줄인다. 시연 1,155개 = 약 8.9만 장면</a:t>
            </a:r>
            <a:endParaRPr lang="ko-KR" altLang="en-US" sz="1400" dirty="0"/>
          </a:p>
        </p:txBody>
      </p:sp>
      <p:sp>
        <p:nvSpPr>
          <p:cNvPr id="18" name="box_2868"/>
          <p:cNvSpPr/>
          <p:nvPr/>
        </p:nvSpPr>
        <p:spPr>
          <a:xfrm>
            <a:off x="548640" y="5074920"/>
            <a:ext cx="5486400" cy="1051560"/>
          </a:xfrm>
          <a:prstGeom prst="roundRect">
            <a:avLst>
              <a:gd name="adj" fmla="val 6957"/>
            </a:avLst>
          </a:prstGeom>
          <a:solidFill>
            <a:schemeClr val="bg2"/>
          </a:solidFill>
          <a:ln w="12700">
            <a:solidFill>
              <a:schemeClr val="bg2"/>
            </a:solidFill>
            <a:prstDash val="solid"/>
          </a:ln>
        </p:spPr>
      </p:sp>
      <p:sp>
        <p:nvSpPr>
          <p:cNvPr id="19" name="iconbg_2869"/>
          <p:cNvSpPr/>
          <p:nvPr/>
        </p:nvSpPr>
        <p:spPr>
          <a:xfrm>
            <a:off x="777240" y="5184648"/>
            <a:ext cx="411480" cy="411480"/>
          </a:xfrm>
          <a:prstGeom prst="ellipse">
            <a:avLst/>
          </a:prstGeom>
          <a:solidFill>
            <a:schemeClr val="accent6"/>
          </a:solidFill>
          <a:ln w="12700">
            <a:solidFill>
              <a:schemeClr val="accent6"/>
            </a:solidFill>
            <a:prstDash val="solid"/>
          </a:ln>
        </p:spPr>
      </p:sp>
      <p:pic>
        <p:nvPicPr>
          <p:cNvPr id="20" name="icon_2870" descr="ExclamationTriangle 아이콘">    </p:cNvPr>
          <p:cNvPicPr>
            <a:picLocks noChangeAspect="1"/>
          </p:cNvPicPr>
          <p:nvPr/>
        </p:nvPicPr>
        <p:blipFill>
          <a:blip r:embed="rId1"/>
          <a:stretch>
            <a:fillRect/>
          </a:stretch>
        </p:blipFill>
        <p:spPr>
          <a:xfrm>
            <a:off x="867766" y="5275174"/>
            <a:ext cx="230429" cy="230429"/>
          </a:xfrm>
          <a:prstGeom prst="rect">
            <a:avLst/>
          </a:prstGeom>
        </p:spPr>
      </p:pic>
      <p:sp>
        <p:nvSpPr>
          <p:cNvPr id="21" name="text_2871"/>
          <p:cNvSpPr txBox="1"/>
          <p:nvPr/>
        </p:nvSpPr>
        <p:spPr>
          <a:xfrm>
            <a:off x="1325880" y="51663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2" name="text_2872"/>
          <p:cNvSpPr txBox="1"/>
          <p:nvPr/>
        </p:nvSpPr>
        <p:spPr>
          <a:xfrm>
            <a:off x="777240" y="5641848"/>
            <a:ext cx="502920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정책은 실제 위치를 모른다. 영상만 보고 흉내 낸다.</a:t>
            </a:r>
            <a:endParaRPr lang="ko-KR" altLang="en-US" sz="1400" dirty="0"/>
          </a:p>
        </p:txBody>
      </p:sp>
      <p:sp>
        <p:nvSpPr>
          <p:cNvPr id="23" name="box_2873"/>
          <p:cNvSpPr/>
          <p:nvPr/>
        </p:nvSpPr>
        <p:spPr>
          <a:xfrm>
            <a:off x="6309360" y="1371600"/>
            <a:ext cx="5303520" cy="4754880"/>
          </a:xfrm>
          <a:prstGeom prst="roundRect">
            <a:avLst>
              <a:gd name="adj" fmla="val 1538"/>
            </a:avLst>
          </a:prstGeom>
          <a:solidFill>
            <a:schemeClr val="tx1"/>
          </a:solidFill>
          <a:ln w="12700">
            <a:solidFill>
              <a:schemeClr val="tx1"/>
            </a:solidFill>
            <a:prstDash val="solid"/>
          </a:ln>
        </p:spPr>
      </p:sp>
      <p:sp>
        <p:nvSpPr>
          <p:cNvPr id="24" name="code_2874"/>
          <p:cNvSpPr txBox="1"/>
          <p:nvPr/>
        </p:nvSpPr>
        <p:spPr>
          <a:xfrm>
            <a:off x="6492240" y="1508760"/>
            <a:ext cx="49377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expert.py (줄임)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grasp = box_center + [0, 0, 0.015]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pre   = grasp - 0.10 * approach + [0, 0, 0.04]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q_pre = ik.best(pre, R)          # 여러 시작점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단계 in 경유점들: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q = ik.solve(q, 직선 위의 점, 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actions.append([*q, 손가락])</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정답 = actions (10 Hz)</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155</a:t>
            </a:fld>
            <a:endParaRPr lang="ko-KR"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장면 (sim.py): 관찰과 행동</a:t>
            </a:r>
            <a:endParaRPr lang="ko-KR" altLang="en-US" sz="3000" dirty="0"/>
          </a:p>
        </p:txBody>
      </p:sp>
      <p:sp>
        <p:nvSpPr>
          <p:cNvPr id="3" name="pill_28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7" name="table_2877"/>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2011680"/>
                <a:gridCol w="3931920"/>
                <a:gridCol w="100584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관찰: 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head_camera, 384×216 렌더 → 3×3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72×128×3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관찰: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camera_wrist_right (fovy 66°)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96×96×3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관찰: 관절각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관절 1~7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같은 8개 관절의 위치 목표 → 위치 액추에이터 (kp 230~30)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제어 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0.1초 = mj_step(1 ms) 100번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성공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집으라고 한 상자가 3 cm 이상 올라감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878"/>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8" name="iconbg_2879"/>
          <p:cNvSpPr/>
          <p:nvPr/>
        </p:nvSpPr>
        <p:spPr>
          <a:xfrm>
            <a:off x="8001000" y="1600200"/>
            <a:ext cx="548640" cy="548640"/>
          </a:xfrm>
          <a:prstGeom prst="ellipse">
            <a:avLst/>
          </a:prstGeom>
          <a:solidFill>
            <a:schemeClr val="accent3"/>
          </a:solidFill>
          <a:ln w="12700">
            <a:solidFill>
              <a:schemeClr val="accent3"/>
            </a:solidFill>
            <a:prstDash val="solid"/>
          </a:ln>
        </p:spPr>
      </p:sp>
      <p:pic>
        <p:nvPicPr>
          <p:cNvPr id="9" name="icon_2880" descr="ArrowsAlt 아이콘">    </p:cNvPr>
          <p:cNvPicPr>
            <a:picLocks noChangeAspect="1"/>
          </p:cNvPicPr>
          <p:nvPr/>
        </p:nvPicPr>
        <p:blipFill>
          <a:blip r:embed="rId1"/>
          <a:stretch>
            <a:fillRect/>
          </a:stretch>
        </p:blipFill>
        <p:spPr>
          <a:xfrm>
            <a:off x="8121701" y="1720901"/>
            <a:ext cx="307238" cy="307238"/>
          </a:xfrm>
          <a:prstGeom prst="rect">
            <a:avLst/>
          </a:prstGeom>
        </p:spPr>
      </p:pic>
      <p:sp>
        <p:nvSpPr>
          <p:cNvPr id="10" name="text_288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reset(): 매번 다르게</a:t>
            </a:r>
            <a:endParaRPr lang="ko-KR" altLang="en-US" sz="1800" dirty="0"/>
          </a:p>
        </p:txBody>
      </p:sp>
      <p:sp>
        <p:nvSpPr>
          <p:cNvPr id="11" name="text_2882"/>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200" dirty="0">
                <a:solidFill>
                  <a:schemeClr val="tx1"/>
                </a:solidFill>
              </a:rPr>
              <a:t>1. 테이블 넷 중 하나, 그 테이블의 자리 하나, 상자 색 하나</a:t>
            </a:r>
            <a:endParaRPr lang="ko-KR" altLang="en-US" sz="1200" dirty="0"/>
          </a:p>
          <a:p>
            <a:pPr eaLnBrk="0" indent="0" marL="0">
              <a:buNone/>
            </a:pPr>
            <a:r>
              <a:rPr lang="ko-KR" altLang="en-US" sz="1200" dirty="0">
                <a:solidFill>
                  <a:schemeClr val="tx1"/>
                </a:solidFill>
              </a:rPr>
              <a:t>2. 상자: 자리 중심 ±3 cm, 방향 ±45°</a:t>
            </a:r>
            <a:endParaRPr lang="ko-KR" altLang="en-US" sz="1200" dirty="0"/>
          </a:p>
          <a:p>
            <a:pPr eaLnBrk="0" indent="0" marL="0">
              <a:buNone/>
            </a:pPr>
            <a:r>
              <a:rPr lang="ko-KR" altLang="en-US" sz="1200" dirty="0">
                <a:solidFill>
                  <a:schemeClr val="tx1"/>
                </a:solidFill>
              </a:rPr>
              <a:t>3. 절반은 다른 색 상자를 옆자리에</a:t>
            </a:r>
            <a:endParaRPr lang="ko-KR" altLang="en-US" sz="1200" dirty="0"/>
          </a:p>
          <a:p>
            <a:pPr eaLnBrk="0" indent="0" marL="0">
              <a:buNone/>
            </a:pPr>
            <a:r>
              <a:rPr lang="ko-KR" altLang="en-US" sz="1200" dirty="0">
                <a:solidFill>
                  <a:schemeClr val="tx1"/>
                </a:solidFill>
              </a:rPr>
              <a:t>4. 로봇: 집을 상자가 몸 기준 (0.38, −0.15) m ± (4, 5) cm에 오게, 방향 ±8°</a:t>
            </a:r>
            <a:endParaRPr lang="ko-KR" altLang="en-US" sz="1200" dirty="0"/>
          </a:p>
          <a:p>
            <a:pPr eaLnBrk="0" indent="0" marL="0">
              <a:buNone/>
            </a:pPr>
            <a:r>
              <a:rPr lang="ko-KR" altLang="en-US" sz="1200" dirty="0">
                <a:solidFill>
                  <a:schemeClr val="tx1"/>
                </a:solidFill>
              </a:rPr>
              <a:t>5. 두 팔 tuck, 0.3초 놓아 두기</a:t>
            </a:r>
            <a:endParaRPr lang="ko-KR" altLang="en-US" sz="1200" dirty="0"/>
          </a:p>
          <a:p>
            <a:pPr eaLnBrk="0" indent="0" marL="0">
              <a:buNone/>
            </a:pPr>
            <a:endParaRPr lang="ko-KR" altLang="en-US" sz="1200" dirty="0"/>
          </a:p>
          <a:p>
            <a:pPr eaLnBrk="0" indent="0" marL="0">
              <a:buNone/>
            </a:pPr>
            <a:r>
              <a:rPr lang="ko-KR" altLang="en-US" sz="1200" dirty="0">
                <a:solidFill>
                  <a:schemeClr val="tx1"/>
                </a:solidFill>
              </a:rPr>
              <a:t>자리와 방향은 scene.xml에서 읽는다 (이름에 _pad_가 든 geom)</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156</a:t>
            </a:fld>
            <a:endParaRPr lang="ko-KR" alt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전문가의 IK: 감쇠 최소제곱</a:t>
            </a:r>
            <a:endParaRPr lang="ko-KR" altLang="en-US" sz="3000" dirty="0"/>
          </a:p>
        </p:txBody>
      </p:sp>
      <p:sp>
        <p:nvSpPr>
          <p:cNvPr id="3" name="pill_288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8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85"/>
          <p:cNvSpPr/>
          <p:nvPr/>
        </p:nvSpPr>
        <p:spPr>
          <a:xfrm>
            <a:off x="548640" y="1371600"/>
            <a:ext cx="6583680" cy="3017520"/>
          </a:xfrm>
          <a:prstGeom prst="roundRect">
            <a:avLst>
              <a:gd name="adj" fmla="val 2424"/>
            </a:avLst>
          </a:prstGeom>
          <a:solidFill>
            <a:schemeClr val="tx1"/>
          </a:solidFill>
          <a:ln w="12700">
            <a:solidFill>
              <a:schemeClr val="tx1"/>
            </a:solidFill>
            <a:prstDash val="solid"/>
          </a:ln>
        </p:spPr>
      </p:sp>
      <p:sp>
        <p:nvSpPr>
          <p:cNvPr id="7" name="code_2886"/>
          <p:cNvSpPr txBox="1"/>
          <p:nvPr/>
        </p:nvSpPr>
        <p:spPr>
          <a:xfrm>
            <a:off x="731520" y="1508760"/>
            <a:ext cx="62179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  = [ p* − p ;  0.5 · rotvec(R* Rᵀ) ]       # 6차원 오차</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J  = [ Jp ; 0.5 · Jr ]     (6 × 7)             # mj_jac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Δq = Jᵀ (J Jᵀ + λI)⁻¹ e,   λ = 1e-4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  ← clip(q + clip(Δq, ±0.2), 관절 범위)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오차가 작아질 때까지 최대 100번 (시작점 찾기 300번)</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TCP = 손 끝 사이트에서 손가락 쪽 0.14 m (두 패드 가운데)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잡는 자세 = 앞으로, 15° 아래로, 상자 면에 맞춰 ±45°</a:t>
            </a:r>
            <a:endParaRPr lang="ko-KR" altLang="en-US" sz="1300" dirty="0"/>
          </a:p>
        </p:txBody>
      </p:sp>
      <p:graphicFrame>
        <p:nvGraphicFramePr>
          <p:cNvPr id="158" name="table_2887"/>
          <p:cNvGraphicFramePr>
            <a:graphicFrameLocks noGrp="1"/>
          </p:cNvGraphicFramePr>
          <p:nvPr>
            <p:extLst>
              <p:ext uri="{D42A27DB-BD31-4B8C-83A1-F6EECF244321}">
                <p14:modId xmlns:p14="http://schemas.microsoft.com/office/powerpoint/2010/main" val="1579011935"/>
              </p:ext>
            </p:extLst>
          </p:nvPr>
        </p:nvGraphicFramePr>
        <p:xfrm>
          <a:off x="7406640" y="1371600"/>
          <a:ext cx="4206240" cy="914400"/>
        </p:xfrm>
        <a:graphic>
          <a:graphicData uri="http://schemas.openxmlformats.org/drawingml/2006/table">
            <a:tbl>
              <a:tblPr/>
              <a:tblGrid>
                <a:gridCol w="1280160"/>
                <a:gridCol w="822960"/>
                <a:gridCol w="2103120"/>
              </a:tblGrid>
              <a:tr h="0">
                <a:tc>
                  <a:txBody>
                    <a:bodyPr/>
                    <a:lstStyle/>
                    <a:p>
                      <a:pPr eaLnBrk="0" indent="0" marL="0">
                        <a:buNone/>
                      </a:pPr>
                      <a:r>
                        <a:rPr lang="ko-KR" altLang="en-US" sz="1300" b="1" dirty="0">
                          <a:solidFill>
                            <a:schemeClr val="bg1"/>
                          </a:solidFill>
                        </a:rPr>
                        <a:t>구간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reach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관절 공간, 손 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사전 접근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approach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잡기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close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 닫기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lift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1.2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 cm 들기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hold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그대로 ("끝" 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888"/>
          <p:cNvSpPr/>
          <p:nvPr/>
        </p:nvSpPr>
        <p:spPr>
          <a:xfrm>
            <a:off x="548640" y="4572000"/>
            <a:ext cx="6583680" cy="1554480"/>
          </a:xfrm>
          <a:prstGeom prst="roundRect">
            <a:avLst>
              <a:gd name="adj" fmla="val 4706"/>
            </a:avLst>
          </a:prstGeom>
          <a:solidFill>
            <a:schemeClr val="bg2"/>
          </a:solidFill>
          <a:ln w="12700">
            <a:solidFill>
              <a:schemeClr val="bg2"/>
            </a:solidFill>
            <a:prstDash val="solid"/>
          </a:ln>
        </p:spPr>
      </p:sp>
      <p:sp>
        <p:nvSpPr>
          <p:cNvPr id="10" name="iconbg_2889"/>
          <p:cNvSpPr/>
          <p:nvPr/>
        </p:nvSpPr>
        <p:spPr>
          <a:xfrm>
            <a:off x="777240" y="4800600"/>
            <a:ext cx="548640" cy="548640"/>
          </a:xfrm>
          <a:prstGeom prst="ellipse">
            <a:avLst/>
          </a:prstGeom>
          <a:solidFill>
            <a:schemeClr val="accent1"/>
          </a:solidFill>
          <a:ln w="12700">
            <a:solidFill>
              <a:schemeClr val="accent1"/>
            </a:solidFill>
            <a:prstDash val="solid"/>
          </a:ln>
        </p:spPr>
      </p:sp>
      <p:pic>
        <p:nvPicPr>
          <p:cNvPr id="11" name="icon_2890" descr="Bolt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2891"/>
          <p:cNvSpPr txBox="1"/>
          <p:nvPr/>
        </p:nvSpPr>
        <p:spPr>
          <a:xfrm>
            <a:off x="1463040" y="477316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경로 만들기</a:t>
            </a:r>
            <a:endParaRPr lang="ko-KR" altLang="en-US" sz="1600" dirty="0"/>
          </a:p>
        </p:txBody>
      </p:sp>
      <p:sp>
        <p:nvSpPr>
          <p:cNvPr id="13" name="text_2892"/>
          <p:cNvSpPr txBox="1"/>
          <p:nvPr/>
        </p:nvSpPr>
        <p:spPr>
          <a:xfrm>
            <a:off x="777240" y="5440680"/>
            <a:ext cx="6126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직선 구간은 0.1초마다 점을 찍고 각 점에서 IK를 푼다. 보간은 smooth(t) = t²(3 − 2t). 모두 77개 목표 = 7.7초.</a:t>
            </a:r>
            <a:endParaRPr lang="ko-KR" altLang="en-US" sz="1400" dirty="0"/>
          </a:p>
        </p:txBody>
      </p:sp>
      <p:sp>
        <p:nvSpPr>
          <p:cNvPr id="14" name="box_2893"/>
          <p:cNvSpPr/>
          <p:nvPr/>
        </p:nvSpPr>
        <p:spPr>
          <a:xfrm>
            <a:off x="7406640" y="4480560"/>
            <a:ext cx="4206240" cy="1645920"/>
          </a:xfrm>
          <a:prstGeom prst="roundRect">
            <a:avLst>
              <a:gd name="adj" fmla="val 4444"/>
            </a:avLst>
          </a:prstGeom>
          <a:solidFill>
            <a:schemeClr val="bg2"/>
          </a:solidFill>
          <a:ln w="12700">
            <a:solidFill>
              <a:schemeClr val="bg2"/>
            </a:solidFill>
            <a:prstDash val="solid"/>
          </a:ln>
        </p:spPr>
      </p:sp>
      <p:sp>
        <p:nvSpPr>
          <p:cNvPr id="15" name="iconbg_2894"/>
          <p:cNvSpPr/>
          <p:nvPr/>
        </p:nvSpPr>
        <p:spPr>
          <a:xfrm>
            <a:off x="7635240" y="4709160"/>
            <a:ext cx="548640" cy="548640"/>
          </a:xfrm>
          <a:prstGeom prst="ellipse">
            <a:avLst/>
          </a:prstGeom>
          <a:solidFill>
            <a:schemeClr val="accent6"/>
          </a:solidFill>
          <a:ln w="12700">
            <a:solidFill>
              <a:schemeClr val="accent6"/>
            </a:solidFill>
            <a:prstDash val="solid"/>
          </a:ln>
        </p:spPr>
      </p:sp>
      <p:pic>
        <p:nvPicPr>
          <p:cNvPr id="16" name="icon_2895" descr="ExclamationTriangle 아이콘">    </p:cNvPr>
          <p:cNvPicPr>
            <a:picLocks noChangeAspect="1"/>
          </p:cNvPicPr>
          <p:nvPr/>
        </p:nvPicPr>
        <p:blipFill>
          <a:blip r:embed="rId2"/>
          <a:stretch>
            <a:fillRect/>
          </a:stretch>
        </p:blipFill>
        <p:spPr>
          <a:xfrm>
            <a:off x="7755941" y="4829861"/>
            <a:ext cx="307238" cy="307238"/>
          </a:xfrm>
          <a:prstGeom prst="rect">
            <a:avLst/>
          </a:prstGeom>
        </p:spPr>
      </p:pic>
      <p:sp>
        <p:nvSpPr>
          <p:cNvPr id="17" name="text_2896"/>
          <p:cNvSpPr txBox="1"/>
          <p:nvPr/>
        </p:nvSpPr>
        <p:spPr>
          <a:xfrm>
            <a:off x="8321040" y="4681728"/>
            <a:ext cx="3063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나쁜 예는 버린다</a:t>
            </a:r>
            <a:endParaRPr lang="ko-KR" altLang="en-US" sz="1600" dirty="0"/>
          </a:p>
        </p:txBody>
      </p:sp>
      <p:sp>
        <p:nvSpPr>
          <p:cNvPr id="18" name="text_2897"/>
          <p:cNvSpPr txBox="1"/>
          <p:nvPr/>
        </p:nvSpPr>
        <p:spPr>
          <a:xfrm>
            <a:off x="7635240" y="5349240"/>
            <a:ext cx="374904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IK가 경유점에 5 mm 넘게 못 닿은 시연은 버린다 (1200개 중 45개를 실패로 버림).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157</a:t>
            </a:fld>
            <a:endParaRPr lang="ko-KR"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시연 한 편 (7.7초)</a:t>
            </a:r>
            <a:endParaRPr lang="ko-KR" altLang="en-US" sz="3000" dirty="0"/>
          </a:p>
        </p:txBody>
      </p:sp>
      <p:sp>
        <p:nvSpPr>
          <p:cNvPr id="3" name="pill_28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2900" descr="시연 한 편: 머리 카메라와 손목 카메라 영상 7장">    </p:cNvPr>
          <p:cNvPicPr>
            <a:picLocks noChangeAspect="1"/>
          </p:cNvPicPr>
          <p:nvPr/>
        </p:nvPicPr>
        <p:blipFill>
          <a:blip r:embed="rId1"/>
          <a:stretch>
            <a:fillRect/>
          </a:stretch>
        </p:blipFill>
        <p:spPr>
          <a:xfrm>
            <a:off x="548640" y="1544094"/>
            <a:ext cx="11064240" cy="2032453"/>
          </a:xfrm>
          <a:prstGeom prst="rect">
            <a:avLst/>
          </a:prstGeom>
        </p:spPr>
      </p:pic>
      <p:graphicFrame>
        <p:nvGraphicFramePr>
          <p:cNvPr id="159" name="table_2901"/>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2926080"/>
                <a:gridCol w="5943600"/>
              </a:tblGrid>
              <a:tr h="0">
                <a:tc>
                  <a:txBody>
                    <a:bodyPr/>
                    <a:lstStyle/>
                    <a:p>
                      <a:pPr eaLnBrk="0" indent="0" marL="0">
                        <a:buNone/>
                      </a:pPr>
                      <a:r>
                        <a:rPr lang="ko-KR" altLang="en-US" sz="1400" b="1" dirty="0">
                          <a:solidFill>
                            <a:schemeClr val="bg1"/>
                          </a:solidFill>
                        </a:rPr>
                        <a:t>기록</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모양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뜻</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head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72 × 128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머리 카메라 (ROS 1280×720을 10배 줄인 것과 같게)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wrist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 × 96 × 96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오른손 손목 카메라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state / action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8</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관절각 / 그때 전문가가 보낸 목표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done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마지막 0.5초만 1 ("다 집었다")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158</a:t>
            </a:fld>
            <a:endParaRPr lang="ko-KR"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작은 차이가 쌓이는 문제와 세 가지 대책</a:t>
            </a:r>
            <a:endParaRPr lang="ko-KR" altLang="en-US" sz="3000" dirty="0"/>
          </a:p>
        </p:txBody>
      </p:sp>
      <p:sp>
        <p:nvSpPr>
          <p:cNvPr id="3" name="pill_29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04"/>
          <p:cNvSpPr/>
          <p:nvPr/>
        </p:nvSpPr>
        <p:spPr>
          <a:xfrm>
            <a:off x="548640" y="1371600"/>
            <a:ext cx="3566160" cy="3566160"/>
          </a:xfrm>
          <a:prstGeom prst="roundRect">
            <a:avLst>
              <a:gd name="adj" fmla="val 2051"/>
            </a:avLst>
          </a:prstGeom>
          <a:solidFill>
            <a:schemeClr val="bg2"/>
          </a:solidFill>
          <a:ln w="12700">
            <a:solidFill>
              <a:schemeClr val="bg2"/>
            </a:solidFill>
            <a:prstDash val="solid"/>
          </a:ln>
        </p:spPr>
      </p:sp>
      <p:sp>
        <p:nvSpPr>
          <p:cNvPr id="7" name="iconbg_290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906"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907"/>
          <p:cNvSpPr txBox="1"/>
          <p:nvPr/>
        </p:nvSpPr>
        <p:spPr>
          <a:xfrm>
            <a:off x="146304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넓게 모으기</a:t>
            </a:r>
            <a:endParaRPr lang="ko-KR" altLang="en-US" sz="1800" dirty="0"/>
          </a:p>
        </p:txBody>
      </p:sp>
      <p:sp>
        <p:nvSpPr>
          <p:cNvPr id="10" name="text_2908"/>
          <p:cNvSpPr txBox="1"/>
          <p:nvPr/>
        </p:nvSpPr>
        <p:spPr>
          <a:xfrm>
            <a:off x="77724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테이블 네 곳 × 자리 × 색 셋</a:t>
            </a:r>
            <a:endParaRPr lang="ko-KR" altLang="en-US" sz="1400" dirty="0"/>
          </a:p>
          <a:p>
            <a:pPr eaLnBrk="0" indent="0" marL="0">
              <a:buNone/>
            </a:pPr>
            <a:r>
              <a:rPr lang="ko-KR" altLang="en-US" sz="1400" dirty="0">
                <a:solidFill>
                  <a:schemeClr val="tx1"/>
                </a:solidFill>
              </a:rPr>
              <a:t>절반은 옆자리에 다른 상자</a:t>
            </a:r>
            <a:endParaRPr lang="ko-KR" altLang="en-US" sz="1400" dirty="0"/>
          </a:p>
          <a:p>
            <a:pPr eaLnBrk="0" indent="0" marL="0">
              <a:buNone/>
            </a:pPr>
            <a:r>
              <a:rPr lang="ko-KR" altLang="en-US" sz="1400" dirty="0">
                <a:solidFill>
                  <a:schemeClr val="tx1"/>
                </a:solidFill>
              </a:rPr>
              <a:t>상자 ±3 cm, 방향 ±45°</a:t>
            </a:r>
            <a:endParaRPr lang="ko-KR" altLang="en-US" sz="1400" dirty="0"/>
          </a:p>
          <a:p>
            <a:pPr eaLnBrk="0" indent="0" marL="0">
              <a:buNone/>
            </a:pPr>
            <a:r>
              <a:rPr lang="ko-KR" altLang="en-US" sz="1400" dirty="0">
                <a:solidFill>
                  <a:schemeClr val="tx1"/>
                </a:solidFill>
              </a:rPr>
              <a:t>로봇 정렬 오차 ±4×5 cm, ±8°</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시연마다 무작위</a:t>
            </a:r>
            <a:endParaRPr lang="ko-KR" altLang="en-US" sz="1400" dirty="0"/>
          </a:p>
          <a:p>
            <a:pPr eaLnBrk="0" indent="0" marL="0">
              <a:buNone/>
            </a:pPr>
            <a:r>
              <a:rPr lang="ko-KR" altLang="en-US" sz="1400" dirty="0">
                <a:solidFill>
                  <a:schemeClr val="tx1"/>
                </a:solidFill>
              </a:rPr>
              <a:t>(sim.py TABLES, BOXES, SPREAD)</a:t>
            </a:r>
            <a:endParaRPr lang="ko-KR" altLang="en-US" sz="1400" dirty="0"/>
          </a:p>
        </p:txBody>
      </p:sp>
      <p:sp>
        <p:nvSpPr>
          <p:cNvPr id="11" name="box_2909"/>
          <p:cNvSpPr/>
          <p:nvPr/>
        </p:nvSpPr>
        <p:spPr>
          <a:xfrm>
            <a:off x="4297680" y="1371600"/>
            <a:ext cx="3566160" cy="3566160"/>
          </a:xfrm>
          <a:prstGeom prst="roundRect">
            <a:avLst>
              <a:gd name="adj" fmla="val 2051"/>
            </a:avLst>
          </a:prstGeom>
          <a:solidFill>
            <a:schemeClr val="bg2"/>
          </a:solidFill>
          <a:ln w="12700">
            <a:solidFill>
              <a:schemeClr val="bg2"/>
            </a:solidFill>
            <a:prstDash val="solid"/>
          </a:ln>
        </p:spPr>
      </p:sp>
      <p:sp>
        <p:nvSpPr>
          <p:cNvPr id="12" name="iconbg_291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2911" descr="Redo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2912"/>
          <p:cNvSpPr txBox="1"/>
          <p:nvPr/>
        </p:nvSpPr>
        <p:spPr>
          <a:xfrm>
            <a:off x="521208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흔들어 모으기 (DART)</a:t>
            </a:r>
            <a:endParaRPr lang="ko-KR" altLang="en-US" sz="1800" dirty="0"/>
          </a:p>
        </p:txBody>
      </p:sp>
      <p:sp>
        <p:nvSpPr>
          <p:cNvPr id="15" name="text_2913"/>
          <p:cNvSpPr txBox="1"/>
          <p:nvPr/>
        </p:nvSpPr>
        <p:spPr>
          <a:xfrm>
            <a:off x="452628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시연 절반은 실제로 보내는 목표에 천천히 변하는 잡음 d를 더한다.</a:t>
            </a:r>
            <a:endParaRPr lang="ko-KR" altLang="en-US" sz="1400" dirty="0"/>
          </a:p>
          <a:p>
            <a:pPr eaLnBrk="0" indent="0" marL="0">
              <a:buNone/>
            </a:pPr>
            <a:r>
              <a:rPr lang="ko-KR" altLang="en-US" sz="1400" dirty="0">
                <a:solidFill>
                  <a:schemeClr val="tx1"/>
                </a:solidFill>
              </a:rPr>
              <a:t>d ← 0.85·d + N(0, 0.012²) rad</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기록하는 정답은 전문가 목표 그대로</a:t>
            </a:r>
            <a:endParaRPr lang="ko-KR" altLang="en-US" sz="1400" dirty="0"/>
          </a:p>
          <a:p>
            <a:pPr eaLnBrk="0" indent="0" marL="0">
              <a:buNone/>
            </a:pPr>
            <a:r>
              <a:rPr lang="ko-KR" altLang="en-US" sz="1400" dirty="0">
                <a:solidFill>
                  <a:schemeClr val="tx1"/>
                </a:solidFill>
              </a:rPr>
              <a:t>→ "어긋났을 때 돌아오는 법"이 데이터에 들어간다</a:t>
            </a:r>
            <a:endParaRPr lang="ko-KR" altLang="en-US" sz="1400" dirty="0"/>
          </a:p>
        </p:txBody>
      </p:sp>
      <p:sp>
        <p:nvSpPr>
          <p:cNvPr id="16" name="box_2914"/>
          <p:cNvSpPr/>
          <p:nvPr/>
        </p:nvSpPr>
        <p:spPr>
          <a:xfrm>
            <a:off x="8046720" y="1371600"/>
            <a:ext cx="3566160" cy="3566160"/>
          </a:xfrm>
          <a:prstGeom prst="roundRect">
            <a:avLst>
              <a:gd name="adj" fmla="val 2051"/>
            </a:avLst>
          </a:prstGeom>
          <a:solidFill>
            <a:schemeClr val="bg2"/>
          </a:solidFill>
          <a:ln w="12700">
            <a:solidFill>
              <a:schemeClr val="bg2"/>
            </a:solidFill>
            <a:prstDash val="solid"/>
          </a:ln>
        </p:spPr>
      </p:sp>
      <p:sp>
        <p:nvSpPr>
          <p:cNvPr id="17" name="iconbg_291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2916" descr="LayerGroup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2917"/>
          <p:cNvSpPr txBox="1"/>
          <p:nvPr/>
        </p:nvSpPr>
        <p:spPr>
          <a:xfrm>
            <a:off x="896112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묶음으로 내기 (ACT)</a:t>
            </a:r>
            <a:endParaRPr lang="ko-KR" altLang="en-US" sz="1800" dirty="0"/>
          </a:p>
        </p:txBody>
      </p:sp>
      <p:sp>
        <p:nvSpPr>
          <p:cNvPr id="20" name="text_2918"/>
          <p:cNvSpPr txBox="1"/>
          <p:nvPr/>
        </p:nvSpPr>
        <p:spPr>
          <a:xfrm>
            <a:off x="827532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1단계가 아니라 10단계를 한 번에 예측.</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순간 겹치는 예측 여러 개를 평균 (temporal ensembling)</a:t>
            </a:r>
            <a:endParaRPr lang="ko-KR" altLang="en-US" sz="1400" dirty="0"/>
          </a:p>
          <a:p>
            <a:pPr eaLnBrk="0" indent="0" marL="0">
              <a:buNone/>
            </a:pPr>
            <a:r>
              <a:rPr lang="ko-KR" altLang="en-US" sz="1400" dirty="0">
                <a:solidFill>
                  <a:schemeClr val="tx1"/>
                </a:solidFill>
              </a:rPr>
              <a:t>→ 떨림이 줄고 한 번의 실수가 덜 퍼진다</a:t>
            </a:r>
            <a:endParaRPr lang="ko-KR" altLang="en-US" sz="1400" dirty="0"/>
          </a:p>
        </p:txBody>
      </p:sp>
      <p:sp>
        <p:nvSpPr>
          <p:cNvPr id="21" name="box_2919"/>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2" name="iconbg_2920"/>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3" name="icon_2921" descr="Lightbulb 아이콘">    </p:cNvPr>
          <p:cNvPicPr>
            <a:picLocks noChangeAspect="1"/>
          </p:cNvPicPr>
          <p:nvPr/>
        </p:nvPicPr>
        <p:blipFill>
          <a:blip r:embed="rId4"/>
          <a:stretch>
            <a:fillRect/>
          </a:stretch>
        </p:blipFill>
        <p:spPr>
          <a:xfrm>
            <a:off x="867766" y="5320894"/>
            <a:ext cx="230429" cy="230429"/>
          </a:xfrm>
          <a:prstGeom prst="rect">
            <a:avLst/>
          </a:prstGeom>
        </p:spPr>
      </p:pic>
      <p:sp>
        <p:nvSpPr>
          <p:cNvPr id="24" name="text_2922"/>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2923"/>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운전 연수에서 강사가 일부러 핸들을 살짝 틀어 놓고 "다시 차선으로 돌아오는 법"을 가르치는 것이 DART다.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159</a:t>
            </a:fld>
            <a:endParaRPr lang="ko-KR" alt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정책의 구조 (model.py)</a:t>
            </a:r>
            <a:endParaRPr lang="ko-KR" altLang="en-US" sz="3000" dirty="0"/>
          </a:p>
        </p:txBody>
      </p:sp>
      <p:sp>
        <p:nvSpPr>
          <p:cNvPr id="3" name="pill_29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26"/>
          <p:cNvSpPr/>
          <p:nvPr/>
        </p:nvSpPr>
        <p:spPr>
          <a:xfrm>
            <a:off x="548640" y="1371600"/>
            <a:ext cx="11064240" cy="2743200"/>
          </a:xfrm>
          <a:prstGeom prst="roundRect">
            <a:avLst>
              <a:gd name="adj" fmla="val 2667"/>
            </a:avLst>
          </a:prstGeom>
          <a:solidFill>
            <a:schemeClr val="tx1"/>
          </a:solidFill>
          <a:ln w="12700">
            <a:solidFill>
              <a:schemeClr val="tx1"/>
            </a:solidFill>
            <a:prstDash val="solid"/>
          </a:ln>
        </p:spPr>
      </p:sp>
      <p:sp>
        <p:nvSpPr>
          <p:cNvPr id="7" name="code_2927"/>
          <p:cNvSpPr txBox="1"/>
          <p:nvPr/>
        </p:nvSpPr>
        <p:spPr>
          <a:xfrm>
            <a:off x="731520" y="1508760"/>
            <a:ext cx="1069848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이미지 ─ 합성곱 4층 ─ 공간 소프트맥스 ─▶ 키포인트 64개 (x, y) = 128</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(머리 72×128, 손목 96×96 각각)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명령 ── 단어 해시 (512칸) ── 단어 벡터 평균 ─▶ 32</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관절각 8 ── 정규화 ─────────────────────────▶ 8</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이어 붙이기 (296) ─ MLP 512 ─ MLP 512 ─▶ 10단계 × 8 관절 목표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"끝" 확률 1</a:t>
            </a:r>
            <a:endParaRPr lang="ko-KR" altLang="en-US" sz="1400" dirty="0"/>
          </a:p>
        </p:txBody>
      </p:sp>
      <p:graphicFrame>
        <p:nvGraphicFramePr>
          <p:cNvPr id="161" name="table_2928"/>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3108960"/>
                <a:gridCol w="7955280"/>
              </a:tblGrid>
              <a:tr h="0">
                <a:tc>
                  <a:txBody>
                    <a:bodyPr/>
                    <a:lstStyle/>
                    <a:p>
                      <a:pPr eaLnBrk="0" indent="0" marL="0">
                        <a:buNone/>
                      </a:pPr>
                      <a:r>
                        <a:rPr lang="ko-KR" altLang="en-US" sz="1300" b="1" dirty="0">
                          <a:solidFill>
                            <a:schemeClr val="bg1"/>
                          </a:solidFill>
                        </a:rPr>
                        <a:t>선택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집기에 필요한 것은 "어디에"다. 위치를 직접 숫자로 뽑는다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카메라 두 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멀리서는 머리 카메라, 마지막 몇 cm는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영상 흔들기 · 밝기 바꾸기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렌더링이 조금 달라도(ROS 영상 축소 방식 등) 버티게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단어 해시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LLM이 보낸 어떤 문장도 들어갈 수 있다 (실험해 보니 지금 정책은 색 낱말보다 정렬 위치를 본다 → "언어 확인 실험")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160</a:t>
            </a:fld>
            <a:endParaRPr lang="ko-KR" alt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층별 모양과 매개변수 (PyTorch)</a:t>
            </a:r>
            <a:endParaRPr lang="ko-KR" altLang="en-US" sz="3000" dirty="0"/>
          </a:p>
        </p:txBody>
      </p:sp>
      <p:sp>
        <p:nvSpPr>
          <p:cNvPr id="3" name="pill_29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2" name="table_2931"/>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3291840"/>
                <a:gridCol w="1828800"/>
                <a:gridCol w="1828800"/>
              </a:tblGrid>
              <a:tr h="0">
                <a:tc>
                  <a:txBody>
                    <a:bodyPr/>
                    <a:lstStyle/>
                    <a:p>
                      <a:pPr eaLnBrk="0" indent="0" marL="0">
                        <a:buNone/>
                      </a:pPr>
                      <a:r>
                        <a:rPr lang="ko-KR" altLang="en-US" sz="1300" b="1" dirty="0">
                          <a:solidFill>
                            <a:schemeClr val="bg1"/>
                          </a:solidFill>
                        </a:rPr>
                        <a:t>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입력 (0~1 → −0.5~0.5)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72 × 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96 × 96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5×5 보폭 2, 32 + GroupNorm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36 × 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48 × 48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3×3 보폭 2,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3×3 보폭 1,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1×1, 64 (키포인트 지도)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23" name="table_2932"/>
          <p:cNvGraphicFramePr>
            <a:graphicFrameLocks noGrp="1"/>
          </p:cNvGraphicFramePr>
          <p:nvPr>
            <p:extLst>
              <p:ext uri="{D42A27DB-BD31-4B8C-83A1-F6EECF244321}">
                <p14:modId xmlns:p14="http://schemas.microsoft.com/office/powerpoint/2010/main" val="1579011935"/>
              </p:ext>
            </p:extLst>
          </p:nvPr>
        </p:nvGraphicFramePr>
        <p:xfrm>
          <a:off x="7772400" y="1371600"/>
          <a:ext cx="3840480" cy="914400"/>
        </p:xfrm>
        <a:graphic>
          <a:graphicData uri="http://schemas.openxmlformats.org/drawingml/2006/table">
            <a:tbl>
              <a:tblPr/>
              <a:tblGrid>
                <a:gridCol w="2377440"/>
                <a:gridCol w="146304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머리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손목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단어 표 512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16,384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MLP 296 → 512 → 512 → 81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456,273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합계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597,329</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33"/>
          <p:cNvSpPr/>
          <p:nvPr/>
        </p:nvSpPr>
        <p:spPr>
          <a:xfrm>
            <a:off x="548640" y="4297680"/>
            <a:ext cx="11064240" cy="1828800"/>
          </a:xfrm>
          <a:prstGeom prst="roundRect">
            <a:avLst>
              <a:gd name="adj" fmla="val 4000"/>
            </a:avLst>
          </a:prstGeom>
          <a:solidFill>
            <a:schemeClr val="tx1"/>
          </a:solidFill>
          <a:ln w="12700">
            <a:solidFill>
              <a:schemeClr val="tx1"/>
            </a:solidFill>
            <a:prstDash val="solid"/>
          </a:ln>
        </p:spPr>
      </p:sp>
      <p:sp>
        <p:nvSpPr>
          <p:cNvPr id="9" name="code_2934"/>
          <p:cNvSpPr txBox="1"/>
          <p:nvPr/>
        </p:nvSpPr>
        <p:spPr>
          <a:xfrm>
            <a:off x="731520" y="4434840"/>
            <a:ext cx="1069848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forward(self, head, wrist, words, offsets, state):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z = torch.cat([self.head_enc(head - 0.5), self.wrist_enc(wrist - 0.5),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self.words(words, offsets),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(state - self.mean) / self.std], dim=1)   # (n, 296)</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out = self.trunk(z)                                      # (n, 81)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out[:, :-1].view(-1, 10, 8), out[:, -1]           # 묶음, "끝" 로짓</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161</a:t>
            </a:fld>
            <a:endParaRPr lang="ko-KR" alt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공간 소프트맥스: "어디에"를 숫자로</a:t>
            </a:r>
            <a:endParaRPr lang="ko-KR" altLang="en-US" sz="3000" dirty="0"/>
          </a:p>
        </p:txBody>
      </p:sp>
      <p:sp>
        <p:nvSpPr>
          <p:cNvPr id="3" name="pill_29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37"/>
          <p:cNvSpPr/>
          <p:nvPr/>
        </p:nvSpPr>
        <p:spPr>
          <a:xfrm>
            <a:off x="548640" y="1371600"/>
            <a:ext cx="6766560" cy="3566160"/>
          </a:xfrm>
          <a:prstGeom prst="roundRect">
            <a:avLst>
              <a:gd name="adj" fmla="val 2051"/>
            </a:avLst>
          </a:prstGeom>
          <a:solidFill>
            <a:schemeClr val="tx1"/>
          </a:solidFill>
          <a:ln w="12700">
            <a:solidFill>
              <a:schemeClr val="tx1"/>
            </a:solidFill>
            <a:prstDash val="solid"/>
          </a:ln>
        </p:spPr>
      </p:sp>
      <p:sp>
        <p:nvSpPr>
          <p:cNvPr id="7" name="code_2938"/>
          <p:cNvSpPr txBox="1"/>
          <p:nvPr/>
        </p:nvSpPr>
        <p:spPr>
          <a:xfrm>
            <a:off x="731520" y="1508760"/>
            <a:ext cx="640080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p_k(i, j) = exp(f_k(i, j)) / Σ exp(f_k)      # k번째 지도의 확률</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x̂_k = Σ p_k(i, j) · x_j                     # x_j, y_i ∈ [−1,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ŷ_k = Σ p_k(i, j) · y_i</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model.py SpatialSoftmax.forward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  = F.softmax(x.flatten(2), dim=-1).view(n, c, h, w)</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xs = torch.linspace(-1, 1, w); ys = torch.linspace(-1, 1, 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torch.cat([(p.sum(2) * xs).sum(-1),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(p.sum(3) * ys).sum(-1)], dim=1)   # (n, 2c)</a:t>
            </a:r>
            <a:endParaRPr lang="ko-KR" altLang="en-US" sz="1300" dirty="0"/>
          </a:p>
        </p:txBody>
      </p:sp>
      <p:sp>
        <p:nvSpPr>
          <p:cNvPr id="8" name="box_2939"/>
          <p:cNvSpPr/>
          <p:nvPr/>
        </p:nvSpPr>
        <p:spPr>
          <a:xfrm>
            <a:off x="7589520" y="1371600"/>
            <a:ext cx="4023360" cy="3566160"/>
          </a:xfrm>
          <a:prstGeom prst="roundRect">
            <a:avLst>
              <a:gd name="adj" fmla="val 2051"/>
            </a:avLst>
          </a:prstGeom>
          <a:solidFill>
            <a:schemeClr val="bg2"/>
          </a:solidFill>
          <a:ln w="12700">
            <a:solidFill>
              <a:schemeClr val="bg2"/>
            </a:solidFill>
            <a:prstDash val="solid"/>
          </a:ln>
        </p:spPr>
      </p:sp>
      <p:sp>
        <p:nvSpPr>
          <p:cNvPr id="9" name="iconbg_2940"/>
          <p:cNvSpPr/>
          <p:nvPr/>
        </p:nvSpPr>
        <p:spPr>
          <a:xfrm>
            <a:off x="7818120" y="1600200"/>
            <a:ext cx="548640" cy="548640"/>
          </a:xfrm>
          <a:prstGeom prst="ellipse">
            <a:avLst/>
          </a:prstGeom>
          <a:solidFill>
            <a:schemeClr val="accent1"/>
          </a:solidFill>
          <a:ln w="12700">
            <a:solidFill>
              <a:schemeClr val="accent1"/>
            </a:solidFill>
            <a:prstDash val="solid"/>
          </a:ln>
        </p:spPr>
      </p:sp>
      <p:pic>
        <p:nvPicPr>
          <p:cNvPr id="10" name="icon_2941" descr="Crosshairs 아이콘">    </p:cNvPr>
          <p:cNvPicPr>
            <a:picLocks noChangeAspect="1"/>
          </p:cNvPicPr>
          <p:nvPr/>
        </p:nvPicPr>
        <p:blipFill>
          <a:blip r:embed="rId1"/>
          <a:stretch>
            <a:fillRect/>
          </a:stretch>
        </p:blipFill>
        <p:spPr>
          <a:xfrm>
            <a:off x="7938821" y="1720901"/>
            <a:ext cx="307238" cy="307238"/>
          </a:xfrm>
          <a:prstGeom prst="rect">
            <a:avLst/>
          </a:prstGeom>
        </p:spPr>
      </p:pic>
      <p:sp>
        <p:nvSpPr>
          <p:cNvPr id="11" name="text_2942"/>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평균 풀링이 아닌가</a:t>
            </a:r>
            <a:endParaRPr lang="ko-KR" altLang="en-US" sz="1800" dirty="0"/>
          </a:p>
        </p:txBody>
      </p:sp>
      <p:sp>
        <p:nvSpPr>
          <p:cNvPr id="12" name="text_2943"/>
          <p:cNvSpPr txBox="1"/>
          <p:nvPr/>
        </p:nvSpPr>
        <p:spPr>
          <a:xfrm>
            <a:off x="7818120" y="2240280"/>
            <a:ext cx="35661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평균 풀링은 "무엇이 있나"는 남기지만 "어디에"를 지운다.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공간 소프트맥스는 위치를 그대로 숫자로 넘겨 주므로, 상자가 2 cm 옮겨지면 키포인트도 그만큼 움직인다.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시연 수백 개, CPU로도 배운다</a:t>
            </a:r>
            <a:endParaRPr lang="ko-KR" altLang="en-US" sz="1400" dirty="0"/>
          </a:p>
        </p:txBody>
      </p:sp>
      <p:sp>
        <p:nvSpPr>
          <p:cNvPr id="13" name="box_2944"/>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14" name="iconbg_2945"/>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15" name="icon_2946" descr="Lightbulb 아이콘">    </p:cNvPr>
          <p:cNvPicPr>
            <a:picLocks noChangeAspect="1"/>
          </p:cNvPicPr>
          <p:nvPr/>
        </p:nvPicPr>
        <p:blipFill>
          <a:blip r:embed="rId2"/>
          <a:stretch>
            <a:fillRect/>
          </a:stretch>
        </p:blipFill>
        <p:spPr>
          <a:xfrm>
            <a:off x="867766" y="5320894"/>
            <a:ext cx="230429" cy="230429"/>
          </a:xfrm>
          <a:prstGeom prst="rect">
            <a:avLst/>
          </a:prstGeom>
        </p:spPr>
      </p:pic>
      <p:sp>
        <p:nvSpPr>
          <p:cNvPr id="16" name="text_2947"/>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7" name="text_2948"/>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사진 64장에 각각 "가장 밝은 곳에 핀을 꽂아라"를 시키고, 핀 64개의 좌표만 다음 사람에게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162</a:t>
            </a:fld>
            <a:endParaRPr lang="ko-KR" alt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설정 (train.py)</a:t>
            </a:r>
            <a:endParaRPr lang="ko-KR" altLang="en-US" sz="3000" dirty="0"/>
          </a:p>
        </p:txBody>
      </p:sp>
      <p:sp>
        <p:nvSpPr>
          <p:cNvPr id="3" name="pill_29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4" name="table_2951"/>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a:tblGrid>
                <a:gridCol w="1463040"/>
                <a:gridCol w="4846320"/>
              </a:tblGrid>
              <a:tr h="0">
                <a:tc>
                  <a:txBody>
                    <a:bodyPr/>
                    <a:lstStyle/>
                    <a:p>
                      <a:pPr eaLnBrk="0" indent="0" marL="0">
                        <a:buNone/>
                      </a:pPr>
                      <a:r>
                        <a:rPr lang="ko-KR" altLang="en-US" sz="1300" b="1" dirty="0">
                          <a:solidFill>
                            <a:schemeClr val="bg1"/>
                          </a:solidFill>
                        </a:rPr>
                        <a:t>항목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표본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1040편 = 80,080장면, 검증 115편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장면부터 10단계 목표 (끝은 마지막 목표로 채움), 평균·표준편차로 정규화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손실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L1(묶음) + 0.1 × BCE("끝")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최적화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AdamW, lr 1e-3, weight decay 1e-4, OneCycleLR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배치 · 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20,000 (약 16 에포크), CPU 8스레드 약 0.19 s/단계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증강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영상 ±4 px 이동, 밝기·대비 ±10%, 관절각 잡음 0.01 rad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저장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500단계마다 검증, 가장 좋을 때 policy.pt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952"/>
          <p:cNvSpPr/>
          <p:nvPr/>
        </p:nvSpPr>
        <p:spPr>
          <a:xfrm>
            <a:off x="7132320" y="1371600"/>
            <a:ext cx="4480560" cy="4754880"/>
          </a:xfrm>
          <a:prstGeom prst="roundRect">
            <a:avLst>
              <a:gd name="adj" fmla="val 1633"/>
            </a:avLst>
          </a:prstGeom>
          <a:solidFill>
            <a:schemeClr val="tx1"/>
          </a:solidFill>
          <a:ln w="12700">
            <a:solidFill>
              <a:schemeClr val="tx1"/>
            </a:solidFill>
            <a:prstDash val="solid"/>
          </a:ln>
        </p:spPr>
      </p:sp>
      <p:sp>
        <p:nvSpPr>
          <p:cNvPr id="8" name="code_2953"/>
          <p:cNvSpPr txBox="1"/>
          <p:nvPr/>
        </p:nvSpPr>
        <p:spPr>
          <a:xfrm>
            <a:off x="7315200" y="1508760"/>
            <a:ext cx="411480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학습 한 단계 (train.py)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idx = rng.integers(0, len(train), 64)</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head, wrist, words, offsets, state,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chunk, done = train.batch(idx, 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pred, logit = policy(head, wrist, words,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offsets, 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target = (chunk - mean) / std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 = F.l1_loss(pred, target) + 0.1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F.binary_cross_entropy_with_logits(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logit, done)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opt.zero_grad()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loss.backward()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opt.step()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sched.step()</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163</a:t>
            </a:fld>
            <a:endParaRPr lang="ko-KR" alt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곡선: 검증 오차</a:t>
            </a:r>
            <a:endParaRPr lang="ko-KR" altLang="en-US" sz="3000" dirty="0"/>
          </a:p>
        </p:txBody>
      </p:sp>
      <p:sp>
        <p:nvSpPr>
          <p:cNvPr id="3" name="pill_29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6" name="chart_val_l1" descr=""/>
          <p:cNvGraphicFramePr/>
          <p:nvPr/>
        </p:nvGraphicFramePr>
        <p:xfrm>
          <a:off x="548640" y="1371600"/>
          <a:ext cx="749808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5" name="table_2956"/>
          <p:cNvGraphicFramePr>
            <a:graphicFrameLocks noGrp="1"/>
          </p:cNvGraphicFramePr>
          <p:nvPr>
            <p:extLst>
              <p:ext uri="{D42A27DB-BD31-4B8C-83A1-F6EECF244321}">
                <p14:modId xmlns:p14="http://schemas.microsoft.com/office/powerpoint/2010/main" val="1579011935"/>
              </p:ext>
            </p:extLst>
          </p:nvPr>
        </p:nvGraphicFramePr>
        <p:xfrm>
          <a:off x="8321040" y="1371600"/>
          <a:ext cx="3291840" cy="914400"/>
        </p:xfrm>
        <a:graphic>
          <a:graphicData uri="http://schemas.openxmlformats.org/drawingml/2006/table">
            <a:tbl>
              <a:tblPr/>
              <a:tblGrid>
                <a:gridCol w="1463040"/>
                <a:gridCol w="731520"/>
                <a:gridCol w="1097280"/>
              </a:tblGrid>
              <a:tr h="0">
                <a:tc>
                  <a:txBody>
                    <a:bodyPr/>
                    <a:lstStyle/>
                    <a:p>
                      <a:pPr eaLnBrk="0" indent="0" marL="0">
                        <a:buNone/>
                      </a:pPr>
                      <a:r>
                        <a:rPr lang="ko-KR" altLang="en-US" sz="1200" b="1" dirty="0">
                          <a:solidFill>
                            <a:schemeClr val="bg1"/>
                          </a:solidFill>
                        </a:rPr>
                        <a:t>학습 데이터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검증 L1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닫힌 루프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테이블 넷 1,155편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0.0385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100/100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(전) 테이블 둘 583편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0.038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100/100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(전) 공급만 297편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0.043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작업대 0/20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57"/>
          <p:cNvSpPr/>
          <p:nvPr/>
        </p:nvSpPr>
        <p:spPr>
          <a:xfrm>
            <a:off x="8321040" y="3291840"/>
            <a:ext cx="3291840" cy="2834640"/>
          </a:xfrm>
          <a:prstGeom prst="roundRect">
            <a:avLst>
              <a:gd name="adj" fmla="val 2581"/>
            </a:avLst>
          </a:prstGeom>
          <a:solidFill>
            <a:schemeClr val="bg2"/>
          </a:solidFill>
          <a:ln w="12700">
            <a:solidFill>
              <a:schemeClr val="bg2"/>
            </a:solidFill>
            <a:prstDash val="solid"/>
          </a:ln>
        </p:spPr>
      </p:sp>
      <p:sp>
        <p:nvSpPr>
          <p:cNvPr id="9" name="iconbg_2958"/>
          <p:cNvSpPr/>
          <p:nvPr/>
        </p:nvSpPr>
        <p:spPr>
          <a:xfrm>
            <a:off x="8549640" y="3520440"/>
            <a:ext cx="548640" cy="548640"/>
          </a:xfrm>
          <a:prstGeom prst="ellipse">
            <a:avLst/>
          </a:prstGeom>
          <a:solidFill>
            <a:schemeClr val="accent6"/>
          </a:solidFill>
          <a:ln w="12700">
            <a:solidFill>
              <a:schemeClr val="accent6"/>
            </a:solidFill>
            <a:prstDash val="solid"/>
          </a:ln>
        </p:spPr>
      </p:sp>
      <p:pic>
        <p:nvPicPr>
          <p:cNvPr id="10" name="icon_2959" descr="ExclamationTriangle 아이콘">    </p:cNvPr>
          <p:cNvPicPr>
            <a:picLocks noChangeAspect="1"/>
          </p:cNvPicPr>
          <p:nvPr/>
        </p:nvPicPr>
        <p:blipFill>
          <a:blip r:embed="rId2"/>
          <a:stretch>
            <a:fillRect/>
          </a:stretch>
        </p:blipFill>
        <p:spPr>
          <a:xfrm>
            <a:off x="8670341" y="3641141"/>
            <a:ext cx="307238" cy="307238"/>
          </a:xfrm>
          <a:prstGeom prst="rect">
            <a:avLst/>
          </a:prstGeom>
        </p:spPr>
      </p:pic>
      <p:sp>
        <p:nvSpPr>
          <p:cNvPr id="11" name="text_2960"/>
          <p:cNvSpPr txBox="1"/>
          <p:nvPr/>
        </p:nvSpPr>
        <p:spPr>
          <a:xfrm>
            <a:off x="9235440" y="349300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숫자만 믿지 말 것</a:t>
            </a:r>
            <a:endParaRPr lang="ko-KR" altLang="en-US" sz="1600" dirty="0"/>
          </a:p>
        </p:txBody>
      </p:sp>
      <p:sp>
        <p:nvSpPr>
          <p:cNvPr id="12" name="text_2961"/>
          <p:cNvSpPr txBox="1"/>
          <p:nvPr/>
        </p:nvSpPr>
        <p:spPr>
          <a:xfrm>
            <a:off x="8549640" y="4160520"/>
            <a:ext cx="2834640" cy="1892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검증 오차는 "본 적 있는 종류의 장면"에서의 실력이다. 쓸 곳에서 닫힌 루프로 직접 평가해야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164</a:t>
            </a:fld>
            <a:endParaRPr lang="ko-KR" alt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실행: 묶음 예측의 시간 평균 (runner.py)</a:t>
            </a:r>
            <a:endParaRPr lang="ko-KR" altLang="en-US" sz="3000" dirty="0"/>
          </a:p>
        </p:txBody>
      </p:sp>
      <p:sp>
        <p:nvSpPr>
          <p:cNvPr id="3" name="pill_29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64"/>
          <p:cNvSpPr/>
          <p:nvPr/>
        </p:nvSpPr>
        <p:spPr>
          <a:xfrm>
            <a:off x="548640" y="1463040"/>
            <a:ext cx="438912" cy="411480"/>
          </a:xfrm>
          <a:prstGeom prst="roundRect">
            <a:avLst>
              <a:gd name="adj" fmla="val 17778"/>
            </a:avLst>
          </a:prstGeom>
          <a:solidFill>
            <a:schemeClr val="bg2"/>
          </a:solidFill>
          <a:ln w="12700">
            <a:solidFill>
              <a:schemeClr val="bg2"/>
            </a:solidFill>
            <a:prstDash val="solid"/>
          </a:ln>
        </p:spPr>
      </p:sp>
      <p:sp>
        <p:nvSpPr>
          <p:cNvPr id="7" name="box_2965"/>
          <p:cNvSpPr/>
          <p:nvPr/>
        </p:nvSpPr>
        <p:spPr>
          <a:xfrm>
            <a:off x="1024128" y="1463040"/>
            <a:ext cx="438912" cy="411480"/>
          </a:xfrm>
          <a:prstGeom prst="roundRect">
            <a:avLst>
              <a:gd name="adj" fmla="val 17778"/>
            </a:avLst>
          </a:prstGeom>
          <a:solidFill>
            <a:schemeClr val="bg2"/>
          </a:solidFill>
          <a:ln w="12700">
            <a:solidFill>
              <a:schemeClr val="bg2"/>
            </a:solidFill>
            <a:prstDash val="solid"/>
          </a:ln>
        </p:spPr>
      </p:sp>
      <p:sp>
        <p:nvSpPr>
          <p:cNvPr id="8" name="box_2966"/>
          <p:cNvSpPr/>
          <p:nvPr/>
        </p:nvSpPr>
        <p:spPr>
          <a:xfrm>
            <a:off x="1499616" y="1463040"/>
            <a:ext cx="438912" cy="411480"/>
          </a:xfrm>
          <a:prstGeom prst="roundRect">
            <a:avLst>
              <a:gd name="adj" fmla="val 17778"/>
            </a:avLst>
          </a:prstGeom>
          <a:solidFill>
            <a:schemeClr val="bg2"/>
          </a:solidFill>
          <a:ln w="12700">
            <a:solidFill>
              <a:schemeClr val="bg2"/>
            </a:solidFill>
            <a:prstDash val="solid"/>
          </a:ln>
        </p:spPr>
      </p:sp>
      <p:sp>
        <p:nvSpPr>
          <p:cNvPr id="9" name="box_2967"/>
          <p:cNvSpPr/>
          <p:nvPr/>
        </p:nvSpPr>
        <p:spPr>
          <a:xfrm>
            <a:off x="1975104" y="1463040"/>
            <a:ext cx="438912" cy="411480"/>
          </a:xfrm>
          <a:prstGeom prst="roundRect">
            <a:avLst>
              <a:gd name="adj" fmla="val 17778"/>
            </a:avLst>
          </a:prstGeom>
          <a:solidFill>
            <a:schemeClr val="accent1"/>
          </a:solidFill>
          <a:ln w="12700">
            <a:solidFill>
              <a:schemeClr val="accent1"/>
            </a:solidFill>
            <a:prstDash val="solid"/>
          </a:ln>
        </p:spPr>
      </p:sp>
      <p:sp>
        <p:nvSpPr>
          <p:cNvPr id="10" name="box_2968"/>
          <p:cNvSpPr/>
          <p:nvPr/>
        </p:nvSpPr>
        <p:spPr>
          <a:xfrm>
            <a:off x="2450592" y="1463040"/>
            <a:ext cx="438912" cy="411480"/>
          </a:xfrm>
          <a:prstGeom prst="roundRect">
            <a:avLst>
              <a:gd name="adj" fmla="val 17778"/>
            </a:avLst>
          </a:prstGeom>
          <a:solidFill>
            <a:schemeClr val="bg2"/>
          </a:solidFill>
          <a:ln w="12700">
            <a:solidFill>
              <a:schemeClr val="bg2"/>
            </a:solidFill>
            <a:prstDash val="solid"/>
          </a:ln>
        </p:spPr>
      </p:sp>
      <p:sp>
        <p:nvSpPr>
          <p:cNvPr id="11" name="box_2969"/>
          <p:cNvSpPr/>
          <p:nvPr/>
        </p:nvSpPr>
        <p:spPr>
          <a:xfrm>
            <a:off x="2926080" y="1463040"/>
            <a:ext cx="438912" cy="411480"/>
          </a:xfrm>
          <a:prstGeom prst="roundRect">
            <a:avLst>
              <a:gd name="adj" fmla="val 17778"/>
            </a:avLst>
          </a:prstGeom>
          <a:solidFill>
            <a:schemeClr val="bg2"/>
          </a:solidFill>
          <a:ln w="12700">
            <a:solidFill>
              <a:schemeClr val="bg2"/>
            </a:solidFill>
            <a:prstDash val="solid"/>
          </a:ln>
        </p:spPr>
      </p:sp>
      <p:sp>
        <p:nvSpPr>
          <p:cNvPr id="12" name="box_2970"/>
          <p:cNvSpPr/>
          <p:nvPr/>
        </p:nvSpPr>
        <p:spPr>
          <a:xfrm>
            <a:off x="3401568" y="1463040"/>
            <a:ext cx="438912" cy="411480"/>
          </a:xfrm>
          <a:prstGeom prst="roundRect">
            <a:avLst>
              <a:gd name="adj" fmla="val 17778"/>
            </a:avLst>
          </a:prstGeom>
          <a:solidFill>
            <a:schemeClr val="bg2"/>
          </a:solidFill>
          <a:ln w="12700">
            <a:solidFill>
              <a:schemeClr val="bg2"/>
            </a:solidFill>
            <a:prstDash val="solid"/>
          </a:ln>
        </p:spPr>
      </p:sp>
      <p:sp>
        <p:nvSpPr>
          <p:cNvPr id="13" name="box_2971"/>
          <p:cNvSpPr/>
          <p:nvPr/>
        </p:nvSpPr>
        <p:spPr>
          <a:xfrm>
            <a:off x="3877056" y="1463040"/>
            <a:ext cx="438912" cy="411480"/>
          </a:xfrm>
          <a:prstGeom prst="roundRect">
            <a:avLst>
              <a:gd name="adj" fmla="val 17778"/>
            </a:avLst>
          </a:prstGeom>
          <a:solidFill>
            <a:schemeClr val="bg2"/>
          </a:solidFill>
          <a:ln w="12700">
            <a:solidFill>
              <a:schemeClr val="bg2"/>
            </a:solidFill>
            <a:prstDash val="solid"/>
          </a:ln>
        </p:spPr>
      </p:sp>
      <p:sp>
        <p:nvSpPr>
          <p:cNvPr id="14" name="box_2972"/>
          <p:cNvSpPr/>
          <p:nvPr/>
        </p:nvSpPr>
        <p:spPr>
          <a:xfrm>
            <a:off x="4352544" y="1463040"/>
            <a:ext cx="438912" cy="411480"/>
          </a:xfrm>
          <a:prstGeom prst="roundRect">
            <a:avLst>
              <a:gd name="adj" fmla="val 17778"/>
            </a:avLst>
          </a:prstGeom>
          <a:solidFill>
            <a:schemeClr val="bg2"/>
          </a:solidFill>
          <a:ln w="12700">
            <a:solidFill>
              <a:schemeClr val="bg2"/>
            </a:solidFill>
            <a:prstDash val="solid"/>
          </a:ln>
        </p:spPr>
      </p:sp>
      <p:sp>
        <p:nvSpPr>
          <p:cNvPr id="15" name="box_2973"/>
          <p:cNvSpPr/>
          <p:nvPr/>
        </p:nvSpPr>
        <p:spPr>
          <a:xfrm>
            <a:off x="4828032" y="1463040"/>
            <a:ext cx="438912" cy="411480"/>
          </a:xfrm>
          <a:prstGeom prst="roundRect">
            <a:avLst>
              <a:gd name="adj" fmla="val 17778"/>
            </a:avLst>
          </a:prstGeom>
          <a:solidFill>
            <a:schemeClr val="bg2"/>
          </a:solidFill>
          <a:ln w="12700">
            <a:solidFill>
              <a:schemeClr val="bg2"/>
            </a:solidFill>
            <a:prstDash val="solid"/>
          </a:ln>
        </p:spPr>
      </p:sp>
      <p:sp>
        <p:nvSpPr>
          <p:cNvPr id="16" name="text_2974"/>
          <p:cNvSpPr txBox="1"/>
          <p:nvPr/>
        </p:nvSpPr>
        <p:spPr>
          <a:xfrm>
            <a:off x="6400800" y="146304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t−3에 예측</a:t>
            </a:r>
            <a:endParaRPr lang="ko-KR" altLang="en-US" sz="1200" dirty="0"/>
          </a:p>
        </p:txBody>
      </p:sp>
      <p:sp>
        <p:nvSpPr>
          <p:cNvPr id="17" name="box_2975"/>
          <p:cNvSpPr/>
          <p:nvPr/>
        </p:nvSpPr>
        <p:spPr>
          <a:xfrm>
            <a:off x="1024128" y="1965960"/>
            <a:ext cx="438912" cy="411480"/>
          </a:xfrm>
          <a:prstGeom prst="roundRect">
            <a:avLst>
              <a:gd name="adj" fmla="val 17778"/>
            </a:avLst>
          </a:prstGeom>
          <a:solidFill>
            <a:schemeClr val="bg2"/>
          </a:solidFill>
          <a:ln w="12700">
            <a:solidFill>
              <a:schemeClr val="bg2"/>
            </a:solidFill>
            <a:prstDash val="solid"/>
          </a:ln>
        </p:spPr>
      </p:sp>
      <p:sp>
        <p:nvSpPr>
          <p:cNvPr id="18" name="box_2976"/>
          <p:cNvSpPr/>
          <p:nvPr/>
        </p:nvSpPr>
        <p:spPr>
          <a:xfrm>
            <a:off x="1499616" y="1965960"/>
            <a:ext cx="438912" cy="411480"/>
          </a:xfrm>
          <a:prstGeom prst="roundRect">
            <a:avLst>
              <a:gd name="adj" fmla="val 17778"/>
            </a:avLst>
          </a:prstGeom>
          <a:solidFill>
            <a:schemeClr val="bg2"/>
          </a:solidFill>
          <a:ln w="12700">
            <a:solidFill>
              <a:schemeClr val="bg2"/>
            </a:solidFill>
            <a:prstDash val="solid"/>
          </a:ln>
        </p:spPr>
      </p:sp>
      <p:sp>
        <p:nvSpPr>
          <p:cNvPr id="19" name="box_2977"/>
          <p:cNvSpPr/>
          <p:nvPr/>
        </p:nvSpPr>
        <p:spPr>
          <a:xfrm>
            <a:off x="1975104" y="1965960"/>
            <a:ext cx="438912" cy="411480"/>
          </a:xfrm>
          <a:prstGeom prst="roundRect">
            <a:avLst>
              <a:gd name="adj" fmla="val 17778"/>
            </a:avLst>
          </a:prstGeom>
          <a:solidFill>
            <a:schemeClr val="accent1"/>
          </a:solidFill>
          <a:ln w="12700">
            <a:solidFill>
              <a:schemeClr val="accent1"/>
            </a:solidFill>
            <a:prstDash val="solid"/>
          </a:ln>
        </p:spPr>
      </p:sp>
      <p:sp>
        <p:nvSpPr>
          <p:cNvPr id="20" name="box_2978"/>
          <p:cNvSpPr/>
          <p:nvPr/>
        </p:nvSpPr>
        <p:spPr>
          <a:xfrm>
            <a:off x="2450592" y="1965960"/>
            <a:ext cx="438912" cy="411480"/>
          </a:xfrm>
          <a:prstGeom prst="roundRect">
            <a:avLst>
              <a:gd name="adj" fmla="val 17778"/>
            </a:avLst>
          </a:prstGeom>
          <a:solidFill>
            <a:schemeClr val="bg2"/>
          </a:solidFill>
          <a:ln w="12700">
            <a:solidFill>
              <a:schemeClr val="bg2"/>
            </a:solidFill>
            <a:prstDash val="solid"/>
          </a:ln>
        </p:spPr>
      </p:sp>
      <p:sp>
        <p:nvSpPr>
          <p:cNvPr id="21" name="box_2979"/>
          <p:cNvSpPr/>
          <p:nvPr/>
        </p:nvSpPr>
        <p:spPr>
          <a:xfrm>
            <a:off x="2926080" y="1965960"/>
            <a:ext cx="438912" cy="411480"/>
          </a:xfrm>
          <a:prstGeom prst="roundRect">
            <a:avLst>
              <a:gd name="adj" fmla="val 17778"/>
            </a:avLst>
          </a:prstGeom>
          <a:solidFill>
            <a:schemeClr val="bg2"/>
          </a:solidFill>
          <a:ln w="12700">
            <a:solidFill>
              <a:schemeClr val="bg2"/>
            </a:solidFill>
            <a:prstDash val="solid"/>
          </a:ln>
        </p:spPr>
      </p:sp>
      <p:sp>
        <p:nvSpPr>
          <p:cNvPr id="22" name="box_2980"/>
          <p:cNvSpPr/>
          <p:nvPr/>
        </p:nvSpPr>
        <p:spPr>
          <a:xfrm>
            <a:off x="3401568" y="1965960"/>
            <a:ext cx="438912" cy="411480"/>
          </a:xfrm>
          <a:prstGeom prst="roundRect">
            <a:avLst>
              <a:gd name="adj" fmla="val 17778"/>
            </a:avLst>
          </a:prstGeom>
          <a:solidFill>
            <a:schemeClr val="bg2"/>
          </a:solidFill>
          <a:ln w="12700">
            <a:solidFill>
              <a:schemeClr val="bg2"/>
            </a:solidFill>
            <a:prstDash val="solid"/>
          </a:ln>
        </p:spPr>
      </p:sp>
      <p:sp>
        <p:nvSpPr>
          <p:cNvPr id="23" name="box_2981"/>
          <p:cNvSpPr/>
          <p:nvPr/>
        </p:nvSpPr>
        <p:spPr>
          <a:xfrm>
            <a:off x="3877056" y="1965960"/>
            <a:ext cx="438912" cy="411480"/>
          </a:xfrm>
          <a:prstGeom prst="roundRect">
            <a:avLst>
              <a:gd name="adj" fmla="val 17778"/>
            </a:avLst>
          </a:prstGeom>
          <a:solidFill>
            <a:schemeClr val="bg2"/>
          </a:solidFill>
          <a:ln w="12700">
            <a:solidFill>
              <a:schemeClr val="bg2"/>
            </a:solidFill>
            <a:prstDash val="solid"/>
          </a:ln>
        </p:spPr>
      </p:sp>
      <p:sp>
        <p:nvSpPr>
          <p:cNvPr id="24" name="box_2982"/>
          <p:cNvSpPr/>
          <p:nvPr/>
        </p:nvSpPr>
        <p:spPr>
          <a:xfrm>
            <a:off x="4352544" y="1965960"/>
            <a:ext cx="438912" cy="411480"/>
          </a:xfrm>
          <a:prstGeom prst="roundRect">
            <a:avLst>
              <a:gd name="adj" fmla="val 17778"/>
            </a:avLst>
          </a:prstGeom>
          <a:solidFill>
            <a:schemeClr val="bg2"/>
          </a:solidFill>
          <a:ln w="12700">
            <a:solidFill>
              <a:schemeClr val="bg2"/>
            </a:solidFill>
            <a:prstDash val="solid"/>
          </a:ln>
        </p:spPr>
      </p:sp>
      <p:sp>
        <p:nvSpPr>
          <p:cNvPr id="25" name="box_2983"/>
          <p:cNvSpPr/>
          <p:nvPr/>
        </p:nvSpPr>
        <p:spPr>
          <a:xfrm>
            <a:off x="4828032" y="1965960"/>
            <a:ext cx="438912" cy="411480"/>
          </a:xfrm>
          <a:prstGeom prst="roundRect">
            <a:avLst>
              <a:gd name="adj" fmla="val 17778"/>
            </a:avLst>
          </a:prstGeom>
          <a:solidFill>
            <a:schemeClr val="bg2"/>
          </a:solidFill>
          <a:ln w="12700">
            <a:solidFill>
              <a:schemeClr val="bg2"/>
            </a:solidFill>
            <a:prstDash val="solid"/>
          </a:ln>
        </p:spPr>
      </p:sp>
      <p:sp>
        <p:nvSpPr>
          <p:cNvPr id="26" name="box_2984"/>
          <p:cNvSpPr/>
          <p:nvPr/>
        </p:nvSpPr>
        <p:spPr>
          <a:xfrm>
            <a:off x="5303520" y="1965960"/>
            <a:ext cx="438912" cy="411480"/>
          </a:xfrm>
          <a:prstGeom prst="roundRect">
            <a:avLst>
              <a:gd name="adj" fmla="val 17778"/>
            </a:avLst>
          </a:prstGeom>
          <a:solidFill>
            <a:schemeClr val="bg2"/>
          </a:solidFill>
          <a:ln w="12700">
            <a:solidFill>
              <a:schemeClr val="bg2"/>
            </a:solidFill>
            <a:prstDash val="solid"/>
          </a:ln>
        </p:spPr>
      </p:sp>
      <p:sp>
        <p:nvSpPr>
          <p:cNvPr id="27" name="text_2985"/>
          <p:cNvSpPr txBox="1"/>
          <p:nvPr/>
        </p:nvSpPr>
        <p:spPr>
          <a:xfrm>
            <a:off x="6400800" y="196596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t−2에 예측</a:t>
            </a:r>
            <a:endParaRPr lang="ko-KR" altLang="en-US" sz="1200" dirty="0"/>
          </a:p>
        </p:txBody>
      </p:sp>
      <p:sp>
        <p:nvSpPr>
          <p:cNvPr id="28" name="box_2986"/>
          <p:cNvSpPr/>
          <p:nvPr/>
        </p:nvSpPr>
        <p:spPr>
          <a:xfrm>
            <a:off x="1499616" y="2468880"/>
            <a:ext cx="438912" cy="411480"/>
          </a:xfrm>
          <a:prstGeom prst="roundRect">
            <a:avLst>
              <a:gd name="adj" fmla="val 17778"/>
            </a:avLst>
          </a:prstGeom>
          <a:solidFill>
            <a:schemeClr val="bg2"/>
          </a:solidFill>
          <a:ln w="12700">
            <a:solidFill>
              <a:schemeClr val="bg2"/>
            </a:solidFill>
            <a:prstDash val="solid"/>
          </a:ln>
        </p:spPr>
      </p:sp>
      <p:sp>
        <p:nvSpPr>
          <p:cNvPr id="29" name="box_2987"/>
          <p:cNvSpPr/>
          <p:nvPr/>
        </p:nvSpPr>
        <p:spPr>
          <a:xfrm>
            <a:off x="1975104" y="2468880"/>
            <a:ext cx="438912" cy="411480"/>
          </a:xfrm>
          <a:prstGeom prst="roundRect">
            <a:avLst>
              <a:gd name="adj" fmla="val 17778"/>
            </a:avLst>
          </a:prstGeom>
          <a:solidFill>
            <a:schemeClr val="accent1"/>
          </a:solidFill>
          <a:ln w="12700">
            <a:solidFill>
              <a:schemeClr val="accent1"/>
            </a:solidFill>
            <a:prstDash val="solid"/>
          </a:ln>
        </p:spPr>
      </p:sp>
      <p:sp>
        <p:nvSpPr>
          <p:cNvPr id="30" name="box_2988"/>
          <p:cNvSpPr/>
          <p:nvPr/>
        </p:nvSpPr>
        <p:spPr>
          <a:xfrm>
            <a:off x="2450592" y="2468880"/>
            <a:ext cx="438912" cy="411480"/>
          </a:xfrm>
          <a:prstGeom prst="roundRect">
            <a:avLst>
              <a:gd name="adj" fmla="val 17778"/>
            </a:avLst>
          </a:prstGeom>
          <a:solidFill>
            <a:schemeClr val="bg2"/>
          </a:solidFill>
          <a:ln w="12700">
            <a:solidFill>
              <a:schemeClr val="bg2"/>
            </a:solidFill>
            <a:prstDash val="solid"/>
          </a:ln>
        </p:spPr>
      </p:sp>
      <p:sp>
        <p:nvSpPr>
          <p:cNvPr id="31" name="box_2989"/>
          <p:cNvSpPr/>
          <p:nvPr/>
        </p:nvSpPr>
        <p:spPr>
          <a:xfrm>
            <a:off x="2926080" y="2468880"/>
            <a:ext cx="438912" cy="411480"/>
          </a:xfrm>
          <a:prstGeom prst="roundRect">
            <a:avLst>
              <a:gd name="adj" fmla="val 17778"/>
            </a:avLst>
          </a:prstGeom>
          <a:solidFill>
            <a:schemeClr val="bg2"/>
          </a:solidFill>
          <a:ln w="12700">
            <a:solidFill>
              <a:schemeClr val="bg2"/>
            </a:solidFill>
            <a:prstDash val="solid"/>
          </a:ln>
        </p:spPr>
      </p:sp>
      <p:sp>
        <p:nvSpPr>
          <p:cNvPr id="32" name="box_2990"/>
          <p:cNvSpPr/>
          <p:nvPr/>
        </p:nvSpPr>
        <p:spPr>
          <a:xfrm>
            <a:off x="3401568" y="2468880"/>
            <a:ext cx="438912" cy="411480"/>
          </a:xfrm>
          <a:prstGeom prst="roundRect">
            <a:avLst>
              <a:gd name="adj" fmla="val 17778"/>
            </a:avLst>
          </a:prstGeom>
          <a:solidFill>
            <a:schemeClr val="bg2"/>
          </a:solidFill>
          <a:ln w="12700">
            <a:solidFill>
              <a:schemeClr val="bg2"/>
            </a:solidFill>
            <a:prstDash val="solid"/>
          </a:ln>
        </p:spPr>
      </p:sp>
      <p:sp>
        <p:nvSpPr>
          <p:cNvPr id="33" name="box_2991"/>
          <p:cNvSpPr/>
          <p:nvPr/>
        </p:nvSpPr>
        <p:spPr>
          <a:xfrm>
            <a:off x="3877056" y="2468880"/>
            <a:ext cx="438912" cy="411480"/>
          </a:xfrm>
          <a:prstGeom prst="roundRect">
            <a:avLst>
              <a:gd name="adj" fmla="val 17778"/>
            </a:avLst>
          </a:prstGeom>
          <a:solidFill>
            <a:schemeClr val="bg2"/>
          </a:solidFill>
          <a:ln w="12700">
            <a:solidFill>
              <a:schemeClr val="bg2"/>
            </a:solidFill>
            <a:prstDash val="solid"/>
          </a:ln>
        </p:spPr>
      </p:sp>
      <p:sp>
        <p:nvSpPr>
          <p:cNvPr id="34" name="box_2992"/>
          <p:cNvSpPr/>
          <p:nvPr/>
        </p:nvSpPr>
        <p:spPr>
          <a:xfrm>
            <a:off x="4352544" y="2468880"/>
            <a:ext cx="438912" cy="411480"/>
          </a:xfrm>
          <a:prstGeom prst="roundRect">
            <a:avLst>
              <a:gd name="adj" fmla="val 17778"/>
            </a:avLst>
          </a:prstGeom>
          <a:solidFill>
            <a:schemeClr val="bg2"/>
          </a:solidFill>
          <a:ln w="12700">
            <a:solidFill>
              <a:schemeClr val="bg2"/>
            </a:solidFill>
            <a:prstDash val="solid"/>
          </a:ln>
        </p:spPr>
      </p:sp>
      <p:sp>
        <p:nvSpPr>
          <p:cNvPr id="35" name="box_2993"/>
          <p:cNvSpPr/>
          <p:nvPr/>
        </p:nvSpPr>
        <p:spPr>
          <a:xfrm>
            <a:off x="4828032" y="2468880"/>
            <a:ext cx="438912" cy="411480"/>
          </a:xfrm>
          <a:prstGeom prst="roundRect">
            <a:avLst>
              <a:gd name="adj" fmla="val 17778"/>
            </a:avLst>
          </a:prstGeom>
          <a:solidFill>
            <a:schemeClr val="bg2"/>
          </a:solidFill>
          <a:ln w="12700">
            <a:solidFill>
              <a:schemeClr val="bg2"/>
            </a:solidFill>
            <a:prstDash val="solid"/>
          </a:ln>
        </p:spPr>
      </p:sp>
      <p:sp>
        <p:nvSpPr>
          <p:cNvPr id="36" name="box_2994"/>
          <p:cNvSpPr/>
          <p:nvPr/>
        </p:nvSpPr>
        <p:spPr>
          <a:xfrm>
            <a:off x="5303520" y="2468880"/>
            <a:ext cx="438912" cy="411480"/>
          </a:xfrm>
          <a:prstGeom prst="roundRect">
            <a:avLst>
              <a:gd name="adj" fmla="val 17778"/>
            </a:avLst>
          </a:prstGeom>
          <a:solidFill>
            <a:schemeClr val="bg2"/>
          </a:solidFill>
          <a:ln w="12700">
            <a:solidFill>
              <a:schemeClr val="bg2"/>
            </a:solidFill>
            <a:prstDash val="solid"/>
          </a:ln>
        </p:spPr>
      </p:sp>
      <p:sp>
        <p:nvSpPr>
          <p:cNvPr id="37" name="box_2995"/>
          <p:cNvSpPr/>
          <p:nvPr/>
        </p:nvSpPr>
        <p:spPr>
          <a:xfrm>
            <a:off x="5779008" y="2468880"/>
            <a:ext cx="438912" cy="411480"/>
          </a:xfrm>
          <a:prstGeom prst="roundRect">
            <a:avLst>
              <a:gd name="adj" fmla="val 17778"/>
            </a:avLst>
          </a:prstGeom>
          <a:solidFill>
            <a:schemeClr val="bg2"/>
          </a:solidFill>
          <a:ln w="12700">
            <a:solidFill>
              <a:schemeClr val="bg2"/>
            </a:solidFill>
            <a:prstDash val="solid"/>
          </a:ln>
        </p:spPr>
      </p:sp>
      <p:sp>
        <p:nvSpPr>
          <p:cNvPr id="38" name="text_2996"/>
          <p:cNvSpPr txBox="1"/>
          <p:nvPr/>
        </p:nvSpPr>
        <p:spPr>
          <a:xfrm>
            <a:off x="6400800" y="246888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t−1에 예측</a:t>
            </a:r>
            <a:endParaRPr lang="ko-KR" altLang="en-US" sz="1200" dirty="0"/>
          </a:p>
        </p:txBody>
      </p:sp>
      <p:sp>
        <p:nvSpPr>
          <p:cNvPr id="39" name="box_2997"/>
          <p:cNvSpPr/>
          <p:nvPr/>
        </p:nvSpPr>
        <p:spPr>
          <a:xfrm>
            <a:off x="1975104" y="2971800"/>
            <a:ext cx="438912" cy="411480"/>
          </a:xfrm>
          <a:prstGeom prst="roundRect">
            <a:avLst>
              <a:gd name="adj" fmla="val 17778"/>
            </a:avLst>
          </a:prstGeom>
          <a:solidFill>
            <a:schemeClr val="accent1"/>
          </a:solidFill>
          <a:ln w="12700">
            <a:solidFill>
              <a:schemeClr val="accent1"/>
            </a:solidFill>
            <a:prstDash val="solid"/>
          </a:ln>
        </p:spPr>
      </p:sp>
      <p:sp>
        <p:nvSpPr>
          <p:cNvPr id="40" name="box_2998"/>
          <p:cNvSpPr/>
          <p:nvPr/>
        </p:nvSpPr>
        <p:spPr>
          <a:xfrm>
            <a:off x="2450592" y="2971800"/>
            <a:ext cx="438912" cy="411480"/>
          </a:xfrm>
          <a:prstGeom prst="roundRect">
            <a:avLst>
              <a:gd name="adj" fmla="val 17778"/>
            </a:avLst>
          </a:prstGeom>
          <a:solidFill>
            <a:schemeClr val="bg2"/>
          </a:solidFill>
          <a:ln w="12700">
            <a:solidFill>
              <a:schemeClr val="bg2"/>
            </a:solidFill>
            <a:prstDash val="solid"/>
          </a:ln>
        </p:spPr>
      </p:sp>
      <p:sp>
        <p:nvSpPr>
          <p:cNvPr id="41" name="box_2999"/>
          <p:cNvSpPr/>
          <p:nvPr/>
        </p:nvSpPr>
        <p:spPr>
          <a:xfrm>
            <a:off x="2926080" y="2971800"/>
            <a:ext cx="438912" cy="411480"/>
          </a:xfrm>
          <a:prstGeom prst="roundRect">
            <a:avLst>
              <a:gd name="adj" fmla="val 17778"/>
            </a:avLst>
          </a:prstGeom>
          <a:solidFill>
            <a:schemeClr val="bg2"/>
          </a:solidFill>
          <a:ln w="12700">
            <a:solidFill>
              <a:schemeClr val="bg2"/>
            </a:solidFill>
            <a:prstDash val="solid"/>
          </a:ln>
        </p:spPr>
      </p:sp>
      <p:sp>
        <p:nvSpPr>
          <p:cNvPr id="42" name="box_3000"/>
          <p:cNvSpPr/>
          <p:nvPr/>
        </p:nvSpPr>
        <p:spPr>
          <a:xfrm>
            <a:off x="3401568" y="2971800"/>
            <a:ext cx="438912" cy="411480"/>
          </a:xfrm>
          <a:prstGeom prst="roundRect">
            <a:avLst>
              <a:gd name="adj" fmla="val 17778"/>
            </a:avLst>
          </a:prstGeom>
          <a:solidFill>
            <a:schemeClr val="bg2"/>
          </a:solidFill>
          <a:ln w="12700">
            <a:solidFill>
              <a:schemeClr val="bg2"/>
            </a:solidFill>
            <a:prstDash val="solid"/>
          </a:ln>
        </p:spPr>
      </p:sp>
      <p:sp>
        <p:nvSpPr>
          <p:cNvPr id="43" name="box_3001"/>
          <p:cNvSpPr/>
          <p:nvPr/>
        </p:nvSpPr>
        <p:spPr>
          <a:xfrm>
            <a:off x="3877056" y="2971800"/>
            <a:ext cx="438912" cy="411480"/>
          </a:xfrm>
          <a:prstGeom prst="roundRect">
            <a:avLst>
              <a:gd name="adj" fmla="val 17778"/>
            </a:avLst>
          </a:prstGeom>
          <a:solidFill>
            <a:schemeClr val="bg2"/>
          </a:solidFill>
          <a:ln w="12700">
            <a:solidFill>
              <a:schemeClr val="bg2"/>
            </a:solidFill>
            <a:prstDash val="solid"/>
          </a:ln>
        </p:spPr>
      </p:sp>
      <p:sp>
        <p:nvSpPr>
          <p:cNvPr id="44" name="box_3002"/>
          <p:cNvSpPr/>
          <p:nvPr/>
        </p:nvSpPr>
        <p:spPr>
          <a:xfrm>
            <a:off x="4352544" y="2971800"/>
            <a:ext cx="438912" cy="411480"/>
          </a:xfrm>
          <a:prstGeom prst="roundRect">
            <a:avLst>
              <a:gd name="adj" fmla="val 17778"/>
            </a:avLst>
          </a:prstGeom>
          <a:solidFill>
            <a:schemeClr val="bg2"/>
          </a:solidFill>
          <a:ln w="12700">
            <a:solidFill>
              <a:schemeClr val="bg2"/>
            </a:solidFill>
            <a:prstDash val="solid"/>
          </a:ln>
        </p:spPr>
      </p:sp>
      <p:sp>
        <p:nvSpPr>
          <p:cNvPr id="45" name="box_3003"/>
          <p:cNvSpPr/>
          <p:nvPr/>
        </p:nvSpPr>
        <p:spPr>
          <a:xfrm>
            <a:off x="4828032" y="2971800"/>
            <a:ext cx="438912" cy="411480"/>
          </a:xfrm>
          <a:prstGeom prst="roundRect">
            <a:avLst>
              <a:gd name="adj" fmla="val 17778"/>
            </a:avLst>
          </a:prstGeom>
          <a:solidFill>
            <a:schemeClr val="bg2"/>
          </a:solidFill>
          <a:ln w="12700">
            <a:solidFill>
              <a:schemeClr val="bg2"/>
            </a:solidFill>
            <a:prstDash val="solid"/>
          </a:ln>
        </p:spPr>
      </p:sp>
      <p:sp>
        <p:nvSpPr>
          <p:cNvPr id="46" name="box_3004"/>
          <p:cNvSpPr/>
          <p:nvPr/>
        </p:nvSpPr>
        <p:spPr>
          <a:xfrm>
            <a:off x="5303520" y="2971800"/>
            <a:ext cx="438912" cy="411480"/>
          </a:xfrm>
          <a:prstGeom prst="roundRect">
            <a:avLst>
              <a:gd name="adj" fmla="val 17778"/>
            </a:avLst>
          </a:prstGeom>
          <a:solidFill>
            <a:schemeClr val="bg2"/>
          </a:solidFill>
          <a:ln w="12700">
            <a:solidFill>
              <a:schemeClr val="bg2"/>
            </a:solidFill>
            <a:prstDash val="solid"/>
          </a:ln>
        </p:spPr>
      </p:sp>
      <p:sp>
        <p:nvSpPr>
          <p:cNvPr id="47" name="box_3005"/>
          <p:cNvSpPr/>
          <p:nvPr/>
        </p:nvSpPr>
        <p:spPr>
          <a:xfrm>
            <a:off x="5779008" y="2971800"/>
            <a:ext cx="438912" cy="411480"/>
          </a:xfrm>
          <a:prstGeom prst="roundRect">
            <a:avLst>
              <a:gd name="adj" fmla="val 17778"/>
            </a:avLst>
          </a:prstGeom>
          <a:solidFill>
            <a:schemeClr val="bg2"/>
          </a:solidFill>
          <a:ln w="12700">
            <a:solidFill>
              <a:schemeClr val="bg2"/>
            </a:solidFill>
            <a:prstDash val="solid"/>
          </a:ln>
        </p:spPr>
      </p:sp>
      <p:sp>
        <p:nvSpPr>
          <p:cNvPr id="48" name="text_3006"/>
          <p:cNvSpPr txBox="1"/>
          <p:nvPr/>
        </p:nvSpPr>
        <p:spPr>
          <a:xfrm>
            <a:off x="6400800" y="297180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지금(t) 예측</a:t>
            </a:r>
            <a:endParaRPr lang="ko-KR" altLang="en-US" sz="1200" dirty="0"/>
          </a:p>
        </p:txBody>
      </p:sp>
      <p:sp>
        <p:nvSpPr>
          <p:cNvPr id="49" name="text_3007"/>
          <p:cNvSpPr txBox="1"/>
          <p:nvPr/>
        </p:nvSpPr>
        <p:spPr>
          <a:xfrm>
            <a:off x="548640" y="3566160"/>
            <a:ext cx="694944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주황 칸 = 모두 "지금(t)"에 대한 예측 → 가중 평균해서 보냄</a:t>
            </a:r>
            <a:endParaRPr lang="ko-KR" altLang="en-US" sz="1300" dirty="0"/>
          </a:p>
        </p:txBody>
      </p:sp>
      <p:sp>
        <p:nvSpPr>
          <p:cNvPr id="50" name="box_3008"/>
          <p:cNvSpPr/>
          <p:nvPr/>
        </p:nvSpPr>
        <p:spPr>
          <a:xfrm>
            <a:off x="548640" y="4023360"/>
            <a:ext cx="6949440" cy="2103120"/>
          </a:xfrm>
          <a:prstGeom prst="roundRect">
            <a:avLst>
              <a:gd name="adj" fmla="val 3478"/>
            </a:avLst>
          </a:prstGeom>
          <a:solidFill>
            <a:schemeClr val="tx1"/>
          </a:solidFill>
          <a:ln w="12700">
            <a:solidFill>
              <a:schemeClr val="tx1"/>
            </a:solidFill>
            <a:prstDash val="solid"/>
          </a:ln>
        </p:spPr>
      </p:sp>
      <p:sp>
        <p:nvSpPr>
          <p:cNvPr id="51" name="code_3009"/>
          <p:cNvSpPr txBox="1"/>
          <p:nvPr/>
        </p:nvSpPr>
        <p:spPr>
          <a:xfrm>
            <a:off x="731520" y="4160520"/>
            <a:ext cx="65836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a_now = Σ w_i · a_i / Σ w_i,   w_i = exp(−0.1 · i)</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 0이 가장 오래된 예측)</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runner.py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self.chunks.append(unnormalise(pred))          # 최근 10개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now = [c[n - 1 - i] for i, c in enumerate(self.chunks)]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(w[:, None] * now).sum(0) / w.sum()</a:t>
            </a:r>
            <a:endParaRPr lang="ko-KR" altLang="en-US" sz="1300" dirty="0"/>
          </a:p>
        </p:txBody>
      </p:sp>
      <p:sp>
        <p:nvSpPr>
          <p:cNvPr id="52" name="box_3010"/>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53" name="iconbg_3011"/>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54" name="icon_3012" descr="Stop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55" name="text_3013"/>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언제 멈추나</a:t>
            </a:r>
            <a:endParaRPr lang="ko-KR" altLang="en-US" sz="1800" dirty="0"/>
          </a:p>
        </p:txBody>
      </p:sp>
      <p:sp>
        <p:nvSpPr>
          <p:cNvPr id="56" name="text_3014"/>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"끝" 확률(시그모이드)이 3단계 연속 0.5를 넘으면 멈춘다.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ROS 노드는 그다음 한 번 더 확인한다: 손을 닫으라고 명령했고(목표 &gt; −0.15) 손가락이 물체에 걸려 덜 닫혔는가(|각도| &gt; 0.06).</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한 번 계산 = CPU 약 4 ms (torch.no_grad, 4스레드)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165</a:t>
            </a:fld>
            <a:endParaRPr lang="ko-KR" alt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따라 하기: 시연 녹화와 학습</a:t>
            </a:r>
            <a:endParaRPr lang="ko-KR" altLang="en-US" sz="3000" dirty="0"/>
          </a:p>
        </p:txBody>
      </p:sp>
      <p:sp>
        <p:nvSpPr>
          <p:cNvPr id="3" name="pill_30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17"/>
          <p:cNvSpPr/>
          <p:nvPr/>
        </p:nvSpPr>
        <p:spPr>
          <a:xfrm>
            <a:off x="548640" y="1371600"/>
            <a:ext cx="6675120" cy="3566160"/>
          </a:xfrm>
          <a:prstGeom prst="roundRect">
            <a:avLst>
              <a:gd name="adj" fmla="val 2051"/>
            </a:avLst>
          </a:prstGeom>
          <a:solidFill>
            <a:schemeClr val="tx1"/>
          </a:solidFill>
          <a:ln w="12700">
            <a:solidFill>
              <a:schemeClr val="tx1"/>
            </a:solidFill>
            <a:prstDash val="solid"/>
          </a:ln>
        </p:spPr>
      </p:sp>
      <p:sp>
        <p:nvSpPr>
          <p:cNvPr id="7" name="code_3018"/>
          <p:cNvSpPr txBox="1"/>
          <p:nvPr/>
        </p:nvSpPr>
        <p:spPr>
          <a:xfrm>
            <a:off x="731520" y="1508760"/>
            <a:ext cx="630936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시연 1200개, 테이블 넷 × 상자 셋 (약 40분, ~/airlab_vla/demos)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record --episodes 1200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1155/1200 episodes kept in ~/airlab_vla/demos</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학습 (약 65분, ~/airlab_vla/policy.pt)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train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1040 training episodes (80080 steps), 115 validation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500  train 0.1300  val 0.1263  done 0.094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20000  train 0.0365  val 0.0385  done 0.045</a:t>
            </a:r>
            <a:endParaRPr lang="ko-KR" altLang="en-US" sz="1300" dirty="0"/>
          </a:p>
        </p:txBody>
      </p:sp>
      <p:sp>
        <p:nvSpPr>
          <p:cNvPr id="8" name="list_3019"/>
          <p:cNvSpPr txBox="1"/>
          <p:nvPr/>
        </p:nvSpPr>
        <p:spPr>
          <a:xfrm>
            <a:off x="548640" y="5166360"/>
            <a:ext cx="6675120" cy="10058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val = 학습에 안 쓴 시연 115개에서의 오차 (작을수록 좋음)</a:t>
            </a:r>
            <a:endParaRPr lang="ko-KR" altLang="en-US" sz="1500" dirty="0"/>
          </a:p>
          <a:p>
            <a:pPr eaLnBrk="0" marL="228600" indent="-228600">
              <a:spcAft>
                <a:spcPts val="800"/>
              </a:spcAft>
              <a:buSzPct val="100000"/>
              <a:buChar char="•"/>
            </a:pPr>
            <a:r>
              <a:rPr lang="ko-KR" altLang="en-US" sz="1500" dirty="0">
                <a:solidFill>
                  <a:schemeClr val="tx1"/>
                </a:solidFill>
              </a:rPr>
              <a:t>done = "다 집었다" 판단의 오차</a:t>
            </a:r>
            <a:endParaRPr lang="ko-KR" altLang="en-US" sz="1500" dirty="0"/>
          </a:p>
        </p:txBody>
      </p:sp>
      <p:sp>
        <p:nvSpPr>
          <p:cNvPr id="9" name="box_302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02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02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02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02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val이 처음보다 크게 줄고 policy.pt가 생긴다.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5-2</a:t>
            </a:r>
            <a:endParaRPr lang="ko-KR" altLang="en-US" sz="1400" dirty="0"/>
          </a:p>
        </p:txBody>
      </p:sp>
      <p:sp>
        <p:nvSpPr>
          <p:cNvPr id="14" name="box_302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02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02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02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02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No module named torch → pip install --user torch --index-url https://download.pytorch.org/whl/cpu</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166</a:t>
            </a:fld>
            <a:endParaRPr lang="ko-KR" alt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 보는 배치에서 평가</a:t>
            </a:r>
            <a:endParaRPr lang="ko-KR" altLang="en-US" sz="3000" dirty="0"/>
          </a:p>
        </p:txBody>
      </p:sp>
      <p:sp>
        <p:nvSpPr>
          <p:cNvPr id="3" name="pill_303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3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32"/>
          <p:cNvSpPr/>
          <p:nvPr/>
        </p:nvSpPr>
        <p:spPr>
          <a:xfrm>
            <a:off x="548640" y="1371600"/>
            <a:ext cx="2743200" cy="2194560"/>
          </a:xfrm>
          <a:prstGeom prst="roundRect">
            <a:avLst>
              <a:gd name="adj" fmla="val 3333"/>
            </a:avLst>
          </a:prstGeom>
          <a:solidFill>
            <a:schemeClr val="bg2"/>
          </a:solidFill>
          <a:ln w="12700">
            <a:solidFill>
              <a:schemeClr val="bg2"/>
            </a:solidFill>
            <a:prstDash val="solid"/>
          </a:ln>
        </p:spPr>
      </p:sp>
      <p:sp>
        <p:nvSpPr>
          <p:cNvPr id="7" name="text_3033"/>
          <p:cNvSpPr txBox="1"/>
          <p:nvPr/>
        </p:nvSpPr>
        <p:spPr>
          <a:xfrm>
            <a:off x="54864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1"/>
                </a:solidFill>
              </a:rPr>
              <a:t>100%</a:t>
            </a:r>
            <a:endParaRPr lang="ko-KR" altLang="en-US" sz="4800" dirty="0"/>
          </a:p>
        </p:txBody>
      </p:sp>
      <p:sp>
        <p:nvSpPr>
          <p:cNvPr id="8" name="text_3034"/>
          <p:cNvSpPr txBox="1"/>
          <p:nvPr/>
        </p:nvSpPr>
        <p:spPr>
          <a:xfrm>
            <a:off x="54864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정책 100/100 (영상만 보고)</a:t>
            </a:r>
            <a:endParaRPr lang="ko-KR" altLang="en-US" sz="1500" dirty="0"/>
          </a:p>
        </p:txBody>
      </p:sp>
      <p:sp>
        <p:nvSpPr>
          <p:cNvPr id="9" name="box_3035"/>
          <p:cNvSpPr/>
          <p:nvPr/>
        </p:nvSpPr>
        <p:spPr>
          <a:xfrm>
            <a:off x="3474720" y="1371600"/>
            <a:ext cx="2743200" cy="2194560"/>
          </a:xfrm>
          <a:prstGeom prst="roundRect">
            <a:avLst>
              <a:gd name="adj" fmla="val 3333"/>
            </a:avLst>
          </a:prstGeom>
          <a:solidFill>
            <a:schemeClr val="bg2"/>
          </a:solidFill>
          <a:ln w="12700">
            <a:solidFill>
              <a:schemeClr val="bg2"/>
            </a:solidFill>
            <a:prstDash val="solid"/>
          </a:ln>
        </p:spPr>
      </p:sp>
      <p:sp>
        <p:nvSpPr>
          <p:cNvPr id="10" name="text_3036"/>
          <p:cNvSpPr txBox="1"/>
          <p:nvPr/>
        </p:nvSpPr>
        <p:spPr>
          <a:xfrm>
            <a:off x="347472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3"/>
                </a:solidFill>
              </a:rPr>
              <a:t>100%</a:t>
            </a:r>
            <a:endParaRPr lang="ko-KR" altLang="en-US" sz="4800" dirty="0"/>
          </a:p>
        </p:txBody>
      </p:sp>
      <p:sp>
        <p:nvSpPr>
          <p:cNvPr id="11" name="text_3037"/>
          <p:cNvSpPr txBox="1"/>
          <p:nvPr/>
        </p:nvSpPr>
        <p:spPr>
          <a:xfrm>
            <a:off x="347472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전문가 100/100 (위치를 알고)</a:t>
            </a:r>
            <a:endParaRPr lang="ko-KR" altLang="en-US" sz="1500" dirty="0"/>
          </a:p>
        </p:txBody>
      </p:sp>
      <p:sp>
        <p:nvSpPr>
          <p:cNvPr id="12" name="box_3038"/>
          <p:cNvSpPr/>
          <p:nvPr/>
        </p:nvSpPr>
        <p:spPr>
          <a:xfrm>
            <a:off x="548640" y="3749040"/>
            <a:ext cx="5669280" cy="1097280"/>
          </a:xfrm>
          <a:prstGeom prst="roundRect">
            <a:avLst>
              <a:gd name="adj" fmla="val 6667"/>
            </a:avLst>
          </a:prstGeom>
          <a:solidFill>
            <a:schemeClr val="tx1"/>
          </a:solidFill>
          <a:ln w="12700">
            <a:solidFill>
              <a:schemeClr val="tx1"/>
            </a:solidFill>
            <a:prstDash val="solid"/>
          </a:ln>
        </p:spPr>
      </p:sp>
      <p:sp>
        <p:nvSpPr>
          <p:cNvPr id="13" name="code_3039"/>
          <p:cNvSpPr txBox="1"/>
          <p:nvPr/>
        </p:nvSpPr>
        <p:spPr>
          <a:xfrm>
            <a:off x="731520" y="3886200"/>
            <a:ext cx="53035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evaluate --episodes 100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supply_1  15/15   supply_2  33/33   supply_3  23/23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work_table 29/29  옆 상자 있음 43/43  없음 57/57</a:t>
            </a:r>
            <a:endParaRPr lang="ko-KR" altLang="en-US" sz="1300" dirty="0"/>
          </a:p>
        </p:txBody>
      </p:sp>
      <p:sp>
        <p:nvSpPr>
          <p:cNvPr id="14" name="box_3040"/>
          <p:cNvSpPr/>
          <p:nvPr/>
        </p:nvSpPr>
        <p:spPr>
          <a:xfrm>
            <a:off x="548640" y="5029200"/>
            <a:ext cx="5669280" cy="1097280"/>
          </a:xfrm>
          <a:prstGeom prst="roundRect">
            <a:avLst>
              <a:gd name="adj" fmla="val 6667"/>
            </a:avLst>
          </a:prstGeom>
          <a:solidFill>
            <a:schemeClr val="bg2"/>
          </a:solidFill>
          <a:ln w="12700">
            <a:solidFill>
              <a:schemeClr val="bg2"/>
            </a:solidFill>
            <a:prstDash val="solid"/>
          </a:ln>
        </p:spPr>
      </p:sp>
      <p:sp>
        <p:nvSpPr>
          <p:cNvPr id="15" name="iconbg_3041"/>
          <p:cNvSpPr/>
          <p:nvPr/>
        </p:nvSpPr>
        <p:spPr>
          <a:xfrm>
            <a:off x="777240" y="5138928"/>
            <a:ext cx="411480" cy="411480"/>
          </a:xfrm>
          <a:prstGeom prst="ellipse">
            <a:avLst/>
          </a:prstGeom>
          <a:solidFill>
            <a:schemeClr val="accent1"/>
          </a:solidFill>
          <a:ln w="12700">
            <a:solidFill>
              <a:schemeClr val="accent1"/>
            </a:solidFill>
            <a:prstDash val="solid"/>
          </a:ln>
        </p:spPr>
      </p:sp>
      <p:pic>
        <p:nvPicPr>
          <p:cNvPr id="16" name="icon_3042" descr="Bolt 아이콘">    </p:cNvPr>
          <p:cNvPicPr>
            <a:picLocks noChangeAspect="1"/>
          </p:cNvPicPr>
          <p:nvPr/>
        </p:nvPicPr>
        <p:blipFill>
          <a:blip r:embed="rId1"/>
          <a:stretch>
            <a:fillRect/>
          </a:stretch>
        </p:blipFill>
        <p:spPr>
          <a:xfrm>
            <a:off x="867766" y="5229454"/>
            <a:ext cx="230429" cy="230429"/>
          </a:xfrm>
          <a:prstGeom prst="rect">
            <a:avLst/>
          </a:prstGeom>
        </p:spPr>
      </p:pic>
      <p:sp>
        <p:nvSpPr>
          <p:cNvPr id="17" name="text_3043"/>
          <p:cNvSpPr txBox="1"/>
          <p:nvPr/>
        </p:nvSpPr>
        <p:spPr>
          <a:xfrm>
            <a:off x="1325880" y="5120640"/>
            <a:ext cx="46634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영상으로 확인</a:t>
            </a:r>
            <a:endParaRPr lang="ko-KR" altLang="en-US" sz="1500" dirty="0"/>
          </a:p>
        </p:txBody>
      </p:sp>
      <p:sp>
        <p:nvSpPr>
          <p:cNvPr id="18" name="text_3044"/>
          <p:cNvSpPr txBox="1"/>
          <p:nvPr/>
        </p:nvSpPr>
        <p:spPr>
          <a:xfrm>
            <a:off x="777240" y="5596128"/>
            <a:ext cx="521208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--video ~/vla.gif: 처음 3편을 GIF로. --table supply_1 등: 한 테이블만.</a:t>
            </a:r>
            <a:endParaRPr lang="ko-KR" altLang="en-US" sz="1400" dirty="0"/>
          </a:p>
        </p:txBody>
      </p:sp>
      <p:sp>
        <p:nvSpPr>
          <p:cNvPr id="19" name="box_3045"/>
          <p:cNvSpPr/>
          <p:nvPr/>
        </p:nvSpPr>
        <p:spPr>
          <a:xfrm>
            <a:off x="6492240" y="1371600"/>
            <a:ext cx="5120640" cy="4754880"/>
          </a:xfrm>
          <a:prstGeom prst="roundRect">
            <a:avLst>
              <a:gd name="adj" fmla="val 1538"/>
            </a:avLst>
          </a:prstGeom>
          <a:solidFill>
            <a:schemeClr val="bg2"/>
          </a:solidFill>
          <a:ln w="12700">
            <a:solidFill>
              <a:schemeClr val="bg2"/>
            </a:solidFill>
            <a:prstDash val="solid"/>
          </a:ln>
        </p:spPr>
      </p:sp>
      <p:sp>
        <p:nvSpPr>
          <p:cNvPr id="20" name="iconbg_3046"/>
          <p:cNvSpPr/>
          <p:nvPr/>
        </p:nvSpPr>
        <p:spPr>
          <a:xfrm>
            <a:off x="6720840" y="1600200"/>
            <a:ext cx="548640" cy="548640"/>
          </a:xfrm>
          <a:prstGeom prst="ellipse">
            <a:avLst/>
          </a:prstGeom>
          <a:solidFill>
            <a:schemeClr val="accent3"/>
          </a:solidFill>
          <a:ln w="12700">
            <a:solidFill>
              <a:schemeClr val="accent3"/>
            </a:solidFill>
            <a:prstDash val="solid"/>
          </a:ln>
        </p:spPr>
      </p:sp>
      <p:pic>
        <p:nvPicPr>
          <p:cNvPr id="21" name="icon_3047" descr="QuestionCircle 아이콘">    </p:cNvPr>
          <p:cNvPicPr>
            <a:picLocks noChangeAspect="1"/>
          </p:cNvPicPr>
          <p:nvPr/>
        </p:nvPicPr>
        <p:blipFill>
          <a:blip r:embed="rId2"/>
          <a:stretch>
            <a:fillRect/>
          </a:stretch>
        </p:blipFill>
        <p:spPr>
          <a:xfrm>
            <a:off x="6841541" y="1720901"/>
            <a:ext cx="307238" cy="307238"/>
          </a:xfrm>
          <a:prstGeom prst="rect">
            <a:avLst/>
          </a:prstGeom>
        </p:spPr>
      </p:pic>
      <p:sp>
        <p:nvSpPr>
          <p:cNvPr id="22" name="text_3048"/>
          <p:cNvSpPr txBox="1"/>
          <p:nvPr/>
        </p:nvSpPr>
        <p:spPr>
          <a:xfrm>
            <a:off x="7406640" y="1572768"/>
            <a:ext cx="39776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3049"/>
          <p:cNvSpPr txBox="1"/>
          <p:nvPr/>
        </p:nvSpPr>
        <p:spPr>
          <a:xfrm>
            <a:off x="6720840" y="2240280"/>
            <a:ext cx="466344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100%가 나와도 끝이 아니다.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정책이 무엇을 보고 맞혔나? 색 낱말인가, 다른 단서인가 (다음 장)</a:t>
            </a:r>
            <a:endParaRPr lang="ko-KR" altLang="en-US" sz="1400" dirty="0"/>
          </a:p>
          <a:p>
            <a:pPr eaLnBrk="0" indent="0" marL="0">
              <a:buNone/>
            </a:pPr>
            <a:r>
              <a:rPr lang="ko-KR" altLang="en-US" sz="1400" dirty="0">
                <a:solidFill>
                  <a:schemeClr val="tx1"/>
                </a:solidFill>
              </a:rPr>
              <a:t>• 평가 배치는 학습과 같은 범위에서 뽑았다. 정렬이 더 틀어지면? (도전 과제)</a:t>
            </a:r>
            <a:endParaRPr lang="ko-KR" altLang="en-US" sz="1400" dirty="0"/>
          </a:p>
          <a:p>
            <a:pPr eaLnBrk="0" indent="0" marL="0">
              <a:buNone/>
            </a:pPr>
            <a:r>
              <a:rPr lang="ko-KR" altLang="en-US" sz="1400" dirty="0">
                <a:solidFill>
                  <a:schemeClr val="tx1"/>
                </a:solidFill>
              </a:rPr>
              <a:t>• 시뮬레이터 렌더링만 봤다. 실제 카메라, 조명, 다른 상자는?</a:t>
            </a:r>
            <a:endParaRPr lang="ko-KR" altLang="en-US" sz="1400" dirty="0"/>
          </a:p>
          <a:p>
            <a:pPr eaLnBrk="0" indent="0" marL="0">
              <a:buNone/>
            </a:pPr>
            <a:r>
              <a:rPr lang="ko-KR" altLang="en-US" sz="1400" dirty="0">
                <a:solidFill>
                  <a:schemeClr val="tx1"/>
                </a:solidFill>
              </a:rPr>
              <a:t>• 데이터가 한쪽에만 있으면? (그다음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167</a:t>
            </a:fld>
            <a:endParaRPr lang="ko-KR" alt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언어 확인 실험: 정책은 지름길을 배웠다</a:t>
            </a:r>
            <a:endParaRPr lang="ko-KR" altLang="en-US" sz="3000" dirty="0"/>
          </a:p>
        </p:txBody>
      </p:sp>
      <p:sp>
        <p:nvSpPr>
          <p:cNvPr id="3" name="pill_30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52"/>
          <p:cNvSpPr/>
          <p:nvPr/>
        </p:nvSpPr>
        <p:spPr>
          <a:xfrm>
            <a:off x="548640" y="1371600"/>
            <a:ext cx="11064240" cy="1645920"/>
          </a:xfrm>
          <a:prstGeom prst="roundRect">
            <a:avLst>
              <a:gd name="adj" fmla="val 4444"/>
            </a:avLst>
          </a:prstGeom>
          <a:solidFill>
            <a:schemeClr val="tx1"/>
          </a:solidFill>
          <a:ln w="12700">
            <a:solidFill>
              <a:schemeClr val="tx1"/>
            </a:solidFill>
            <a:prstDash val="solid"/>
          </a:ln>
        </p:spPr>
      </p:sp>
      <p:sp>
        <p:nvSpPr>
          <p:cNvPr id="7" name="code_3053"/>
          <p:cNvSpPr txBox="1"/>
          <p:nvPr/>
        </p:nvSpPr>
        <p:spPr>
          <a:xfrm>
            <a:off x="731520" y="1508760"/>
            <a:ext cx="10698480" cy="1371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evaluate --ask-other --episodes 20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episode   0  supply_3   lined up with red  , asked for blue  -&gt; lifted the lined-up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episode   1  supply_2   lined up with green, asked for blue  -&gt; lifted the lined-up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named box: 0/20, lined-up box: 20/20, nothing: 0/20</a:t>
            </a:r>
            <a:endParaRPr lang="ko-KR" altLang="en-US" sz="1300" dirty="0"/>
          </a:p>
        </p:txBody>
      </p:sp>
      <p:sp>
        <p:nvSpPr>
          <p:cNvPr id="8" name="box_3054"/>
          <p:cNvSpPr/>
          <p:nvPr/>
        </p:nvSpPr>
        <p:spPr>
          <a:xfrm>
            <a:off x="548640" y="3246120"/>
            <a:ext cx="5440680" cy="2880360"/>
          </a:xfrm>
          <a:prstGeom prst="roundRect">
            <a:avLst>
              <a:gd name="adj" fmla="val 2540"/>
            </a:avLst>
          </a:prstGeom>
          <a:solidFill>
            <a:schemeClr val="bg2"/>
          </a:solidFill>
          <a:ln w="12700">
            <a:solidFill>
              <a:schemeClr val="bg2"/>
            </a:solidFill>
            <a:prstDash val="solid"/>
          </a:ln>
        </p:spPr>
      </p:sp>
      <p:sp>
        <p:nvSpPr>
          <p:cNvPr id="9" name="iconbg_3055"/>
          <p:cNvSpPr/>
          <p:nvPr/>
        </p:nvSpPr>
        <p:spPr>
          <a:xfrm>
            <a:off x="777240" y="3474720"/>
            <a:ext cx="548640" cy="548640"/>
          </a:xfrm>
          <a:prstGeom prst="ellipse">
            <a:avLst/>
          </a:prstGeom>
          <a:solidFill>
            <a:schemeClr val="accent6"/>
          </a:solidFill>
          <a:ln w="12700">
            <a:solidFill>
              <a:schemeClr val="accent6"/>
            </a:solidFill>
            <a:prstDash val="solid"/>
          </a:ln>
        </p:spPr>
      </p:sp>
      <p:pic>
        <p:nvPicPr>
          <p:cNvPr id="10" name="icon_3056" descr="Route 아이콘">    </p:cNvPr>
          <p:cNvPicPr>
            <a:picLocks noChangeAspect="1"/>
          </p:cNvPicPr>
          <p:nvPr/>
        </p:nvPicPr>
        <p:blipFill>
          <a:blip r:embed="rId1"/>
          <a:stretch>
            <a:fillRect/>
          </a:stretch>
        </p:blipFill>
        <p:spPr>
          <a:xfrm>
            <a:off x="897941" y="3595421"/>
            <a:ext cx="307238" cy="307238"/>
          </a:xfrm>
          <a:prstGeom prst="rect">
            <a:avLst/>
          </a:prstGeom>
        </p:spPr>
      </p:pic>
      <p:sp>
        <p:nvSpPr>
          <p:cNvPr id="11" name="text_3057"/>
          <p:cNvSpPr txBox="1"/>
          <p:nvPr/>
        </p:nvSpPr>
        <p:spPr>
          <a:xfrm>
            <a:off x="1463040" y="34472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이렇게 배웠나</a:t>
            </a:r>
            <a:endParaRPr lang="ko-KR" altLang="en-US" sz="1800" dirty="0"/>
          </a:p>
        </p:txBody>
      </p:sp>
      <p:sp>
        <p:nvSpPr>
          <p:cNvPr id="12" name="text_3058"/>
          <p:cNvSpPr txBox="1"/>
          <p:nvPr/>
        </p:nvSpPr>
        <p:spPr>
          <a:xfrm>
            <a:off x="777240" y="4114800"/>
            <a:ext cx="4983480" cy="1938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모든 시연에서 집을 상자는 오른손 앞 (0.38, −0.15) m 근처에 있었다.</a:t>
            </a:r>
            <a:endParaRPr lang="ko-KR" altLang="en-US" sz="1400" dirty="0"/>
          </a:p>
          <a:p>
            <a:pPr eaLnBrk="0" indent="0" marL="0">
              <a:buNone/>
            </a:pPr>
            <a:r>
              <a:rPr lang="ko-KR" altLang="en-US" sz="1400" dirty="0">
                <a:solidFill>
                  <a:schemeClr val="tx1"/>
                </a:solidFill>
              </a:rPr>
              <a:t>"오른손 앞의 상자"만 보면 정답 행동을 낼 수 있으니, 신경망은 색 낱말을 쓸 이유가 없었다.</a:t>
            </a:r>
            <a:endParaRPr lang="ko-KR" altLang="en-US" sz="1400" dirty="0"/>
          </a:p>
          <a:p>
            <a:pPr eaLnBrk="0" indent="0" marL="0">
              <a:buNone/>
            </a:pPr>
            <a:r>
              <a:rPr lang="ko-KR" altLang="en-US" sz="1400" dirty="0">
                <a:solidFill>
                  <a:schemeClr val="tx1"/>
                </a:solidFill>
              </a:rPr>
              <a:t>데이터가 허락하는 가장 쉬운 규칙을 배운다.</a:t>
            </a:r>
            <a:endParaRPr lang="ko-KR" altLang="en-US" sz="1400" dirty="0"/>
          </a:p>
        </p:txBody>
      </p:sp>
      <p:sp>
        <p:nvSpPr>
          <p:cNvPr id="13" name="box_3059"/>
          <p:cNvSpPr/>
          <p:nvPr/>
        </p:nvSpPr>
        <p:spPr>
          <a:xfrm>
            <a:off x="6172200" y="3246120"/>
            <a:ext cx="5440680" cy="2880360"/>
          </a:xfrm>
          <a:prstGeom prst="roundRect">
            <a:avLst>
              <a:gd name="adj" fmla="val 2540"/>
            </a:avLst>
          </a:prstGeom>
          <a:solidFill>
            <a:schemeClr val="bg2"/>
          </a:solidFill>
          <a:ln w="12700">
            <a:solidFill>
              <a:schemeClr val="bg2"/>
            </a:solidFill>
            <a:prstDash val="solid"/>
          </a:ln>
        </p:spPr>
      </p:sp>
      <p:sp>
        <p:nvSpPr>
          <p:cNvPr id="14" name="iconbg_3060"/>
          <p:cNvSpPr/>
          <p:nvPr/>
        </p:nvSpPr>
        <p:spPr>
          <a:xfrm>
            <a:off x="6400800" y="3474720"/>
            <a:ext cx="548640" cy="548640"/>
          </a:xfrm>
          <a:prstGeom prst="ellipse">
            <a:avLst/>
          </a:prstGeom>
          <a:solidFill>
            <a:schemeClr val="accent3"/>
          </a:solidFill>
          <a:ln w="12700">
            <a:solidFill>
              <a:schemeClr val="accent3"/>
            </a:solidFill>
            <a:prstDash val="solid"/>
          </a:ln>
        </p:spPr>
      </p:sp>
      <p:pic>
        <p:nvPicPr>
          <p:cNvPr id="15" name="icon_3061" descr="Comments 아이콘">    </p:cNvPr>
          <p:cNvPicPr>
            <a:picLocks noChangeAspect="1"/>
          </p:cNvPicPr>
          <p:nvPr/>
        </p:nvPicPr>
        <p:blipFill>
          <a:blip r:embed="rId2"/>
          <a:stretch>
            <a:fillRect/>
          </a:stretch>
        </p:blipFill>
        <p:spPr>
          <a:xfrm>
            <a:off x="6521501" y="3595421"/>
            <a:ext cx="307238" cy="307238"/>
          </a:xfrm>
          <a:prstGeom prst="rect">
            <a:avLst/>
          </a:prstGeom>
        </p:spPr>
      </p:pic>
      <p:sp>
        <p:nvSpPr>
          <p:cNvPr id="16" name="text_3062"/>
          <p:cNvSpPr txBox="1"/>
          <p:nvPr/>
        </p:nvSpPr>
        <p:spPr>
          <a:xfrm>
            <a:off x="7086600" y="34472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언어가 꼭 필요하게 하려면 (과제 3)</a:t>
            </a:r>
            <a:endParaRPr lang="ko-KR" altLang="en-US" sz="1800" dirty="0"/>
          </a:p>
        </p:txBody>
      </p:sp>
      <p:sp>
        <p:nvSpPr>
          <p:cNvPr id="17" name="text_3063"/>
          <p:cNvSpPr txBox="1"/>
          <p:nvPr/>
        </p:nvSpPr>
        <p:spPr>
          <a:xfrm>
            <a:off x="6400800" y="4114800"/>
            <a:ext cx="4983480" cy="1938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상자 사이에 정렬하고 명령한 색의 상자로 손을 뻗는 시연을 모은다.</a:t>
            </a:r>
            <a:endParaRPr lang="ko-KR" altLang="en-US" sz="1400" dirty="0"/>
          </a:p>
          <a:p>
            <a:pPr eaLnBrk="0" indent="0" marL="0">
              <a:buNone/>
            </a:pPr>
            <a:r>
              <a:rPr lang="ko-KR" altLang="en-US" sz="1400" dirty="0">
                <a:solidFill>
                  <a:schemeClr val="tx1"/>
                </a:solidFill>
              </a:rPr>
              <a:t>그러면 영상만으로는 어느 쪽인지 알 수 없어 색 낱말을 써야 한다.</a:t>
            </a:r>
            <a:endParaRPr lang="ko-KR" altLang="en-US" sz="1400" dirty="0"/>
          </a:p>
          <a:p>
            <a:pPr eaLnBrk="0" indent="0" marL="0">
              <a:buNone/>
            </a:pPr>
            <a:r>
              <a:rPr lang="ko-KR" altLang="en-US" sz="1400" dirty="0">
                <a:solidFill>
                  <a:schemeClr val="tx1"/>
                </a:solidFill>
              </a:rPr>
              <a:t>다시 --ask-other로 "named box"가 늘었는지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168</a:t>
            </a:fld>
            <a:endParaRPr lang="ko-KR" alt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정책은 본 것만 할 수 있다 (방을 넓히기 전 실험)</a:t>
            </a:r>
            <a:endParaRPr lang="ko-KR" altLang="en-US" sz="3000" dirty="0"/>
          </a:p>
        </p:txBody>
      </p:sp>
      <p:sp>
        <p:nvSpPr>
          <p:cNvPr id="3" name="pill_30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70" name="table_306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1828800"/>
                <a:gridCol w="1828800"/>
                <a:gridCol w="4389120"/>
              </a:tblGrid>
              <a:tr h="0">
                <a:tc>
                  <a:txBody>
                    <a:bodyPr/>
                    <a:lstStyle/>
                    <a:p>
                      <a:pPr eaLnBrk="0" indent="0" marL="0">
                        <a:buNone/>
                      </a:pPr>
                      <a:r>
                        <a:rPr lang="ko-KR" altLang="en-US" sz="1600" b="1" dirty="0">
                          <a:solidFill>
                            <a:schemeClr val="bg1"/>
                          </a:solidFill>
                        </a:rPr>
                        <a:t>학습 데이터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공급 테이블</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실패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공급 테이블 시연 297개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48/50 (96%)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0/20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공급: 접근 시작 자세에서 멈춤 2번</a:t>
                      </a:r>
                      <a:endParaRPr lang="ko-KR" altLang="en-US" sz="1600" dirty="0"/>
                    </a:p>
                    <a:p>
                      <a:pPr eaLnBrk="0" indent="0" marL="0">
                        <a:buNone/>
                      </a:pPr>
                      <a:r>
                        <a:rPr lang="ko-KR" altLang="en-US" sz="1600" dirty="0">
                          <a:solidFill>
                            <a:schemeClr val="tx1"/>
                          </a:solidFill>
                        </a:rPr>
                        <a:t>작업대: 2초 만에 "다 집었다"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두 테이블 시연 583개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48/48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52/52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없음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3067"/>
          <p:cNvSpPr/>
          <p:nvPr/>
        </p:nvSpPr>
        <p:spPr>
          <a:xfrm>
            <a:off x="548640" y="3566160"/>
            <a:ext cx="5440680" cy="2560320"/>
          </a:xfrm>
          <a:prstGeom prst="roundRect">
            <a:avLst>
              <a:gd name="adj" fmla="val 2857"/>
            </a:avLst>
          </a:prstGeom>
          <a:solidFill>
            <a:schemeClr val="bg2"/>
          </a:solidFill>
          <a:ln w="12700">
            <a:solidFill>
              <a:schemeClr val="bg2"/>
            </a:solidFill>
            <a:prstDash val="solid"/>
          </a:ln>
        </p:spPr>
      </p:sp>
      <p:sp>
        <p:nvSpPr>
          <p:cNvPr id="8" name="iconbg_3068"/>
          <p:cNvSpPr/>
          <p:nvPr/>
        </p:nvSpPr>
        <p:spPr>
          <a:xfrm>
            <a:off x="777240" y="3794760"/>
            <a:ext cx="548640" cy="548640"/>
          </a:xfrm>
          <a:prstGeom prst="ellipse">
            <a:avLst/>
          </a:prstGeom>
          <a:solidFill>
            <a:schemeClr val="accent6"/>
          </a:solidFill>
          <a:ln w="12700">
            <a:solidFill>
              <a:schemeClr val="accent6"/>
            </a:solidFill>
            <a:prstDash val="solid"/>
          </a:ln>
        </p:spPr>
      </p:sp>
      <p:pic>
        <p:nvPicPr>
          <p:cNvPr id="9" name="icon_3069" descr="StopCircle 아이콘">    </p:cNvPr>
          <p:cNvPicPr>
            <a:picLocks noChangeAspect="1"/>
          </p:cNvPicPr>
          <p:nvPr/>
        </p:nvPicPr>
        <p:blipFill>
          <a:blip r:embed="rId1"/>
          <a:stretch>
            <a:fillRect/>
          </a:stretch>
        </p:blipFill>
        <p:spPr>
          <a:xfrm>
            <a:off x="897941" y="3915461"/>
            <a:ext cx="307238" cy="307238"/>
          </a:xfrm>
          <a:prstGeom prst="rect">
            <a:avLst/>
          </a:prstGeom>
        </p:spPr>
      </p:pic>
      <p:sp>
        <p:nvSpPr>
          <p:cNvPr id="10" name="text_3070"/>
          <p:cNvSpPr txBox="1"/>
          <p:nvPr/>
        </p:nvSpPr>
        <p:spPr>
          <a:xfrm>
            <a:off x="146304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멈춤 (stall)</a:t>
            </a:r>
            <a:endParaRPr lang="ko-KR" altLang="en-US" sz="1800" dirty="0"/>
          </a:p>
        </p:txBody>
      </p:sp>
      <p:sp>
        <p:nvSpPr>
          <p:cNvPr id="11" name="text_3071"/>
          <p:cNvSpPr txBox="1"/>
          <p:nvPr/>
        </p:nvSpPr>
        <p:spPr>
          <a:xfrm>
            <a:off x="77724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상자 위 접근 시작 자세까지 가서 서 버린다.</a:t>
            </a:r>
            <a:endParaRPr lang="ko-KR" altLang="en-US" sz="1400" dirty="0"/>
          </a:p>
          <a:p>
            <a:pPr eaLnBrk="0" indent="0" marL="0">
              <a:buNone/>
            </a:pPr>
            <a:r>
              <a:rPr lang="ko-KR" altLang="en-US" sz="1400" dirty="0">
                <a:solidFill>
                  <a:schemeClr val="tx1"/>
                </a:solidFill>
              </a:rPr>
              <a:t>전문가가 경유점마다 잠깐 서기 때문에 "멈춘 장면에서 계속 서 있기"도 그럴듯한 답이 된다. 모방 학습에서 흔한 실패.</a:t>
            </a:r>
            <a:endParaRPr lang="ko-KR" altLang="en-US" sz="1400" dirty="0"/>
          </a:p>
        </p:txBody>
      </p:sp>
      <p:sp>
        <p:nvSpPr>
          <p:cNvPr id="12" name="box_3072"/>
          <p:cNvSpPr/>
          <p:nvPr/>
        </p:nvSpPr>
        <p:spPr>
          <a:xfrm>
            <a:off x="6172200" y="3566160"/>
            <a:ext cx="5440680" cy="2560320"/>
          </a:xfrm>
          <a:prstGeom prst="roundRect">
            <a:avLst>
              <a:gd name="adj" fmla="val 2857"/>
            </a:avLst>
          </a:prstGeom>
          <a:solidFill>
            <a:schemeClr val="bg2"/>
          </a:solidFill>
          <a:ln w="12700">
            <a:solidFill>
              <a:schemeClr val="bg2"/>
            </a:solidFill>
            <a:prstDash val="solid"/>
          </a:ln>
        </p:spPr>
      </p:sp>
      <p:sp>
        <p:nvSpPr>
          <p:cNvPr id="13" name="iconbg_3073"/>
          <p:cNvSpPr/>
          <p:nvPr/>
        </p:nvSpPr>
        <p:spPr>
          <a:xfrm>
            <a:off x="6400800" y="3794760"/>
            <a:ext cx="548640" cy="548640"/>
          </a:xfrm>
          <a:prstGeom prst="ellipse">
            <a:avLst/>
          </a:prstGeom>
          <a:solidFill>
            <a:schemeClr val="accent3"/>
          </a:solidFill>
          <a:ln w="12700">
            <a:solidFill>
              <a:schemeClr val="accent3"/>
            </a:solidFill>
            <a:prstDash val="solid"/>
          </a:ln>
        </p:spPr>
      </p:sp>
      <p:pic>
        <p:nvPicPr>
          <p:cNvPr id="14" name="icon_3074" descr="Eye 아이콘">    </p:cNvPr>
          <p:cNvPicPr>
            <a:picLocks noChangeAspect="1"/>
          </p:cNvPicPr>
          <p:nvPr/>
        </p:nvPicPr>
        <p:blipFill>
          <a:blip r:embed="rId2"/>
          <a:stretch>
            <a:fillRect/>
          </a:stretch>
        </p:blipFill>
        <p:spPr>
          <a:xfrm>
            <a:off x="6521501" y="3915461"/>
            <a:ext cx="307238" cy="307238"/>
          </a:xfrm>
          <a:prstGeom prst="rect">
            <a:avLst/>
          </a:prstGeom>
        </p:spPr>
      </p:pic>
      <p:sp>
        <p:nvSpPr>
          <p:cNvPr id="15" name="text_3075"/>
          <p:cNvSpPr txBox="1"/>
          <p:nvPr/>
        </p:nvSpPr>
        <p:spPr>
          <a:xfrm>
            <a:off x="708660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처음 보는 장면</a:t>
            </a:r>
            <a:endParaRPr lang="ko-KR" altLang="en-US" sz="1800" dirty="0"/>
          </a:p>
        </p:txBody>
      </p:sp>
      <p:sp>
        <p:nvSpPr>
          <p:cNvPr id="16" name="text_3076"/>
          <p:cNvSpPr txBox="1"/>
          <p:nvPr/>
        </p:nvSpPr>
        <p:spPr>
          <a:xfrm>
            <a:off x="640080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 색, 방 배경, 로봇 방향이 바뀌면 정책에게는 다른 세상이다. 공간 소프트맥스도 "어디에"를 찾을 특징이 없다.</a:t>
            </a:r>
            <a:endParaRPr lang="ko-KR" altLang="en-US" sz="1400" dirty="0"/>
          </a:p>
          <a:p>
            <a:pPr eaLnBrk="0" indent="0" marL="0">
              <a:buNone/>
            </a:pPr>
            <a:r>
              <a:rPr lang="ko-KR" altLang="en-US" sz="1400" dirty="0">
                <a:solidFill>
                  <a:schemeClr val="tx1"/>
                </a:solidFill>
              </a:rPr>
              <a:t>→ 쓸 곳의 장면을 데이터에 넣는 것이 가장 확실한 해결.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169</a:t>
            </a:fld>
            <a:endParaRPr lang="ko-KR" alt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ROS에 끼우기: vla_pick 노드</a:t>
            </a:r>
            <a:endParaRPr lang="ko-KR" altLang="en-US" sz="3000" dirty="0"/>
          </a:p>
        </p:txBody>
      </p:sp>
      <p:sp>
        <p:nvSpPr>
          <p:cNvPr id="3" name="pill_30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79"/>
          <p:cNvSpPr/>
          <p:nvPr/>
        </p:nvSpPr>
        <p:spPr>
          <a:xfrm>
            <a:off x="548640" y="1371600"/>
            <a:ext cx="1956816" cy="1097280"/>
          </a:xfrm>
          <a:prstGeom prst="roundRect">
            <a:avLst>
              <a:gd name="adj" fmla="val 6667"/>
            </a:avLst>
          </a:prstGeom>
          <a:solidFill>
            <a:schemeClr val="accent3"/>
          </a:solidFill>
          <a:ln w="12700">
            <a:solidFill>
              <a:schemeClr val="accent3"/>
            </a:solidFill>
            <a:prstDash val="solid"/>
          </a:ln>
        </p:spPr>
      </p:sp>
      <p:sp>
        <p:nvSpPr>
          <p:cNvPr id="7" name="text_3080"/>
          <p:cNvSpPr txBox="1"/>
          <p:nvPr/>
        </p:nvSpPr>
        <p:spPr>
          <a:xfrm>
            <a:off x="594360"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pick_object</a:t>
            </a:r>
            <a:endParaRPr lang="ko-KR" altLang="en-US" sz="1400" dirty="0"/>
          </a:p>
          <a:p>
            <a:pPr eaLnBrk="0" algn="ctr" indent="0" marL="0">
              <a:buNone/>
            </a:pPr>
            <a:r>
              <a:rPr lang="ko-KR" altLang="en-US" sz="1400" b="1" dirty="0">
                <a:solidFill>
                  <a:schemeClr val="bg1"/>
                </a:solidFill>
              </a:rPr>
              <a:t>(작업 관리자)</a:t>
            </a:r>
            <a:endParaRPr lang="ko-KR" altLang="en-US" sz="1400" dirty="0"/>
          </a:p>
        </p:txBody>
      </p:sp>
      <p:sp>
        <p:nvSpPr>
          <p:cNvPr id="8" name="arrow_3081"/>
          <p:cNvSpPr/>
          <p:nvPr/>
        </p:nvSpPr>
        <p:spPr>
          <a:xfrm>
            <a:off x="2532888" y="1920240"/>
            <a:ext cx="265176" cy="0"/>
          </a:xfrm>
          <a:prstGeom prst="line">
            <a:avLst/>
          </a:prstGeom>
          <a:noFill/>
          <a:ln w="25400">
            <a:solidFill>
              <a:schemeClr val="tx2"/>
            </a:solidFill>
            <a:prstDash val="solid"/>
            <a:tailEnd type="triangle"/>
          </a:ln>
        </p:spPr>
      </p:sp>
      <p:sp>
        <p:nvSpPr>
          <p:cNvPr id="9" name="box_3082"/>
          <p:cNvSpPr/>
          <p:nvPr/>
        </p:nvSpPr>
        <p:spPr>
          <a:xfrm>
            <a:off x="2825496" y="1371600"/>
            <a:ext cx="1956816" cy="1097280"/>
          </a:xfrm>
          <a:prstGeom prst="roundRect">
            <a:avLst>
              <a:gd name="adj" fmla="val 6667"/>
            </a:avLst>
          </a:prstGeom>
          <a:solidFill>
            <a:schemeClr val="bg2"/>
          </a:solidFill>
          <a:ln w="12700">
            <a:solidFill>
              <a:schemeClr val="bg2"/>
            </a:solidFill>
            <a:prstDash val="solid"/>
          </a:ln>
        </p:spPr>
      </p:sp>
      <p:sp>
        <p:nvSpPr>
          <p:cNvPr id="10" name="text_3083"/>
          <p:cNvSpPr txBox="1"/>
          <p:nvPr/>
        </p:nvSpPr>
        <p:spPr>
          <a:xfrm>
            <a:off x="2871216"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tx1"/>
                </a:solidFill>
              </a:rPr>
              <a:t>정렬</a:t>
            </a:r>
            <a:endParaRPr lang="ko-KR" altLang="en-US" sz="1400" dirty="0"/>
          </a:p>
          <a:p>
            <a:pPr eaLnBrk="0" algn="ctr" indent="0" marL="0">
              <a:buNone/>
            </a:pPr>
            <a:r>
              <a:rPr lang="ko-KR" altLang="en-US" sz="1400" b="1" dirty="0">
                <a:solidFill>
                  <a:schemeClr val="tx1"/>
                </a:solidFill>
              </a:rPr>
              <a:t>servo_to_marker</a:t>
            </a:r>
            <a:endParaRPr lang="ko-KR" altLang="en-US" sz="1400" dirty="0"/>
          </a:p>
        </p:txBody>
      </p:sp>
      <p:sp>
        <p:nvSpPr>
          <p:cNvPr id="11" name="arrow_3084"/>
          <p:cNvSpPr/>
          <p:nvPr/>
        </p:nvSpPr>
        <p:spPr>
          <a:xfrm>
            <a:off x="4809744" y="1920240"/>
            <a:ext cx="265176" cy="0"/>
          </a:xfrm>
          <a:prstGeom prst="line">
            <a:avLst/>
          </a:prstGeom>
          <a:noFill/>
          <a:ln w="25400">
            <a:solidFill>
              <a:schemeClr val="tx2"/>
            </a:solidFill>
            <a:prstDash val="solid"/>
            <a:tailEnd type="triangle"/>
          </a:ln>
        </p:spPr>
      </p:sp>
      <p:sp>
        <p:nvSpPr>
          <p:cNvPr id="12" name="box_3085"/>
          <p:cNvSpPr/>
          <p:nvPr/>
        </p:nvSpPr>
        <p:spPr>
          <a:xfrm>
            <a:off x="5102352" y="1371600"/>
            <a:ext cx="1956816" cy="1097280"/>
          </a:xfrm>
          <a:prstGeom prst="roundRect">
            <a:avLst>
              <a:gd name="adj" fmla="val 6667"/>
            </a:avLst>
          </a:prstGeom>
          <a:solidFill>
            <a:schemeClr val="accent4"/>
          </a:solidFill>
          <a:ln w="12700">
            <a:solidFill>
              <a:schemeClr val="accent4"/>
            </a:solidFill>
            <a:prstDash val="solid"/>
          </a:ln>
        </p:spPr>
      </p:sp>
      <p:sp>
        <p:nvSpPr>
          <p:cNvPr id="13" name="text_3086"/>
          <p:cNvSpPr txBox="1"/>
          <p:nvPr/>
        </p:nvSpPr>
        <p:spPr>
          <a:xfrm>
            <a:off x="5148072"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/vla/pick</a:t>
            </a:r>
            <a:endParaRPr lang="ko-KR" altLang="en-US" sz="1400" dirty="0"/>
          </a:p>
          <a:p>
            <a:pPr eaLnBrk="0" algn="ctr" indent="0" marL="0">
              <a:buNone/>
            </a:pPr>
            <a:r>
              <a:rPr lang="ko-KR" altLang="en-US" sz="1400" b="1" dirty="0">
                <a:solidFill>
                  <a:schemeClr val="bg1"/>
                </a:solidFill>
              </a:rPr>
              <a:t>"pick up the red box"</a:t>
            </a:r>
            <a:endParaRPr lang="ko-KR" altLang="en-US" sz="1400" dirty="0"/>
          </a:p>
        </p:txBody>
      </p:sp>
      <p:sp>
        <p:nvSpPr>
          <p:cNvPr id="14" name="arrow_3087"/>
          <p:cNvSpPr/>
          <p:nvPr/>
        </p:nvSpPr>
        <p:spPr>
          <a:xfrm>
            <a:off x="7086600" y="1920240"/>
            <a:ext cx="265176" cy="0"/>
          </a:xfrm>
          <a:prstGeom prst="line">
            <a:avLst/>
          </a:prstGeom>
          <a:noFill/>
          <a:ln w="25400">
            <a:solidFill>
              <a:schemeClr val="tx2"/>
            </a:solidFill>
            <a:prstDash val="solid"/>
            <a:tailEnd type="triangle"/>
          </a:ln>
        </p:spPr>
      </p:sp>
      <p:sp>
        <p:nvSpPr>
          <p:cNvPr id="15" name="box_3088"/>
          <p:cNvSpPr/>
          <p:nvPr/>
        </p:nvSpPr>
        <p:spPr>
          <a:xfrm>
            <a:off x="7379208" y="1371600"/>
            <a:ext cx="1956816" cy="1097280"/>
          </a:xfrm>
          <a:prstGeom prst="roundRect">
            <a:avLst>
              <a:gd name="adj" fmla="val 6667"/>
            </a:avLst>
          </a:prstGeom>
          <a:solidFill>
            <a:schemeClr val="accent1"/>
          </a:solidFill>
          <a:ln w="12700">
            <a:solidFill>
              <a:schemeClr val="accent1"/>
            </a:solidFill>
            <a:prstDash val="solid"/>
          </a:ln>
        </p:spPr>
      </p:sp>
      <p:sp>
        <p:nvSpPr>
          <p:cNvPr id="16" name="text_3089"/>
          <p:cNvSpPr txBox="1"/>
          <p:nvPr/>
        </p:nvSpPr>
        <p:spPr>
          <a:xfrm>
            <a:off x="7424928"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vla_pick 노드</a:t>
            </a:r>
            <a:endParaRPr lang="ko-KR" altLang="en-US" sz="1400" dirty="0"/>
          </a:p>
          <a:p>
            <a:pPr eaLnBrk="0" algn="ctr" indent="0" marL="0">
              <a:buNone/>
            </a:pPr>
            <a:r>
              <a:rPr lang="ko-KR" altLang="en-US" sz="1400" b="1" dirty="0">
                <a:solidFill>
                  <a:schemeClr val="bg1"/>
                </a:solidFill>
              </a:rPr>
              <a:t>10 Hz</a:t>
            </a:r>
            <a:endParaRPr lang="ko-KR" altLang="en-US" sz="1400" dirty="0"/>
          </a:p>
        </p:txBody>
      </p:sp>
      <p:sp>
        <p:nvSpPr>
          <p:cNvPr id="17" name="arrow_3090"/>
          <p:cNvSpPr/>
          <p:nvPr/>
        </p:nvSpPr>
        <p:spPr>
          <a:xfrm>
            <a:off x="9363456" y="1920240"/>
            <a:ext cx="265176" cy="0"/>
          </a:xfrm>
          <a:prstGeom prst="line">
            <a:avLst/>
          </a:prstGeom>
          <a:noFill/>
          <a:ln w="25400">
            <a:solidFill>
              <a:schemeClr val="tx2"/>
            </a:solidFill>
            <a:prstDash val="solid"/>
            <a:tailEnd type="triangle"/>
          </a:ln>
        </p:spPr>
      </p:sp>
      <p:sp>
        <p:nvSpPr>
          <p:cNvPr id="18" name="box_3091"/>
          <p:cNvSpPr/>
          <p:nvPr/>
        </p:nvSpPr>
        <p:spPr>
          <a:xfrm>
            <a:off x="9656064" y="1371600"/>
            <a:ext cx="1956816" cy="1097280"/>
          </a:xfrm>
          <a:prstGeom prst="roundRect">
            <a:avLst>
              <a:gd name="adj" fmla="val 6667"/>
            </a:avLst>
          </a:prstGeom>
          <a:solidFill>
            <a:schemeClr val="accent2"/>
          </a:solidFill>
          <a:ln w="12700">
            <a:solidFill>
              <a:schemeClr val="accent2"/>
            </a:solidFill>
            <a:prstDash val="solid"/>
          </a:ln>
        </p:spPr>
      </p:sp>
      <p:sp>
        <p:nvSpPr>
          <p:cNvPr id="19" name="text_3092"/>
          <p:cNvSpPr txBox="1"/>
          <p:nvPr/>
        </p:nvSpPr>
        <p:spPr>
          <a:xfrm>
            <a:off x="9701784"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/vla/result</a:t>
            </a:r>
            <a:endParaRPr lang="ko-KR" altLang="en-US" sz="1400" dirty="0"/>
          </a:p>
          <a:p>
            <a:pPr eaLnBrk="0" algn="ctr" indent="0" marL="0">
              <a:buNone/>
            </a:pPr>
            <a:r>
              <a:rPr lang="ko-KR" altLang="en-US" sz="1400" b="1" dirty="0">
                <a:solidFill>
                  <a:schemeClr val="bg1"/>
                </a:solidFill>
              </a:rPr>
              <a:t>{ok, steps}</a:t>
            </a:r>
            <a:endParaRPr lang="ko-KR" altLang="en-US" sz="1400" dirty="0"/>
          </a:p>
        </p:txBody>
      </p:sp>
      <p:graphicFrame>
        <p:nvGraphicFramePr>
          <p:cNvPr id="171" name="table_3093"/>
          <p:cNvGraphicFramePr>
            <a:graphicFrameLocks noGrp="1"/>
          </p:cNvGraphicFramePr>
          <p:nvPr>
            <p:extLst>
              <p:ext uri="{D42A27DB-BD31-4B8C-83A1-F6EECF244321}">
                <p14:modId xmlns:p14="http://schemas.microsoft.com/office/powerpoint/2010/main" val="1579011935"/>
              </p:ext>
            </p:extLst>
          </p:nvPr>
        </p:nvGraphicFramePr>
        <p:xfrm>
          <a:off x="548640" y="2743200"/>
          <a:ext cx="6949440" cy="914400"/>
        </p:xfrm>
        <a:graphic>
          <a:graphicData uri="http://schemas.openxmlformats.org/drawingml/2006/table">
            <a:tbl>
              <a:tblPr/>
              <a:tblGrid>
                <a:gridCol w="822960"/>
                <a:gridCol w="3017520"/>
                <a:gridCol w="3108960"/>
              </a:tblGrid>
              <a:tr h="0">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/camera/image_raw → 128×72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머리 카메라 (INTER_AREA로 줄임)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/wrist_camera/image_raw</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손목 카메라 96×96 (브리지 wrist_camera_rate)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/joint_commands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0.1초마다 관절 목표 (브리지가 actuator 목표로)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/vla/status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단계, "끝" 확률 (대시보드 카드)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1" name="box_3094"/>
          <p:cNvSpPr/>
          <p:nvPr/>
        </p:nvSpPr>
        <p:spPr>
          <a:xfrm>
            <a:off x="7772400" y="2743200"/>
            <a:ext cx="3840480" cy="3383280"/>
          </a:xfrm>
          <a:prstGeom prst="roundRect">
            <a:avLst>
              <a:gd name="adj" fmla="val 2162"/>
            </a:avLst>
          </a:prstGeom>
          <a:solidFill>
            <a:schemeClr val="tx1"/>
          </a:solidFill>
          <a:ln w="12700">
            <a:solidFill>
              <a:schemeClr val="tx1"/>
            </a:solidFill>
            <a:prstDash val="solid"/>
          </a:ln>
        </p:spPr>
      </p:sp>
      <p:sp>
        <p:nvSpPr>
          <p:cNvPr id="22" name="code_3095"/>
          <p:cNvSpPr txBox="1"/>
          <p:nvPr/>
        </p:nvSpPr>
        <p:spPr>
          <a:xfrm>
            <a:off x="7955280" y="2880360"/>
            <a:ext cx="3474720" cy="3108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bringup.launch.py planner:=true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dashboard:=true pick:=vla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 런처: 모드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"VLA 집기" → 연결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170</a:t>
            </a:fld>
            <a:endParaRPr lang="ko-KR" alt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VLA 집기 모드</a:t>
            </a:r>
            <a:endParaRPr lang="ko-KR" altLang="en-US" sz="3000" dirty="0"/>
          </a:p>
        </p:txBody>
      </p:sp>
      <p:sp>
        <p:nvSpPr>
          <p:cNvPr id="3" name="pill_30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3098" descr="대시보드 VLA 집기 모드: 헤드 카메라에 상자를 쥔 손, 아래 VLA 카드에 손목 카메라와 성공 91단계">    </p:cNvPr>
          <p:cNvPicPr>
            <a:picLocks noChangeAspect="1"/>
          </p:cNvPicPr>
          <p:nvPr/>
        </p:nvPicPr>
        <p:blipFill>
          <a:blip r:embed="rId1"/>
          <a:stretch>
            <a:fillRect/>
          </a:stretch>
        </p:blipFill>
        <p:spPr>
          <a:xfrm>
            <a:off x="550206" y="1280160"/>
            <a:ext cx="5666148" cy="4983480"/>
          </a:xfrm>
          <a:prstGeom prst="rect">
            <a:avLst/>
          </a:prstGeom>
        </p:spPr>
      </p:pic>
      <p:sp>
        <p:nvSpPr>
          <p:cNvPr id="7" name="box_3099"/>
          <p:cNvSpPr/>
          <p:nvPr/>
        </p:nvSpPr>
        <p:spPr>
          <a:xfrm>
            <a:off x="6858000" y="1371600"/>
            <a:ext cx="4754880" cy="2377440"/>
          </a:xfrm>
          <a:prstGeom prst="roundRect">
            <a:avLst>
              <a:gd name="adj" fmla="val 3077"/>
            </a:avLst>
          </a:prstGeom>
          <a:solidFill>
            <a:schemeClr val="bg2"/>
          </a:solidFill>
          <a:ln w="12700">
            <a:solidFill>
              <a:schemeClr val="bg2"/>
            </a:solidFill>
            <a:prstDash val="solid"/>
          </a:ln>
        </p:spPr>
      </p:sp>
      <p:sp>
        <p:nvSpPr>
          <p:cNvPr id="8" name="iconbg_3100"/>
          <p:cNvSpPr/>
          <p:nvPr/>
        </p:nvSpPr>
        <p:spPr>
          <a:xfrm>
            <a:off x="7086600" y="1600200"/>
            <a:ext cx="548640" cy="548640"/>
          </a:xfrm>
          <a:prstGeom prst="ellipse">
            <a:avLst/>
          </a:prstGeom>
          <a:solidFill>
            <a:schemeClr val="accent6"/>
          </a:solidFill>
          <a:ln w="12700">
            <a:solidFill>
              <a:schemeClr val="accent6"/>
            </a:solidFill>
            <a:prstDash val="solid"/>
          </a:ln>
        </p:spPr>
      </p:sp>
      <p:pic>
        <p:nvPicPr>
          <p:cNvPr id="9" name="icon_3101" descr="ExclamationTriangle 아이콘">    </p:cNvPr>
          <p:cNvPicPr>
            <a:picLocks noChangeAspect="1"/>
          </p:cNvPicPr>
          <p:nvPr/>
        </p:nvPicPr>
        <p:blipFill>
          <a:blip r:embed="rId2"/>
          <a:stretch>
            <a:fillRect/>
          </a:stretch>
        </p:blipFill>
        <p:spPr>
          <a:xfrm>
            <a:off x="7207301" y="1720901"/>
            <a:ext cx="307238" cy="307238"/>
          </a:xfrm>
          <a:prstGeom prst="rect">
            <a:avLst/>
          </a:prstGeom>
        </p:spPr>
      </p:pic>
      <p:sp>
        <p:nvSpPr>
          <p:cNvPr id="10" name="text_3102"/>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 집었다"를 믿지 말 것</a:t>
            </a:r>
            <a:endParaRPr lang="ko-KR" altLang="en-US" sz="1600" dirty="0"/>
          </a:p>
        </p:txBody>
      </p:sp>
      <p:sp>
        <p:nvSpPr>
          <p:cNvPr id="11" name="text_3103"/>
          <p:cNvSpPr txBox="1"/>
          <p:nvPr/>
        </p:nvSpPr>
        <p:spPr>
          <a:xfrm>
            <a:off x="7086600" y="2240280"/>
            <a:ext cx="429768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학습된 부품의 출력은 다른 신호로 한 번 더 확인한다.</a:t>
            </a:r>
            <a:endParaRPr lang="ko-KR" altLang="en-US" sz="1400" dirty="0"/>
          </a:p>
          <a:p>
            <a:pPr eaLnBrk="0" indent="0" marL="0">
              <a:buNone/>
            </a:pPr>
            <a:r>
              <a:rPr lang="ko-KR" altLang="en-US" sz="1400" dirty="0">
                <a:solidFill>
                  <a:schemeClr val="tx1"/>
                </a:solidFill>
              </a:rPr>
              <a:t>성공 = 손을 닫으라고 명령했고(목표 &gt; −0.15) 손가락이 덜 닫혔다(|각도| &gt; 0.06).</a:t>
            </a:r>
            <a:endParaRPr lang="ko-KR" altLang="en-US" sz="1400" dirty="0"/>
          </a:p>
        </p:txBody>
      </p:sp>
      <p:sp>
        <p:nvSpPr>
          <p:cNvPr id="12" name="box_3104"/>
          <p:cNvSpPr/>
          <p:nvPr/>
        </p:nvSpPr>
        <p:spPr>
          <a:xfrm>
            <a:off x="6858000" y="3931920"/>
            <a:ext cx="4754880" cy="2194560"/>
          </a:xfrm>
          <a:prstGeom prst="roundRect">
            <a:avLst>
              <a:gd name="adj" fmla="val 3333"/>
            </a:avLst>
          </a:prstGeom>
          <a:solidFill>
            <a:schemeClr val="bg2"/>
          </a:solidFill>
          <a:ln w="12700">
            <a:solidFill>
              <a:schemeClr val="bg2"/>
            </a:solidFill>
            <a:prstDash val="solid"/>
          </a:ln>
        </p:spPr>
      </p:sp>
      <p:sp>
        <p:nvSpPr>
          <p:cNvPr id="13" name="iconbg_3105"/>
          <p:cNvSpPr/>
          <p:nvPr/>
        </p:nvSpPr>
        <p:spPr>
          <a:xfrm>
            <a:off x="7086600" y="4160520"/>
            <a:ext cx="548640" cy="548640"/>
          </a:xfrm>
          <a:prstGeom prst="ellipse">
            <a:avLst/>
          </a:prstGeom>
          <a:solidFill>
            <a:schemeClr val="accent2"/>
          </a:solidFill>
          <a:ln w="12700">
            <a:solidFill>
              <a:schemeClr val="accent2"/>
            </a:solidFill>
            <a:prstDash val="solid"/>
          </a:ln>
        </p:spPr>
      </p:sp>
      <p:pic>
        <p:nvPicPr>
          <p:cNvPr id="14" name="icon_3106" descr="CheckCircle 아이콘">    </p:cNvPr>
          <p:cNvPicPr>
            <a:picLocks noChangeAspect="1"/>
          </p:cNvPicPr>
          <p:nvPr/>
        </p:nvPicPr>
        <p:blipFill>
          <a:blip r:embed="rId3"/>
          <a:stretch>
            <a:fillRect/>
          </a:stretch>
        </p:blipFill>
        <p:spPr>
          <a:xfrm>
            <a:off x="7207301" y="4281221"/>
            <a:ext cx="307238" cy="307238"/>
          </a:xfrm>
          <a:prstGeom prst="rect">
            <a:avLst/>
          </a:prstGeom>
        </p:spPr>
      </p:pic>
      <p:sp>
        <p:nvSpPr>
          <p:cNvPr id="15" name="text_3107"/>
          <p:cNvSpPr txBox="1"/>
          <p:nvPr/>
        </p:nvSpPr>
        <p:spPr>
          <a:xfrm>
            <a:off x="7772400" y="413308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6" name="text_3108"/>
          <p:cNvSpPr txBox="1"/>
          <p:nvPr/>
        </p:nvSpPr>
        <p:spPr>
          <a:xfrm>
            <a:off x="7086600" y="4800600"/>
            <a:ext cx="42976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"상자를 모두 작업대에 모아" → "모두 제자리로": 세 테이블과 작업대 세 자리에서 정책이 집음</a:t>
            </a:r>
            <a:endParaRPr lang="ko-KR" altLang="en-US" sz="1400" dirty="0"/>
          </a:p>
          <a:p>
            <a:pPr eaLnBrk="0" indent="0" marL="0">
              <a:buNone/>
            </a:pPr>
            <a:r>
              <a:rPr lang="ko-KR" altLang="en-US" sz="1400" dirty="0">
                <a:solidFill>
                  <a:schemeClr val="tx1"/>
                </a:solidFill>
              </a:rPr>
              <a:t>(이 저장소에서 ROS로 6번 모두 성공, 74~88단계)</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5-4</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171</a:t>
            </a:fld>
            <a:endParaRPr lang="ko-KR" alt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ACT · LeRobot · 큰 VLA와 비교</a:t>
            </a:r>
            <a:endParaRPr lang="ko-KR" altLang="en-US" sz="3000" dirty="0"/>
          </a:p>
        </p:txBody>
      </p:sp>
      <p:sp>
        <p:nvSpPr>
          <p:cNvPr id="3" name="pill_31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73" name="table_311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280160"/>
                <a:gridCol w="2651760"/>
                <a:gridCol w="2377440"/>
                <a:gridCol w="2286000"/>
                <a:gridCol w="246888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 모듈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ACT (2023)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OpenVLA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π0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영상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CNN 4층 + 공간 소프트맥스 (처음부터)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ResNet-18 (ImageNet)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DINOv2 + SigLIP</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SigLIP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언어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단어 해시 + 임베딩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Llama 2 7B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Gemma 2B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MLP, 10단계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트랜스포머 디코더 + CVAE,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256칸 토큰을 하나씩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flow matching, 50단계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60만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8천만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70억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33억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학습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노트북 CPU 약 1시간, 시연 1,155편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과제당 시연 약 50편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수십 장, 약 97만 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대규모 사전학습 + 미세조정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112"/>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8" name="iconbg_3113"/>
          <p:cNvSpPr/>
          <p:nvPr/>
        </p:nvSpPr>
        <p:spPr>
          <a:xfrm>
            <a:off x="777240" y="4983480"/>
            <a:ext cx="548640" cy="548640"/>
          </a:xfrm>
          <a:prstGeom prst="ellipse">
            <a:avLst/>
          </a:prstGeom>
          <a:solidFill>
            <a:schemeClr val="accent1"/>
          </a:solidFill>
          <a:ln w="12700">
            <a:solidFill>
              <a:schemeClr val="accent1"/>
            </a:solidFill>
            <a:prstDash val="solid"/>
          </a:ln>
        </p:spPr>
      </p:sp>
      <p:pic>
        <p:nvPicPr>
          <p:cNvPr id="9" name="icon_3114" descr="Bolt 아이콘">    </p:cNvPr>
          <p:cNvPicPr>
            <a:picLocks noChangeAspect="1"/>
          </p:cNvPicPr>
          <p:nvPr/>
        </p:nvPicPr>
        <p:blipFill>
          <a:blip r:embed="rId1"/>
          <a:stretch>
            <a:fillRect/>
          </a:stretch>
        </p:blipFill>
        <p:spPr>
          <a:xfrm>
            <a:off x="897941" y="5104181"/>
            <a:ext cx="307238" cy="307238"/>
          </a:xfrm>
          <a:prstGeom prst="rect">
            <a:avLst/>
          </a:prstGeom>
        </p:spPr>
      </p:pic>
      <p:sp>
        <p:nvSpPr>
          <p:cNvPr id="10" name="text_3115"/>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다음 단계</a:t>
            </a:r>
            <a:endParaRPr lang="ko-KR" altLang="en-US" sz="1600" dirty="0"/>
          </a:p>
        </p:txBody>
      </p:sp>
      <p:sp>
        <p:nvSpPr>
          <p:cNvPr id="11" name="text_3116"/>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record.py → train.py → evaluate.py는 LeRobot의 "모으기 → 학습 → 평가"를 작게 손으로 짠 것이다. 구조를 이해했다면 같은 시연을 LeRobot 형식으로 옮겨 ACT를 학습해 비교해 볼 수 있다 (GPU 권장).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172</a:t>
            </a:fld>
            <a:endParaRPr lang="ko-KR" alt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한계와 다음 단계</a:t>
            </a:r>
            <a:endParaRPr lang="ko-KR" altLang="en-US" sz="3000" dirty="0"/>
          </a:p>
        </p:txBody>
      </p:sp>
      <p:sp>
        <p:nvSpPr>
          <p:cNvPr id="3" name="pill_31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119"/>
          <p:cNvSpPr/>
          <p:nvPr/>
        </p:nvSpPr>
        <p:spPr>
          <a:xfrm>
            <a:off x="548640" y="1371600"/>
            <a:ext cx="731520" cy="731520"/>
          </a:xfrm>
          <a:prstGeom prst="ellipse">
            <a:avLst/>
          </a:prstGeom>
          <a:solidFill>
            <a:schemeClr val="accent1"/>
          </a:solidFill>
          <a:ln w="12700">
            <a:solidFill>
              <a:schemeClr val="accent1"/>
            </a:solidFill>
            <a:prstDash val="solid"/>
          </a:ln>
        </p:spPr>
      </p:sp>
      <p:pic>
        <p:nvPicPr>
          <p:cNvPr id="7" name="icon_3120" descr="Cube 아이콘">    </p:cNvPr>
          <p:cNvPicPr>
            <a:picLocks noChangeAspect="1"/>
          </p:cNvPicPr>
          <p:nvPr/>
        </p:nvPicPr>
        <p:blipFill>
          <a:blip r:embed="rId1"/>
          <a:stretch>
            <a:fillRect/>
          </a:stretch>
        </p:blipFill>
        <p:spPr>
          <a:xfrm>
            <a:off x="709574" y="1532534"/>
            <a:ext cx="409651" cy="409651"/>
          </a:xfrm>
          <a:prstGeom prst="rect">
            <a:avLst/>
          </a:prstGeom>
        </p:spPr>
      </p:pic>
      <p:sp>
        <p:nvSpPr>
          <p:cNvPr id="8" name="text_3121"/>
          <p:cNvSpPr txBox="1"/>
          <p:nvPr/>
        </p:nvSpPr>
        <p:spPr>
          <a:xfrm>
            <a:off x="1508760" y="132588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언어 대신 정렬 위치를 본다</a:t>
            </a:r>
            <a:endParaRPr lang="ko-KR" altLang="en-US" sz="1800" dirty="0"/>
          </a:p>
        </p:txBody>
      </p:sp>
      <p:sp>
        <p:nvSpPr>
          <p:cNvPr id="9" name="text_3122"/>
          <p:cNvSpPr txBox="1"/>
          <p:nvPr/>
        </p:nvSpPr>
        <p:spPr>
          <a:xfrm>
            <a:off x="1508760" y="173736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상자가 셋이어도 색 낱말을 쓰지 않는다 → 과제 3: 두 상자 사이에 정렬하고 말로 고르게</a:t>
            </a:r>
            <a:endParaRPr lang="ko-KR" altLang="en-US" sz="1500" dirty="0"/>
          </a:p>
        </p:txBody>
      </p:sp>
      <p:sp>
        <p:nvSpPr>
          <p:cNvPr id="10" name="iconbg_3123"/>
          <p:cNvSpPr/>
          <p:nvPr/>
        </p:nvSpPr>
        <p:spPr>
          <a:xfrm>
            <a:off x="548640" y="2560320"/>
            <a:ext cx="731520" cy="731520"/>
          </a:xfrm>
          <a:prstGeom prst="ellipse">
            <a:avLst/>
          </a:prstGeom>
          <a:solidFill>
            <a:schemeClr val="accent3"/>
          </a:solidFill>
          <a:ln w="12700">
            <a:solidFill>
              <a:schemeClr val="accent3"/>
            </a:solidFill>
            <a:prstDash val="solid"/>
          </a:ln>
        </p:spPr>
      </p:sp>
      <p:pic>
        <p:nvPicPr>
          <p:cNvPr id="11" name="icon_3124" descr="Camera 아이콘">    </p:cNvPr>
          <p:cNvPicPr>
            <a:picLocks noChangeAspect="1"/>
          </p:cNvPicPr>
          <p:nvPr/>
        </p:nvPicPr>
        <p:blipFill>
          <a:blip r:embed="rId2"/>
          <a:stretch>
            <a:fillRect/>
          </a:stretch>
        </p:blipFill>
        <p:spPr>
          <a:xfrm>
            <a:off x="709574" y="2721254"/>
            <a:ext cx="409651" cy="409651"/>
          </a:xfrm>
          <a:prstGeom prst="rect">
            <a:avLst/>
          </a:prstGeom>
        </p:spPr>
      </p:pic>
      <p:sp>
        <p:nvSpPr>
          <p:cNvPr id="12" name="text_3125"/>
          <p:cNvSpPr txBox="1"/>
          <p:nvPr/>
        </p:nvSpPr>
        <p:spPr>
          <a:xfrm>
            <a:off x="1508760" y="251460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시뮬레이터 영상만</a:t>
            </a:r>
            <a:endParaRPr lang="ko-KR" altLang="en-US" sz="1800" dirty="0"/>
          </a:p>
        </p:txBody>
      </p:sp>
      <p:sp>
        <p:nvSpPr>
          <p:cNvPr id="13" name="text_3126"/>
          <p:cNvSpPr txBox="1"/>
          <p:nvPr/>
        </p:nvSpPr>
        <p:spPr>
          <a:xfrm>
            <a:off x="1508760" y="292608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실제 카메라와 렌더링의 차이(sim-to-real) → 도메인 무작위화, 실제 시연 섞기</a:t>
            </a:r>
            <a:endParaRPr lang="ko-KR" altLang="en-US" sz="1500" dirty="0"/>
          </a:p>
        </p:txBody>
      </p:sp>
      <p:sp>
        <p:nvSpPr>
          <p:cNvPr id="14" name="iconbg_3127"/>
          <p:cNvSpPr/>
          <p:nvPr/>
        </p:nvSpPr>
        <p:spPr>
          <a:xfrm>
            <a:off x="548640" y="3749040"/>
            <a:ext cx="731520" cy="731520"/>
          </a:xfrm>
          <a:prstGeom prst="ellipse">
            <a:avLst/>
          </a:prstGeom>
          <a:solidFill>
            <a:schemeClr val="accent6"/>
          </a:solidFill>
          <a:ln w="12700">
            <a:solidFill>
              <a:schemeClr val="accent6"/>
            </a:solidFill>
            <a:prstDash val="solid"/>
          </a:ln>
        </p:spPr>
      </p:sp>
      <p:pic>
        <p:nvPicPr>
          <p:cNvPr id="15" name="icon_3128" descr="ArrowsAlt 아이콘">    </p:cNvPr>
          <p:cNvPicPr>
            <a:picLocks noChangeAspect="1"/>
          </p:cNvPicPr>
          <p:nvPr/>
        </p:nvPicPr>
        <p:blipFill>
          <a:blip r:embed="rId3"/>
          <a:stretch>
            <a:fillRect/>
          </a:stretch>
        </p:blipFill>
        <p:spPr>
          <a:xfrm>
            <a:off x="709574" y="3909974"/>
            <a:ext cx="409651" cy="409651"/>
          </a:xfrm>
          <a:prstGeom prst="rect">
            <a:avLst/>
          </a:prstGeom>
        </p:spPr>
      </p:pic>
      <p:sp>
        <p:nvSpPr>
          <p:cNvPr id="16" name="text_3129"/>
          <p:cNvSpPr txBox="1"/>
          <p:nvPr/>
        </p:nvSpPr>
        <p:spPr>
          <a:xfrm>
            <a:off x="1508760" y="370332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학습한 범위 밖</a:t>
            </a:r>
            <a:endParaRPr lang="ko-KR" altLang="en-US" sz="1800" dirty="0"/>
          </a:p>
        </p:txBody>
      </p:sp>
      <p:sp>
        <p:nvSpPr>
          <p:cNvPr id="17" name="text_3130"/>
          <p:cNvSpPr txBox="1"/>
          <p:nvPr/>
        </p:nvSpPr>
        <p:spPr>
          <a:xfrm>
            <a:off x="1508760" y="411480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정렬이 더 틀어지면 실패 → 도전 과제: SPREAD 두 배로 평가</a:t>
            </a:r>
            <a:endParaRPr lang="ko-KR" altLang="en-US" sz="1500" dirty="0"/>
          </a:p>
        </p:txBody>
      </p:sp>
      <p:sp>
        <p:nvSpPr>
          <p:cNvPr id="18" name="iconbg_3131"/>
          <p:cNvSpPr/>
          <p:nvPr/>
        </p:nvSpPr>
        <p:spPr>
          <a:xfrm>
            <a:off x="548640" y="4937760"/>
            <a:ext cx="731520" cy="731520"/>
          </a:xfrm>
          <a:prstGeom prst="ellipse">
            <a:avLst/>
          </a:prstGeom>
          <a:solidFill>
            <a:schemeClr val="accent2"/>
          </a:solidFill>
          <a:ln w="12700">
            <a:solidFill>
              <a:schemeClr val="accent2"/>
            </a:solidFill>
            <a:prstDash val="solid"/>
          </a:ln>
        </p:spPr>
      </p:sp>
      <p:pic>
        <p:nvPicPr>
          <p:cNvPr id="19" name="icon_3132" descr="HandPaper 아이콘">    </p:cNvPr>
          <p:cNvPicPr>
            <a:picLocks noChangeAspect="1"/>
          </p:cNvPicPr>
          <p:nvPr/>
        </p:nvPicPr>
        <p:blipFill>
          <a:blip r:embed="rId4"/>
          <a:stretch>
            <a:fillRect/>
          </a:stretch>
        </p:blipFill>
        <p:spPr>
          <a:xfrm>
            <a:off x="709574" y="5098694"/>
            <a:ext cx="409651" cy="409651"/>
          </a:xfrm>
          <a:prstGeom prst="rect">
            <a:avLst/>
          </a:prstGeom>
        </p:spPr>
      </p:pic>
      <p:sp>
        <p:nvSpPr>
          <p:cNvPr id="20" name="text_3133"/>
          <p:cNvSpPr txBox="1"/>
          <p:nvPr/>
        </p:nvSpPr>
        <p:spPr>
          <a:xfrm>
            <a:off x="1508760" y="489204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집기 한 동작</a:t>
            </a:r>
            <a:endParaRPr lang="ko-KR" altLang="en-US" sz="1800" dirty="0"/>
          </a:p>
        </p:txBody>
      </p:sp>
      <p:sp>
        <p:nvSpPr>
          <p:cNvPr id="21" name="text_3134"/>
          <p:cNvSpPr txBox="1"/>
          <p:nvPr/>
        </p:nvSpPr>
        <p:spPr>
          <a:xfrm>
            <a:off x="1508760" y="530352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놓기·다른 동작은 데이터를 따로 모아야 → 시연 수와 성공률의 관계(과제 1)</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173</a:t>
            </a:fld>
            <a:endParaRPr lang="ko-KR" alt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한 장 요약</a:t>
            </a:r>
            <a:endParaRPr lang="ko-KR" altLang="en-US" sz="3000" dirty="0"/>
          </a:p>
        </p:txBody>
      </p:sp>
      <p:sp>
        <p:nvSpPr>
          <p:cNvPr id="3" name="pill_31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13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3138"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313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VLA = 영상 + 문장 → 관절 명령</a:t>
            </a:r>
            <a:endParaRPr lang="ko-KR" altLang="en-US" sz="1800" dirty="0"/>
          </a:p>
        </p:txBody>
      </p:sp>
      <p:sp>
        <p:nvSpPr>
          <p:cNvPr id="9" name="text_314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좌표 계산 없이 0.1초마다 보고 다음 1초의 관절 목표를 낸다</a:t>
            </a:r>
            <a:endParaRPr lang="ko-KR" altLang="en-US" sz="1500" dirty="0"/>
          </a:p>
        </p:txBody>
      </p:sp>
      <p:sp>
        <p:nvSpPr>
          <p:cNvPr id="10" name="iconbg_314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3142" descr="User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314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모방 학습: 전문가 시연 → 지도 학습</a:t>
            </a:r>
            <a:endParaRPr lang="ko-KR" altLang="en-US" sz="1800" dirty="0"/>
          </a:p>
        </p:txBody>
      </p:sp>
      <p:sp>
        <p:nvSpPr>
          <p:cNvPr id="13" name="text_314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전문가는 실제 위치를 알고, 정책은 영상만 본다</a:t>
            </a:r>
            <a:endParaRPr lang="ko-KR" altLang="en-US" sz="1500" dirty="0"/>
          </a:p>
        </p:txBody>
      </p:sp>
      <p:sp>
        <p:nvSpPr>
          <p:cNvPr id="14" name="iconbg_314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3146"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314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쌓이는 오차를 막는 세 가지</a:t>
            </a:r>
            <a:endParaRPr lang="ko-KR" altLang="en-US" sz="1800" dirty="0"/>
          </a:p>
        </p:txBody>
      </p:sp>
      <p:sp>
        <p:nvSpPr>
          <p:cNvPr id="17" name="text_314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넓게 모으기, DART 잡음, 묶음 예측 + 시간 평균</a:t>
            </a:r>
            <a:endParaRPr lang="ko-KR" altLang="en-US" sz="1500" dirty="0"/>
          </a:p>
        </p:txBody>
      </p:sp>
      <p:sp>
        <p:nvSpPr>
          <p:cNvPr id="18" name="iconbg_314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3150" descr="Crosshair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315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공간 소프트맥스 + 손목 카메라</a:t>
            </a:r>
            <a:endParaRPr lang="ko-KR" altLang="en-US" sz="1800" dirty="0"/>
          </a:p>
        </p:txBody>
      </p:sp>
      <p:sp>
        <p:nvSpPr>
          <p:cNvPr id="21" name="text_315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"어디에"를 숫자로. 마지막 몇 cm는 손목 카메라</a:t>
            </a:r>
            <a:endParaRPr lang="ko-KR" altLang="en-US" sz="1500" dirty="0"/>
          </a:p>
        </p:txBody>
      </p:sp>
      <p:sp>
        <p:nvSpPr>
          <p:cNvPr id="22" name="iconbg_315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3154" descr="Link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315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한 단계만 바꿔 끼운다</a:t>
            </a:r>
            <a:endParaRPr lang="ko-KR" altLang="en-US" sz="1800" dirty="0"/>
          </a:p>
        </p:txBody>
      </p:sp>
      <p:sp>
        <p:nvSpPr>
          <p:cNvPr id="25" name="text_315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pick:=vla — 계획·주행·정렬·놓기는 그대로, 집기만 정책</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174</a:t>
            </a:fld>
            <a:endParaRPr lang="ko-KR" alt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셀프 체크</a:t>
            </a:r>
            <a:endParaRPr lang="ko-KR" altLang="en-US" sz="3000" dirty="0"/>
          </a:p>
        </p:txBody>
      </p:sp>
      <p:sp>
        <p:nvSpPr>
          <p:cNvPr id="3" name="pill_3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text_315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3160"/>
          <p:cNvSpPr/>
          <p:nvPr/>
        </p:nvSpPr>
        <p:spPr>
          <a:xfrm>
            <a:off x="548640" y="1828800"/>
            <a:ext cx="11064240" cy="400050"/>
          </a:xfrm>
          <a:prstGeom prst="roundRect">
            <a:avLst>
              <a:gd name="adj" fmla="val 18286"/>
            </a:avLst>
          </a:prstGeom>
          <a:solidFill>
            <a:schemeClr val="bg2"/>
          </a:solidFill>
          <a:ln w="12700">
            <a:solidFill>
              <a:schemeClr val="bg2"/>
            </a:solidFill>
            <a:prstDash val="solid"/>
          </a:ln>
        </p:spPr>
      </p:sp>
      <p:sp>
        <p:nvSpPr>
          <p:cNvPr id="8" name="text_3161"/>
          <p:cNvSpPr txBox="1"/>
          <p:nvPr/>
        </p:nvSpPr>
        <p:spPr>
          <a:xfrm>
            <a:off x="731520" y="182880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3162"/>
          <p:cNvSpPr txBox="1"/>
          <p:nvPr/>
        </p:nvSpPr>
        <p:spPr>
          <a:xfrm>
            <a:off x="1463040" y="182880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전문가는 상자의 실제 위치를 알고 정책은 모른다. 그런데도 정책이 집을 수 있는 이유는?</a:t>
            </a:r>
            <a:endParaRPr lang="ko-KR" altLang="en-US" sz="1600" dirty="0"/>
          </a:p>
        </p:txBody>
      </p:sp>
      <p:sp>
        <p:nvSpPr>
          <p:cNvPr id="10" name="box_3163"/>
          <p:cNvSpPr/>
          <p:nvPr/>
        </p:nvSpPr>
        <p:spPr>
          <a:xfrm>
            <a:off x="548640" y="2366010"/>
            <a:ext cx="11064240" cy="400050"/>
          </a:xfrm>
          <a:prstGeom prst="roundRect">
            <a:avLst>
              <a:gd name="adj" fmla="val 18286"/>
            </a:avLst>
          </a:prstGeom>
          <a:solidFill>
            <a:schemeClr val="bg2"/>
          </a:solidFill>
          <a:ln w="12700">
            <a:solidFill>
              <a:schemeClr val="bg2"/>
            </a:solidFill>
            <a:prstDash val="solid"/>
          </a:ln>
        </p:spPr>
      </p:sp>
      <p:sp>
        <p:nvSpPr>
          <p:cNvPr id="11" name="text_3164"/>
          <p:cNvSpPr txBox="1"/>
          <p:nvPr/>
        </p:nvSpPr>
        <p:spPr>
          <a:xfrm>
            <a:off x="731520" y="236601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3165"/>
          <p:cNvSpPr txBox="1"/>
          <p:nvPr/>
        </p:nvSpPr>
        <p:spPr>
          <a:xfrm>
            <a:off x="1463040" y="236601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DART에서 정답을 잡음 섞인 목표가 아니라 전문가 목표로 기록하는 이유는?</a:t>
            </a:r>
            <a:endParaRPr lang="ko-KR" altLang="en-US" sz="1600" dirty="0"/>
          </a:p>
        </p:txBody>
      </p:sp>
      <p:sp>
        <p:nvSpPr>
          <p:cNvPr id="13" name="box_3166"/>
          <p:cNvSpPr/>
          <p:nvPr/>
        </p:nvSpPr>
        <p:spPr>
          <a:xfrm>
            <a:off x="548640" y="2903220"/>
            <a:ext cx="11064240" cy="400050"/>
          </a:xfrm>
          <a:prstGeom prst="roundRect">
            <a:avLst>
              <a:gd name="adj" fmla="val 18286"/>
            </a:avLst>
          </a:prstGeom>
          <a:solidFill>
            <a:schemeClr val="bg2"/>
          </a:solidFill>
          <a:ln w="12700">
            <a:solidFill>
              <a:schemeClr val="bg2"/>
            </a:solidFill>
            <a:prstDash val="solid"/>
          </a:ln>
        </p:spPr>
      </p:sp>
      <p:sp>
        <p:nvSpPr>
          <p:cNvPr id="14" name="text_3167"/>
          <p:cNvSpPr txBox="1"/>
          <p:nvPr/>
        </p:nvSpPr>
        <p:spPr>
          <a:xfrm>
            <a:off x="731520" y="290322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3168"/>
          <p:cNvSpPr txBox="1"/>
          <p:nvPr/>
        </p:nvSpPr>
        <p:spPr>
          <a:xfrm>
            <a:off x="1463040" y="290322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한 단계씩이 아니라 10단계 묶음으로 예측하는 장점은?</a:t>
            </a:r>
            <a:endParaRPr lang="ko-KR" altLang="en-US" sz="1600" dirty="0"/>
          </a:p>
        </p:txBody>
      </p:sp>
      <p:sp>
        <p:nvSpPr>
          <p:cNvPr id="16" name="box_3169"/>
          <p:cNvSpPr/>
          <p:nvPr/>
        </p:nvSpPr>
        <p:spPr>
          <a:xfrm>
            <a:off x="548640" y="3440430"/>
            <a:ext cx="11064240" cy="400050"/>
          </a:xfrm>
          <a:prstGeom prst="roundRect">
            <a:avLst>
              <a:gd name="adj" fmla="val 18286"/>
            </a:avLst>
          </a:prstGeom>
          <a:solidFill>
            <a:schemeClr val="bg2"/>
          </a:solidFill>
          <a:ln w="12700">
            <a:solidFill>
              <a:schemeClr val="bg2"/>
            </a:solidFill>
            <a:prstDash val="solid"/>
          </a:ln>
        </p:spPr>
      </p:sp>
      <p:sp>
        <p:nvSpPr>
          <p:cNvPr id="17" name="text_3170"/>
          <p:cNvSpPr txBox="1"/>
          <p:nvPr/>
        </p:nvSpPr>
        <p:spPr>
          <a:xfrm>
            <a:off x="731520" y="344043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3171"/>
          <p:cNvSpPr txBox="1"/>
          <p:nvPr/>
        </p:nvSpPr>
        <p:spPr>
          <a:xfrm>
            <a:off x="1463040" y="344043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VLA 모드에서도 마커 정렬을 그대로 쓰는 이유는?</a:t>
            </a:r>
            <a:endParaRPr lang="ko-KR" altLang="en-US" sz="1600" dirty="0"/>
          </a:p>
        </p:txBody>
      </p:sp>
      <p:sp>
        <p:nvSpPr>
          <p:cNvPr id="19" name="box_3172"/>
          <p:cNvSpPr/>
          <p:nvPr/>
        </p:nvSpPr>
        <p:spPr>
          <a:xfrm>
            <a:off x="548640" y="3977640"/>
            <a:ext cx="11064240" cy="400050"/>
          </a:xfrm>
          <a:prstGeom prst="roundRect">
            <a:avLst>
              <a:gd name="adj" fmla="val 18286"/>
            </a:avLst>
          </a:prstGeom>
          <a:solidFill>
            <a:schemeClr val="bg2"/>
          </a:solidFill>
          <a:ln w="12700">
            <a:solidFill>
              <a:schemeClr val="bg2"/>
            </a:solidFill>
            <a:prstDash val="solid"/>
          </a:ln>
        </p:spPr>
      </p:sp>
      <p:sp>
        <p:nvSpPr>
          <p:cNvPr id="20" name="text_3173"/>
          <p:cNvSpPr txBox="1"/>
          <p:nvPr/>
        </p:nvSpPr>
        <p:spPr>
          <a:xfrm>
            <a:off x="731520" y="397764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3174"/>
          <p:cNvSpPr txBox="1"/>
          <p:nvPr/>
        </p:nvSpPr>
        <p:spPr>
          <a:xfrm>
            <a:off x="1463040" y="397764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이 정책을 실제 로봇에 바로 쓰기 어려운 이유 두 가지는?</a:t>
            </a:r>
            <a:endParaRPr lang="ko-KR" altLang="en-US" sz="1600" dirty="0"/>
          </a:p>
        </p:txBody>
      </p:sp>
      <p:sp>
        <p:nvSpPr>
          <p:cNvPr id="22" name="box_3175"/>
          <p:cNvSpPr/>
          <p:nvPr/>
        </p:nvSpPr>
        <p:spPr>
          <a:xfrm>
            <a:off x="548640" y="4514850"/>
            <a:ext cx="11064240" cy="400050"/>
          </a:xfrm>
          <a:prstGeom prst="roundRect">
            <a:avLst>
              <a:gd name="adj" fmla="val 18286"/>
            </a:avLst>
          </a:prstGeom>
          <a:solidFill>
            <a:schemeClr val="bg2"/>
          </a:solidFill>
          <a:ln w="12700">
            <a:solidFill>
              <a:schemeClr val="bg2"/>
            </a:solidFill>
            <a:prstDash val="solid"/>
          </a:ln>
        </p:spPr>
      </p:sp>
      <p:sp>
        <p:nvSpPr>
          <p:cNvPr id="23" name="text_3176"/>
          <p:cNvSpPr txBox="1"/>
          <p:nvPr/>
        </p:nvSpPr>
        <p:spPr>
          <a:xfrm>
            <a:off x="731520" y="451485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3177"/>
          <p:cNvSpPr txBox="1"/>
          <p:nvPr/>
        </p:nvSpPr>
        <p:spPr>
          <a:xfrm>
            <a:off x="1463040" y="451485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공간 소프트맥스가 평균 풀링보다 집기에 유리한 이유는?</a:t>
            </a:r>
            <a:endParaRPr lang="ko-KR" altLang="en-US" sz="1600" dirty="0"/>
          </a:p>
        </p:txBody>
      </p:sp>
      <p:sp>
        <p:nvSpPr>
          <p:cNvPr id="25" name="box_3178"/>
          <p:cNvSpPr/>
          <p:nvPr/>
        </p:nvSpPr>
        <p:spPr>
          <a:xfrm>
            <a:off x="548640" y="5052060"/>
            <a:ext cx="11064240" cy="400050"/>
          </a:xfrm>
          <a:prstGeom prst="roundRect">
            <a:avLst>
              <a:gd name="adj" fmla="val 18286"/>
            </a:avLst>
          </a:prstGeom>
          <a:solidFill>
            <a:schemeClr val="bg2"/>
          </a:solidFill>
          <a:ln w="12700">
            <a:solidFill>
              <a:schemeClr val="bg2"/>
            </a:solidFill>
            <a:prstDash val="solid"/>
          </a:ln>
        </p:spPr>
      </p:sp>
      <p:sp>
        <p:nvSpPr>
          <p:cNvPr id="26" name="text_3179"/>
          <p:cNvSpPr txBox="1"/>
          <p:nvPr/>
        </p:nvSpPr>
        <p:spPr>
          <a:xfrm>
            <a:off x="731520" y="505206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Q7</a:t>
            </a:r>
            <a:endParaRPr lang="ko-KR" altLang="en-US" sz="1800" dirty="0"/>
          </a:p>
        </p:txBody>
      </p:sp>
      <p:sp>
        <p:nvSpPr>
          <p:cNvPr id="27" name="text_3180"/>
          <p:cNvSpPr txBox="1"/>
          <p:nvPr/>
        </p:nvSpPr>
        <p:spPr>
          <a:xfrm>
            <a:off x="1463040" y="505206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평가는 100/100인데 --ask-other에서는 0/20이었다. 정책은 무엇을 보고 상자를 고르나?</a:t>
            </a:r>
            <a:endParaRPr lang="ko-KR" altLang="en-US" sz="1600" dirty="0"/>
          </a:p>
        </p:txBody>
      </p:sp>
      <p:sp>
        <p:nvSpPr>
          <p:cNvPr id="28" name="box_3181"/>
          <p:cNvSpPr/>
          <p:nvPr/>
        </p:nvSpPr>
        <p:spPr>
          <a:xfrm>
            <a:off x="548640" y="5589270"/>
            <a:ext cx="11064240" cy="400050"/>
          </a:xfrm>
          <a:prstGeom prst="roundRect">
            <a:avLst>
              <a:gd name="adj" fmla="val 18286"/>
            </a:avLst>
          </a:prstGeom>
          <a:solidFill>
            <a:schemeClr val="bg2"/>
          </a:solidFill>
          <a:ln w="12700">
            <a:solidFill>
              <a:schemeClr val="bg2"/>
            </a:solidFill>
            <a:prstDash val="solid"/>
          </a:ln>
        </p:spPr>
      </p:sp>
      <p:sp>
        <p:nvSpPr>
          <p:cNvPr id="29" name="text_3182"/>
          <p:cNvSpPr txBox="1"/>
          <p:nvPr/>
        </p:nvSpPr>
        <p:spPr>
          <a:xfrm>
            <a:off x="731520" y="558927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Q8</a:t>
            </a:r>
            <a:endParaRPr lang="ko-KR" altLang="en-US" sz="1800" dirty="0"/>
          </a:p>
        </p:txBody>
      </p:sp>
      <p:sp>
        <p:nvSpPr>
          <p:cNvPr id="30" name="text_3183"/>
          <p:cNvSpPr txBox="1"/>
          <p:nvPr/>
        </p:nvSpPr>
        <p:spPr>
          <a:xfrm>
            <a:off x="1463040" y="558927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공급 테이블만 학습한 정책은 검증 오차가 낮았는데 작업대에서 0/20이었다. 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175</a:t>
            </a:fld>
            <a:endParaRPr lang="ko-KR" alt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a:p>
            <a:pPr eaLnBrk="0" marL="228600" indent="-228600">
              <a:spcAft>
                <a:spcPts val="800"/>
              </a:spcAft>
              <a:buSzPct val="100000"/>
              <a:buChar char="•"/>
            </a:pPr>
            <a:r>
              <a:rPr lang="ko-KR" altLang="en-US" sz="1600" dirty="0">
                <a:solidFill>
                  <a:schemeClr val="accent5"/>
                </a:solidFill>
              </a:rPr>
              <a:t>(심화) 카메라를 보고 집는 법을 배운 VLA 정책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176</a:t>
            </a:fld>
            <a:endParaRPr lang="ko-KR" alt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31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3186"/>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3187"/>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3188"/>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3189"/>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3190"/>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3191"/>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3192"/>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3193"/>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3194"/>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3195"/>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3196"/>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3197"/>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3198"/>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3199"/>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3200"/>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3201"/>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3202"/>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3203"/>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3204"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3205"/>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3206"/>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177</a:t>
            </a:fld>
            <a:endParaRPr lang="ko-KR" alt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32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20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210"/>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211"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21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321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321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215"/>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216"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21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321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321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220"/>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3221"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22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322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322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225"/>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3226"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22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322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178</a:t>
            </a:fld>
            <a:endParaRPr lang="ko-KR" alt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32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80" name="table_323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179</a:t>
            </a:fld>
            <a:endParaRPr lang="ko-KR" alt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32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234"/>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323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236"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23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3238"/>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3239"/>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3240"/>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241"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242"/>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3243"/>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3244"/>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3245"/>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3246"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3247"/>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3248"/>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3249"/>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3250"/>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3251"/>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180</a:t>
            </a:fld>
            <a:endParaRPr lang="ko-KR" alt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325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82" name="table_325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181</a:t>
            </a:fld>
            <a:endParaRPr lang="ko-KR" alt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32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57"/>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58"/>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1: 시뮬레이터 + RViz</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airlab_mujoco_bridge sim.launch.py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2: 지도 만들기 / 주행</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airlab_navigation slam.launch.py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airlab_navigation navigation.launch.py map:=$HOME/maps/my_room.yaml</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3: MoveIt / 전체 + Pick &amp; Place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airlab_moveit_config moveit.launch.py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pick_place_demo --ros-args -p use_sim_time:=true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 planner:=true dashboard:=true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airlab_dashboard dashboard_launcher   # 브라우저의 "연결"로 켜고 끄기</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심화 모듈 5: VLA (녹화 40분 → 학습 65분 → 평가 → 집기만 정책으로)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airlab_vla record --episodes 1200 &amp;&amp; ros2 run airlab_vla train &amp;&amp; ros2 run airlab_vla evaluate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 planner:=true dashboard:=true pick:=vla</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182</a:t>
            </a:fld>
            <a:endParaRPr lang="ko-KR" alt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32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61"/>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62"/>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~/airlab/workshop/setup/check_env.sh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183</a:t>
            </a:fld>
            <a:endParaRPr lang="ko-KR" alt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3263"/>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3264"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AIRLAB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184</Slides>
  <Notes>184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184</vt:i4>
      </vt:variant>
    </vt:vector>
  </HeadingPairs>
  <TitlesOfParts>
    <vt:vector size="1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AIRLAB 강습회: ROS 2 + MuJoCo로 만드는 주행형 양팔로봇</dc:title>
  <dc:subject>PptxGenJS Presentation</dc:subject>
  <dc:creator>AIRLAB</dc:creator>
  <cp:lastModifiedBy>AIRLAB</cp:lastModifiedBy>
  <cp:revision>1</cp:revision>
  <dcterms:created xsi:type="dcterms:W3CDTF">2026-10-28T00:45:53Z</dcterms:created>
  <dcterms:modified xsi:type="dcterms:W3CDTF">2026-10-28T00:45:53Z</dcterms:modified>
</cp:coreProperties>
</file>