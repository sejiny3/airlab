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Lst>
  <p:notesMasterIdLst>
    <p:notesMasterId r:id="rId1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a0f8798f-13d3-90ca-ca2c-99fc3943e251}">
          <p14:sldIdLst>
            <p14:sldId id="256"/>
            <p14:sldId id="257"/>
            <p14:sldId id="258"/>
            <p14:sldId id="259"/>
            <p14:sldId id="260"/>
            <p14:sldId id="261"/>
            <p14:sldId id="262"/>
            <p14:sldId id="263"/>
            <p14:sldId id="264"/>
            <p14:sldId id="265"/>
            <p14:sldId id="266"/>
            <p14:sldId id="267"/>
            <p14:sldId id="268"/>
          </p14:sldIdLst>
        </p14:section>
        <p14:section name="설치" id="{784c80ec-3f45-2ffa-1063-16ee81f598e5}">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모듈 1: MuJoCo + ROS 2 브리지" id="{ec6d8c15-3224-ad4e-1d9b-be6c82090d18}">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모듈 2: SLAM + Nav2" id="{84635b9b-5abf-37e7-0607-fb54a3344198}">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Lst>
        </p14:section>
        <p14:section name="모듈 3: MoveIt 2 + Pick &amp; Place" id="{cfe777b9-76b8-20fe-5332-18cbb0c616be}">
          <p14:sldIdLst>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모듈 4: LLM 작업 계획" id="{7b832b14-41cb-8128-a904-9b2349d1b010}">
          <p14:sldIdLst>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Lst>
        </p14:section>
        <p14:section name="마무리" id="{c52433d4-32ab-0618-5ed5-f08e43b6faac}">
          <p14:sldIdLst>
            <p14:sldId id="397"/>
            <p14:sldId id="398"/>
            <p14:sldId id="399"/>
            <p14:sldId id="400"/>
            <p14:sldId id="401"/>
            <p14:sldId id="402"/>
            <p14:sldId id="403"/>
            <p14:sldId id="404"/>
            <p14:sldId id="4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notesMaster" Target="notesMasters/notesMaster1.xml"/><Relationship Id="rId153" Type="http://schemas.openxmlformats.org/officeDocument/2006/relationships/presProps" Target="presProps.xml"/><Relationship Id="rId154" Type="http://schemas.openxmlformats.org/officeDocument/2006/relationships/viewProps" Target="viewProps.xml"/><Relationship Id="rId155" Type="http://schemas.openxmlformats.org/officeDocument/2006/relationships/theme" Target="theme/theme1.xml"/><Relationship Id="rId1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강습회 전에 집에서 따라 하는 설치 가이드(00_install.md)를 슬라이드로 옮긴 것입니다. 사전 공지와 함께 이 장을 나눠 주고, 1일차 08:30 헬프데스크에서도 이 순서로 도와줍니다. WSL이 아예 없는 노트북에서 시작한다고 가정합니다.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흐름입니다. 시간이 가장 오래 걸리는 것은 4단계의 ROS 2 패키지 다운로드(약 4 GB)라서, 강의실 와이파이로 40명이 동시에 하면 몇 시간이 걸립니다. 그래서 집에서 끝내고 오게 합니다. 명령 앞의 PS&gt;와 $를 구분하는 법을 꼭 짚어 주세요. 학생들이 가장 많이 헷갈리는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WSL2는 Windows 안에서 진짜 리눅스 커널을 돌립니다. 가상머신처럼 화면을 따로 띄우지 않고, 리눅스 프로그램의 창(MuJoCo, RViz)이 WSLg를 통해 Windows 창처럼 뜹니다. 두 세계는 파일(/mnt/c)과 네트워크(localhost)로 연결되어 있어서, Ubuntu에서 켠 대시보드를 Windows 브라우저로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 설치가 실패하는 원인 1위는 밀린 Windows 업데이트, 2위는 꺼진 가상화입니다. 세 가지를 먼저 확인하게 하세요. 코드를 ZIP으로 받았다면 check_windows.ps1로 한 번에 점검할 수 있습니다(PowerShell 실행 정책 때문에 -ExecutionPolicy Bypass가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 관리자에 "가상화: 사용 안 함"이 나오는 학생만 합니다. BIOS 화면은 제조사마다 다르니 메뉴 이름(Virtualization, VT-x, SVM)으로 찾으라고 하세요. 다른 설정은 건드리지 않게 주의시킵니다.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 한 줄이 WSL 기능, 리눅스 커널, Ubuntu 22.04를 모두 설치합니다. 반드시 관리자 권한 PowerShell에서 실행합니다. 재부팅 후 Ubuntu 창이 자동으로 열리며 설치가 이어지는데, 이때 몇 분 걸리니 창을 닫지 말라고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한 번만 나오는 화면입니다. 비밀번호를 칠 때 화면에 아무것도 안 나와서 키보드가 고장 난 줄 아는 학생이 많습니다. 정상이라고 미리 말해 주세요. 이 비밀번호는 sudo(관리자 권한)에 계속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VERSION이 2인지 꼭 확인합니다. WSL1은 리눅스 커널이 없어 ROS가 제대로 돌지 않습니다. 8 GB 노트북은 WSL이 4 GB만 쓰게 되어 모듈 3~4에서 멈출 수 있으니 .wslconfig로 6 GB로 올립니다. 메모장이 .txt를 붙이지 않게 "파일 형식: 모든 파일"로 저장하라고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WSLg가 제대로 동작하는지 가장 간단하게 확인하는 방법입니다. 여기서 창이 뜨면 MuJoCo와 RViz도 뜹니다. 창이 검거나 깨지면 대부분 그래픽 드라이버 문제입니다. 체크포인트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 위치가 중요합니다. Windows 드라이브(/mnt/c)에 두면 리눅스와 Windows 파일 시스템을 오가느라 빌드와 실행이 몇 배 느려집니다. 교재의 모든 명령이 ~/unbolt를 쓰므로 이름도 그대로 맞추게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ROS 2부터 빌드, 환경 설정까지 한 번에 합니다. 처음에 sudo 비밀번호를 한 번 묻고, 그다음은 기다리면 됩니다. 새로 설치한 Ubuntu 22.04에서 빠른 유선망 기준 약 10분(apt 패키지 1,300여 개)이었습니다. 끊기면 같은 명령을 다시 치면 이어서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스크립트가 실제로 하는 일을 줄여서 보여 줍니다. ROS 2 공식 문서의 Ubuntu 설치 방법과 같습니다. 직접 따라 치고 싶은 학생이나 스크립트가 실패한 학생은 00_install.md 4장의 "실제로 실행하는 명령"을 그대로 따라 하면 됩니다. 마지막 talker 예제로 ROS 2가 동작하는지 확인할 수 있습니다(Ctrl+C로 종료).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 고정은 "왜 최신으로 안 깔아요?"라는 질문에 대한 답입니다. 특히 numpy 2와 conda가 실제 강습회에서 자주 문제를 일으킵니다. conda가 있는 학생은 auto_activate_base를 끄게 하면 이후 문제가 거의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not found"의 원인을 이해시키는 장입니다. ros2 명령은 source로 불러온 곳의 패키지만 압니다. ROS 기본 패키지(/opt/ros/humble)와 우리가 빌드한 패키지(ros2_ws/install)를 둘 다 불러와야 합니다. ~/.bashrc는 새 터미널이 열릴 때마다 자동으로 실행되므로, 여기에 넣어 두면 매번 칠 필요가 없습니다. 실제 파일에는 ~/unbolt 대신 /home/&lt;이름&gt;/unbolt 같은 전체 경로가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스크립트를 썼다면 확인만 하면 됩니다. 코드를 ~/unbolt가 아닌 곳에 두었거나 스크립트 없이 설치했다면 아래처럼 직접 넣습니다. REPO에 실제 코드 위치를 넣으세요. 가장 흔한 실수는 이미 열려 있던 터미널에서 바로 실행하는 것입니다. .bashrc는 터미널이 열릴 때만 읽으므로 source ~/.bashrc를 하거나 새 터미널을 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한 번 빌드해 두었으므로 평소에는 다시 빌드할 일이 거의 없습니다. --symlink-install 덕분에 기존 파이썬·launch·설정 파일을 고치면 바로 반영됩니다. 새 파일이나 새 실행 이름(setup.py의 entry point)을 추가했을 때만 다시 빌드하고 source합니다.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터미널에서 실행합니다(또는 source ~/.bashrc 후). 수업 시작 전에도 모두 이 명령을 실행하게 합니다. API 키 없음 경고는 정상입니다. python3가 conda를 가리키면 실패로 나오는데, conda deactivate로 해결됩니다. ~/.bashrc 설정 경고가 나오면 환경 설정 장을 보게 하세요.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설치가 끝났는지 마지막으로 확인합니다. 터미널 두 개가 필요합니다. teleop은 그 터미널 창을 클릭해 선택한 상태에서 키를 눌러야 합니다. 로봇이 움직이고 RViz의 LiDAR 점이 따라 바뀌면 설치가 모두 끝난 것입니다. 두 터미널 모두 Ctrl+C로 끕니다. 체크포인트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4에서 쓰는 웹 대시보드를 설치 확인용으로 미리 열어 봅니다. 런처를 켜 두면 ROS가 꺼져 있어도 페이지가 뜨고, 연결 버튼으로 전체 시스템을 켭니다. 처음 켤 때는 Nav2와 MoveIt이 함께 떠서 25~60초 걸립니다. 런처 터미널은 끄지 않고 둡니다. API 키가 없으면 LLM 옵션을 대역(scripted)으로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강사가 키를 나눠 주는 방식이면 4번만 합니다. 키는 setup_api_key.sh로 넣기 때문에 화면이나 셸 기록에 남지 않습니다. 키가 없어도 모듈 4의 로봇 동작은 llm:=scripted로 똑같이 실습할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헬프데스크에서 실제로 자주 나오는 순서입니다. 자세한 것은 troubleshooting.md의 "Windows / WSL 설치", "설치 스크립트", "실행 공통" 표에 있습니다.^M(또는 $'\r') 오류는 ZIP을 Windows 도구로 풀었거나 git의 autocrlf 때문에 생깁니다. troubleshooting.md에 sed로 고치는 방법도 있습니다. 표의 순서는 설치 단계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장을 한 장으로 정리합니다. 다섯 줄이 모두 되면 1일차를 시작할 준비가 끝난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PS&gt;는 Windows PowerShell, $는 Ubuntu 터미널. 앞의 PS&gt;와 $는 입력하지 않는다.
2. Windows 드라이브의 파일은 리눅스에서 접근이 느려 빌드와 실행이 몇 배 느려진다.
3. ~/.bashrc에 워크스페이스 source가 있는지(# &gt;&gt;&gt; unbolt &gt;&gt;&gt; 블록). 블록을 넣기 전에 연 터미널이면 source ~/.bashrc.
4. 새 파일을 추가했을 때. --symlink-install이라 기존 파일 수정은 바로 반영된다.
5. .wslconfig에 memory=6GB, swap=8GB를 쓰고 wsl --shutdown 후 다시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models/unbolt_robot.xml의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 번호를 짚으며 공급 테이블(빨간 상자가 있는 곳)과 작업대(상자를 옮길 곳)를 먼저 익히게 합니다.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문(y −0.4~0.8 m)을 지나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−1.0). 원래 경로가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공급 테이블(남쪽,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기록입니다(새로 설치한 환경, 총 64초). 실제 Claude도 거의 같은 순서를 고릅니다.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물건(파란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 10 시스템 종료(두 번 눌러 확인하면 launch의 모든 프로그램을 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런처(dashboard_launcher)를 한 번 켜 두면 ROS가 꺼져 있어도 페이지가 뜨고, "연결"로 bringup 전체를 켭니다. 런처는 페이지를 보여 주고 bringup을 대신 실행해 주는 작은 프로그램입니다. 끌 때는 시스템 종료, 다시 켤 때는 다시 연결. 강사 시연 때 터미널을 띄울 필요가 없어 편합니다. 강사 노트북 기준으로 연결 후 13초에 rosbridge 연결, 25초에 플래너 준비가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UNBOLT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4.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4.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4.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image" Target="../media/image-85-3.png"/><Relationship Id="rId4" Type="http://schemas.openxmlformats.org/officeDocument/2006/relationships/image" Target="../media/image-85-4.png"/><Relationship Id="rId5" Type="http://schemas.openxmlformats.org/officeDocument/2006/relationships/image" Target="../media/image-85-5.png"/><Relationship Id="rId6" Type="http://schemas.openxmlformats.org/officeDocument/2006/relationships/slideLayout" Target="../slideLayouts/slideLayout4.xml"/><Relationship Id="rId7"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slideLayout" Target="../slideLayouts/slideLayout4.xml"/><Relationship Id="rId5"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4.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slideLayout" Target="../slideLayouts/slideLayout4.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4.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4.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4.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slideLayout" Target="../slideLayouts/slideLayout4.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4.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image" Target="../media/image-97-3.png"/><Relationship Id="rId4" Type="http://schemas.openxmlformats.org/officeDocument/2006/relationships/image" Target="../media/image-97-4.png"/><Relationship Id="rId5" Type="http://schemas.openxmlformats.org/officeDocument/2006/relationships/slideLayout" Target="../slideLayouts/slideLayout4.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4.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image" Target="../media/image-99-3.png"/><Relationship Id="rId4" Type="http://schemas.openxmlformats.org/officeDocument/2006/relationships/image" Target="../media/image-99-4.png"/><Relationship Id="rId5" Type="http://schemas.openxmlformats.org/officeDocument/2006/relationships/slideLayout" Target="../slideLayouts/slideLayout4.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4.xml"/><Relationship Id="rId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slideLayout" Target="../slideLayouts/slideLayout4.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4.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4.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4.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slideLayout" Target="../slideLayouts/slideLayout4.xml"/><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slideLayout" Target="../slideLayouts/slideLayout4.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4.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4.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image" Target="../media/image-110-2.png"/><Relationship Id="rId3" Type="http://schemas.openxmlformats.org/officeDocument/2006/relationships/image" Target="../media/image-110-3.png"/><Relationship Id="rId4" Type="http://schemas.openxmlformats.org/officeDocument/2006/relationships/image" Target="../media/image-110-4.png"/><Relationship Id="rId5" Type="http://schemas.openxmlformats.org/officeDocument/2006/relationships/image" Target="../media/image-110-5.png"/><Relationship Id="rId6" Type="http://schemas.openxmlformats.org/officeDocument/2006/relationships/slideLayout" Target="../slideLayouts/slideLayout4.xml"/><Relationship Id="rId7"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image" Target="../media/image-112-2.png"/><Relationship Id="rId3" Type="http://schemas.openxmlformats.org/officeDocument/2006/relationships/image" Target="../media/image-112-3.png"/><Relationship Id="rId4" Type="http://schemas.openxmlformats.org/officeDocument/2006/relationships/slideLayout" Target="../slideLayouts/slideLayout4.xml"/><Relationship Id="rId5"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image" Target="../media/image-115-2.png"/><Relationship Id="rId3" Type="http://schemas.openxmlformats.org/officeDocument/2006/relationships/image" Target="../media/image-115-3.png"/><Relationship Id="rId4" Type="http://schemas.openxmlformats.org/officeDocument/2006/relationships/slideLayout" Target="../slideLayouts/slideLayout4.xml"/><Relationship Id="rId5"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slideLayout" Target="../slideLayouts/slideLayout4.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image" Target="../media/image-121-2.png"/><Relationship Id="rId3" Type="http://schemas.openxmlformats.org/officeDocument/2006/relationships/slideLayout" Target="../slideLayouts/slideLayout4.xm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image" Target="../media/image-124-2.png"/><Relationship Id="rId3" Type="http://schemas.openxmlformats.org/officeDocument/2006/relationships/slideLayout" Target="../slideLayouts/slideLayout4.xml"/><Relationship Id="rId4"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image" Target="../media/image-125-2.png"/><Relationship Id="rId3" Type="http://schemas.openxmlformats.org/officeDocument/2006/relationships/image" Target="../media/image-125-3.png"/><Relationship Id="rId4" Type="http://schemas.openxmlformats.org/officeDocument/2006/relationships/slideLayout" Target="../slideLayouts/slideLayout4.xml"/><Relationship Id="rId5"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png"/><Relationship Id="rId2" Type="http://schemas.openxmlformats.org/officeDocument/2006/relationships/image" Target="../media/image-126-2.png"/><Relationship Id="rId3" Type="http://schemas.openxmlformats.org/officeDocument/2006/relationships/slideLayout" Target="../slideLayouts/slideLayout4.xml"/><Relationship Id="rId4"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slideLayout" Target="../slideLayouts/slideLayout4.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slideLayout" Target="../slideLayouts/slideLayout4.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slideLayout" Target="../slideLayouts/slideLayout4.xml"/><Relationship Id="rId4"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image" Target="../media/image-130-2.png"/><Relationship Id="rId3" Type="http://schemas.openxmlformats.org/officeDocument/2006/relationships/slideLayout" Target="../slideLayouts/slideLayout4.xml"/><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image" Target="../media/image-131-2.png"/><Relationship Id="rId3" Type="http://schemas.openxmlformats.org/officeDocument/2006/relationships/slideLayout" Target="../slideLayouts/slideLayout4.xml"/><Relationship Id="rId4"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4.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slideLayout" Target="../slideLayouts/slideLayout4.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slideLayout" Target="../slideLayouts/slideLayout4.xml"/><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4.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image" Target="../media/image-136-2.png"/><Relationship Id="rId3" Type="http://schemas.openxmlformats.org/officeDocument/2006/relationships/slideLayout" Target="../slideLayouts/slideLayout4.xml"/><Relationship Id="rId4"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4.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image" Target="../media/image-138-3.png"/><Relationship Id="rId4" Type="http://schemas.openxmlformats.org/officeDocument/2006/relationships/image" Target="../media/image-138-4.png"/><Relationship Id="rId5" Type="http://schemas.openxmlformats.org/officeDocument/2006/relationships/slideLayout" Target="../slideLayouts/slideLayout4.xml"/><Relationship Id="rId6"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png"/><Relationship Id="rId2" Type="http://schemas.openxmlformats.org/officeDocument/2006/relationships/image" Target="../media/image-139-2.png"/><Relationship Id="rId3" Type="http://schemas.openxmlformats.org/officeDocument/2006/relationships/image" Target="../media/image-139-3.png"/><Relationship Id="rId4" Type="http://schemas.openxmlformats.org/officeDocument/2006/relationships/image" Target="../media/image-139-4.png"/><Relationship Id="rId5" Type="http://schemas.openxmlformats.org/officeDocument/2006/relationships/image" Target="../media/image-139-5.png"/><Relationship Id="rId6" Type="http://schemas.openxmlformats.org/officeDocument/2006/relationships/slideLayout" Target="../slideLayouts/slideLayout4.xml"/><Relationship Id="rId7"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image" Target="../media/image-141-2.png"/><Relationship Id="rId3" Type="http://schemas.openxmlformats.org/officeDocument/2006/relationships/image" Target="../media/image-141-3.png"/><Relationship Id="rId4" Type="http://schemas.openxmlformats.org/officeDocument/2006/relationships/image" Target="../media/image-141-4.png"/><Relationship Id="rId5" Type="http://schemas.openxmlformats.org/officeDocument/2006/relationships/slideLayout" Target="../slideLayouts/slideLayout4.xml"/><Relationship Id="rId6"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slideLayout" Target="../slideLayouts/slideLayout4.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image" Target="../media/image-144-2.png"/><Relationship Id="rId3" Type="http://schemas.openxmlformats.org/officeDocument/2006/relationships/image" Target="../media/image-144-3.png"/><Relationship Id="rId4" Type="http://schemas.openxmlformats.org/officeDocument/2006/relationships/image" Target="../media/image-144-4.png"/><Relationship Id="rId5" Type="http://schemas.openxmlformats.org/officeDocument/2006/relationships/slideLayout" Target="../slideLayouts/slideLayout4.xml"/><Relationship Id="rId6"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png"/><Relationship Id="rId2" Type="http://schemas.openxmlformats.org/officeDocument/2006/relationships/image" Target="../media/image-146-2.png"/><Relationship Id="rId3" Type="http://schemas.openxmlformats.org/officeDocument/2006/relationships/image" Target="../media/image-146-3.png"/><Relationship Id="rId4" Type="http://schemas.openxmlformats.org/officeDocument/2006/relationships/slideLayout" Target="../slideLayouts/slideLayout4.xml"/><Relationship Id="rId5"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slideLayout" Target="../slideLayouts/slideLayout2.xml"/><Relationship Id="rId3" Type="http://schemas.openxmlformats.org/officeDocument/2006/relationships/notesSlide" Target="../notesSlides/notesSlide1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765192"/>
            <a:ext cx="5212080" cy="3967696"/>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(다음 "설치" 장)</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UNBOLT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사전 준비 · 집에서 1~2시간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WSL · ROS 2 설치와</a:t>
            </a:r>
            <a:endParaRPr lang="ko-KR" altLang="en-US" sz="4000" dirty="0"/>
          </a:p>
          <a:p>
            <a:pPr eaLnBrk="0" algn="l" indent="0" marL="0">
              <a:buNone/>
            </a:pPr>
            <a:r>
              <a:rPr lang="ko-KR" altLang="en-US" sz="4000" b="1" dirty="0">
                <a:solidFill>
                  <a:schemeClr val="bg1"/>
                </a:solidFill>
              </a:rPr>
              <a:t>실습 환경 설정</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WSL2와 Ubuntu 22.04를 설치하고 리눅스 GUI 창을 띄운다</a:t>
            </a:r>
            <a:endParaRPr lang="ko-KR" altLang="en-US" sz="1600" dirty="0"/>
          </a:p>
          <a:p>
            <a:pPr eaLnBrk="0" marL="228600" indent="-228600">
              <a:spcAft>
                <a:spcPts val="800"/>
              </a:spcAft>
              <a:buSzPct val="100000"/>
              <a:buChar char="•"/>
            </a:pPr>
            <a:r>
              <a:rPr lang="ko-KR" altLang="en-US" sz="1600" dirty="0">
                <a:solidFill>
                  <a:schemeClr val="accent5"/>
                </a:solidFill>
              </a:rPr>
              <a:t>ROS 2 Humble과 실습 패키지를 설치 스크립트 한 줄로 설치한다</a:t>
            </a:r>
            <a:endParaRPr lang="ko-KR" altLang="en-US" sz="1600" dirty="0"/>
          </a:p>
          <a:p>
            <a:pPr eaLnBrk="0" marL="228600" indent="-228600">
              <a:spcAft>
                <a:spcPts val="800"/>
              </a:spcAft>
              <a:buSzPct val="100000"/>
              <a:buChar char="•"/>
            </a:pPr>
            <a:r>
              <a:rPr lang="ko-KR" altLang="en-US" sz="1600" dirty="0">
                <a:solidFill>
                  <a:schemeClr val="accent5"/>
                </a:solidFill>
              </a:rPr>
              <a:t>환경 설정(source, ~/.bashrc)이 무엇인지 알고 직접 확인·수정한다</a:t>
            </a:r>
            <a:endParaRPr lang="ko-KR" altLang="en-US" sz="1600" dirty="0"/>
          </a:p>
          <a:p>
            <a:pPr eaLnBrk="0" marL="228600" indent="-228600">
              <a:spcAft>
                <a:spcPts val="800"/>
              </a:spcAft>
              <a:buSzPct val="100000"/>
              <a:buChar char="•"/>
            </a:pPr>
            <a:r>
              <a:rPr lang="ko-KR" altLang="en-US" sz="1600" dirty="0">
                <a:solidFill>
                  <a:schemeClr val="accent5"/>
                </a:solidFill>
              </a:rPr>
              <a:t>점검 스크립트로 "0 실패"를 확인하고 로봇과 대시보드를 처음 켜 본다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설치는 6단계, 집에서 1~2시간</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258"/>
          <p:cNvSpPr/>
          <p:nvPr/>
        </p:nvSpPr>
        <p:spPr>
          <a:xfrm>
            <a:off x="960120" y="1371600"/>
            <a:ext cx="822960" cy="822960"/>
          </a:xfrm>
          <a:prstGeom prst="ellipse">
            <a:avLst/>
          </a:prstGeom>
          <a:solidFill>
            <a:schemeClr val="accent5"/>
          </a:solidFill>
          <a:ln w="12700">
            <a:solidFill>
              <a:schemeClr val="accent5"/>
            </a:solidFill>
            <a:prstDash val="solid"/>
          </a:ln>
        </p:spPr>
      </p:sp>
      <p:pic>
        <p:nvPicPr>
          <p:cNvPr id="7" name="icon_259" descr="Window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260"/>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 Windows 점검</a:t>
            </a:r>
            <a:endParaRPr lang="ko-KR" altLang="en-US" sz="1500" dirty="0"/>
          </a:p>
        </p:txBody>
      </p:sp>
      <p:sp>
        <p:nvSpPr>
          <p:cNvPr id="9" name="text_261"/>
          <p:cNvSpPr txBox="1"/>
          <p:nvPr/>
        </p:nvSpPr>
        <p:spPr>
          <a:xfrm>
            <a:off x="5486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10분</a:t>
            </a:r>
            <a:endParaRPr lang="ko-KR" altLang="en-US" sz="1300" dirty="0"/>
          </a:p>
        </p:txBody>
      </p:sp>
      <p:sp>
        <p:nvSpPr>
          <p:cNvPr id="10" name="arrow_262"/>
          <p:cNvSpPr/>
          <p:nvPr/>
        </p:nvSpPr>
        <p:spPr>
          <a:xfrm>
            <a:off x="1874520" y="1783080"/>
            <a:ext cx="868680" cy="0"/>
          </a:xfrm>
          <a:prstGeom prst="line">
            <a:avLst/>
          </a:prstGeom>
          <a:noFill/>
          <a:ln w="25400">
            <a:solidFill>
              <a:schemeClr val="tx2"/>
            </a:solidFill>
            <a:prstDash val="solid"/>
            <a:tailEnd type="triangle"/>
          </a:ln>
        </p:spPr>
      </p:sp>
      <p:sp>
        <p:nvSpPr>
          <p:cNvPr id="11" name="iconbg_263"/>
          <p:cNvSpPr/>
          <p:nvPr/>
        </p:nvSpPr>
        <p:spPr>
          <a:xfrm>
            <a:off x="2834640" y="1371600"/>
            <a:ext cx="822960" cy="822960"/>
          </a:xfrm>
          <a:prstGeom prst="ellipse">
            <a:avLst/>
          </a:prstGeom>
          <a:solidFill>
            <a:schemeClr val="accent3"/>
          </a:solidFill>
          <a:ln w="12700">
            <a:solidFill>
              <a:schemeClr val="accent3"/>
            </a:solidFill>
            <a:prstDash val="solid"/>
          </a:ln>
        </p:spPr>
      </p:sp>
      <p:pic>
        <p:nvPicPr>
          <p:cNvPr id="12" name="icon_264" descr="Linux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265"/>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2. WSL + Ubuntu</a:t>
            </a:r>
            <a:endParaRPr lang="ko-KR" altLang="en-US" sz="1500" dirty="0"/>
          </a:p>
        </p:txBody>
      </p:sp>
      <p:sp>
        <p:nvSpPr>
          <p:cNvPr id="14" name="text_266"/>
          <p:cNvSpPr txBox="1"/>
          <p:nvPr/>
        </p:nvSpPr>
        <p:spPr>
          <a:xfrm>
            <a:off x="242316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20분 · 재부팅</a:t>
            </a:r>
            <a:endParaRPr lang="ko-KR" altLang="en-US" sz="1300" dirty="0"/>
          </a:p>
        </p:txBody>
      </p:sp>
      <p:sp>
        <p:nvSpPr>
          <p:cNvPr id="15" name="arrow_267"/>
          <p:cNvSpPr/>
          <p:nvPr/>
        </p:nvSpPr>
        <p:spPr>
          <a:xfrm>
            <a:off x="3749040" y="1783080"/>
            <a:ext cx="868680" cy="0"/>
          </a:xfrm>
          <a:prstGeom prst="line">
            <a:avLst/>
          </a:prstGeom>
          <a:noFill/>
          <a:ln w="25400">
            <a:solidFill>
              <a:schemeClr val="tx2"/>
            </a:solidFill>
            <a:prstDash val="solid"/>
            <a:tailEnd type="triangle"/>
          </a:ln>
        </p:spPr>
      </p:sp>
      <p:sp>
        <p:nvSpPr>
          <p:cNvPr id="16" name="iconbg_268"/>
          <p:cNvSpPr/>
          <p:nvPr/>
        </p:nvSpPr>
        <p:spPr>
          <a:xfrm>
            <a:off x="4709160" y="1371600"/>
            <a:ext cx="822960" cy="822960"/>
          </a:xfrm>
          <a:prstGeom prst="ellipse">
            <a:avLst/>
          </a:prstGeom>
          <a:solidFill>
            <a:schemeClr val="accent2"/>
          </a:solidFill>
          <a:ln w="12700">
            <a:solidFill>
              <a:schemeClr val="accent2"/>
            </a:solidFill>
            <a:prstDash val="solid"/>
          </a:ln>
        </p:spPr>
      </p:sp>
      <p:pic>
        <p:nvPicPr>
          <p:cNvPr id="17" name="icon_269" descr="Download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70"/>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3. 실습 코드 받기</a:t>
            </a:r>
            <a:endParaRPr lang="ko-KR" altLang="en-US" sz="1500" dirty="0"/>
          </a:p>
        </p:txBody>
      </p:sp>
      <p:sp>
        <p:nvSpPr>
          <p:cNvPr id="19" name="text_271"/>
          <p:cNvSpPr txBox="1"/>
          <p:nvPr/>
        </p:nvSpPr>
        <p:spPr>
          <a:xfrm>
            <a:off x="429768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20" name="arrow_272"/>
          <p:cNvSpPr/>
          <p:nvPr/>
        </p:nvSpPr>
        <p:spPr>
          <a:xfrm>
            <a:off x="5623560" y="1783080"/>
            <a:ext cx="868680" cy="0"/>
          </a:xfrm>
          <a:prstGeom prst="line">
            <a:avLst/>
          </a:prstGeom>
          <a:noFill/>
          <a:ln w="25400">
            <a:solidFill>
              <a:schemeClr val="tx2"/>
            </a:solidFill>
            <a:prstDash val="solid"/>
            <a:tailEnd type="triangle"/>
          </a:ln>
        </p:spPr>
      </p:sp>
      <p:sp>
        <p:nvSpPr>
          <p:cNvPr id="21" name="iconbg_273"/>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4" descr="Tools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75"/>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4. 설치 스크립트</a:t>
            </a:r>
            <a:endParaRPr lang="ko-KR" altLang="en-US" sz="1500" dirty="0"/>
          </a:p>
        </p:txBody>
      </p:sp>
      <p:sp>
        <p:nvSpPr>
          <p:cNvPr id="24" name="text_276"/>
          <p:cNvSpPr txBox="1"/>
          <p:nvPr/>
        </p:nvSpPr>
        <p:spPr>
          <a:xfrm>
            <a:off x="617220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10~60분</a:t>
            </a:r>
            <a:endParaRPr lang="ko-KR" altLang="en-US" sz="1300" dirty="0"/>
          </a:p>
        </p:txBody>
      </p:sp>
      <p:sp>
        <p:nvSpPr>
          <p:cNvPr id="25" name="arrow_277"/>
          <p:cNvSpPr/>
          <p:nvPr/>
        </p:nvSpPr>
        <p:spPr>
          <a:xfrm>
            <a:off x="7498080" y="1783080"/>
            <a:ext cx="868680" cy="0"/>
          </a:xfrm>
          <a:prstGeom prst="line">
            <a:avLst/>
          </a:prstGeom>
          <a:noFill/>
          <a:ln w="25400">
            <a:solidFill>
              <a:schemeClr val="tx2"/>
            </a:solidFill>
            <a:prstDash val="solid"/>
            <a:tailEnd type="triangle"/>
          </a:ln>
        </p:spPr>
      </p:sp>
      <p:sp>
        <p:nvSpPr>
          <p:cNvPr id="26" name="iconbg_278"/>
          <p:cNvSpPr/>
          <p:nvPr/>
        </p:nvSpPr>
        <p:spPr>
          <a:xfrm>
            <a:off x="8458200" y="1371600"/>
            <a:ext cx="822960" cy="822960"/>
          </a:xfrm>
          <a:prstGeom prst="ellipse">
            <a:avLst/>
          </a:prstGeom>
          <a:solidFill>
            <a:schemeClr val="tx1"/>
          </a:solidFill>
          <a:ln w="12700">
            <a:solidFill>
              <a:schemeClr val="tx1"/>
            </a:solidFill>
            <a:prstDash val="solid"/>
          </a:ln>
        </p:spPr>
      </p:sp>
      <p:pic>
        <p:nvPicPr>
          <p:cNvPr id="27" name="icon_279" descr="ClipboardCheck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280"/>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5. 환경 설정·점검</a:t>
            </a:r>
            <a:endParaRPr lang="ko-KR" altLang="en-US" sz="1500" dirty="0"/>
          </a:p>
        </p:txBody>
      </p:sp>
      <p:sp>
        <p:nvSpPr>
          <p:cNvPr id="29" name="text_281"/>
          <p:cNvSpPr txBox="1"/>
          <p:nvPr/>
        </p:nvSpPr>
        <p:spPr>
          <a:xfrm>
            <a:off x="804672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0" name="arrow_282"/>
          <p:cNvSpPr/>
          <p:nvPr/>
        </p:nvSpPr>
        <p:spPr>
          <a:xfrm>
            <a:off x="9372600" y="1783080"/>
            <a:ext cx="868680" cy="0"/>
          </a:xfrm>
          <a:prstGeom prst="line">
            <a:avLst/>
          </a:prstGeom>
          <a:noFill/>
          <a:ln w="25400">
            <a:solidFill>
              <a:schemeClr val="tx2"/>
            </a:solidFill>
            <a:prstDash val="solid"/>
            <a:tailEnd type="triangle"/>
          </a:ln>
        </p:spPr>
      </p:sp>
      <p:sp>
        <p:nvSpPr>
          <p:cNvPr id="31" name="iconbg_283"/>
          <p:cNvSpPr/>
          <p:nvPr/>
        </p:nvSpPr>
        <p:spPr>
          <a:xfrm>
            <a:off x="10332720" y="1371600"/>
            <a:ext cx="822960" cy="822960"/>
          </a:xfrm>
          <a:prstGeom prst="ellipse">
            <a:avLst/>
          </a:prstGeom>
          <a:solidFill>
            <a:schemeClr val="accent2"/>
          </a:solidFill>
          <a:ln w="12700">
            <a:solidFill>
              <a:schemeClr val="accent2"/>
            </a:solidFill>
            <a:prstDash val="solid"/>
          </a:ln>
        </p:spPr>
      </p:sp>
      <p:pic>
        <p:nvPicPr>
          <p:cNvPr id="32" name="icon_284" descr="Play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285"/>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6. 첫 실행</a:t>
            </a:r>
            <a:endParaRPr lang="ko-KR" altLang="en-US" sz="1500" dirty="0"/>
          </a:p>
        </p:txBody>
      </p:sp>
      <p:sp>
        <p:nvSpPr>
          <p:cNvPr id="34" name="text_286"/>
          <p:cNvSpPr txBox="1"/>
          <p:nvPr/>
        </p:nvSpPr>
        <p:spPr>
          <a:xfrm>
            <a:off x="99212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5" name="text_287"/>
          <p:cNvSpPr txBox="1"/>
          <p:nvPr/>
        </p:nvSpPr>
        <p:spPr>
          <a:xfrm>
            <a:off x="548640" y="3291840"/>
            <a:ext cx="1106424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명령 앞의 표시로 어디에서 칠지 구분합니다</a:t>
            </a:r>
            <a:endParaRPr lang="ko-KR" altLang="en-US" sz="1700" dirty="0"/>
          </a:p>
        </p:txBody>
      </p:sp>
      <p:sp>
        <p:nvSpPr>
          <p:cNvPr id="36" name="text_288"/>
          <p:cNvSpPr txBox="1"/>
          <p:nvPr/>
        </p:nvSpPr>
        <p:spPr>
          <a:xfrm>
            <a:off x="54864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3"/>
                </a:solidFill>
              </a:rPr>
              <a:t>Windows PowerShell</a:t>
            </a:r>
            <a:endParaRPr lang="ko-KR" altLang="en-US" sz="1500" dirty="0"/>
          </a:p>
        </p:txBody>
      </p:sp>
      <p:sp>
        <p:nvSpPr>
          <p:cNvPr id="37" name="box_289"/>
          <p:cNvSpPr/>
          <p:nvPr/>
        </p:nvSpPr>
        <p:spPr>
          <a:xfrm>
            <a:off x="548640" y="4114800"/>
            <a:ext cx="5440680" cy="548640"/>
          </a:xfrm>
          <a:prstGeom prst="roundRect">
            <a:avLst>
              <a:gd name="adj" fmla="val 13333"/>
            </a:avLst>
          </a:prstGeom>
          <a:solidFill>
            <a:schemeClr val="tx1"/>
          </a:solidFill>
          <a:ln w="12700">
            <a:solidFill>
              <a:schemeClr val="tx1"/>
            </a:solidFill>
            <a:prstDash val="solid"/>
          </a:ln>
        </p:spPr>
      </p:sp>
      <p:sp>
        <p:nvSpPr>
          <p:cNvPr id="38" name="code_290"/>
          <p:cNvSpPr txBox="1"/>
          <p:nvPr/>
        </p:nvSpPr>
        <p:spPr>
          <a:xfrm>
            <a:off x="73152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PS&gt; wsl -l -v</a:t>
            </a:r>
            <a:endParaRPr lang="ko-KR" altLang="en-US" sz="1500" dirty="0"/>
          </a:p>
        </p:txBody>
      </p:sp>
      <p:sp>
        <p:nvSpPr>
          <p:cNvPr id="39" name="text_291"/>
          <p:cNvSpPr txBox="1"/>
          <p:nvPr/>
        </p:nvSpPr>
        <p:spPr>
          <a:xfrm>
            <a:off x="617220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2"/>
                </a:solidFill>
              </a:rPr>
              <a:t>Ubuntu 터미널 ($는 치지 않는다)</a:t>
            </a:r>
            <a:endParaRPr lang="ko-KR" altLang="en-US" sz="1500" dirty="0"/>
          </a:p>
        </p:txBody>
      </p:sp>
      <p:sp>
        <p:nvSpPr>
          <p:cNvPr id="40" name="box_292"/>
          <p:cNvSpPr/>
          <p:nvPr/>
        </p:nvSpPr>
        <p:spPr>
          <a:xfrm>
            <a:off x="6172200" y="4114800"/>
            <a:ext cx="5440680" cy="548640"/>
          </a:xfrm>
          <a:prstGeom prst="roundRect">
            <a:avLst>
              <a:gd name="adj" fmla="val 13333"/>
            </a:avLst>
          </a:prstGeom>
          <a:solidFill>
            <a:schemeClr val="tx1"/>
          </a:solidFill>
          <a:ln w="12700">
            <a:solidFill>
              <a:schemeClr val="tx1"/>
            </a:solidFill>
            <a:prstDash val="solid"/>
          </a:ln>
        </p:spPr>
      </p:sp>
      <p:sp>
        <p:nvSpPr>
          <p:cNvPr id="41" name="code_293"/>
          <p:cNvSpPr txBox="1"/>
          <p:nvPr/>
        </p:nvSpPr>
        <p:spPr>
          <a:xfrm>
            <a:off x="635508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 ros2 node list</a:t>
            </a:r>
            <a:endParaRPr lang="ko-KR" altLang="en-US" sz="1500" dirty="0"/>
          </a:p>
        </p:txBody>
      </p:sp>
      <p:sp>
        <p:nvSpPr>
          <p:cNvPr id="42" name="box_29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43" name="iconbg_295"/>
          <p:cNvSpPr/>
          <p:nvPr/>
        </p:nvSpPr>
        <p:spPr>
          <a:xfrm>
            <a:off x="777240" y="5001768"/>
            <a:ext cx="411480" cy="411480"/>
          </a:xfrm>
          <a:prstGeom prst="ellipse">
            <a:avLst/>
          </a:prstGeom>
          <a:solidFill>
            <a:schemeClr val="accent6"/>
          </a:solidFill>
          <a:ln w="12700">
            <a:solidFill>
              <a:schemeClr val="accent6"/>
            </a:solidFill>
            <a:prstDash val="solid"/>
          </a:ln>
        </p:spPr>
      </p:sp>
      <p:pic>
        <p:nvPicPr>
          <p:cNvPr id="44" name="icon_296" descr="ExclamationTriangle 아이콘">    </p:cNvPr>
          <p:cNvPicPr>
            <a:picLocks noChangeAspect="1"/>
          </p:cNvPicPr>
          <p:nvPr/>
        </p:nvPicPr>
        <p:blipFill>
          <a:blip r:embed="rId7"/>
          <a:stretch>
            <a:fillRect/>
          </a:stretch>
        </p:blipFill>
        <p:spPr>
          <a:xfrm>
            <a:off x="867766" y="5092294"/>
            <a:ext cx="230429" cy="230429"/>
          </a:xfrm>
          <a:prstGeom prst="rect">
            <a:avLst/>
          </a:prstGeom>
        </p:spPr>
      </p:pic>
      <p:sp>
        <p:nvSpPr>
          <p:cNvPr id="45" name="text_29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46" name="text_29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강의실 와이파이로 40명이 동시에 받으면 몇 시간 걸린다. 꼭 집에서 끝내고, 마지막 점검 화면("0 실패")을 캡처해 제출하기.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WSL이란? Windows 안의 진짜 리눅스</a:t>
            </a:r>
            <a:endParaRPr lang="ko-KR" altLang="en-US" sz="3000" dirty="0"/>
          </a:p>
        </p:txBody>
      </p:sp>
      <p:sp>
        <p:nvSpPr>
          <p:cNvPr id="3" name="pill_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01"/>
          <p:cNvSpPr/>
          <p:nvPr/>
        </p:nvSpPr>
        <p:spPr>
          <a:xfrm>
            <a:off x="548640" y="1371600"/>
            <a:ext cx="5486400" cy="713232"/>
          </a:xfrm>
          <a:prstGeom prst="roundRect">
            <a:avLst>
              <a:gd name="adj" fmla="val 10256"/>
            </a:avLst>
          </a:prstGeom>
          <a:solidFill>
            <a:schemeClr val="accent1"/>
          </a:solidFill>
          <a:ln w="12700">
            <a:solidFill>
              <a:schemeClr val="accent1"/>
            </a:solidFill>
            <a:prstDash val="solid"/>
          </a:ln>
        </p:spPr>
      </p:sp>
      <p:sp>
        <p:nvSpPr>
          <p:cNvPr id="7" name="text_302"/>
          <p:cNvSpPr txBox="1"/>
          <p:nvPr/>
        </p:nvSpPr>
        <p:spPr>
          <a:xfrm>
            <a:off x="777240" y="137160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 MuJoCo · UNBOLT 코드</a:t>
            </a:r>
            <a:endParaRPr lang="ko-KR" altLang="en-US" sz="1700" dirty="0"/>
          </a:p>
        </p:txBody>
      </p:sp>
      <p:sp>
        <p:nvSpPr>
          <p:cNvPr id="8" name="box_303"/>
          <p:cNvSpPr/>
          <p:nvPr/>
        </p:nvSpPr>
        <p:spPr>
          <a:xfrm>
            <a:off x="548640" y="2240280"/>
            <a:ext cx="5486400" cy="713232"/>
          </a:xfrm>
          <a:prstGeom prst="roundRect">
            <a:avLst>
              <a:gd name="adj" fmla="val 10256"/>
            </a:avLst>
          </a:prstGeom>
          <a:solidFill>
            <a:schemeClr val="accent2"/>
          </a:solidFill>
          <a:ln w="12700">
            <a:solidFill>
              <a:schemeClr val="accent2"/>
            </a:solidFill>
            <a:prstDash val="solid"/>
          </a:ln>
        </p:spPr>
      </p:sp>
      <p:sp>
        <p:nvSpPr>
          <p:cNvPr id="9" name="text_304"/>
          <p:cNvSpPr txBox="1"/>
          <p:nvPr/>
        </p:nvSpPr>
        <p:spPr>
          <a:xfrm>
            <a:off x="777240" y="224028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 (리눅스)</a:t>
            </a:r>
            <a:endParaRPr lang="ko-KR" altLang="en-US" sz="1700" dirty="0"/>
          </a:p>
        </p:txBody>
      </p:sp>
      <p:sp>
        <p:nvSpPr>
          <p:cNvPr id="10" name="box_305"/>
          <p:cNvSpPr/>
          <p:nvPr/>
        </p:nvSpPr>
        <p:spPr>
          <a:xfrm>
            <a:off x="548640" y="3108960"/>
            <a:ext cx="5486400" cy="713232"/>
          </a:xfrm>
          <a:prstGeom prst="roundRect">
            <a:avLst>
              <a:gd name="adj" fmla="val 10256"/>
            </a:avLst>
          </a:prstGeom>
          <a:solidFill>
            <a:schemeClr val="accent3"/>
          </a:solidFill>
          <a:ln w="12700">
            <a:solidFill>
              <a:schemeClr val="accent3"/>
            </a:solidFill>
            <a:prstDash val="solid"/>
          </a:ln>
        </p:spPr>
      </p:sp>
      <p:sp>
        <p:nvSpPr>
          <p:cNvPr id="11" name="text_306"/>
          <p:cNvSpPr txBox="1"/>
          <p:nvPr/>
        </p:nvSpPr>
        <p:spPr>
          <a:xfrm>
            <a:off x="777240" y="310896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진짜 리눅스 커널 + WSLg</a:t>
            </a:r>
            <a:endParaRPr lang="ko-KR" altLang="en-US" sz="1700" dirty="0"/>
          </a:p>
        </p:txBody>
      </p:sp>
      <p:sp>
        <p:nvSpPr>
          <p:cNvPr id="12" name="box_307"/>
          <p:cNvSpPr/>
          <p:nvPr/>
        </p:nvSpPr>
        <p:spPr>
          <a:xfrm>
            <a:off x="548640" y="3977640"/>
            <a:ext cx="5486400" cy="713232"/>
          </a:xfrm>
          <a:prstGeom prst="roundRect">
            <a:avLst>
              <a:gd name="adj" fmla="val 10256"/>
            </a:avLst>
          </a:prstGeom>
          <a:solidFill>
            <a:schemeClr val="accent5"/>
          </a:solidFill>
          <a:ln w="12700">
            <a:solidFill>
              <a:schemeClr val="accent5"/>
            </a:solidFill>
            <a:prstDash val="solid"/>
          </a:ln>
        </p:spPr>
      </p:sp>
      <p:sp>
        <p:nvSpPr>
          <p:cNvPr id="13" name="text_308"/>
          <p:cNvSpPr txBox="1"/>
          <p:nvPr/>
        </p:nvSpPr>
        <p:spPr>
          <a:xfrm>
            <a:off x="777240" y="397764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 / 11</a:t>
            </a:r>
            <a:endParaRPr lang="ko-KR" altLang="en-US" sz="1700" dirty="0"/>
          </a:p>
        </p:txBody>
      </p:sp>
      <p:sp>
        <p:nvSpPr>
          <p:cNvPr id="14" name="box_309"/>
          <p:cNvSpPr/>
          <p:nvPr/>
        </p:nvSpPr>
        <p:spPr>
          <a:xfrm>
            <a:off x="548640" y="4983480"/>
            <a:ext cx="5486400" cy="1143000"/>
          </a:xfrm>
          <a:prstGeom prst="roundRect">
            <a:avLst>
              <a:gd name="adj" fmla="val 6400"/>
            </a:avLst>
          </a:prstGeom>
          <a:solidFill>
            <a:schemeClr val="bg2"/>
          </a:solidFill>
          <a:ln w="12700">
            <a:solidFill>
              <a:schemeClr val="bg2"/>
            </a:solidFill>
            <a:prstDash val="solid"/>
          </a:ln>
        </p:spPr>
      </p:sp>
      <p:sp>
        <p:nvSpPr>
          <p:cNvPr id="15" name="iconbg_31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6" name="icon_31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7" name="text_312"/>
          <p:cNvSpPr txBox="1"/>
          <p:nvPr/>
        </p:nvSpPr>
        <p:spPr>
          <a:xfrm>
            <a:off x="1325880" y="50749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313"/>
          <p:cNvSpPr txBox="1"/>
          <p:nvPr/>
        </p:nvSpPr>
        <p:spPr>
          <a:xfrm>
            <a:off x="777240" y="5550408"/>
            <a:ext cx="502920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Windows라는 집 안에 리눅스 방을 하나 들인 것. 방 사이에 문(파일, localhost)이 있다.</a:t>
            </a:r>
            <a:endParaRPr lang="ko-KR" altLang="en-US" sz="1400" dirty="0"/>
          </a:p>
        </p:txBody>
      </p:sp>
      <p:sp>
        <p:nvSpPr>
          <p:cNvPr id="19" name="box_314"/>
          <p:cNvSpPr/>
          <p:nvPr/>
        </p:nvSpPr>
        <p:spPr>
          <a:xfrm>
            <a:off x="6309360" y="1371600"/>
            <a:ext cx="5303520" cy="1463040"/>
          </a:xfrm>
          <a:prstGeom prst="roundRect">
            <a:avLst>
              <a:gd name="adj" fmla="val 5000"/>
            </a:avLst>
          </a:prstGeom>
          <a:solidFill>
            <a:schemeClr val="bg2"/>
          </a:solidFill>
          <a:ln w="12700">
            <a:solidFill>
              <a:schemeClr val="bg2"/>
            </a:solidFill>
            <a:prstDash val="solid"/>
          </a:ln>
        </p:spPr>
      </p:sp>
      <p:sp>
        <p:nvSpPr>
          <p:cNvPr id="20" name="iconbg_315"/>
          <p:cNvSpPr/>
          <p:nvPr/>
        </p:nvSpPr>
        <p:spPr>
          <a:xfrm>
            <a:off x="6537960" y="1600200"/>
            <a:ext cx="548640" cy="548640"/>
          </a:xfrm>
          <a:prstGeom prst="ellipse">
            <a:avLst/>
          </a:prstGeom>
          <a:solidFill>
            <a:schemeClr val="accent1"/>
          </a:solidFill>
          <a:ln w="12700">
            <a:solidFill>
              <a:schemeClr val="accent1"/>
            </a:solidFill>
            <a:prstDash val="solid"/>
          </a:ln>
        </p:spPr>
      </p:sp>
      <p:pic>
        <p:nvPicPr>
          <p:cNvPr id="21" name="icon_316" descr="Bolt 아이콘">    </p:cNvPr>
          <p:cNvPicPr>
            <a:picLocks noChangeAspect="1"/>
          </p:cNvPicPr>
          <p:nvPr/>
        </p:nvPicPr>
        <p:blipFill>
          <a:blip r:embed="rId2"/>
          <a:stretch>
            <a:fillRect/>
          </a:stretch>
        </p:blipFill>
        <p:spPr>
          <a:xfrm>
            <a:off x="6658661" y="1720901"/>
            <a:ext cx="307238" cy="307238"/>
          </a:xfrm>
          <a:prstGeom prst="rect">
            <a:avLst/>
          </a:prstGeom>
        </p:spPr>
      </p:pic>
      <p:sp>
        <p:nvSpPr>
          <p:cNvPr id="22" name="text_317"/>
          <p:cNvSpPr txBox="1"/>
          <p:nvPr/>
        </p:nvSpPr>
        <p:spPr>
          <a:xfrm>
            <a:off x="7223760" y="157276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가상머신보다 가볍다</a:t>
            </a:r>
            <a:endParaRPr lang="ko-KR" altLang="en-US" sz="1600" dirty="0"/>
          </a:p>
        </p:txBody>
      </p:sp>
      <p:sp>
        <p:nvSpPr>
          <p:cNvPr id="23" name="text_318"/>
          <p:cNvSpPr txBox="1"/>
          <p:nvPr/>
        </p:nvSpPr>
        <p:spPr>
          <a:xfrm>
            <a:off x="6537960" y="2240280"/>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몇 초 만에 켜지고, 메모리는 필요한 만큼만 쓴다. GPU·Docker·VM 설정이 필요 없다.</a:t>
            </a:r>
            <a:endParaRPr lang="ko-KR" altLang="en-US" sz="1400" dirty="0"/>
          </a:p>
        </p:txBody>
      </p:sp>
      <p:sp>
        <p:nvSpPr>
          <p:cNvPr id="24" name="box_319"/>
          <p:cNvSpPr/>
          <p:nvPr/>
        </p:nvSpPr>
        <p:spPr>
          <a:xfrm>
            <a:off x="6309360" y="2990088"/>
            <a:ext cx="5303520" cy="1463040"/>
          </a:xfrm>
          <a:prstGeom prst="roundRect">
            <a:avLst>
              <a:gd name="adj" fmla="val 5000"/>
            </a:avLst>
          </a:prstGeom>
          <a:solidFill>
            <a:schemeClr val="bg2"/>
          </a:solidFill>
          <a:ln w="12700">
            <a:solidFill>
              <a:schemeClr val="bg2"/>
            </a:solidFill>
            <a:prstDash val="solid"/>
          </a:ln>
        </p:spPr>
      </p:sp>
      <p:sp>
        <p:nvSpPr>
          <p:cNvPr id="25" name="iconbg_320"/>
          <p:cNvSpPr/>
          <p:nvPr/>
        </p:nvSpPr>
        <p:spPr>
          <a:xfrm>
            <a:off x="6537960" y="3218688"/>
            <a:ext cx="548640" cy="548640"/>
          </a:xfrm>
          <a:prstGeom prst="ellipse">
            <a:avLst/>
          </a:prstGeom>
          <a:solidFill>
            <a:schemeClr val="accent3"/>
          </a:solidFill>
          <a:ln w="12700">
            <a:solidFill>
              <a:schemeClr val="accent3"/>
            </a:solidFill>
            <a:prstDash val="solid"/>
          </a:ln>
        </p:spPr>
      </p:sp>
      <p:pic>
        <p:nvPicPr>
          <p:cNvPr id="26" name="icon_321" descr="Desktop 아이콘">    </p:cNvPr>
          <p:cNvPicPr>
            <a:picLocks noChangeAspect="1"/>
          </p:cNvPicPr>
          <p:nvPr/>
        </p:nvPicPr>
        <p:blipFill>
          <a:blip r:embed="rId3"/>
          <a:stretch>
            <a:fillRect/>
          </a:stretch>
        </p:blipFill>
        <p:spPr>
          <a:xfrm>
            <a:off x="6658661" y="3339389"/>
            <a:ext cx="307238" cy="307238"/>
          </a:xfrm>
          <a:prstGeom prst="rect">
            <a:avLst/>
          </a:prstGeom>
        </p:spPr>
      </p:pic>
      <p:sp>
        <p:nvSpPr>
          <p:cNvPr id="27" name="text_322"/>
          <p:cNvSpPr txBox="1"/>
          <p:nvPr/>
        </p:nvSpPr>
        <p:spPr>
          <a:xfrm>
            <a:off x="7223760" y="3191256"/>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리눅스 창이 Windows에 뜬다 (WSLg)</a:t>
            </a:r>
            <a:endParaRPr lang="ko-KR" altLang="en-US" sz="1600" dirty="0"/>
          </a:p>
        </p:txBody>
      </p:sp>
      <p:sp>
        <p:nvSpPr>
          <p:cNvPr id="28" name="text_323"/>
          <p:cNvSpPr txBox="1"/>
          <p:nvPr/>
        </p:nvSpPr>
        <p:spPr>
          <a:xfrm>
            <a:off x="6537960" y="3858768"/>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뷰어와 RViz가 일반 Windows 창처럼 작업 표시줄에 나타난다.</a:t>
            </a:r>
            <a:endParaRPr lang="ko-KR" altLang="en-US" sz="1400" dirty="0"/>
          </a:p>
        </p:txBody>
      </p:sp>
      <p:sp>
        <p:nvSpPr>
          <p:cNvPr id="29" name="box_324"/>
          <p:cNvSpPr/>
          <p:nvPr/>
        </p:nvSpPr>
        <p:spPr>
          <a:xfrm>
            <a:off x="6309360" y="4608576"/>
            <a:ext cx="5303520" cy="1463040"/>
          </a:xfrm>
          <a:prstGeom prst="roundRect">
            <a:avLst>
              <a:gd name="adj" fmla="val 5000"/>
            </a:avLst>
          </a:prstGeom>
          <a:solidFill>
            <a:schemeClr val="bg2"/>
          </a:solidFill>
          <a:ln w="12700">
            <a:solidFill>
              <a:schemeClr val="bg2"/>
            </a:solidFill>
            <a:prstDash val="solid"/>
          </a:ln>
        </p:spPr>
      </p:sp>
      <p:sp>
        <p:nvSpPr>
          <p:cNvPr id="30" name="iconbg_325"/>
          <p:cNvSpPr/>
          <p:nvPr/>
        </p:nvSpPr>
        <p:spPr>
          <a:xfrm>
            <a:off x="6537960" y="4837176"/>
            <a:ext cx="548640" cy="548640"/>
          </a:xfrm>
          <a:prstGeom prst="ellipse">
            <a:avLst/>
          </a:prstGeom>
          <a:solidFill>
            <a:schemeClr val="accent2"/>
          </a:solidFill>
          <a:ln w="12700">
            <a:solidFill>
              <a:schemeClr val="accent2"/>
            </a:solidFill>
            <a:prstDash val="solid"/>
          </a:ln>
        </p:spPr>
      </p:sp>
      <p:pic>
        <p:nvPicPr>
          <p:cNvPr id="31" name="icon_326" descr="Globe 아이콘">    </p:cNvPr>
          <p:cNvPicPr>
            <a:picLocks noChangeAspect="1"/>
          </p:cNvPicPr>
          <p:nvPr/>
        </p:nvPicPr>
        <p:blipFill>
          <a:blip r:embed="rId4"/>
          <a:stretch>
            <a:fillRect/>
          </a:stretch>
        </p:blipFill>
        <p:spPr>
          <a:xfrm>
            <a:off x="6658661" y="4957877"/>
            <a:ext cx="307238" cy="307238"/>
          </a:xfrm>
          <a:prstGeom prst="rect">
            <a:avLst/>
          </a:prstGeom>
        </p:spPr>
      </p:pic>
      <p:sp>
        <p:nvSpPr>
          <p:cNvPr id="32" name="text_327"/>
          <p:cNvSpPr txBox="1"/>
          <p:nvPr/>
        </p:nvSpPr>
        <p:spPr>
          <a:xfrm>
            <a:off x="7223760" y="4809744"/>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파일과 네트워크가 이어져 있다</a:t>
            </a:r>
            <a:endParaRPr lang="ko-KR" altLang="en-US" sz="1600" dirty="0"/>
          </a:p>
        </p:txBody>
      </p:sp>
      <p:sp>
        <p:nvSpPr>
          <p:cNvPr id="33" name="text_328"/>
          <p:cNvSpPr txBox="1"/>
          <p:nvPr/>
        </p:nvSpPr>
        <p:spPr>
          <a:xfrm>
            <a:off x="6537960" y="5477256"/>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Ubuntu에서 Windows C: 드라이브는 /mnt/c. Ubuntu에서 켠 서버는 Windows 브라우저의 localhost로 열린다.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1단계. Windows 점검 (10분)</a:t>
            </a:r>
            <a:endParaRPr lang="ko-KR" altLang="en-US" sz="3000" dirty="0"/>
          </a:p>
        </p:txBody>
      </p:sp>
      <p:sp>
        <p:nvSpPr>
          <p:cNvPr id="3" name="pill_3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31"/>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7" name="iconbg_33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33" descr="Window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34"/>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Windows 버전</a:t>
            </a:r>
            <a:endParaRPr lang="ko-KR" altLang="en-US" sz="1800" dirty="0"/>
          </a:p>
        </p:txBody>
      </p:sp>
      <p:sp>
        <p:nvSpPr>
          <p:cNvPr id="10" name="text_335"/>
          <p:cNvSpPr txBox="1"/>
          <p:nvPr/>
        </p:nvSpPr>
        <p:spPr>
          <a:xfrm>
            <a:off x="777240"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 + R → winver</a:t>
            </a:r>
            <a:endParaRPr lang="ko-KR" altLang="en-US" sz="1400" dirty="0"/>
          </a:p>
          <a:p>
            <a:pPr eaLnBrk="0" indent="0" marL="0">
              <a:buNone/>
            </a:pPr>
            <a:r>
              <a:rPr lang="ko-KR" altLang="en-US" sz="1400" dirty="0">
                <a:solidFill>
                  <a:schemeClr val="tx1"/>
                </a:solidFill>
              </a:rPr>
              <a:t>Windows 11, 또는 Windows 10 21H2 (빌드 19044) 이상</a:t>
            </a:r>
            <a:endParaRPr lang="ko-KR" altLang="en-US" sz="1400" dirty="0"/>
          </a:p>
          <a:p>
            <a:pPr eaLnBrk="0" indent="0" marL="0">
              <a:buNone/>
            </a:pPr>
            <a:r>
              <a:rPr lang="ko-KR" altLang="en-US" sz="1400" dirty="0">
                <a:solidFill>
                  <a:schemeClr val="tx1"/>
                </a:solidFill>
              </a:rPr>
              <a:t>아니면 Windows 업데이트부터</a:t>
            </a:r>
            <a:endParaRPr lang="ko-KR" altLang="en-US" sz="1400" dirty="0"/>
          </a:p>
        </p:txBody>
      </p:sp>
      <p:sp>
        <p:nvSpPr>
          <p:cNvPr id="11" name="box_336"/>
          <p:cNvSpPr/>
          <p:nvPr/>
        </p:nvSpPr>
        <p:spPr>
          <a:xfrm>
            <a:off x="4325112" y="1371600"/>
            <a:ext cx="3520440" cy="2240280"/>
          </a:xfrm>
          <a:prstGeom prst="roundRect">
            <a:avLst>
              <a:gd name="adj" fmla="val 3265"/>
            </a:avLst>
          </a:prstGeom>
          <a:solidFill>
            <a:schemeClr val="bg2"/>
          </a:solidFill>
          <a:ln w="12700">
            <a:solidFill>
              <a:schemeClr val="bg2"/>
            </a:solidFill>
            <a:prstDash val="solid"/>
          </a:ln>
        </p:spPr>
      </p:sp>
      <p:sp>
        <p:nvSpPr>
          <p:cNvPr id="12" name="iconbg_337"/>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38" descr="Microchip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39"/>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가상화: 사용</a:t>
            </a:r>
            <a:endParaRPr lang="ko-KR" altLang="en-US" sz="1800" dirty="0"/>
          </a:p>
        </p:txBody>
      </p:sp>
      <p:sp>
        <p:nvSpPr>
          <p:cNvPr id="15" name="text_340"/>
          <p:cNvSpPr txBox="1"/>
          <p:nvPr/>
        </p:nvSpPr>
        <p:spPr>
          <a:xfrm>
            <a:off x="4553712"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Ctrl + Shift + Esc → 성능 → CPU</a:t>
            </a:r>
            <a:endParaRPr lang="ko-KR" altLang="en-US" sz="1400" dirty="0"/>
          </a:p>
          <a:p>
            <a:pPr eaLnBrk="0" indent="0" marL="0">
              <a:buNone/>
            </a:pPr>
            <a:r>
              <a:rPr lang="ko-KR" altLang="en-US" sz="1400" dirty="0">
                <a:solidFill>
                  <a:schemeClr val="tx1"/>
                </a:solidFill>
              </a:rPr>
              <a:t>"가상화: 사용"이면 통과</a:t>
            </a:r>
            <a:endParaRPr lang="ko-KR" altLang="en-US" sz="1400" dirty="0"/>
          </a:p>
          <a:p>
            <a:pPr eaLnBrk="0" indent="0" marL="0">
              <a:buNone/>
            </a:pPr>
            <a:r>
              <a:rPr lang="ko-KR" altLang="en-US" sz="1400" dirty="0">
                <a:solidFill>
                  <a:schemeClr val="tx1"/>
                </a:solidFill>
              </a:rPr>
              <a:t>"사용 안 함"이면 다음 장 (BIOS)</a:t>
            </a:r>
            <a:endParaRPr lang="ko-KR" altLang="en-US" sz="1400" dirty="0"/>
          </a:p>
        </p:txBody>
      </p:sp>
      <p:sp>
        <p:nvSpPr>
          <p:cNvPr id="16" name="box_341"/>
          <p:cNvSpPr/>
          <p:nvPr/>
        </p:nvSpPr>
        <p:spPr>
          <a:xfrm>
            <a:off x="8101584" y="1371600"/>
            <a:ext cx="3520440" cy="2240280"/>
          </a:xfrm>
          <a:prstGeom prst="roundRect">
            <a:avLst>
              <a:gd name="adj" fmla="val 3265"/>
            </a:avLst>
          </a:prstGeom>
          <a:solidFill>
            <a:schemeClr val="bg2"/>
          </a:solidFill>
          <a:ln w="12700">
            <a:solidFill>
              <a:schemeClr val="bg2"/>
            </a:solidFill>
            <a:prstDash val="solid"/>
          </a:ln>
        </p:spPr>
      </p:sp>
      <p:sp>
        <p:nvSpPr>
          <p:cNvPr id="17" name="iconbg_342"/>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8" name="icon_343" descr="Memory 아이콘">    </p:cNvPr>
          <p:cNvPicPr>
            <a:picLocks noChangeAspect="1"/>
          </p:cNvPicPr>
          <p:nvPr/>
        </p:nvPicPr>
        <p:blipFill>
          <a:blip r:embed="rId3"/>
          <a:stretch>
            <a:fillRect/>
          </a:stretch>
        </p:blipFill>
        <p:spPr>
          <a:xfrm>
            <a:off x="8450885" y="1720901"/>
            <a:ext cx="307238" cy="307238"/>
          </a:xfrm>
          <a:prstGeom prst="rect">
            <a:avLst/>
          </a:prstGeom>
        </p:spPr>
      </p:pic>
      <p:sp>
        <p:nvSpPr>
          <p:cNvPr id="19" name="text_344"/>
          <p:cNvSpPr txBox="1"/>
          <p:nvPr/>
        </p:nvSpPr>
        <p:spPr>
          <a:xfrm>
            <a:off x="9015984"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메모리 · 디스크</a:t>
            </a:r>
            <a:endParaRPr lang="ko-KR" altLang="en-US" sz="1800" dirty="0"/>
          </a:p>
        </p:txBody>
      </p:sp>
      <p:sp>
        <p:nvSpPr>
          <p:cNvPr id="20" name="text_345"/>
          <p:cNvSpPr txBox="1"/>
          <p:nvPr/>
        </p:nvSpPr>
        <p:spPr>
          <a:xfrm>
            <a:off x="8330184"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RAM 16 GB 권장</a:t>
            </a:r>
            <a:endParaRPr lang="ko-KR" altLang="en-US" sz="1400" dirty="0"/>
          </a:p>
          <a:p>
            <a:pPr eaLnBrk="0" indent="0" marL="0">
              <a:buNone/>
            </a:pPr>
            <a:r>
              <a:rPr lang="ko-KR" altLang="en-US" sz="1400" dirty="0">
                <a:solidFill>
                  <a:schemeClr val="tx1"/>
                </a:solidFill>
              </a:rPr>
              <a:t>(8 GB면 WSL 메모리 설정 필요)</a:t>
            </a:r>
            <a:endParaRPr lang="ko-KR" altLang="en-US" sz="1400" dirty="0"/>
          </a:p>
          <a:p>
            <a:pPr eaLnBrk="0" indent="0" marL="0">
              <a:buNone/>
            </a:pPr>
            <a:r>
              <a:rPr lang="ko-KR" altLang="en-US" sz="1400" dirty="0">
                <a:solidFill>
                  <a:schemeClr val="tx1"/>
                </a:solidFill>
              </a:rPr>
              <a:t>C: 드라이브 여유 30 GB 이상</a:t>
            </a:r>
            <a:endParaRPr lang="ko-KR" altLang="en-US" sz="1400" dirty="0"/>
          </a:p>
        </p:txBody>
      </p:sp>
      <p:sp>
        <p:nvSpPr>
          <p:cNvPr id="21" name="box_346"/>
          <p:cNvSpPr/>
          <p:nvPr/>
        </p:nvSpPr>
        <p:spPr>
          <a:xfrm>
            <a:off x="548640" y="3840480"/>
            <a:ext cx="7132320" cy="2286000"/>
          </a:xfrm>
          <a:prstGeom prst="roundRect">
            <a:avLst>
              <a:gd name="adj" fmla="val 3200"/>
            </a:avLst>
          </a:prstGeom>
          <a:solidFill>
            <a:schemeClr val="tx1"/>
          </a:solidFill>
          <a:ln w="12700">
            <a:solidFill>
              <a:schemeClr val="tx1"/>
            </a:solidFill>
            <a:prstDash val="solid"/>
          </a:ln>
        </p:spPr>
      </p:sp>
      <p:sp>
        <p:nvSpPr>
          <p:cNvPr id="22" name="code_347"/>
          <p:cNvSpPr txBox="1"/>
          <p:nvPr/>
        </p:nvSpPr>
        <p:spPr>
          <a:xfrm>
            <a:off x="731520" y="3977640"/>
            <a:ext cx="6766560" cy="20116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PS&gt; powershell -ExecutionPolicy Bypass -File .\check_windows.ps1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Windows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Microsoft Windows 11 Home (빌드 26200)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하드웨어</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RAM 32GB      [OK] C: 여유 216GB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가상화 사용 중 (하이퍼바이저 동작)</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WSL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[주의] WSL이 아직 설치되지 않았습니다 (정상)</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결과: 실습 가능 (주의 1개)</a:t>
            </a:r>
            <a:endParaRPr lang="ko-KR" altLang="en-US" sz="1200" dirty="0"/>
          </a:p>
        </p:txBody>
      </p:sp>
      <p:sp>
        <p:nvSpPr>
          <p:cNvPr id="23" name="box_348"/>
          <p:cNvSpPr/>
          <p:nvPr/>
        </p:nvSpPr>
        <p:spPr>
          <a:xfrm>
            <a:off x="7955280" y="3840480"/>
            <a:ext cx="3657600" cy="2286000"/>
          </a:xfrm>
          <a:prstGeom prst="roundRect">
            <a:avLst>
              <a:gd name="adj" fmla="val 3200"/>
            </a:avLst>
          </a:prstGeom>
          <a:solidFill>
            <a:schemeClr val="bg2"/>
          </a:solidFill>
          <a:ln w="12700">
            <a:solidFill>
              <a:schemeClr val="bg2"/>
            </a:solidFill>
            <a:prstDash val="solid"/>
          </a:ln>
        </p:spPr>
      </p:sp>
      <p:sp>
        <p:nvSpPr>
          <p:cNvPr id="24" name="iconbg_349"/>
          <p:cNvSpPr/>
          <p:nvPr/>
        </p:nvSpPr>
        <p:spPr>
          <a:xfrm>
            <a:off x="8183880" y="4069080"/>
            <a:ext cx="548640" cy="548640"/>
          </a:xfrm>
          <a:prstGeom prst="ellipse">
            <a:avLst/>
          </a:prstGeom>
          <a:solidFill>
            <a:schemeClr val="accent1"/>
          </a:solidFill>
          <a:ln w="12700">
            <a:solidFill>
              <a:schemeClr val="accent1"/>
            </a:solidFill>
            <a:prstDash val="solid"/>
          </a:ln>
        </p:spPr>
      </p:sp>
      <p:pic>
        <p:nvPicPr>
          <p:cNvPr id="25" name="icon_350" descr="Bolt 아이콘">    </p:cNvPr>
          <p:cNvPicPr>
            <a:picLocks noChangeAspect="1"/>
          </p:cNvPicPr>
          <p:nvPr/>
        </p:nvPicPr>
        <p:blipFill>
          <a:blip r:embed="rId4"/>
          <a:stretch>
            <a:fillRect/>
          </a:stretch>
        </p:blipFill>
        <p:spPr>
          <a:xfrm>
            <a:off x="8304581" y="4189781"/>
            <a:ext cx="307238" cy="307238"/>
          </a:xfrm>
          <a:prstGeom prst="rect">
            <a:avLst/>
          </a:prstGeom>
        </p:spPr>
      </p:pic>
      <p:sp>
        <p:nvSpPr>
          <p:cNvPr id="26" name="text_351"/>
          <p:cNvSpPr txBox="1"/>
          <p:nvPr/>
        </p:nvSpPr>
        <p:spPr>
          <a:xfrm>
            <a:off x="8869680" y="4041648"/>
            <a:ext cx="2514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7" name="text_352"/>
          <p:cNvSpPr txBox="1"/>
          <p:nvPr/>
        </p:nvSpPr>
        <p:spPr>
          <a:xfrm>
            <a:off x="8183880" y="4709160"/>
            <a:ext cx="320040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자동 점검 (선택): 압축을 푼 폴더의 workshop/setup에서 실행. [실패] 줄이 있으면 그 안내부터 해결한다.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가상화가 꺼져 있다면: BIOS에서 켜기</a:t>
            </a:r>
            <a:endParaRPr lang="ko-KR" altLang="en-US" sz="3000" dirty="0"/>
          </a:p>
        </p:txBody>
      </p:sp>
      <p:sp>
        <p:nvSpPr>
          <p:cNvPr id="3" name="pill_3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19" name="table_355"/>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2103120"/>
                <a:gridCol w="2834640"/>
              </a:tblGrid>
              <a:tr h="0">
                <a:tc>
                  <a:txBody>
                    <a:bodyPr/>
                    <a:lstStyle/>
                    <a:p>
                      <a:pPr eaLnBrk="0" indent="0" marL="0">
                        <a:buNone/>
                      </a:pPr>
                      <a:r>
                        <a:rPr lang="ko-KR" altLang="en-US" sz="1400" b="1" dirty="0">
                          <a:solidFill>
                            <a:schemeClr val="bg1"/>
                          </a:solidFill>
                        </a:rPr>
                        <a:t>제조사</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BIOS 키 (로고가 보일 때 연타)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삼성 · LG · Dell · Acer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F2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Lenovo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F1 또는 F2 (일부는 옆면 Novo 버튼)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HP</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Esc → F10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ASUS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F2 또는 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MSI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56"/>
          <p:cNvSpPr/>
          <p:nvPr/>
        </p:nvSpPr>
        <p:spPr>
          <a:xfrm>
            <a:off x="548640" y="4023360"/>
            <a:ext cx="4937760" cy="2103120"/>
          </a:xfrm>
          <a:prstGeom prst="roundRect">
            <a:avLst>
              <a:gd name="adj" fmla="val 3478"/>
            </a:avLst>
          </a:prstGeom>
          <a:solidFill>
            <a:schemeClr val="bg2"/>
          </a:solidFill>
          <a:ln w="12700">
            <a:solidFill>
              <a:schemeClr val="bg2"/>
            </a:solidFill>
            <a:prstDash val="solid"/>
          </a:ln>
        </p:spPr>
      </p:sp>
      <p:sp>
        <p:nvSpPr>
          <p:cNvPr id="8" name="iconbg_357"/>
          <p:cNvSpPr/>
          <p:nvPr/>
        </p:nvSpPr>
        <p:spPr>
          <a:xfrm>
            <a:off x="777240" y="4251960"/>
            <a:ext cx="548640" cy="548640"/>
          </a:xfrm>
          <a:prstGeom prst="ellipse">
            <a:avLst/>
          </a:prstGeom>
          <a:solidFill>
            <a:schemeClr val="accent1"/>
          </a:solidFill>
          <a:ln w="12700">
            <a:solidFill>
              <a:schemeClr val="accent1"/>
            </a:solidFill>
            <a:prstDash val="solid"/>
          </a:ln>
        </p:spPr>
      </p:sp>
      <p:pic>
        <p:nvPicPr>
          <p:cNvPr id="9" name="icon_358" descr="Bolt 아이콘">    </p:cNvPr>
          <p:cNvPicPr>
            <a:picLocks noChangeAspect="1"/>
          </p:cNvPicPr>
          <p:nvPr/>
        </p:nvPicPr>
        <p:blipFill>
          <a:blip r:embed="rId1"/>
          <a:stretch>
            <a:fillRect/>
          </a:stretch>
        </p:blipFill>
        <p:spPr>
          <a:xfrm>
            <a:off x="897941" y="4372661"/>
            <a:ext cx="307238" cy="307238"/>
          </a:xfrm>
          <a:prstGeom prst="rect">
            <a:avLst/>
          </a:prstGeom>
        </p:spPr>
      </p:pic>
      <p:sp>
        <p:nvSpPr>
          <p:cNvPr id="10" name="text_359"/>
          <p:cNvSpPr txBox="1"/>
          <p:nvPr/>
        </p:nvSpPr>
        <p:spPr>
          <a:xfrm>
            <a:off x="1463040" y="42245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1" name="text_360"/>
          <p:cNvSpPr txBox="1"/>
          <p:nvPr/>
        </p:nvSpPr>
        <p:spPr>
          <a:xfrm>
            <a:off x="777240" y="4892040"/>
            <a:ext cx="448056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모르겠으면 Windows에서: 설정 → 시스템 → 복구 → 고급 시작 → 지금 다시 시작 → 문제 해결 → 고급 옵션 → UEFI 펌웨어 설정</a:t>
            </a:r>
            <a:endParaRPr lang="ko-KR" altLang="en-US" sz="1400" dirty="0"/>
          </a:p>
        </p:txBody>
      </p:sp>
      <p:sp>
        <p:nvSpPr>
          <p:cNvPr id="12" name="num_361"/>
          <p:cNvSpPr/>
          <p:nvPr/>
        </p:nvSpPr>
        <p:spPr>
          <a:xfrm>
            <a:off x="5852160" y="1417320"/>
            <a:ext cx="457200" cy="457200"/>
          </a:xfrm>
          <a:prstGeom prst="ellipse">
            <a:avLst/>
          </a:prstGeom>
          <a:solidFill>
            <a:schemeClr val="accent1"/>
          </a:solidFill>
          <a:ln w="12700">
            <a:solidFill>
              <a:schemeClr val="accent1"/>
            </a:solidFill>
            <a:prstDash val="solid"/>
          </a:ln>
        </p:spPr>
      </p:sp>
      <p:sp>
        <p:nvSpPr>
          <p:cNvPr id="13" name="text_362"/>
          <p:cNvSpPr txBox="1"/>
          <p:nvPr/>
        </p:nvSpPr>
        <p:spPr>
          <a:xfrm>
            <a:off x="585216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4" name="text_363"/>
          <p:cNvSpPr txBox="1"/>
          <p:nvPr/>
        </p:nvSpPr>
        <p:spPr>
          <a:xfrm>
            <a:off x="6492240" y="139903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BIOS 들어가기</a:t>
            </a:r>
            <a:endParaRPr lang="ko-KR" altLang="en-US" sz="1700" dirty="0"/>
          </a:p>
        </p:txBody>
      </p:sp>
      <p:sp>
        <p:nvSpPr>
          <p:cNvPr id="15" name="text_364"/>
          <p:cNvSpPr txBox="1"/>
          <p:nvPr/>
        </p:nvSpPr>
        <p:spPr>
          <a:xfrm>
            <a:off x="6492240" y="187452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재부팅하면서 왼쪽 표의 키를 연타</a:t>
            </a:r>
            <a:endParaRPr lang="ko-KR" altLang="en-US" sz="1400" dirty="0"/>
          </a:p>
        </p:txBody>
      </p:sp>
      <p:sp>
        <p:nvSpPr>
          <p:cNvPr id="16" name="num_365"/>
          <p:cNvSpPr/>
          <p:nvPr/>
        </p:nvSpPr>
        <p:spPr>
          <a:xfrm>
            <a:off x="5852160" y="2606040"/>
            <a:ext cx="457200" cy="457200"/>
          </a:xfrm>
          <a:prstGeom prst="ellipse">
            <a:avLst/>
          </a:prstGeom>
          <a:solidFill>
            <a:schemeClr val="accent1"/>
          </a:solidFill>
          <a:ln w="12700">
            <a:solidFill>
              <a:schemeClr val="accent1"/>
            </a:solidFill>
            <a:prstDash val="solid"/>
          </a:ln>
        </p:spPr>
      </p:sp>
      <p:sp>
        <p:nvSpPr>
          <p:cNvPr id="17" name="text_366"/>
          <p:cNvSpPr txBox="1"/>
          <p:nvPr/>
        </p:nvSpPr>
        <p:spPr>
          <a:xfrm>
            <a:off x="585216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8" name="text_367"/>
          <p:cNvSpPr txBox="1"/>
          <p:nvPr/>
        </p:nvSpPr>
        <p:spPr>
          <a:xfrm>
            <a:off x="6492240" y="258775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가상화 항목 찾기</a:t>
            </a:r>
            <a:endParaRPr lang="ko-KR" altLang="en-US" sz="1700" dirty="0"/>
          </a:p>
        </p:txBody>
      </p:sp>
      <p:sp>
        <p:nvSpPr>
          <p:cNvPr id="19" name="text_368"/>
          <p:cNvSpPr txBox="1"/>
          <p:nvPr/>
        </p:nvSpPr>
        <p:spPr>
          <a:xfrm>
            <a:off x="6492240" y="306324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Advanced / Configuration / Security 메뉴에서</a:t>
            </a:r>
            <a:endParaRPr lang="ko-KR" altLang="en-US" sz="1400" dirty="0"/>
          </a:p>
          <a:p>
            <a:pPr eaLnBrk="0" indent="0" marL="0">
              <a:buNone/>
            </a:pPr>
            <a:r>
              <a:rPr lang="ko-KR" altLang="en-US" sz="1400" dirty="0">
                <a:solidFill>
                  <a:schemeClr val="tx2"/>
                </a:solidFill>
              </a:rPr>
              <a:t>Intel: Virtualization Technology, VT-x  ·  AMD: SVM Mode</a:t>
            </a:r>
            <a:endParaRPr lang="ko-KR" altLang="en-US" sz="1400" dirty="0"/>
          </a:p>
        </p:txBody>
      </p:sp>
      <p:sp>
        <p:nvSpPr>
          <p:cNvPr id="20" name="num_369"/>
          <p:cNvSpPr/>
          <p:nvPr/>
        </p:nvSpPr>
        <p:spPr>
          <a:xfrm>
            <a:off x="5852160" y="3794760"/>
            <a:ext cx="457200" cy="457200"/>
          </a:xfrm>
          <a:prstGeom prst="ellipse">
            <a:avLst/>
          </a:prstGeom>
          <a:solidFill>
            <a:schemeClr val="accent1"/>
          </a:solidFill>
          <a:ln w="12700">
            <a:solidFill>
              <a:schemeClr val="accent1"/>
            </a:solidFill>
            <a:prstDash val="solid"/>
          </a:ln>
        </p:spPr>
      </p:sp>
      <p:sp>
        <p:nvSpPr>
          <p:cNvPr id="21" name="text_370"/>
          <p:cNvSpPr txBox="1"/>
          <p:nvPr/>
        </p:nvSpPr>
        <p:spPr>
          <a:xfrm>
            <a:off x="585216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22" name="text_371"/>
          <p:cNvSpPr txBox="1"/>
          <p:nvPr/>
        </p:nvSpPr>
        <p:spPr>
          <a:xfrm>
            <a:off x="6492240" y="377647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Enabled로 바꾸고 저장</a:t>
            </a:r>
            <a:endParaRPr lang="ko-KR" altLang="en-US" sz="1700" dirty="0"/>
          </a:p>
        </p:txBody>
      </p:sp>
      <p:sp>
        <p:nvSpPr>
          <p:cNvPr id="23" name="text_372"/>
          <p:cNvSpPr txBox="1"/>
          <p:nvPr/>
        </p:nvSpPr>
        <p:spPr>
          <a:xfrm>
            <a:off x="6492240" y="425196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Save &amp; Exit (보통 F10) → 재부팅</a:t>
            </a:r>
            <a:endParaRPr lang="ko-KR" altLang="en-US" sz="1400" dirty="0"/>
          </a:p>
        </p:txBody>
      </p:sp>
      <p:sp>
        <p:nvSpPr>
          <p:cNvPr id="24" name="num_373"/>
          <p:cNvSpPr/>
          <p:nvPr/>
        </p:nvSpPr>
        <p:spPr>
          <a:xfrm>
            <a:off x="5852160" y="4983480"/>
            <a:ext cx="457200" cy="457200"/>
          </a:xfrm>
          <a:prstGeom prst="ellipse">
            <a:avLst/>
          </a:prstGeom>
          <a:solidFill>
            <a:schemeClr val="accent1"/>
          </a:solidFill>
          <a:ln w="12700">
            <a:solidFill>
              <a:schemeClr val="accent1"/>
            </a:solidFill>
            <a:prstDash val="solid"/>
          </a:ln>
        </p:spPr>
      </p:sp>
      <p:sp>
        <p:nvSpPr>
          <p:cNvPr id="25" name="text_374"/>
          <p:cNvSpPr txBox="1"/>
          <p:nvPr/>
        </p:nvSpPr>
        <p:spPr>
          <a:xfrm>
            <a:off x="585216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6" name="text_375"/>
          <p:cNvSpPr txBox="1"/>
          <p:nvPr/>
        </p:nvSpPr>
        <p:spPr>
          <a:xfrm>
            <a:off x="6492240" y="496519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다시 확인</a:t>
            </a:r>
            <a:endParaRPr lang="ko-KR" altLang="en-US" sz="1700" dirty="0"/>
          </a:p>
        </p:txBody>
      </p:sp>
      <p:sp>
        <p:nvSpPr>
          <p:cNvPr id="27" name="text_376"/>
          <p:cNvSpPr txBox="1"/>
          <p:nvPr/>
        </p:nvSpPr>
        <p:spPr>
          <a:xfrm>
            <a:off x="6492240" y="544068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 관리자 → 성능 → CPU → "가상화: 사용"</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2단계. WSL + Ubuntu 22.04 설치 (20분)</a:t>
            </a:r>
            <a:endParaRPr lang="ko-KR" altLang="en-US" sz="3000" dirty="0"/>
          </a:p>
        </p:txBody>
      </p:sp>
      <p:sp>
        <p:nvSpPr>
          <p:cNvPr id="3" name="pill_3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79"/>
          <p:cNvSpPr/>
          <p:nvPr/>
        </p:nvSpPr>
        <p:spPr>
          <a:xfrm>
            <a:off x="548640" y="1371600"/>
            <a:ext cx="6675120" cy="2651760"/>
          </a:xfrm>
          <a:prstGeom prst="roundRect">
            <a:avLst>
              <a:gd name="adj" fmla="val 2759"/>
            </a:avLst>
          </a:prstGeom>
          <a:solidFill>
            <a:schemeClr val="tx1"/>
          </a:solidFill>
          <a:ln w="12700">
            <a:solidFill>
              <a:schemeClr val="tx1"/>
            </a:solidFill>
            <a:prstDash val="solid"/>
          </a:ln>
        </p:spPr>
      </p:sp>
      <p:sp>
        <p:nvSpPr>
          <p:cNvPr id="7" name="code_380"/>
          <p:cNvSpPr txBox="1"/>
          <p:nvPr/>
        </p:nvSpPr>
        <p:spPr>
          <a:xfrm>
            <a:off x="731520" y="1508760"/>
            <a:ext cx="630936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시작 메뉴 → PowerShell 검색 → "관리자 권한으로 실행"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--install -d Ubuntu-22.04</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요청한 작업이 성공했습니다.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시스템을 다시 시작해야 변경 내용이 적용됩니다.</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재부팅. Ubuntu 창이 저절로 열리고 설치가 이어진다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(안 열리면 시작 메뉴 → Ubuntu 22.04)</a:t>
            </a:r>
            <a:endParaRPr lang="ko-KR" altLang="en-US" sz="1300" dirty="0"/>
          </a:p>
        </p:txBody>
      </p:sp>
      <p:sp>
        <p:nvSpPr>
          <p:cNvPr id="8" name="list_381"/>
          <p:cNvSpPr txBox="1"/>
          <p:nvPr/>
        </p:nvSpPr>
        <p:spPr>
          <a:xfrm>
            <a:off x="548640" y="4251960"/>
            <a:ext cx="6675120" cy="19202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 기능 + 리눅스 커널 + Ubuntu 22.04를 한 번에 설치한다</a:t>
            </a:r>
            <a:endParaRPr lang="ko-KR" altLang="en-US" sz="1500" dirty="0"/>
          </a:p>
          <a:p>
            <a:pPr eaLnBrk="0" marL="228600" indent="-228600">
              <a:spcAft>
                <a:spcPts val="800"/>
              </a:spcAft>
              <a:buSzPct val="100000"/>
              <a:buChar char="•"/>
            </a:pPr>
            <a:r>
              <a:rPr lang="ko-KR" altLang="en-US" sz="1500" dirty="0">
                <a:solidFill>
                  <a:schemeClr val="tx1"/>
                </a:solidFill>
              </a:rPr>
              <a:t>이미 다른 Ubuntu가 있어도 22.04가 추가로 설치된다. 기본으로 쓰려면: wsl --set-default Ubuntu-22.04</a:t>
            </a:r>
            <a:endParaRPr lang="ko-KR" altLang="en-US" sz="1500" dirty="0"/>
          </a:p>
          <a:p>
            <a:pPr eaLnBrk="0" marL="228600" indent="-228600">
              <a:spcAft>
                <a:spcPts val="800"/>
              </a:spcAft>
              <a:buSzPct val="100000"/>
              <a:buChar char="•"/>
            </a:pPr>
            <a:r>
              <a:rPr lang="ko-KR" altLang="en-US" sz="1500" dirty="0">
                <a:solidFill>
                  <a:schemeClr val="tx1"/>
                </a:solidFill>
              </a:rPr>
              <a:t>설치 중 "Installing, this may take a few minutes..."가 10분 넘게 멈추면 창을 닫고 wsl --shutdown 후 다시 연다</a:t>
            </a:r>
            <a:endParaRPr lang="ko-KR" altLang="en-US" sz="1500" dirty="0"/>
          </a:p>
        </p:txBody>
      </p:sp>
      <p:sp>
        <p:nvSpPr>
          <p:cNvPr id="9" name="box_38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8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8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8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8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창에</a:t>
            </a:r>
            <a:endParaRPr lang="ko-KR" altLang="en-US" sz="1400" dirty="0"/>
          </a:p>
          <a:p>
            <a:pPr eaLnBrk="0" indent="0" marL="0">
              <a:buNone/>
            </a:pPr>
            <a:r>
              <a:rPr lang="ko-KR" altLang="en-US" sz="1400" dirty="0">
                <a:solidFill>
                  <a:schemeClr val="tx1"/>
                </a:solidFill>
              </a:rPr>
              <a:t>"Enter new UNIX username:"</a:t>
            </a:r>
            <a:endParaRPr lang="ko-KR" altLang="en-US" sz="1400" dirty="0"/>
          </a:p>
          <a:p>
            <a:pPr eaLnBrk="0" indent="0" marL="0">
              <a:buNone/>
            </a:pPr>
            <a:r>
              <a:rPr lang="ko-KR" altLang="en-US" sz="1400" dirty="0">
                <a:solidFill>
                  <a:schemeClr val="tx1"/>
                </a:solidFill>
              </a:rPr>
              <a:t>이 나온다 → 다음 장</a:t>
            </a:r>
            <a:endParaRPr lang="ko-KR" altLang="en-US" sz="1400" dirty="0"/>
          </a:p>
        </p:txBody>
      </p:sp>
      <p:sp>
        <p:nvSpPr>
          <p:cNvPr id="14" name="box_38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8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8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9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9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도움말만 나옴 → 오래된 Windows 10. Windows 업데이트, 또는 Store에서 WSL과 Ubuntu 22.04.5 LTS 설치</a:t>
            </a:r>
            <a:endParaRPr lang="ko-KR" altLang="en-US" sz="1400" dirty="0"/>
          </a:p>
          <a:p>
            <a:pPr eaLnBrk="0" indent="0" marL="0">
              <a:buNone/>
            </a:pPr>
            <a:r>
              <a:rPr lang="ko-KR" altLang="en-US" sz="1400" dirty="0">
                <a:solidFill>
                  <a:schemeClr val="tx1"/>
                </a:solidFill>
              </a:rPr>
              <a:t>0x80370102 → BIOS 가상화</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리눅스 사용자 만들기</a:t>
            </a:r>
            <a:endParaRPr lang="ko-KR" altLang="en-US" sz="3000" dirty="0"/>
          </a:p>
        </p:txBody>
      </p:sp>
      <p:sp>
        <p:nvSpPr>
          <p:cNvPr id="3" name="pill_3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94"/>
          <p:cNvSpPr/>
          <p:nvPr/>
        </p:nvSpPr>
        <p:spPr>
          <a:xfrm>
            <a:off x="548640" y="1371600"/>
            <a:ext cx="5760720" cy="2788920"/>
          </a:xfrm>
          <a:prstGeom prst="roundRect">
            <a:avLst>
              <a:gd name="adj" fmla="val 2623"/>
            </a:avLst>
          </a:prstGeom>
          <a:solidFill>
            <a:schemeClr val="tx1"/>
          </a:solidFill>
          <a:ln w="12700">
            <a:solidFill>
              <a:schemeClr val="tx1"/>
            </a:solidFill>
            <a:prstDash val="solid"/>
          </a:ln>
        </p:spPr>
      </p:sp>
      <p:sp>
        <p:nvSpPr>
          <p:cNvPr id="7" name="code_395"/>
          <p:cNvSpPr txBox="1"/>
          <p:nvPr/>
        </p:nvSpPr>
        <p:spPr>
          <a:xfrm>
            <a:off x="731520" y="1508760"/>
            <a:ext cx="5394960" cy="2514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Installing, this may take a few minutes...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Please create a default UNIX user account.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Enter new UNIX username: student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New password:             ← 입력해도 안 보임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Retype new password: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passwd: password updated successfully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student@my-laptop:~$      ← 이게 나오면 성공</a:t>
            </a:r>
            <a:endParaRPr lang="ko-KR" altLang="en-US" sz="1300" dirty="0"/>
          </a:p>
        </p:txBody>
      </p:sp>
      <p:sp>
        <p:nvSpPr>
          <p:cNvPr id="8" name="box_396"/>
          <p:cNvSpPr/>
          <p:nvPr/>
        </p:nvSpPr>
        <p:spPr>
          <a:xfrm>
            <a:off x="548640" y="4389120"/>
            <a:ext cx="5760720" cy="1737360"/>
          </a:xfrm>
          <a:prstGeom prst="roundRect">
            <a:avLst>
              <a:gd name="adj" fmla="val 4211"/>
            </a:avLst>
          </a:prstGeom>
          <a:solidFill>
            <a:schemeClr val="bg2"/>
          </a:solidFill>
          <a:ln w="12700">
            <a:solidFill>
              <a:schemeClr val="bg2"/>
            </a:solidFill>
            <a:prstDash val="solid"/>
          </a:ln>
        </p:spPr>
      </p:sp>
      <p:sp>
        <p:nvSpPr>
          <p:cNvPr id="9" name="iconbg_397"/>
          <p:cNvSpPr/>
          <p:nvPr/>
        </p:nvSpPr>
        <p:spPr>
          <a:xfrm>
            <a:off x="777240" y="4617720"/>
            <a:ext cx="548640" cy="548640"/>
          </a:xfrm>
          <a:prstGeom prst="ellipse">
            <a:avLst/>
          </a:prstGeom>
          <a:solidFill>
            <a:schemeClr val="accent3"/>
          </a:solidFill>
          <a:ln w="12700">
            <a:solidFill>
              <a:schemeClr val="accent3"/>
            </a:solidFill>
            <a:prstDash val="solid"/>
          </a:ln>
        </p:spPr>
      </p:sp>
      <p:pic>
        <p:nvPicPr>
          <p:cNvPr id="10" name="icon_398" descr="QuestionCircle 아이콘">    </p:cNvPr>
          <p:cNvPicPr>
            <a:picLocks noChangeAspect="1"/>
          </p:cNvPicPr>
          <p:nvPr/>
        </p:nvPicPr>
        <p:blipFill>
          <a:blip r:embed="rId1"/>
          <a:stretch>
            <a:fillRect/>
          </a:stretch>
        </p:blipFill>
        <p:spPr>
          <a:xfrm>
            <a:off x="897941" y="4738421"/>
            <a:ext cx="307238" cy="307238"/>
          </a:xfrm>
          <a:prstGeom prst="rect">
            <a:avLst/>
          </a:prstGeom>
        </p:spPr>
      </p:pic>
      <p:sp>
        <p:nvSpPr>
          <p:cNvPr id="11" name="text_399"/>
          <p:cNvSpPr txBox="1"/>
          <p:nvPr/>
        </p:nvSpPr>
        <p:spPr>
          <a:xfrm>
            <a:off x="1463040" y="4590288"/>
            <a:ext cx="4617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400"/>
          <p:cNvSpPr txBox="1"/>
          <p:nvPr/>
        </p:nvSpPr>
        <p:spPr>
          <a:xfrm>
            <a:off x="777240" y="5257800"/>
            <a:ext cx="530352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sudo는 "관리자 권한으로 실행"이다. 프로그램 설치(apt install)처럼 시스템을 바꾸는 명령에 필요해서, 이 비밀번호를 설치 중에 여러 번 묻는다.</a:t>
            </a:r>
            <a:endParaRPr lang="ko-KR" altLang="en-US" sz="1400" dirty="0"/>
          </a:p>
        </p:txBody>
      </p:sp>
      <p:sp>
        <p:nvSpPr>
          <p:cNvPr id="13" name="box_401"/>
          <p:cNvSpPr/>
          <p:nvPr/>
        </p:nvSpPr>
        <p:spPr>
          <a:xfrm>
            <a:off x="6583680" y="1371600"/>
            <a:ext cx="5029200" cy="1463040"/>
          </a:xfrm>
          <a:prstGeom prst="roundRect">
            <a:avLst>
              <a:gd name="adj" fmla="val 5000"/>
            </a:avLst>
          </a:prstGeom>
          <a:solidFill>
            <a:schemeClr val="bg2"/>
          </a:solidFill>
          <a:ln w="12700">
            <a:solidFill>
              <a:schemeClr val="bg2"/>
            </a:solidFill>
            <a:prstDash val="solid"/>
          </a:ln>
        </p:spPr>
      </p:sp>
      <p:sp>
        <p:nvSpPr>
          <p:cNvPr id="14" name="iconbg_402"/>
          <p:cNvSpPr/>
          <p:nvPr/>
        </p:nvSpPr>
        <p:spPr>
          <a:xfrm>
            <a:off x="6812280" y="1600200"/>
            <a:ext cx="548640" cy="548640"/>
          </a:xfrm>
          <a:prstGeom prst="ellipse">
            <a:avLst/>
          </a:prstGeom>
          <a:solidFill>
            <a:schemeClr val="accent3"/>
          </a:solidFill>
          <a:ln w="12700">
            <a:solidFill>
              <a:schemeClr val="accent3"/>
            </a:solidFill>
            <a:prstDash val="solid"/>
          </a:ln>
        </p:spPr>
      </p:sp>
      <p:pic>
        <p:nvPicPr>
          <p:cNvPr id="15" name="icon_403" descr="UserPlus 아이콘">    </p:cNvPr>
          <p:cNvPicPr>
            <a:picLocks noChangeAspect="1"/>
          </p:cNvPicPr>
          <p:nvPr/>
        </p:nvPicPr>
        <p:blipFill>
          <a:blip r:embed="rId2"/>
          <a:stretch>
            <a:fillRect/>
          </a:stretch>
        </p:blipFill>
        <p:spPr>
          <a:xfrm>
            <a:off x="6932981" y="1720901"/>
            <a:ext cx="307238" cy="307238"/>
          </a:xfrm>
          <a:prstGeom prst="rect">
            <a:avLst/>
          </a:prstGeom>
        </p:spPr>
      </p:pic>
      <p:sp>
        <p:nvSpPr>
          <p:cNvPr id="16" name="text_404"/>
          <p:cNvSpPr txBox="1"/>
          <p:nvPr/>
        </p:nvSpPr>
        <p:spPr>
          <a:xfrm>
            <a:off x="7498080" y="15727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사용자 이름</a:t>
            </a:r>
            <a:endParaRPr lang="ko-KR" altLang="en-US" sz="1600" dirty="0"/>
          </a:p>
        </p:txBody>
      </p:sp>
      <p:sp>
        <p:nvSpPr>
          <p:cNvPr id="17" name="text_405"/>
          <p:cNvSpPr txBox="1"/>
          <p:nvPr/>
        </p:nvSpPr>
        <p:spPr>
          <a:xfrm>
            <a:off x="6812280" y="22402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영어 소문자로 (예: student, hong)</a:t>
            </a:r>
            <a:endParaRPr lang="ko-KR" altLang="en-US" sz="1400" dirty="0"/>
          </a:p>
          <a:p>
            <a:pPr eaLnBrk="0" indent="0" marL="0">
              <a:buNone/>
            </a:pPr>
            <a:r>
              <a:rPr lang="ko-KR" altLang="en-US" sz="1400" dirty="0">
                <a:solidFill>
                  <a:schemeClr val="tx1"/>
                </a:solidFill>
              </a:rPr>
              <a:t>한글 · 공백 · 대문자는 안 된다</a:t>
            </a:r>
            <a:endParaRPr lang="ko-KR" altLang="en-US" sz="1400" dirty="0"/>
          </a:p>
        </p:txBody>
      </p:sp>
      <p:sp>
        <p:nvSpPr>
          <p:cNvPr id="18" name="box_406"/>
          <p:cNvSpPr/>
          <p:nvPr/>
        </p:nvSpPr>
        <p:spPr>
          <a:xfrm>
            <a:off x="6583680" y="2971800"/>
            <a:ext cx="5029200" cy="1463040"/>
          </a:xfrm>
          <a:prstGeom prst="roundRect">
            <a:avLst>
              <a:gd name="adj" fmla="val 5000"/>
            </a:avLst>
          </a:prstGeom>
          <a:solidFill>
            <a:schemeClr val="bg2"/>
          </a:solidFill>
          <a:ln w="12700">
            <a:solidFill>
              <a:schemeClr val="bg2"/>
            </a:solidFill>
            <a:prstDash val="solid"/>
          </a:ln>
        </p:spPr>
      </p:sp>
      <p:sp>
        <p:nvSpPr>
          <p:cNvPr id="19" name="iconbg_407"/>
          <p:cNvSpPr/>
          <p:nvPr/>
        </p:nvSpPr>
        <p:spPr>
          <a:xfrm>
            <a:off x="6812280" y="3200400"/>
            <a:ext cx="548640" cy="548640"/>
          </a:xfrm>
          <a:prstGeom prst="ellipse">
            <a:avLst/>
          </a:prstGeom>
          <a:solidFill>
            <a:schemeClr val="accent1"/>
          </a:solidFill>
          <a:ln w="12700">
            <a:solidFill>
              <a:schemeClr val="accent1"/>
            </a:solidFill>
            <a:prstDash val="solid"/>
          </a:ln>
        </p:spPr>
      </p:sp>
      <p:pic>
        <p:nvPicPr>
          <p:cNvPr id="20" name="icon_408" descr="Key 아이콘">    </p:cNvPr>
          <p:cNvPicPr>
            <a:picLocks noChangeAspect="1"/>
          </p:cNvPicPr>
          <p:nvPr/>
        </p:nvPicPr>
        <p:blipFill>
          <a:blip r:embed="rId3"/>
          <a:stretch>
            <a:fillRect/>
          </a:stretch>
        </p:blipFill>
        <p:spPr>
          <a:xfrm>
            <a:off x="6932981" y="3321101"/>
            <a:ext cx="307238" cy="307238"/>
          </a:xfrm>
          <a:prstGeom prst="rect">
            <a:avLst/>
          </a:prstGeom>
        </p:spPr>
      </p:pic>
      <p:sp>
        <p:nvSpPr>
          <p:cNvPr id="21" name="text_409"/>
          <p:cNvSpPr txBox="1"/>
          <p:nvPr/>
        </p:nvSpPr>
        <p:spPr>
          <a:xfrm>
            <a:off x="7498080" y="31729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비밀번호</a:t>
            </a:r>
            <a:endParaRPr lang="ko-KR" altLang="en-US" sz="1600" dirty="0"/>
          </a:p>
        </p:txBody>
      </p:sp>
      <p:sp>
        <p:nvSpPr>
          <p:cNvPr id="22" name="text_410"/>
          <p:cNvSpPr txBox="1"/>
          <p:nvPr/>
        </p:nvSpPr>
        <p:spPr>
          <a:xfrm>
            <a:off x="6812280" y="38404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화면에 *조차 안 나오는 게 정상. 그대로 치고 Enter.</a:t>
            </a:r>
            <a:endParaRPr lang="ko-KR" altLang="en-US" sz="1400" dirty="0"/>
          </a:p>
          <a:p>
            <a:pPr eaLnBrk="0" indent="0" marL="0">
              <a:buNone/>
            </a:pPr>
            <a:r>
              <a:rPr lang="ko-KR" altLang="en-US" sz="1400" dirty="0">
                <a:solidFill>
                  <a:schemeClr val="tx1"/>
                </a:solidFill>
              </a:rPr>
              <a:t>Windows 비밀번호와 달라도 된다. 꼭 기억하기</a:t>
            </a:r>
            <a:endParaRPr lang="ko-KR" altLang="en-US" sz="1400" dirty="0"/>
          </a:p>
        </p:txBody>
      </p:sp>
      <p:sp>
        <p:nvSpPr>
          <p:cNvPr id="23" name="box_411"/>
          <p:cNvSpPr/>
          <p:nvPr/>
        </p:nvSpPr>
        <p:spPr>
          <a:xfrm>
            <a:off x="6583680" y="4572000"/>
            <a:ext cx="5029200" cy="1554480"/>
          </a:xfrm>
          <a:prstGeom prst="roundRect">
            <a:avLst>
              <a:gd name="adj" fmla="val 4706"/>
            </a:avLst>
          </a:prstGeom>
          <a:solidFill>
            <a:schemeClr val="bg2"/>
          </a:solidFill>
          <a:ln w="12700">
            <a:solidFill>
              <a:schemeClr val="bg2"/>
            </a:solidFill>
            <a:prstDash val="solid"/>
          </a:ln>
        </p:spPr>
      </p:sp>
      <p:sp>
        <p:nvSpPr>
          <p:cNvPr id="24" name="iconbg_412"/>
          <p:cNvSpPr/>
          <p:nvPr/>
        </p:nvSpPr>
        <p:spPr>
          <a:xfrm>
            <a:off x="6812280" y="4800600"/>
            <a:ext cx="548640" cy="548640"/>
          </a:xfrm>
          <a:prstGeom prst="ellipse">
            <a:avLst/>
          </a:prstGeom>
          <a:solidFill>
            <a:schemeClr val="accent6"/>
          </a:solidFill>
          <a:ln w="12700">
            <a:solidFill>
              <a:schemeClr val="accent6"/>
            </a:solidFill>
            <a:prstDash val="solid"/>
          </a:ln>
        </p:spPr>
      </p:sp>
      <p:pic>
        <p:nvPicPr>
          <p:cNvPr id="25" name="icon_413" descr="Wrench 아이콘">    </p:cNvPr>
          <p:cNvPicPr>
            <a:picLocks noChangeAspect="1"/>
          </p:cNvPicPr>
          <p:nvPr/>
        </p:nvPicPr>
        <p:blipFill>
          <a:blip r:embed="rId4"/>
          <a:stretch>
            <a:fillRect/>
          </a:stretch>
        </p:blipFill>
        <p:spPr>
          <a:xfrm>
            <a:off x="6932981" y="4921301"/>
            <a:ext cx="307238" cy="307238"/>
          </a:xfrm>
          <a:prstGeom prst="rect">
            <a:avLst/>
          </a:prstGeom>
        </p:spPr>
      </p:pic>
      <p:sp>
        <p:nvSpPr>
          <p:cNvPr id="26" name="text_414"/>
          <p:cNvSpPr txBox="1"/>
          <p:nvPr/>
        </p:nvSpPr>
        <p:spPr>
          <a:xfrm>
            <a:off x="7498080" y="47731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7" name="text_415"/>
          <p:cNvSpPr txBox="1"/>
          <p:nvPr/>
        </p:nvSpPr>
        <p:spPr>
          <a:xfrm>
            <a:off x="6812280" y="5440680"/>
            <a:ext cx="45720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비밀번호를 잊었다 → PowerShell에서 wsl -d Ubuntu-22.04 -u root 로 들어가 passwd &lt;이름&gt; 실행 후 exit</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 확인과 메모리 설정</a:t>
            </a:r>
            <a:endParaRPr lang="ko-KR" altLang="en-US" sz="3000" dirty="0"/>
          </a:p>
        </p:txBody>
      </p:sp>
      <p:sp>
        <p:nvSpPr>
          <p:cNvPr id="3" name="pill_4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18"/>
          <p:cNvSpPr/>
          <p:nvPr/>
        </p:nvSpPr>
        <p:spPr>
          <a:xfrm>
            <a:off x="548640" y="1371600"/>
            <a:ext cx="5486400" cy="1600200"/>
          </a:xfrm>
          <a:prstGeom prst="roundRect">
            <a:avLst>
              <a:gd name="adj" fmla="val 4571"/>
            </a:avLst>
          </a:prstGeom>
          <a:solidFill>
            <a:schemeClr val="tx1"/>
          </a:solidFill>
          <a:ln w="12700">
            <a:solidFill>
              <a:schemeClr val="tx1"/>
            </a:solidFill>
            <a:prstDash val="solid"/>
          </a:ln>
        </p:spPr>
      </p:sp>
      <p:sp>
        <p:nvSpPr>
          <p:cNvPr id="7" name="code_419"/>
          <p:cNvSpPr txBox="1"/>
          <p:nvPr/>
        </p:nvSpPr>
        <p:spPr>
          <a:xfrm>
            <a:off x="731520" y="1508760"/>
            <a:ext cx="5120640" cy="1325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--update</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-l -v</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NAME            STATE           VERSION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Ubuntu-22.04    Running         2</a:t>
            </a:r>
            <a:endParaRPr lang="ko-KR" altLang="en-US" sz="1400" dirty="0"/>
          </a:p>
        </p:txBody>
      </p:sp>
      <p:sp>
        <p:nvSpPr>
          <p:cNvPr id="8" name="box_420"/>
          <p:cNvSpPr/>
          <p:nvPr/>
        </p:nvSpPr>
        <p:spPr>
          <a:xfrm>
            <a:off x="548640" y="3154680"/>
            <a:ext cx="5486400" cy="1188720"/>
          </a:xfrm>
          <a:prstGeom prst="roundRect">
            <a:avLst>
              <a:gd name="adj" fmla="val 6154"/>
            </a:avLst>
          </a:prstGeom>
          <a:solidFill>
            <a:schemeClr val="bg2"/>
          </a:solidFill>
          <a:ln w="12700">
            <a:solidFill>
              <a:schemeClr val="bg2"/>
            </a:solidFill>
            <a:prstDash val="solid"/>
          </a:ln>
        </p:spPr>
      </p:sp>
      <p:sp>
        <p:nvSpPr>
          <p:cNvPr id="9" name="iconbg_421"/>
          <p:cNvSpPr/>
          <p:nvPr/>
        </p:nvSpPr>
        <p:spPr>
          <a:xfrm>
            <a:off x="777240" y="3264408"/>
            <a:ext cx="411480" cy="411480"/>
          </a:xfrm>
          <a:prstGeom prst="ellipse">
            <a:avLst/>
          </a:prstGeom>
          <a:solidFill>
            <a:schemeClr val="accent2"/>
          </a:solidFill>
          <a:ln w="12700">
            <a:solidFill>
              <a:schemeClr val="accent2"/>
            </a:solidFill>
            <a:prstDash val="solid"/>
          </a:ln>
        </p:spPr>
      </p:sp>
      <p:pic>
        <p:nvPicPr>
          <p:cNvPr id="10" name="icon_422" descr="CheckCircle 아이콘">    </p:cNvPr>
          <p:cNvPicPr>
            <a:picLocks noChangeAspect="1"/>
          </p:cNvPicPr>
          <p:nvPr/>
        </p:nvPicPr>
        <p:blipFill>
          <a:blip r:embed="rId1"/>
          <a:stretch>
            <a:fillRect/>
          </a:stretch>
        </p:blipFill>
        <p:spPr>
          <a:xfrm>
            <a:off x="867766" y="3354934"/>
            <a:ext cx="230429" cy="230429"/>
          </a:xfrm>
          <a:prstGeom prst="rect">
            <a:avLst/>
          </a:prstGeom>
        </p:spPr>
      </p:pic>
      <p:sp>
        <p:nvSpPr>
          <p:cNvPr id="11" name="text_423"/>
          <p:cNvSpPr txBox="1"/>
          <p:nvPr/>
        </p:nvSpPr>
        <p:spPr>
          <a:xfrm>
            <a:off x="1325880" y="32461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424"/>
          <p:cNvSpPr txBox="1"/>
          <p:nvPr/>
        </p:nvSpPr>
        <p:spPr>
          <a:xfrm>
            <a:off x="777240" y="3721608"/>
            <a:ext cx="502920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VERSION이 2. (1이면 PS&gt; wsl --set-version Ubuntu-22.04 2)</a:t>
            </a:r>
            <a:endParaRPr lang="ko-KR" altLang="en-US" sz="1400" dirty="0"/>
          </a:p>
        </p:txBody>
      </p:sp>
      <p:sp>
        <p:nvSpPr>
          <p:cNvPr id="13" name="box_425"/>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4" name="iconbg_426"/>
          <p:cNvSpPr/>
          <p:nvPr/>
        </p:nvSpPr>
        <p:spPr>
          <a:xfrm>
            <a:off x="777240" y="4754880"/>
            <a:ext cx="548640" cy="548640"/>
          </a:xfrm>
          <a:prstGeom prst="ellipse">
            <a:avLst/>
          </a:prstGeom>
          <a:solidFill>
            <a:schemeClr val="accent1"/>
          </a:solidFill>
          <a:ln w="12700">
            <a:solidFill>
              <a:schemeClr val="accent1"/>
            </a:solidFill>
            <a:prstDash val="solid"/>
          </a:ln>
        </p:spPr>
      </p:sp>
      <p:pic>
        <p:nvPicPr>
          <p:cNvPr id="15" name="icon_427" descr="Bolt 아이콘">    </p:cNvPr>
          <p:cNvPicPr>
            <a:picLocks noChangeAspect="1"/>
          </p:cNvPicPr>
          <p:nvPr/>
        </p:nvPicPr>
        <p:blipFill>
          <a:blip r:embed="rId2"/>
          <a:stretch>
            <a:fillRect/>
          </a:stretch>
        </p:blipFill>
        <p:spPr>
          <a:xfrm>
            <a:off x="897941" y="4875581"/>
            <a:ext cx="307238" cy="307238"/>
          </a:xfrm>
          <a:prstGeom prst="rect">
            <a:avLst/>
          </a:prstGeom>
        </p:spPr>
      </p:pic>
      <p:sp>
        <p:nvSpPr>
          <p:cNvPr id="16" name="text_428"/>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429"/>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다시 열기: 시작 메뉴 → Ubuntu 22.04, 또는 Windows Terminal의 탭 옆 ∨ → Ubuntu-22.04</a:t>
            </a:r>
            <a:endParaRPr lang="ko-KR" altLang="en-US" sz="1400" dirty="0"/>
          </a:p>
        </p:txBody>
      </p:sp>
      <p:sp>
        <p:nvSpPr>
          <p:cNvPr id="18" name="text_430"/>
          <p:cNvSpPr txBox="1"/>
          <p:nvPr/>
        </p:nvSpPr>
        <p:spPr>
          <a:xfrm>
            <a:off x="6309360" y="1325880"/>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메모리가 8 GB인 노트북만</a:t>
            </a:r>
            <a:endParaRPr lang="ko-KR" altLang="en-US" sz="1700" dirty="0"/>
          </a:p>
        </p:txBody>
      </p:sp>
      <p:sp>
        <p:nvSpPr>
          <p:cNvPr id="19" name="box_431"/>
          <p:cNvSpPr/>
          <p:nvPr/>
        </p:nvSpPr>
        <p:spPr>
          <a:xfrm>
            <a:off x="6309360" y="1783080"/>
            <a:ext cx="5303520" cy="2560320"/>
          </a:xfrm>
          <a:prstGeom prst="roundRect">
            <a:avLst>
              <a:gd name="adj" fmla="val 2857"/>
            </a:avLst>
          </a:prstGeom>
          <a:solidFill>
            <a:schemeClr val="tx1"/>
          </a:solidFill>
          <a:ln w="12700">
            <a:solidFill>
              <a:schemeClr val="tx1"/>
            </a:solidFill>
            <a:prstDash val="solid"/>
          </a:ln>
        </p:spPr>
      </p:sp>
      <p:sp>
        <p:nvSpPr>
          <p:cNvPr id="20" name="code_432"/>
          <p:cNvSpPr txBox="1"/>
          <p:nvPr/>
        </p:nvSpPr>
        <p:spPr>
          <a:xfrm>
            <a:off x="6492240" y="1920240"/>
            <a:ext cx="4937760" cy="22860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메모장으로 만들기 (.txt가 붙지 않게)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C:\Users\&lt;윈도우사용자&gt;\.wslconfig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[wsl2]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memory=6GB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swap=8GB</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--shutdown    # 적용 → Ubuntu 다시 열기</a:t>
            </a:r>
            <a:endParaRPr lang="ko-KR" altLang="en-US" sz="1300" dirty="0"/>
          </a:p>
        </p:txBody>
      </p:sp>
      <p:sp>
        <p:nvSpPr>
          <p:cNvPr id="21" name="box_433"/>
          <p:cNvSpPr/>
          <p:nvPr/>
        </p:nvSpPr>
        <p:spPr>
          <a:xfrm>
            <a:off x="6309360" y="4526280"/>
            <a:ext cx="5303520" cy="1600200"/>
          </a:xfrm>
          <a:prstGeom prst="roundRect">
            <a:avLst>
              <a:gd name="adj" fmla="val 4571"/>
            </a:avLst>
          </a:prstGeom>
          <a:solidFill>
            <a:schemeClr val="bg2"/>
          </a:solidFill>
          <a:ln w="12700">
            <a:solidFill>
              <a:schemeClr val="bg2"/>
            </a:solidFill>
            <a:prstDash val="solid"/>
          </a:ln>
        </p:spPr>
      </p:sp>
      <p:sp>
        <p:nvSpPr>
          <p:cNvPr id="22" name="iconbg_434"/>
          <p:cNvSpPr/>
          <p:nvPr/>
        </p:nvSpPr>
        <p:spPr>
          <a:xfrm>
            <a:off x="6537960" y="4754880"/>
            <a:ext cx="548640" cy="548640"/>
          </a:xfrm>
          <a:prstGeom prst="ellipse">
            <a:avLst/>
          </a:prstGeom>
          <a:solidFill>
            <a:schemeClr val="accent3"/>
          </a:solidFill>
          <a:ln w="12700">
            <a:solidFill>
              <a:schemeClr val="accent3"/>
            </a:solidFill>
            <a:prstDash val="solid"/>
          </a:ln>
        </p:spPr>
      </p:sp>
      <p:pic>
        <p:nvPicPr>
          <p:cNvPr id="23" name="icon_435" descr="QuestionCircle 아이콘">    </p:cNvPr>
          <p:cNvPicPr>
            <a:picLocks noChangeAspect="1"/>
          </p:cNvPicPr>
          <p:nvPr/>
        </p:nvPicPr>
        <p:blipFill>
          <a:blip r:embed="rId3"/>
          <a:stretch>
            <a:fillRect/>
          </a:stretch>
        </p:blipFill>
        <p:spPr>
          <a:xfrm>
            <a:off x="6658661" y="4875581"/>
            <a:ext cx="307238" cy="307238"/>
          </a:xfrm>
          <a:prstGeom prst="rect">
            <a:avLst/>
          </a:prstGeom>
        </p:spPr>
      </p:pic>
      <p:sp>
        <p:nvSpPr>
          <p:cNvPr id="24" name="text_436"/>
          <p:cNvSpPr txBox="1"/>
          <p:nvPr/>
        </p:nvSpPr>
        <p:spPr>
          <a:xfrm>
            <a:off x="7223760" y="472744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437"/>
          <p:cNvSpPr txBox="1"/>
          <p:nvPr/>
        </p:nvSpPr>
        <p:spPr>
          <a:xfrm>
            <a:off x="6537960" y="5394960"/>
            <a:ext cx="484632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WSL은 기본으로 Windows 메모리의 절반만 쓴다. 8 GB면 4 GB라 Nav2와 MoveIt을 함께 켤 때 멈출 수 있다. 16 GB 이상이면 건너뛴다.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GUI 창이 뜨는지 확인: xeyes</a:t>
            </a:r>
            <a:endParaRPr lang="ko-KR" altLang="en-US" sz="3000" dirty="0"/>
          </a:p>
        </p:txBody>
      </p:sp>
      <p:sp>
        <p:nvSpPr>
          <p:cNvPr id="3" name="pill_4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40"/>
          <p:cNvSpPr/>
          <p:nvPr/>
        </p:nvSpPr>
        <p:spPr>
          <a:xfrm>
            <a:off x="548640" y="1371600"/>
            <a:ext cx="6675120" cy="1554480"/>
          </a:xfrm>
          <a:prstGeom prst="roundRect">
            <a:avLst>
              <a:gd name="adj" fmla="val 4706"/>
            </a:avLst>
          </a:prstGeom>
          <a:solidFill>
            <a:schemeClr val="tx1"/>
          </a:solidFill>
          <a:ln w="12700">
            <a:solidFill>
              <a:schemeClr val="tx1"/>
            </a:solidFill>
            <a:prstDash val="solid"/>
          </a:ln>
        </p:spPr>
      </p:sp>
      <p:sp>
        <p:nvSpPr>
          <p:cNvPr id="7" name="code_441"/>
          <p:cNvSpPr txBox="1"/>
          <p:nvPr/>
        </p:nvSpPr>
        <p:spPr>
          <a:xfrm>
            <a:off x="731520" y="1508760"/>
            <a:ext cx="6309360" cy="12801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sudo apt update &amp;&amp; sudo apt install -y x11-apps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xeyes</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끄기: 창을 닫거나 터미널에서 Ctrl + C</a:t>
            </a:r>
            <a:endParaRPr lang="ko-KR" altLang="en-US" sz="1400" dirty="0"/>
          </a:p>
        </p:txBody>
      </p:sp>
      <p:sp>
        <p:nvSpPr>
          <p:cNvPr id="8" name="list_442"/>
          <p:cNvSpPr txBox="1"/>
          <p:nvPr/>
        </p:nvSpPr>
        <p:spPr>
          <a:xfrm>
            <a:off x="548640" y="3154680"/>
            <a:ext cx="6675120" cy="301752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WSLg는 리눅스 프로그램의 창을 Windows 바탕화면에 띄워 준다</a:t>
            </a:r>
            <a:endParaRPr lang="ko-KR" altLang="en-US" sz="1500" dirty="0"/>
          </a:p>
          <a:p>
            <a:pPr eaLnBrk="0" marL="228600" indent="-228600">
              <a:spcAft>
                <a:spcPts val="800"/>
              </a:spcAft>
              <a:buSzPct val="100000"/>
              <a:buChar char="•"/>
            </a:pPr>
            <a:r>
              <a:rPr lang="ko-KR" altLang="en-US" sz="1500" dirty="0">
                <a:solidFill>
                  <a:schemeClr val="tx1"/>
                </a:solidFill>
              </a:rPr>
              <a:t>MuJoCo 뷰어와 RViz도 같은 길로 뜬다</a:t>
            </a:r>
            <a:endParaRPr lang="ko-KR" altLang="en-US" sz="1500" dirty="0"/>
          </a:p>
          <a:p>
            <a:pPr eaLnBrk="0" marL="228600" indent="-228600">
              <a:spcAft>
                <a:spcPts val="800"/>
              </a:spcAft>
              <a:buSzPct val="100000"/>
              <a:buChar char="•"/>
            </a:pPr>
            <a:r>
              <a:rPr lang="ko-KR" altLang="en-US" sz="1500" dirty="0">
                <a:solidFill>
                  <a:schemeClr val="tx1"/>
                </a:solidFill>
              </a:rPr>
              <a:t>처음 sudo를 쓰면 2단계에서 만든 비밀번호를 묻는다</a:t>
            </a:r>
            <a:endParaRPr lang="ko-KR" altLang="en-US" sz="1500" dirty="0"/>
          </a:p>
        </p:txBody>
      </p:sp>
      <p:sp>
        <p:nvSpPr>
          <p:cNvPr id="9" name="box_44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4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4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4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4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눈알 두 개가 마우스를 따라다니는 창이 뜬다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a:t>
            </a:r>
            <a:endParaRPr lang="ko-KR" altLang="en-US" sz="1400" dirty="0"/>
          </a:p>
          <a:p>
            <a:pPr eaLnBrk="0" indent="0" marL="0">
              <a:buNone/>
            </a:pPr>
            <a:r>
              <a:rPr lang="ko-KR" altLang="en-US" sz="1400" dirty="0">
                <a:solidFill>
                  <a:schemeClr val="tx1"/>
                </a:solidFill>
              </a:rPr>
              <a:t>wsl -l -v에 VERSION 2, xeyes 창이 뜬다</a:t>
            </a:r>
            <a:endParaRPr lang="ko-KR" altLang="en-US" sz="1400" dirty="0"/>
          </a:p>
        </p:txBody>
      </p:sp>
      <p:sp>
        <p:nvSpPr>
          <p:cNvPr id="14" name="box_44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4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5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5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5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뜨거나 검다 → Windows에서 그래픽 드라이버 업데이트 → PS&gt; wsl --shutdown → 다시. troubleshooting.md "GUI 창이 안 뜬다"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3단계. 실습 코드 받기 (5분)</a:t>
            </a:r>
            <a:endParaRPr lang="ko-KR" altLang="en-US" sz="3000" dirty="0"/>
          </a:p>
        </p:txBody>
      </p:sp>
      <p:sp>
        <p:nvSpPr>
          <p:cNvPr id="3" name="pill_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455"/>
          <p:cNvSpPr txBox="1"/>
          <p:nvPr/>
        </p:nvSpPr>
        <p:spPr>
          <a:xfrm>
            <a:off x="548640" y="132588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A. git clone (권장)</a:t>
            </a:r>
            <a:endParaRPr lang="ko-KR" altLang="en-US" sz="1600" dirty="0"/>
          </a:p>
        </p:txBody>
      </p:sp>
      <p:sp>
        <p:nvSpPr>
          <p:cNvPr id="7" name="box_456"/>
          <p:cNvSpPr/>
          <p:nvPr/>
        </p:nvSpPr>
        <p:spPr>
          <a:xfrm>
            <a:off x="548640" y="1737360"/>
            <a:ext cx="6766560" cy="868680"/>
          </a:xfrm>
          <a:prstGeom prst="roundRect">
            <a:avLst>
              <a:gd name="adj" fmla="val 8421"/>
            </a:avLst>
          </a:prstGeom>
          <a:solidFill>
            <a:schemeClr val="tx1"/>
          </a:solidFill>
          <a:ln w="12700">
            <a:solidFill>
              <a:schemeClr val="tx1"/>
            </a:solidFill>
            <a:prstDash val="solid"/>
          </a:ln>
        </p:spPr>
      </p:sp>
      <p:sp>
        <p:nvSpPr>
          <p:cNvPr id="8" name="code_457"/>
          <p:cNvSpPr txBox="1"/>
          <p:nvPr/>
        </p:nvSpPr>
        <p:spPr>
          <a:xfrm>
            <a:off x="731520" y="1874520"/>
            <a:ext cx="6400800" cy="594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sudo apt install -y git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git clone &lt;강사가 안내한 저장소 주소&gt; ~/unbolt</a:t>
            </a:r>
            <a:endParaRPr lang="ko-KR" altLang="en-US" sz="1300" dirty="0"/>
          </a:p>
        </p:txBody>
      </p:sp>
      <p:sp>
        <p:nvSpPr>
          <p:cNvPr id="9" name="text_458"/>
          <p:cNvSpPr txBox="1"/>
          <p:nvPr/>
        </p:nvSpPr>
        <p:spPr>
          <a:xfrm>
            <a:off x="548640" y="274320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B. ZIP 파일 (Windows 다운로드 폴더에 풀었다면)</a:t>
            </a:r>
            <a:endParaRPr lang="ko-KR" altLang="en-US" sz="1600" dirty="0"/>
          </a:p>
        </p:txBody>
      </p:sp>
      <p:sp>
        <p:nvSpPr>
          <p:cNvPr id="10" name="box_459"/>
          <p:cNvSpPr/>
          <p:nvPr/>
        </p:nvSpPr>
        <p:spPr>
          <a:xfrm>
            <a:off x="548640" y="3154680"/>
            <a:ext cx="6766560" cy="1280160"/>
          </a:xfrm>
          <a:prstGeom prst="roundRect">
            <a:avLst>
              <a:gd name="adj" fmla="val 5714"/>
            </a:avLst>
          </a:prstGeom>
          <a:solidFill>
            <a:schemeClr val="tx1"/>
          </a:solidFill>
          <a:ln w="12700">
            <a:solidFill>
              <a:schemeClr val="tx1"/>
            </a:solidFill>
            <a:prstDash val="solid"/>
          </a:ln>
        </p:spPr>
      </p:sp>
      <p:sp>
        <p:nvSpPr>
          <p:cNvPr id="11" name="code_460"/>
          <p:cNvSpPr txBox="1"/>
          <p:nvPr/>
        </p:nvSpPr>
        <p:spPr>
          <a:xfrm>
            <a:off x="731520" y="3291840"/>
            <a:ext cx="6400800" cy="1005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/mnt/c/Users                  # 윈도우 사용자 이름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cp -r /mnt/c/Users/&lt;윈도우사용자&gt;/Downloads/&lt;폴더&gt;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README.md  docs  models  ros2_ws  workshop</a:t>
            </a:r>
            <a:endParaRPr lang="ko-KR" altLang="en-US" sz="1200" dirty="0"/>
          </a:p>
        </p:txBody>
      </p:sp>
      <p:sp>
        <p:nvSpPr>
          <p:cNvPr id="12" name="box_461"/>
          <p:cNvSpPr/>
          <p:nvPr/>
        </p:nvSpPr>
        <p:spPr>
          <a:xfrm>
            <a:off x="548640" y="4617720"/>
            <a:ext cx="6766560" cy="1508760"/>
          </a:xfrm>
          <a:prstGeom prst="roundRect">
            <a:avLst>
              <a:gd name="adj" fmla="val 4848"/>
            </a:avLst>
          </a:prstGeom>
          <a:solidFill>
            <a:schemeClr val="tx1"/>
          </a:solidFill>
          <a:ln w="12700">
            <a:solidFill>
              <a:schemeClr val="tx1"/>
            </a:solidFill>
            <a:prstDash val="solid"/>
          </a:ln>
        </p:spPr>
      </p:sp>
      <p:sp>
        <p:nvSpPr>
          <p:cNvPr id="13" name="code_462"/>
          <p:cNvSpPr txBox="1"/>
          <p:nvPr/>
        </p:nvSpPr>
        <p:spPr>
          <a:xfrm>
            <a:off x="731520" y="4754880"/>
            <a:ext cx="6400800" cy="12344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두 세계 사이 오가기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Ubuntu에서 본 Windows C:  →  /mnt/c</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Windows 탐색기에서 Ubuntu →  \\wsl$\Ubuntu-22.04\home\&lt;이름&gt;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지금 폴더를 탐색기로 열기 →  $ explorer.exe .</a:t>
            </a:r>
            <a:endParaRPr lang="ko-KR" altLang="en-US" sz="1200" dirty="0"/>
          </a:p>
        </p:txBody>
      </p:sp>
      <p:sp>
        <p:nvSpPr>
          <p:cNvPr id="14" name="box_463"/>
          <p:cNvSpPr/>
          <p:nvPr/>
        </p:nvSpPr>
        <p:spPr>
          <a:xfrm>
            <a:off x="7589520" y="1371600"/>
            <a:ext cx="4023360" cy="2377440"/>
          </a:xfrm>
          <a:prstGeom prst="roundRect">
            <a:avLst>
              <a:gd name="adj" fmla="val 3077"/>
            </a:avLst>
          </a:prstGeom>
          <a:solidFill>
            <a:schemeClr val="bg2"/>
          </a:solidFill>
          <a:ln w="12700">
            <a:solidFill>
              <a:schemeClr val="bg2"/>
            </a:solidFill>
            <a:prstDash val="solid"/>
          </a:ln>
        </p:spPr>
      </p:sp>
      <p:sp>
        <p:nvSpPr>
          <p:cNvPr id="15" name="iconbg_464"/>
          <p:cNvSpPr/>
          <p:nvPr/>
        </p:nvSpPr>
        <p:spPr>
          <a:xfrm>
            <a:off x="7818120" y="1600200"/>
            <a:ext cx="548640" cy="548640"/>
          </a:xfrm>
          <a:prstGeom prst="ellipse">
            <a:avLst/>
          </a:prstGeom>
          <a:solidFill>
            <a:schemeClr val="accent3"/>
          </a:solidFill>
          <a:ln w="12700">
            <a:solidFill>
              <a:schemeClr val="accent3"/>
            </a:solidFill>
            <a:prstDash val="solid"/>
          </a:ln>
        </p:spPr>
      </p:sp>
      <p:pic>
        <p:nvPicPr>
          <p:cNvPr id="16" name="icon_465" descr="QuestionCircle 아이콘">    </p:cNvPr>
          <p:cNvPicPr>
            <a:picLocks noChangeAspect="1"/>
          </p:cNvPicPr>
          <p:nvPr/>
        </p:nvPicPr>
        <p:blipFill>
          <a:blip r:embed="rId1"/>
          <a:stretch>
            <a:fillRect/>
          </a:stretch>
        </p:blipFill>
        <p:spPr>
          <a:xfrm>
            <a:off x="7938821" y="1720901"/>
            <a:ext cx="307238" cy="307238"/>
          </a:xfrm>
          <a:prstGeom prst="rect">
            <a:avLst/>
          </a:prstGeom>
        </p:spPr>
      </p:pic>
      <p:sp>
        <p:nvSpPr>
          <p:cNvPr id="17" name="text_466"/>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467"/>
          <p:cNvSpPr txBox="1"/>
          <p:nvPr/>
        </p:nvSpPr>
        <p:spPr>
          <a:xfrm>
            <a:off x="7818120" y="2240280"/>
            <a:ext cx="356616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코드는 Ubuntu 홈의 ~/unbolt에 둔다. /mnt/c(Windows 드라이브)에 두면 빌드와 실행이 몇 배 느려진다.</a:t>
            </a:r>
            <a:endParaRPr lang="ko-KR" altLang="en-US" sz="1400" dirty="0"/>
          </a:p>
        </p:txBody>
      </p:sp>
      <p:sp>
        <p:nvSpPr>
          <p:cNvPr id="19" name="box_468"/>
          <p:cNvSpPr/>
          <p:nvPr/>
        </p:nvSpPr>
        <p:spPr>
          <a:xfrm>
            <a:off x="7589520" y="3931920"/>
            <a:ext cx="4023360" cy="2194560"/>
          </a:xfrm>
          <a:prstGeom prst="roundRect">
            <a:avLst>
              <a:gd name="adj" fmla="val 3333"/>
            </a:avLst>
          </a:prstGeom>
          <a:solidFill>
            <a:schemeClr val="bg2"/>
          </a:solidFill>
          <a:ln w="12700">
            <a:solidFill>
              <a:schemeClr val="bg2"/>
            </a:solidFill>
            <a:prstDash val="solid"/>
          </a:ln>
        </p:spPr>
      </p:sp>
      <p:sp>
        <p:nvSpPr>
          <p:cNvPr id="20" name="iconbg_469"/>
          <p:cNvSpPr/>
          <p:nvPr/>
        </p:nvSpPr>
        <p:spPr>
          <a:xfrm>
            <a:off x="7818120" y="4160520"/>
            <a:ext cx="548640" cy="548640"/>
          </a:xfrm>
          <a:prstGeom prst="ellipse">
            <a:avLst/>
          </a:prstGeom>
          <a:solidFill>
            <a:schemeClr val="accent6"/>
          </a:solidFill>
          <a:ln w="12700">
            <a:solidFill>
              <a:schemeClr val="accent6"/>
            </a:solidFill>
            <a:prstDash val="solid"/>
          </a:ln>
        </p:spPr>
      </p:sp>
      <p:pic>
        <p:nvPicPr>
          <p:cNvPr id="21" name="icon_470" descr="ExclamationTriangle 아이콘">    </p:cNvPr>
          <p:cNvPicPr>
            <a:picLocks noChangeAspect="1"/>
          </p:cNvPicPr>
          <p:nvPr/>
        </p:nvPicPr>
        <p:blipFill>
          <a:blip r:embed="rId2"/>
          <a:stretch>
            <a:fillRect/>
          </a:stretch>
        </p:blipFill>
        <p:spPr>
          <a:xfrm>
            <a:off x="7938821" y="4281221"/>
            <a:ext cx="307238" cy="307238"/>
          </a:xfrm>
          <a:prstGeom prst="rect">
            <a:avLst/>
          </a:prstGeom>
        </p:spPr>
      </p:pic>
      <p:sp>
        <p:nvSpPr>
          <p:cNvPr id="22" name="text_47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3" name="text_47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폴더 이름은 ~/unbolt로. 교재의 명령이 모두 이 경로를 쓴다. 다른 곳에 두었다면 "환경 설정" 장의 직접 넣기를 따른다.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4단계. 설치 스크립트 한 줄 (10~60분)</a:t>
            </a:r>
            <a:endParaRPr lang="ko-KR" altLang="en-US" sz="3000" dirty="0"/>
          </a:p>
        </p:txBody>
      </p:sp>
      <p:sp>
        <p:nvSpPr>
          <p:cNvPr id="3" name="pill_4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75"/>
          <p:cNvSpPr/>
          <p:nvPr/>
        </p:nvSpPr>
        <p:spPr>
          <a:xfrm>
            <a:off x="548640" y="1371600"/>
            <a:ext cx="11064240" cy="868680"/>
          </a:xfrm>
          <a:prstGeom prst="roundRect">
            <a:avLst>
              <a:gd name="adj" fmla="val 8421"/>
            </a:avLst>
          </a:prstGeom>
          <a:solidFill>
            <a:schemeClr val="tx1"/>
          </a:solidFill>
          <a:ln w="12700">
            <a:solidFill>
              <a:schemeClr val="tx1"/>
            </a:solidFill>
            <a:prstDash val="solid"/>
          </a:ln>
        </p:spPr>
      </p:sp>
      <p:sp>
        <p:nvSpPr>
          <p:cNvPr id="7" name="code_476"/>
          <p:cNvSpPr txBox="1"/>
          <p:nvPr/>
        </p:nvSpPr>
        <p:spPr>
          <a:xfrm>
            <a:off x="731520" y="1508760"/>
            <a:ext cx="10698480" cy="5943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~/unbolt/workshop/setup/install_unbolt.sh</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[sudo] password for student:        ← 2단계에서 만든 비밀번호</a:t>
            </a:r>
            <a:endParaRPr lang="ko-KR" altLang="en-US" sz="1400" dirty="0"/>
          </a:p>
        </p:txBody>
      </p:sp>
      <p:graphicFrame>
        <p:nvGraphicFramePr>
          <p:cNvPr id="25" name="table_477"/>
          <p:cNvGraphicFramePr>
            <a:graphicFrameLocks noGrp="1"/>
          </p:cNvGraphicFramePr>
          <p:nvPr>
            <p:extLst>
              <p:ext uri="{D42A27DB-BD31-4B8C-83A1-F6EECF244321}">
                <p14:modId xmlns:p14="http://schemas.microsoft.com/office/powerpoint/2010/main" val="1579011935"/>
              </p:ext>
            </p:extLst>
          </p:nvPr>
        </p:nvGraphicFramePr>
        <p:xfrm>
          <a:off x="548640" y="2468880"/>
          <a:ext cx="7315200" cy="914400"/>
        </p:xfrm>
        <a:graphic>
          <a:graphicData uri="http://schemas.openxmlformats.org/drawingml/2006/table">
            <a:tbl>
              <a:tblPr/>
              <a:tblGrid>
                <a:gridCol w="731520"/>
                <a:gridCol w="5303520"/>
                <a:gridCol w="1280160"/>
              </a:tblGrid>
              <a:tr h="0">
                <a:tc>
                  <a:txBody>
                    <a:bodyPr/>
                    <a:lstStyle/>
                    <a:p>
                      <a:pPr eaLnBrk="0" indent="0" marL="0">
                        <a:buNone/>
                      </a:pPr>
                      <a:r>
                        <a:rPr lang="ko-KR" altLang="en-US" sz="1300" b="1" dirty="0">
                          <a:solidFill>
                            <a:schemeClr val="bg1"/>
                          </a:solidFill>
                        </a:rPr>
                        <a:t>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Ubuntu 22.04인지, 디스크 여유, 코드 위치 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로캘(en_US.UTF-8), curl · git · pip 같은 기본 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ROS 2 apt 저장소 등록 (ros2-apt-source)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Humble Desktop, Nav2, slam_toolbox, MoveIt 2, rosbridge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20~50분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Python 패키지: mujoco, anthropic, Brotli, numpy&lt;2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OpenArm 로봇 모델 받기 (고정 커밋)</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colcon build, ~/.bashrc에 환경 설정 추가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점검 (check_env.sh)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478"/>
          <p:cNvSpPr/>
          <p:nvPr/>
        </p:nvSpPr>
        <p:spPr>
          <a:xfrm>
            <a:off x="8138160" y="2468880"/>
            <a:ext cx="3474720" cy="1783080"/>
          </a:xfrm>
          <a:prstGeom prst="roundRect">
            <a:avLst>
              <a:gd name="adj" fmla="val 4103"/>
            </a:avLst>
          </a:prstGeom>
          <a:solidFill>
            <a:schemeClr val="bg2"/>
          </a:solidFill>
          <a:ln w="12700">
            <a:solidFill>
              <a:schemeClr val="bg2"/>
            </a:solidFill>
            <a:prstDash val="solid"/>
          </a:ln>
        </p:spPr>
      </p:sp>
      <p:sp>
        <p:nvSpPr>
          <p:cNvPr id="10" name="iconbg_479"/>
          <p:cNvSpPr/>
          <p:nvPr/>
        </p:nvSpPr>
        <p:spPr>
          <a:xfrm>
            <a:off x="8366760" y="2697480"/>
            <a:ext cx="548640" cy="548640"/>
          </a:xfrm>
          <a:prstGeom prst="ellipse">
            <a:avLst/>
          </a:prstGeom>
          <a:solidFill>
            <a:schemeClr val="accent1"/>
          </a:solidFill>
          <a:ln w="12700">
            <a:solidFill>
              <a:schemeClr val="accent1"/>
            </a:solidFill>
            <a:prstDash val="solid"/>
          </a:ln>
        </p:spPr>
      </p:sp>
      <p:pic>
        <p:nvPicPr>
          <p:cNvPr id="11" name="icon_480" descr="Bolt 아이콘">    </p:cNvPr>
          <p:cNvPicPr>
            <a:picLocks noChangeAspect="1"/>
          </p:cNvPicPr>
          <p:nvPr/>
        </p:nvPicPr>
        <p:blipFill>
          <a:blip r:embed="rId1"/>
          <a:stretch>
            <a:fillRect/>
          </a:stretch>
        </p:blipFill>
        <p:spPr>
          <a:xfrm>
            <a:off x="8487461" y="2818181"/>
            <a:ext cx="307238" cy="307238"/>
          </a:xfrm>
          <a:prstGeom prst="rect">
            <a:avLst/>
          </a:prstGeom>
        </p:spPr>
      </p:pic>
      <p:sp>
        <p:nvSpPr>
          <p:cNvPr id="12" name="text_481"/>
          <p:cNvSpPr txBox="1"/>
          <p:nvPr/>
        </p:nvSpPr>
        <p:spPr>
          <a:xfrm>
            <a:off x="9052560" y="267004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3" name="text_482"/>
          <p:cNvSpPr txBox="1"/>
          <p:nvPr/>
        </p:nvSpPr>
        <p:spPr>
          <a:xfrm>
            <a:off x="8366760" y="3337560"/>
            <a:ext cx="30175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중간에 끊겨도 같은 명령을 다시 실행하면 이어서 한다 (끝난 단계는 건너뜀).</a:t>
            </a:r>
            <a:endParaRPr lang="ko-KR" altLang="en-US" sz="1400" dirty="0"/>
          </a:p>
        </p:txBody>
      </p:sp>
      <p:sp>
        <p:nvSpPr>
          <p:cNvPr id="14" name="box_483"/>
          <p:cNvSpPr/>
          <p:nvPr/>
        </p:nvSpPr>
        <p:spPr>
          <a:xfrm>
            <a:off x="8138160" y="4434840"/>
            <a:ext cx="3474720" cy="1691640"/>
          </a:xfrm>
          <a:prstGeom prst="roundRect">
            <a:avLst>
              <a:gd name="adj" fmla="val 4324"/>
            </a:avLst>
          </a:prstGeom>
          <a:solidFill>
            <a:schemeClr val="bg2"/>
          </a:solidFill>
          <a:ln w="12700">
            <a:solidFill>
              <a:schemeClr val="bg2"/>
            </a:solidFill>
            <a:prstDash val="solid"/>
          </a:ln>
        </p:spPr>
      </p:sp>
      <p:sp>
        <p:nvSpPr>
          <p:cNvPr id="15" name="iconbg_484"/>
          <p:cNvSpPr/>
          <p:nvPr/>
        </p:nvSpPr>
        <p:spPr>
          <a:xfrm>
            <a:off x="8366760" y="4663440"/>
            <a:ext cx="548640" cy="548640"/>
          </a:xfrm>
          <a:prstGeom prst="ellipse">
            <a:avLst/>
          </a:prstGeom>
          <a:solidFill>
            <a:schemeClr val="accent6"/>
          </a:solidFill>
          <a:ln w="12700">
            <a:solidFill>
              <a:schemeClr val="accent6"/>
            </a:solidFill>
            <a:prstDash val="solid"/>
          </a:ln>
        </p:spPr>
      </p:sp>
      <p:pic>
        <p:nvPicPr>
          <p:cNvPr id="16" name="icon_485" descr="ExclamationTriangle 아이콘">    </p:cNvPr>
          <p:cNvPicPr>
            <a:picLocks noChangeAspect="1"/>
          </p:cNvPicPr>
          <p:nvPr/>
        </p:nvPicPr>
        <p:blipFill>
          <a:blip r:embed="rId2"/>
          <a:stretch>
            <a:fillRect/>
          </a:stretch>
        </p:blipFill>
        <p:spPr>
          <a:xfrm>
            <a:off x="8487461" y="4784141"/>
            <a:ext cx="307238" cy="307238"/>
          </a:xfrm>
          <a:prstGeom prst="rect">
            <a:avLst/>
          </a:prstGeom>
        </p:spPr>
      </p:pic>
      <p:sp>
        <p:nvSpPr>
          <p:cNvPr id="17" name="text_486"/>
          <p:cNvSpPr txBox="1"/>
          <p:nvPr/>
        </p:nvSpPr>
        <p:spPr>
          <a:xfrm>
            <a:off x="9052560" y="463600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487"/>
          <p:cNvSpPr txBox="1"/>
          <p:nvPr/>
        </p:nvSpPr>
        <p:spPr>
          <a:xfrm>
            <a:off x="8366760" y="5303520"/>
            <a:ext cx="3017520" cy="749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전원을 연결하고 절전 모드를 끄기. 빨간 ✘로 멈추면 그 메시지로 troubleshooting.md 검색.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 2는 이렇게 설치된다 (스크립트 속 명령)</a:t>
            </a:r>
            <a:endParaRPr lang="ko-KR" altLang="en-US" sz="3000" dirty="0"/>
          </a:p>
        </p:txBody>
      </p:sp>
      <p:sp>
        <p:nvSpPr>
          <p:cNvPr id="3" name="pill_4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90"/>
          <p:cNvSpPr/>
          <p:nvPr/>
        </p:nvSpPr>
        <p:spPr>
          <a:xfrm>
            <a:off x="548640" y="1371600"/>
            <a:ext cx="7406640" cy="4754880"/>
          </a:xfrm>
          <a:prstGeom prst="roundRect">
            <a:avLst>
              <a:gd name="adj" fmla="val 1538"/>
            </a:avLst>
          </a:prstGeom>
          <a:solidFill>
            <a:schemeClr val="tx1"/>
          </a:solidFill>
          <a:ln w="12700">
            <a:solidFill>
              <a:schemeClr val="tx1"/>
            </a:solidFill>
            <a:prstDash val="solid"/>
          </a:ln>
        </p:spPr>
      </p:sp>
      <p:sp>
        <p:nvSpPr>
          <p:cNvPr id="7" name="code_491"/>
          <p:cNvSpPr txBox="1"/>
          <p:nvPr/>
        </p:nvSpPr>
        <p:spPr>
          <a:xfrm>
            <a:off x="731520" y="1508760"/>
            <a:ext cx="70408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로캘과 기본 도구</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locales software-properties-common curl git python3-pip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locale-gen en_US en_US.UTF-8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add-apt-repository -y universe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ROS 2 apt 저장소 등록 (curl로 받은 ros2-apt-source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dpkg -i /tmp/ros2-apt-source.deb</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ROS 2 Humble + 실습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 &amp;&amp; sudo apt upgrade -y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ros-humble-desktop ros-dev-tools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ros-humble-navigation2 ros-humble-nav2-bringup ros-humble-slam-toolbox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ros-humble-moveit ros-humble-rosbridge-server ...</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4) 동작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demo_nodes_cpp talker      # Publishing: "Hello World: 1" ...</a:t>
            </a:r>
            <a:endParaRPr lang="ko-KR" altLang="en-US" sz="1200" dirty="0"/>
          </a:p>
        </p:txBody>
      </p:sp>
      <p:sp>
        <p:nvSpPr>
          <p:cNvPr id="8" name="box_492"/>
          <p:cNvSpPr/>
          <p:nvPr/>
        </p:nvSpPr>
        <p:spPr>
          <a:xfrm>
            <a:off x="8229600" y="1371600"/>
            <a:ext cx="3383280" cy="1463040"/>
          </a:xfrm>
          <a:prstGeom prst="roundRect">
            <a:avLst>
              <a:gd name="adj" fmla="val 5000"/>
            </a:avLst>
          </a:prstGeom>
          <a:solidFill>
            <a:schemeClr val="bg2"/>
          </a:solidFill>
          <a:ln w="12700">
            <a:solidFill>
              <a:schemeClr val="bg2"/>
            </a:solidFill>
            <a:prstDash val="solid"/>
          </a:ln>
        </p:spPr>
      </p:sp>
      <p:sp>
        <p:nvSpPr>
          <p:cNvPr id="9" name="iconbg_493"/>
          <p:cNvSpPr/>
          <p:nvPr/>
        </p:nvSpPr>
        <p:spPr>
          <a:xfrm>
            <a:off x="8458200" y="1600200"/>
            <a:ext cx="548640" cy="548640"/>
          </a:xfrm>
          <a:prstGeom prst="ellipse">
            <a:avLst/>
          </a:prstGeom>
          <a:solidFill>
            <a:schemeClr val="accent3"/>
          </a:solidFill>
          <a:ln w="12700">
            <a:solidFill>
              <a:schemeClr val="accent3"/>
            </a:solidFill>
            <a:prstDash val="solid"/>
          </a:ln>
        </p:spPr>
      </p:sp>
      <p:pic>
        <p:nvPicPr>
          <p:cNvPr id="10" name="icon_494" descr="Book 아이콘">    </p:cNvPr>
          <p:cNvPicPr>
            <a:picLocks noChangeAspect="1"/>
          </p:cNvPicPr>
          <p:nvPr/>
        </p:nvPicPr>
        <p:blipFill>
          <a:blip r:embed="rId1"/>
          <a:stretch>
            <a:fillRect/>
          </a:stretch>
        </p:blipFill>
        <p:spPr>
          <a:xfrm>
            <a:off x="8578901" y="1720901"/>
            <a:ext cx="307238" cy="307238"/>
          </a:xfrm>
          <a:prstGeom prst="rect">
            <a:avLst/>
          </a:prstGeom>
        </p:spPr>
      </p:pic>
      <p:sp>
        <p:nvSpPr>
          <p:cNvPr id="11" name="text_495"/>
          <p:cNvSpPr txBox="1"/>
          <p:nvPr/>
        </p:nvSpPr>
        <p:spPr>
          <a:xfrm>
            <a:off x="9144000" y="1572768"/>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apt 저장소</a:t>
            </a:r>
            <a:endParaRPr lang="ko-KR" altLang="en-US" sz="1500" dirty="0"/>
          </a:p>
        </p:txBody>
      </p:sp>
      <p:sp>
        <p:nvSpPr>
          <p:cNvPr id="12" name="text_496"/>
          <p:cNvSpPr txBox="1"/>
          <p:nvPr/>
        </p:nvSpPr>
        <p:spPr>
          <a:xfrm>
            <a:off x="8458200" y="2240280"/>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Ubuntu에게 "ROS 패키지는 여기서 받아"라고 알려 준다. 없으면 Unable to locate package</a:t>
            </a:r>
            <a:endParaRPr lang="ko-KR" altLang="en-US" sz="1300" dirty="0"/>
          </a:p>
        </p:txBody>
      </p:sp>
      <p:sp>
        <p:nvSpPr>
          <p:cNvPr id="13" name="box_497"/>
          <p:cNvSpPr/>
          <p:nvPr/>
        </p:nvSpPr>
        <p:spPr>
          <a:xfrm>
            <a:off x="8229600" y="2990088"/>
            <a:ext cx="3383280" cy="1463040"/>
          </a:xfrm>
          <a:prstGeom prst="roundRect">
            <a:avLst>
              <a:gd name="adj" fmla="val 5000"/>
            </a:avLst>
          </a:prstGeom>
          <a:solidFill>
            <a:schemeClr val="bg2"/>
          </a:solidFill>
          <a:ln w="12700">
            <a:solidFill>
              <a:schemeClr val="bg2"/>
            </a:solidFill>
            <a:prstDash val="solid"/>
          </a:ln>
        </p:spPr>
      </p:sp>
      <p:sp>
        <p:nvSpPr>
          <p:cNvPr id="14" name="iconbg_498"/>
          <p:cNvSpPr/>
          <p:nvPr/>
        </p:nvSpPr>
        <p:spPr>
          <a:xfrm>
            <a:off x="8458200" y="3218688"/>
            <a:ext cx="548640" cy="548640"/>
          </a:xfrm>
          <a:prstGeom prst="ellipse">
            <a:avLst/>
          </a:prstGeom>
          <a:solidFill>
            <a:schemeClr val="accent1"/>
          </a:solidFill>
          <a:ln w="12700">
            <a:solidFill>
              <a:schemeClr val="accent1"/>
            </a:solidFill>
            <a:prstDash val="solid"/>
          </a:ln>
        </p:spPr>
      </p:sp>
      <p:pic>
        <p:nvPicPr>
          <p:cNvPr id="15" name="icon_499" descr="Cube 아이콘">    </p:cNvPr>
          <p:cNvPicPr>
            <a:picLocks noChangeAspect="1"/>
          </p:cNvPicPr>
          <p:nvPr/>
        </p:nvPicPr>
        <p:blipFill>
          <a:blip r:embed="rId2"/>
          <a:stretch>
            <a:fillRect/>
          </a:stretch>
        </p:blipFill>
        <p:spPr>
          <a:xfrm>
            <a:off x="8578901" y="3339389"/>
            <a:ext cx="307238" cy="307238"/>
          </a:xfrm>
          <a:prstGeom prst="rect">
            <a:avLst/>
          </a:prstGeom>
        </p:spPr>
      </p:pic>
      <p:sp>
        <p:nvSpPr>
          <p:cNvPr id="16" name="text_500"/>
          <p:cNvSpPr txBox="1"/>
          <p:nvPr/>
        </p:nvSpPr>
        <p:spPr>
          <a:xfrm>
            <a:off x="9144000" y="3191256"/>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ros-humble-desktop</a:t>
            </a:r>
            <a:endParaRPr lang="ko-KR" altLang="en-US" sz="1500" dirty="0"/>
          </a:p>
        </p:txBody>
      </p:sp>
      <p:sp>
        <p:nvSpPr>
          <p:cNvPr id="17" name="text_501"/>
          <p:cNvSpPr txBox="1"/>
          <p:nvPr/>
        </p:nvSpPr>
        <p:spPr>
          <a:xfrm>
            <a:off x="8458200" y="3858768"/>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ROS 2 핵심 + RViz + 예제. 실습용 Nav2 · MoveIt · rosbridge를 함께 설치</a:t>
            </a:r>
            <a:endParaRPr lang="ko-KR" altLang="en-US" sz="1300" dirty="0"/>
          </a:p>
        </p:txBody>
      </p:sp>
      <p:sp>
        <p:nvSpPr>
          <p:cNvPr id="18" name="box_502"/>
          <p:cNvSpPr/>
          <p:nvPr/>
        </p:nvSpPr>
        <p:spPr>
          <a:xfrm>
            <a:off x="8229600" y="4608576"/>
            <a:ext cx="3383280" cy="1463040"/>
          </a:xfrm>
          <a:prstGeom prst="roundRect">
            <a:avLst>
              <a:gd name="adj" fmla="val 5000"/>
            </a:avLst>
          </a:prstGeom>
          <a:solidFill>
            <a:schemeClr val="bg2"/>
          </a:solidFill>
          <a:ln w="12700">
            <a:solidFill>
              <a:schemeClr val="bg2"/>
            </a:solidFill>
            <a:prstDash val="solid"/>
          </a:ln>
        </p:spPr>
      </p:sp>
      <p:sp>
        <p:nvSpPr>
          <p:cNvPr id="19" name="iconbg_503"/>
          <p:cNvSpPr/>
          <p:nvPr/>
        </p:nvSpPr>
        <p:spPr>
          <a:xfrm>
            <a:off x="8458200" y="4837176"/>
            <a:ext cx="548640" cy="548640"/>
          </a:xfrm>
          <a:prstGeom prst="ellipse">
            <a:avLst/>
          </a:prstGeom>
          <a:solidFill>
            <a:schemeClr val="accent2"/>
          </a:solidFill>
          <a:ln w="12700">
            <a:solidFill>
              <a:schemeClr val="accent2"/>
            </a:solidFill>
            <a:prstDash val="solid"/>
          </a:ln>
        </p:spPr>
      </p:sp>
      <p:pic>
        <p:nvPicPr>
          <p:cNvPr id="20" name="icon_504" descr="FolderOpen 아이콘">    </p:cNvPr>
          <p:cNvPicPr>
            <a:picLocks noChangeAspect="1"/>
          </p:cNvPicPr>
          <p:nvPr/>
        </p:nvPicPr>
        <p:blipFill>
          <a:blip r:embed="rId3"/>
          <a:stretch>
            <a:fillRect/>
          </a:stretch>
        </p:blipFill>
        <p:spPr>
          <a:xfrm>
            <a:off x="8578901" y="4957877"/>
            <a:ext cx="307238" cy="307238"/>
          </a:xfrm>
          <a:prstGeom prst="rect">
            <a:avLst/>
          </a:prstGeom>
        </p:spPr>
      </p:pic>
      <p:sp>
        <p:nvSpPr>
          <p:cNvPr id="21" name="text_505"/>
          <p:cNvSpPr txBox="1"/>
          <p:nvPr/>
        </p:nvSpPr>
        <p:spPr>
          <a:xfrm>
            <a:off x="9144000" y="4809744"/>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/opt/ros/humble</a:t>
            </a:r>
            <a:endParaRPr lang="ko-KR" altLang="en-US" sz="1500" dirty="0"/>
          </a:p>
        </p:txBody>
      </p:sp>
      <p:sp>
        <p:nvSpPr>
          <p:cNvPr id="22" name="text_506"/>
          <p:cNvSpPr txBox="1"/>
          <p:nvPr/>
        </p:nvSpPr>
        <p:spPr>
          <a:xfrm>
            <a:off x="8458200" y="5477256"/>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설치되는 위치. source해야 ros2 명령이 생긴다 (다음 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Python 패키지: 버전을 고정하는 이유</a:t>
            </a:r>
            <a:endParaRPr lang="ko-KR" altLang="en-US" sz="3000" dirty="0"/>
          </a:p>
        </p:txBody>
      </p:sp>
      <p:sp>
        <p:nvSpPr>
          <p:cNvPr id="3" name="pill_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09"/>
          <p:cNvSpPr/>
          <p:nvPr/>
        </p:nvSpPr>
        <p:spPr>
          <a:xfrm>
            <a:off x="548640" y="1371600"/>
            <a:ext cx="11064240" cy="594360"/>
          </a:xfrm>
          <a:prstGeom prst="roundRect">
            <a:avLst>
              <a:gd name="adj" fmla="val 12308"/>
            </a:avLst>
          </a:prstGeom>
          <a:solidFill>
            <a:schemeClr val="tx1"/>
          </a:solidFill>
          <a:ln w="12700">
            <a:solidFill>
              <a:schemeClr val="tx1"/>
            </a:solidFill>
            <a:prstDash val="solid"/>
          </a:ln>
        </p:spPr>
      </p:sp>
      <p:sp>
        <p:nvSpPr>
          <p:cNvPr id="7" name="code_510"/>
          <p:cNvSpPr txBox="1"/>
          <p:nvPr/>
        </p:nvSpPr>
        <p:spPr>
          <a:xfrm>
            <a:off x="731520" y="1508760"/>
            <a:ext cx="10698480" cy="3200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pip3 install --user "mujoco==3.12.0" "anthropic==2.3.0" "Brotli&gt;=1.1" "numpy&lt;2"</a:t>
            </a:r>
            <a:endParaRPr lang="ko-KR" altLang="en-US" sz="1400" dirty="0"/>
          </a:p>
        </p:txBody>
      </p:sp>
      <p:graphicFrame>
        <p:nvGraphicFramePr>
          <p:cNvPr id="27" name="table_511"/>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1828800"/>
                <a:gridCol w="1463040"/>
                <a:gridCol w="7772400"/>
              </a:tblGrid>
              <a:tr h="0">
                <a:tc>
                  <a:txBody>
                    <a:bodyPr/>
                    <a:lstStyle/>
                    <a:p>
                      <a:pPr eaLnBrk="0" indent="0" marL="0">
                        <a:buNone/>
                      </a:pPr>
                      <a:r>
                        <a:rPr lang="ko-KR" altLang="en-US" sz="1400" b="1" dirty="0">
                          <a:solidFill>
                            <a:schemeClr val="bg1"/>
                          </a:solidFill>
                        </a:rPr>
                        <a:t>패키지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고정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mujoco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3.12.0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교재·코드와 같은 버전. 뷰어와 API 동작이 같다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anthropic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2.3.0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모듈 4의 LLM 코드가 쓰는 SDK 버전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1.1 이상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기본 1.0.9는 SDK의 HTTP 라이브러리와 맞지 않아 모든 API 호출이 APIConnectionError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numpy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 미만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 Humble의 cv_bridge는 numpy 1.x로 빌드됨. 2.x가 깔리면 카메라 노드가 import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OpenArm 모델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고정 커밋</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원본 저장소가 바뀌어도 관절 이름·메시 경로가 그대로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512"/>
          <p:cNvSpPr/>
          <p:nvPr/>
        </p:nvSpPr>
        <p:spPr>
          <a:xfrm>
            <a:off x="548640" y="4572000"/>
            <a:ext cx="5440680" cy="1554480"/>
          </a:xfrm>
          <a:prstGeom prst="roundRect">
            <a:avLst>
              <a:gd name="adj" fmla="val 4706"/>
            </a:avLst>
          </a:prstGeom>
          <a:solidFill>
            <a:schemeClr val="bg2"/>
          </a:solidFill>
          <a:ln w="12700">
            <a:solidFill>
              <a:schemeClr val="bg2"/>
            </a:solidFill>
            <a:prstDash val="solid"/>
          </a:ln>
        </p:spPr>
      </p:sp>
      <p:sp>
        <p:nvSpPr>
          <p:cNvPr id="10" name="iconbg_513"/>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11" name="icon_514"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515"/>
          <p:cNvSpPr txBox="1"/>
          <p:nvPr/>
        </p:nvSpPr>
        <p:spPr>
          <a:xfrm>
            <a:off x="146304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516"/>
          <p:cNvSpPr txBox="1"/>
          <p:nvPr/>
        </p:nvSpPr>
        <p:spPr>
          <a:xfrm>
            <a:off x="77724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--user: sudo 없이 내 홈(~/.local)에 설치한다. Ubuntu 시스템 파이썬은 건드리지 않는다.</a:t>
            </a:r>
            <a:endParaRPr lang="ko-KR" altLang="en-US" sz="1400" dirty="0"/>
          </a:p>
        </p:txBody>
      </p:sp>
      <p:sp>
        <p:nvSpPr>
          <p:cNvPr id="14" name="box_517"/>
          <p:cNvSpPr/>
          <p:nvPr/>
        </p:nvSpPr>
        <p:spPr>
          <a:xfrm>
            <a:off x="6172200" y="4572000"/>
            <a:ext cx="5440680" cy="1554480"/>
          </a:xfrm>
          <a:prstGeom prst="roundRect">
            <a:avLst>
              <a:gd name="adj" fmla="val 4706"/>
            </a:avLst>
          </a:prstGeom>
          <a:solidFill>
            <a:schemeClr val="bg2"/>
          </a:solidFill>
          <a:ln w="12700">
            <a:solidFill>
              <a:schemeClr val="bg2"/>
            </a:solidFill>
            <a:prstDash val="solid"/>
          </a:ln>
        </p:spPr>
      </p:sp>
      <p:sp>
        <p:nvSpPr>
          <p:cNvPr id="15" name="iconbg_518"/>
          <p:cNvSpPr/>
          <p:nvPr/>
        </p:nvSpPr>
        <p:spPr>
          <a:xfrm>
            <a:off x="6400800" y="4800600"/>
            <a:ext cx="548640" cy="548640"/>
          </a:xfrm>
          <a:prstGeom prst="ellipse">
            <a:avLst/>
          </a:prstGeom>
          <a:solidFill>
            <a:schemeClr val="accent6"/>
          </a:solidFill>
          <a:ln w="12700">
            <a:solidFill>
              <a:schemeClr val="accent6"/>
            </a:solidFill>
            <a:prstDash val="solid"/>
          </a:ln>
        </p:spPr>
      </p:sp>
      <p:pic>
        <p:nvPicPr>
          <p:cNvPr id="16" name="icon_519" descr="ExclamationTriangle 아이콘">    </p:cNvPr>
          <p:cNvPicPr>
            <a:picLocks noChangeAspect="1"/>
          </p:cNvPicPr>
          <p:nvPr/>
        </p:nvPicPr>
        <p:blipFill>
          <a:blip r:embed="rId2"/>
          <a:stretch>
            <a:fillRect/>
          </a:stretch>
        </p:blipFill>
        <p:spPr>
          <a:xfrm>
            <a:off x="6521501" y="4921301"/>
            <a:ext cx="307238" cy="307238"/>
          </a:xfrm>
          <a:prstGeom prst="rect">
            <a:avLst/>
          </a:prstGeom>
        </p:spPr>
      </p:pic>
      <p:sp>
        <p:nvSpPr>
          <p:cNvPr id="17" name="text_520"/>
          <p:cNvSpPr txBox="1"/>
          <p:nvPr/>
        </p:nvSpPr>
        <p:spPr>
          <a:xfrm>
            <a:off x="708660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521"/>
          <p:cNvSpPr txBox="1"/>
          <p:nvPr/>
        </p:nvSpPr>
        <p:spPr>
          <a:xfrm>
            <a:off x="640080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conda가 켜져 있으면(프롬프트 앞 (base)) ROS가 깨진다 → conda deactivate. 아예 끄기: auto_activate_base false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source와 ~/.bashrc</a:t>
            </a:r>
            <a:endParaRPr lang="ko-KR" altLang="en-US" sz="3000" dirty="0"/>
          </a:p>
        </p:txBody>
      </p:sp>
      <p:sp>
        <p:nvSpPr>
          <p:cNvPr id="3" name="pill_5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28" name="table_5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97680"/>
                <a:gridCol w="4023360"/>
                <a:gridCol w="2743200"/>
              </a:tblGrid>
              <a:tr h="0">
                <a:tc>
                  <a:txBody>
                    <a:bodyPr/>
                    <a:lstStyle/>
                    <a:p>
                      <a:pPr eaLnBrk="0" indent="0" marL="0">
                        <a:buNone/>
                      </a:pPr>
                      <a:r>
                        <a:rPr lang="ko-KR" altLang="en-US" sz="1400" b="1" dirty="0">
                          <a:solidFill>
                            <a:schemeClr val="bg1"/>
                          </a:solidFill>
                        </a:rPr>
                        <a:t>불러오는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그러면 생기는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없으면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source /opt/ros/humble/setup.bash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명령, ROS 기본 패키지 (Nav2, MoveIt, RViz)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source ~/unbolt/ros2_ws/install/setup.bash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우리가 빌드한 패키지 (unbolt_dashboard 등)</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export UNBOLT_ROOT=~/unbolt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모델 파일(models/)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로봇 모델을 못 찾음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525"/>
          <p:cNvSpPr/>
          <p:nvPr/>
        </p:nvSpPr>
        <p:spPr>
          <a:xfrm>
            <a:off x="548640" y="3429000"/>
            <a:ext cx="6583680" cy="2697480"/>
          </a:xfrm>
          <a:prstGeom prst="roundRect">
            <a:avLst>
              <a:gd name="adj" fmla="val 2712"/>
            </a:avLst>
          </a:prstGeom>
          <a:solidFill>
            <a:schemeClr val="tx1"/>
          </a:solidFill>
          <a:ln w="12700">
            <a:solidFill>
              <a:schemeClr val="tx1"/>
            </a:solidFill>
            <a:prstDash val="solid"/>
          </a:ln>
        </p:spPr>
      </p:sp>
      <p:sp>
        <p:nvSpPr>
          <p:cNvPr id="8" name="code_526"/>
          <p:cNvSpPr txBox="1"/>
          <p:nvPr/>
        </p:nvSpPr>
        <p:spPr>
          <a:xfrm>
            <a:off x="731520" y="3566160"/>
            <a:ext cx="6217920" cy="24231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~/.bashrc 맨 끝 (설치 스크립트가 넣어 준다)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&gt;&gt;&gt; unbolt &gt;&gt;&gt;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/opt/ros/humble/setup.bash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~/unbolt/ros2_ws/install/setup.bash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UNBOLT_ROOT=~/unbolt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ROS_DOMAIN_ID=${ROS_DOMAIN_ID:-0}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~/.unbolt_key ] &amp;&amp; source ~/.unbolt_key   # API 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&lt;&lt;&lt; unbolt &lt;&lt;&lt;</a:t>
            </a:r>
            <a:endParaRPr lang="ko-KR" altLang="en-US" sz="1300" dirty="0"/>
          </a:p>
        </p:txBody>
      </p:sp>
      <p:sp>
        <p:nvSpPr>
          <p:cNvPr id="9" name="box_527"/>
          <p:cNvSpPr/>
          <p:nvPr/>
        </p:nvSpPr>
        <p:spPr>
          <a:xfrm>
            <a:off x="7406640" y="3429000"/>
            <a:ext cx="4206240" cy="1280160"/>
          </a:xfrm>
          <a:prstGeom prst="roundRect">
            <a:avLst>
              <a:gd name="adj" fmla="val 5714"/>
            </a:avLst>
          </a:prstGeom>
          <a:solidFill>
            <a:schemeClr val="bg2"/>
          </a:solidFill>
          <a:ln w="12700">
            <a:solidFill>
              <a:schemeClr val="bg2"/>
            </a:solidFill>
            <a:prstDash val="solid"/>
          </a:ln>
        </p:spPr>
      </p:sp>
      <p:sp>
        <p:nvSpPr>
          <p:cNvPr id="10" name="iconbg_528"/>
          <p:cNvSpPr/>
          <p:nvPr/>
        </p:nvSpPr>
        <p:spPr>
          <a:xfrm>
            <a:off x="7635240" y="3538728"/>
            <a:ext cx="411480" cy="411480"/>
          </a:xfrm>
          <a:prstGeom prst="ellipse">
            <a:avLst/>
          </a:prstGeom>
          <a:solidFill>
            <a:schemeClr val="accent3"/>
          </a:solidFill>
          <a:ln w="12700">
            <a:solidFill>
              <a:schemeClr val="accent3"/>
            </a:solidFill>
            <a:prstDash val="solid"/>
          </a:ln>
        </p:spPr>
      </p:sp>
      <p:pic>
        <p:nvPicPr>
          <p:cNvPr id="11" name="icon_529" descr="QuestionCircle 아이콘">    </p:cNvPr>
          <p:cNvPicPr>
            <a:picLocks noChangeAspect="1"/>
          </p:cNvPicPr>
          <p:nvPr/>
        </p:nvPicPr>
        <p:blipFill>
          <a:blip r:embed="rId1"/>
          <a:stretch>
            <a:fillRect/>
          </a:stretch>
        </p:blipFill>
        <p:spPr>
          <a:xfrm>
            <a:off x="7725766" y="3629254"/>
            <a:ext cx="230429" cy="230429"/>
          </a:xfrm>
          <a:prstGeom prst="rect">
            <a:avLst/>
          </a:prstGeom>
        </p:spPr>
      </p:pic>
      <p:sp>
        <p:nvSpPr>
          <p:cNvPr id="12" name="text_530"/>
          <p:cNvSpPr txBox="1"/>
          <p:nvPr/>
        </p:nvSpPr>
        <p:spPr>
          <a:xfrm>
            <a:off x="8183880" y="352044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3" name="text_531"/>
          <p:cNvSpPr txBox="1"/>
          <p:nvPr/>
        </p:nvSpPr>
        <p:spPr>
          <a:xfrm>
            <a:off x="7635240" y="399592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~/.bashrc는 새 터미널이 열릴 때마다 자동으로 실행되는 파일이다.</a:t>
            </a:r>
            <a:endParaRPr lang="ko-KR" altLang="en-US" sz="1400" dirty="0"/>
          </a:p>
        </p:txBody>
      </p:sp>
      <p:sp>
        <p:nvSpPr>
          <p:cNvPr id="14" name="box_532"/>
          <p:cNvSpPr/>
          <p:nvPr/>
        </p:nvSpPr>
        <p:spPr>
          <a:xfrm>
            <a:off x="7406640" y="4846320"/>
            <a:ext cx="4206240" cy="1280160"/>
          </a:xfrm>
          <a:prstGeom prst="roundRect">
            <a:avLst>
              <a:gd name="adj" fmla="val 5714"/>
            </a:avLst>
          </a:prstGeom>
          <a:solidFill>
            <a:schemeClr val="bg2"/>
          </a:solidFill>
          <a:ln w="12700">
            <a:solidFill>
              <a:schemeClr val="bg2"/>
            </a:solidFill>
            <a:prstDash val="solid"/>
          </a:ln>
        </p:spPr>
      </p:sp>
      <p:sp>
        <p:nvSpPr>
          <p:cNvPr id="15" name="iconbg_533"/>
          <p:cNvSpPr/>
          <p:nvPr/>
        </p:nvSpPr>
        <p:spPr>
          <a:xfrm>
            <a:off x="7635240" y="4956048"/>
            <a:ext cx="411480" cy="411480"/>
          </a:xfrm>
          <a:prstGeom prst="ellipse">
            <a:avLst/>
          </a:prstGeom>
          <a:solidFill>
            <a:schemeClr val="accent4"/>
          </a:solidFill>
          <a:ln w="12700">
            <a:solidFill>
              <a:schemeClr val="accent4"/>
            </a:solidFill>
            <a:prstDash val="solid"/>
          </a:ln>
        </p:spPr>
      </p:sp>
      <p:pic>
        <p:nvPicPr>
          <p:cNvPr id="16" name="icon_534" descr="Lightbulb 아이콘">    </p:cNvPr>
          <p:cNvPicPr>
            <a:picLocks noChangeAspect="1"/>
          </p:cNvPicPr>
          <p:nvPr/>
        </p:nvPicPr>
        <p:blipFill>
          <a:blip r:embed="rId2"/>
          <a:stretch>
            <a:fillRect/>
          </a:stretch>
        </p:blipFill>
        <p:spPr>
          <a:xfrm>
            <a:off x="7725766" y="5046574"/>
            <a:ext cx="230429" cy="230429"/>
          </a:xfrm>
          <a:prstGeom prst="rect">
            <a:avLst/>
          </a:prstGeom>
        </p:spPr>
      </p:pic>
      <p:sp>
        <p:nvSpPr>
          <p:cNvPr id="17" name="text_535"/>
          <p:cNvSpPr txBox="1"/>
          <p:nvPr/>
        </p:nvSpPr>
        <p:spPr>
          <a:xfrm>
            <a:off x="8183880" y="493776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536"/>
          <p:cNvSpPr txBox="1"/>
          <p:nvPr/>
        </p:nvSpPr>
        <p:spPr>
          <a:xfrm>
            <a:off x="7635240" y="541324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주소록에 등록하기: 등록한 곳의 이름만 찾을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확인하고, 없으면 직접 넣기</a:t>
            </a:r>
            <a:endParaRPr lang="ko-KR" altLang="en-US" sz="3000" dirty="0"/>
          </a:p>
        </p:txBody>
      </p:sp>
      <p:sp>
        <p:nvSpPr>
          <p:cNvPr id="3" name="pill_5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539"/>
          <p:cNvSpPr txBox="1"/>
          <p:nvPr/>
        </p:nvSpPr>
        <p:spPr>
          <a:xfrm>
            <a:off x="548640" y="132588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확인 (새 터미널에서)</a:t>
            </a:r>
            <a:endParaRPr lang="ko-KR" altLang="en-US" sz="1600" dirty="0"/>
          </a:p>
        </p:txBody>
      </p:sp>
      <p:sp>
        <p:nvSpPr>
          <p:cNvPr id="7" name="box_540"/>
          <p:cNvSpPr/>
          <p:nvPr/>
        </p:nvSpPr>
        <p:spPr>
          <a:xfrm>
            <a:off x="548640" y="1737360"/>
            <a:ext cx="6949440" cy="1417320"/>
          </a:xfrm>
          <a:prstGeom prst="roundRect">
            <a:avLst>
              <a:gd name="adj" fmla="val 5161"/>
            </a:avLst>
          </a:prstGeom>
          <a:solidFill>
            <a:schemeClr val="tx1"/>
          </a:solidFill>
          <a:ln w="12700">
            <a:solidFill>
              <a:schemeClr val="tx1"/>
            </a:solidFill>
            <a:prstDash val="solid"/>
          </a:ln>
        </p:spPr>
      </p:sp>
      <p:sp>
        <p:nvSpPr>
          <p:cNvPr id="8" name="code_541"/>
          <p:cNvSpPr txBox="1"/>
          <p:nvPr/>
        </p:nvSpPr>
        <p:spPr>
          <a:xfrm>
            <a:off x="731520" y="1874520"/>
            <a:ext cx="6583680" cy="11430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grep -A5 "&gt;&gt;&gt; unbolt" ~/.bashrc       # 블록이 있나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pkg prefix unbolt_dashboard       # 패키지를 찾나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/home/student/unbolt/ros2_ws/install/unbolt_dashboard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echo $UNBOLT_ROOT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a:t>
            </a:r>
            <a:endParaRPr lang="ko-KR" altLang="en-US" sz="1200" dirty="0"/>
          </a:p>
        </p:txBody>
      </p:sp>
      <p:sp>
        <p:nvSpPr>
          <p:cNvPr id="9" name="text_542"/>
          <p:cNvSpPr txBox="1"/>
          <p:nvPr/>
        </p:nvSpPr>
        <p:spPr>
          <a:xfrm>
            <a:off x="548640" y="329184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없거나 코드를 다른 곳에 두었다면: 직접 넣기</a:t>
            </a:r>
            <a:endParaRPr lang="ko-KR" altLang="en-US" sz="1600" dirty="0"/>
          </a:p>
        </p:txBody>
      </p:sp>
      <p:sp>
        <p:nvSpPr>
          <p:cNvPr id="10" name="box_543"/>
          <p:cNvSpPr/>
          <p:nvPr/>
        </p:nvSpPr>
        <p:spPr>
          <a:xfrm>
            <a:off x="548640" y="3703320"/>
            <a:ext cx="6949440" cy="2423160"/>
          </a:xfrm>
          <a:prstGeom prst="roundRect">
            <a:avLst>
              <a:gd name="adj" fmla="val 3019"/>
            </a:avLst>
          </a:prstGeom>
          <a:solidFill>
            <a:schemeClr val="tx1"/>
          </a:solidFill>
          <a:ln w="12700">
            <a:solidFill>
              <a:schemeClr val="tx1"/>
            </a:solidFill>
            <a:prstDash val="solid"/>
          </a:ln>
        </p:spPr>
      </p:sp>
      <p:sp>
        <p:nvSpPr>
          <p:cNvPr id="11" name="code_544"/>
          <p:cNvSpPr txBox="1"/>
          <p:nvPr/>
        </p:nvSpPr>
        <p:spPr>
          <a:xfrm>
            <a:off x="731520" y="3840480"/>
            <a:ext cx="6583680" cy="2148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REPO=~/unbolt          # 실제 코드 위치로 바꾸기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cat &gt;&gt; ~/.bashrc &lt;&lt;EOF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&gt;&gt;&gt; unbolt &gt;&gt;&gt;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$REPO/ros2_ws/install/setup.bash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export UNBOLT_ROOT=$REPO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&lt;&lt;&lt; unbolt &lt;&lt;&lt;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~/.bashrc       # 지금 열린 터미널에도 적용</a:t>
            </a:r>
            <a:endParaRPr lang="ko-KR" altLang="en-US" sz="1200" dirty="0"/>
          </a:p>
        </p:txBody>
      </p:sp>
      <p:sp>
        <p:nvSpPr>
          <p:cNvPr id="12" name="box_545"/>
          <p:cNvSpPr/>
          <p:nvPr/>
        </p:nvSpPr>
        <p:spPr>
          <a:xfrm>
            <a:off x="7772400" y="1371600"/>
            <a:ext cx="3840480" cy="1783080"/>
          </a:xfrm>
          <a:prstGeom prst="roundRect">
            <a:avLst>
              <a:gd name="adj" fmla="val 4103"/>
            </a:avLst>
          </a:prstGeom>
          <a:solidFill>
            <a:schemeClr val="bg2"/>
          </a:solidFill>
          <a:ln w="12700">
            <a:solidFill>
              <a:schemeClr val="bg2"/>
            </a:solidFill>
            <a:prstDash val="solid"/>
          </a:ln>
        </p:spPr>
      </p:sp>
      <p:sp>
        <p:nvSpPr>
          <p:cNvPr id="13" name="iconbg_546"/>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14" name="icon_547" descr="Wrench 아이콘">    </p:cNvPr>
          <p:cNvPicPr>
            <a:picLocks noChangeAspect="1"/>
          </p:cNvPicPr>
          <p:nvPr/>
        </p:nvPicPr>
        <p:blipFill>
          <a:blip r:embed="rId1"/>
          <a:stretch>
            <a:fillRect/>
          </a:stretch>
        </p:blipFill>
        <p:spPr>
          <a:xfrm>
            <a:off x="8121701" y="1720901"/>
            <a:ext cx="307238" cy="307238"/>
          </a:xfrm>
          <a:prstGeom prst="rect">
            <a:avLst/>
          </a:prstGeom>
        </p:spPr>
      </p:pic>
      <p:sp>
        <p:nvSpPr>
          <p:cNvPr id="15" name="text_54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6" name="text_549"/>
          <p:cNvSpPr txBox="1"/>
          <p:nvPr/>
        </p:nvSpPr>
        <p:spPr>
          <a:xfrm>
            <a:off x="8001000" y="2240280"/>
            <a:ext cx="338328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'unbolt_dashboard' not found → 이 블록이 없거나, 블록을 넣기 전에 연 터미널</a:t>
            </a:r>
            <a:endParaRPr lang="ko-KR" altLang="en-US" sz="1400" dirty="0"/>
          </a:p>
        </p:txBody>
      </p:sp>
      <p:sp>
        <p:nvSpPr>
          <p:cNvPr id="17" name="box_550"/>
          <p:cNvSpPr/>
          <p:nvPr/>
        </p:nvSpPr>
        <p:spPr>
          <a:xfrm>
            <a:off x="7772400" y="3291840"/>
            <a:ext cx="3840480" cy="1508760"/>
          </a:xfrm>
          <a:prstGeom prst="roundRect">
            <a:avLst>
              <a:gd name="adj" fmla="val 4848"/>
            </a:avLst>
          </a:prstGeom>
          <a:solidFill>
            <a:schemeClr val="bg2"/>
          </a:solidFill>
          <a:ln w="12700">
            <a:solidFill>
              <a:schemeClr val="bg2"/>
            </a:solidFill>
            <a:prstDash val="solid"/>
          </a:ln>
        </p:spPr>
      </p:sp>
      <p:sp>
        <p:nvSpPr>
          <p:cNvPr id="18" name="iconbg_55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9" name="icon_55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20" name="text_55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1" name="text_554"/>
          <p:cNvSpPr txBox="1"/>
          <p:nvPr/>
        </p:nvSpPr>
        <p:spPr>
          <a:xfrm>
            <a:off x="8001000" y="416052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가장 쉬운 방법: 설치 스크립트를 다시 실행하면 블록을 새로 써 준다 (두 번 들어가지 않음)</a:t>
            </a:r>
            <a:endParaRPr lang="ko-KR" altLang="en-US" sz="1400" dirty="0"/>
          </a:p>
        </p:txBody>
      </p:sp>
      <p:sp>
        <p:nvSpPr>
          <p:cNvPr id="22" name="box_555"/>
          <p:cNvSpPr/>
          <p:nvPr/>
        </p:nvSpPr>
        <p:spPr>
          <a:xfrm>
            <a:off x="7772400" y="4937760"/>
            <a:ext cx="3840480" cy="1188720"/>
          </a:xfrm>
          <a:prstGeom prst="roundRect">
            <a:avLst>
              <a:gd name="adj" fmla="val 6154"/>
            </a:avLst>
          </a:prstGeom>
          <a:solidFill>
            <a:schemeClr val="bg2"/>
          </a:solidFill>
          <a:ln w="12700">
            <a:solidFill>
              <a:schemeClr val="bg2"/>
            </a:solidFill>
            <a:prstDash val="solid"/>
          </a:ln>
        </p:spPr>
      </p:sp>
      <p:sp>
        <p:nvSpPr>
          <p:cNvPr id="23" name="iconbg_556"/>
          <p:cNvSpPr/>
          <p:nvPr/>
        </p:nvSpPr>
        <p:spPr>
          <a:xfrm>
            <a:off x="8001000" y="5047488"/>
            <a:ext cx="411480" cy="411480"/>
          </a:xfrm>
          <a:prstGeom prst="ellipse">
            <a:avLst/>
          </a:prstGeom>
          <a:solidFill>
            <a:schemeClr val="accent6"/>
          </a:solidFill>
          <a:ln w="12700">
            <a:solidFill>
              <a:schemeClr val="accent6"/>
            </a:solidFill>
            <a:prstDash val="solid"/>
          </a:ln>
        </p:spPr>
      </p:sp>
      <p:pic>
        <p:nvPicPr>
          <p:cNvPr id="24" name="icon_557" descr="ExclamationTriangle 아이콘">    </p:cNvPr>
          <p:cNvPicPr>
            <a:picLocks noChangeAspect="1"/>
          </p:cNvPicPr>
          <p:nvPr/>
        </p:nvPicPr>
        <p:blipFill>
          <a:blip r:embed="rId3"/>
          <a:stretch>
            <a:fillRect/>
          </a:stretch>
        </p:blipFill>
        <p:spPr>
          <a:xfrm>
            <a:off x="8091526" y="5138014"/>
            <a:ext cx="230429" cy="230429"/>
          </a:xfrm>
          <a:prstGeom prst="rect">
            <a:avLst/>
          </a:prstGeom>
        </p:spPr>
      </p:pic>
      <p:sp>
        <p:nvSpPr>
          <p:cNvPr id="25" name="text_558"/>
          <p:cNvSpPr txBox="1"/>
          <p:nvPr/>
        </p:nvSpPr>
        <p:spPr>
          <a:xfrm>
            <a:off x="8549640" y="502920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6" name="text_559"/>
          <p:cNvSpPr txBox="1"/>
          <p:nvPr/>
        </p:nvSpPr>
        <p:spPr>
          <a:xfrm>
            <a:off x="8001000" y="5504688"/>
            <a:ext cx="338328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이미 열린 터미널은 .bashrc를 다시 읽지 않는다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빌드: colcon build는 언제 다시 하나</a:t>
            </a:r>
            <a:endParaRPr lang="ko-KR" altLang="en-US" sz="3000" dirty="0"/>
          </a:p>
        </p:txBody>
      </p:sp>
      <p:sp>
        <p:nvSpPr>
          <p:cNvPr id="3" name="pill_5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62"/>
          <p:cNvSpPr/>
          <p:nvPr/>
        </p:nvSpPr>
        <p:spPr>
          <a:xfrm>
            <a:off x="548640" y="1371600"/>
            <a:ext cx="11064240" cy="1371600"/>
          </a:xfrm>
          <a:prstGeom prst="roundRect">
            <a:avLst>
              <a:gd name="adj" fmla="val 5333"/>
            </a:avLst>
          </a:prstGeom>
          <a:solidFill>
            <a:schemeClr val="tx1"/>
          </a:solidFill>
          <a:ln w="12700">
            <a:solidFill>
              <a:schemeClr val="tx1"/>
            </a:solidFill>
            <a:prstDash val="solid"/>
          </a:ln>
        </p:spPr>
      </p:sp>
      <p:sp>
        <p:nvSpPr>
          <p:cNvPr id="7" name="code_563"/>
          <p:cNvSpPr txBox="1"/>
          <p:nvPr/>
        </p:nvSpPr>
        <p:spPr>
          <a:xfrm>
            <a:off x="731520" y="1508760"/>
            <a:ext cx="1069848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cd ~/unbolt/ros2_ws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colcon build --symlink-install</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Summary: 7 packages finished [40s]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source install/setup.bash     # 새 패키지·새 실행 이름이 생겼을 때</a:t>
            </a:r>
            <a:endParaRPr lang="ko-KR" altLang="en-US" sz="1400" dirty="0"/>
          </a:p>
        </p:txBody>
      </p:sp>
      <p:graphicFrame>
        <p:nvGraphicFramePr>
          <p:cNvPr id="30" name="table_564"/>
          <p:cNvGraphicFramePr>
            <a:graphicFrameLocks noGrp="1"/>
          </p:cNvGraphicFramePr>
          <p:nvPr>
            <p:extLst>
              <p:ext uri="{D42A27DB-BD31-4B8C-83A1-F6EECF244321}">
                <p14:modId xmlns:p14="http://schemas.microsoft.com/office/powerpoint/2010/main" val="1579011935"/>
              </p:ext>
            </p:extLst>
          </p:nvPr>
        </p:nvGraphicFramePr>
        <p:xfrm>
          <a:off x="548640" y="2971800"/>
          <a:ext cx="6949440" cy="914400"/>
        </p:xfrm>
        <a:graphic>
          <a:graphicData uri="http://schemas.openxmlformats.org/drawingml/2006/table">
            <a:tbl>
              <a:tblPr/>
              <a:tblGrid>
                <a:gridCol w="4572000"/>
                <a:gridCol w="2377440"/>
              </a:tblGrid>
              <a:tr h="0">
                <a:tc>
                  <a:txBody>
                    <a:bodyPr/>
                    <a:lstStyle/>
                    <a:p>
                      <a:pPr eaLnBrk="0" indent="0" marL="0">
                        <a:buNone/>
                      </a:pPr>
                      <a:r>
                        <a:rPr lang="ko-KR" altLang="en-US" sz="1400" b="1" dirty="0">
                          <a:solidFill>
                            <a:schemeClr val="bg1"/>
                          </a:solidFill>
                        </a:rPr>
                        <a:t>이럴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다시 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기존 Python 코드, launch, config, 웹 파일을 고침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필요 없음 (바로 반영)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파일(노드, launch 파일)을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setup.py에 실행 이름(entry point)을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빌드 + source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패키지를 만듦</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 + source (또는 새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565"/>
          <p:cNvSpPr/>
          <p:nvPr/>
        </p:nvSpPr>
        <p:spPr>
          <a:xfrm>
            <a:off x="7772400" y="2971800"/>
            <a:ext cx="3840480" cy="1508760"/>
          </a:xfrm>
          <a:prstGeom prst="roundRect">
            <a:avLst>
              <a:gd name="adj" fmla="val 4848"/>
            </a:avLst>
          </a:prstGeom>
          <a:solidFill>
            <a:schemeClr val="bg2"/>
          </a:solidFill>
          <a:ln w="12700">
            <a:solidFill>
              <a:schemeClr val="bg2"/>
            </a:solidFill>
            <a:prstDash val="solid"/>
          </a:ln>
        </p:spPr>
      </p:sp>
      <p:sp>
        <p:nvSpPr>
          <p:cNvPr id="10" name="iconbg_566"/>
          <p:cNvSpPr/>
          <p:nvPr/>
        </p:nvSpPr>
        <p:spPr>
          <a:xfrm>
            <a:off x="8001000" y="3200400"/>
            <a:ext cx="548640" cy="548640"/>
          </a:xfrm>
          <a:prstGeom prst="ellipse">
            <a:avLst/>
          </a:prstGeom>
          <a:solidFill>
            <a:schemeClr val="accent4"/>
          </a:solidFill>
          <a:ln w="12700">
            <a:solidFill>
              <a:schemeClr val="accent4"/>
            </a:solidFill>
            <a:prstDash val="solid"/>
          </a:ln>
        </p:spPr>
      </p:sp>
      <p:pic>
        <p:nvPicPr>
          <p:cNvPr id="11" name="icon_567" descr="Lightbulb 아이콘">    </p:cNvPr>
          <p:cNvPicPr>
            <a:picLocks noChangeAspect="1"/>
          </p:cNvPicPr>
          <p:nvPr/>
        </p:nvPicPr>
        <p:blipFill>
          <a:blip r:embed="rId1"/>
          <a:stretch>
            <a:fillRect/>
          </a:stretch>
        </p:blipFill>
        <p:spPr>
          <a:xfrm>
            <a:off x="8121701" y="3321101"/>
            <a:ext cx="307238" cy="307238"/>
          </a:xfrm>
          <a:prstGeom prst="rect">
            <a:avLst/>
          </a:prstGeom>
        </p:spPr>
      </p:pic>
      <p:sp>
        <p:nvSpPr>
          <p:cNvPr id="12" name="text_568"/>
          <p:cNvSpPr txBox="1"/>
          <p:nvPr/>
        </p:nvSpPr>
        <p:spPr>
          <a:xfrm>
            <a:off x="8686800" y="31729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3" name="text_569"/>
          <p:cNvSpPr txBox="1"/>
          <p:nvPr/>
        </p:nvSpPr>
        <p:spPr>
          <a:xfrm>
            <a:off x="8001000" y="384048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--symlink-install = 원본으로 가는 바로가기. 복사본이 아니라서 원본을 고치면 바로 반영된다.</a:t>
            </a:r>
            <a:endParaRPr lang="ko-KR" altLang="en-US" sz="1400" dirty="0"/>
          </a:p>
        </p:txBody>
      </p:sp>
      <p:sp>
        <p:nvSpPr>
          <p:cNvPr id="14" name="box_570"/>
          <p:cNvSpPr/>
          <p:nvPr/>
        </p:nvSpPr>
        <p:spPr>
          <a:xfrm>
            <a:off x="7772400" y="4617720"/>
            <a:ext cx="3840480" cy="1508760"/>
          </a:xfrm>
          <a:prstGeom prst="roundRect">
            <a:avLst>
              <a:gd name="adj" fmla="val 4848"/>
            </a:avLst>
          </a:prstGeom>
          <a:solidFill>
            <a:schemeClr val="bg2"/>
          </a:solidFill>
          <a:ln w="12700">
            <a:solidFill>
              <a:schemeClr val="bg2"/>
            </a:solidFill>
            <a:prstDash val="solid"/>
          </a:ln>
        </p:spPr>
      </p:sp>
      <p:sp>
        <p:nvSpPr>
          <p:cNvPr id="15" name="iconbg_571"/>
          <p:cNvSpPr/>
          <p:nvPr/>
        </p:nvSpPr>
        <p:spPr>
          <a:xfrm>
            <a:off x="8001000" y="4846320"/>
            <a:ext cx="548640" cy="548640"/>
          </a:xfrm>
          <a:prstGeom prst="ellipse">
            <a:avLst/>
          </a:prstGeom>
          <a:solidFill>
            <a:schemeClr val="accent6"/>
          </a:solidFill>
          <a:ln w="12700">
            <a:solidFill>
              <a:schemeClr val="accent6"/>
            </a:solidFill>
            <a:prstDash val="solid"/>
          </a:ln>
        </p:spPr>
      </p:sp>
      <p:pic>
        <p:nvPicPr>
          <p:cNvPr id="16" name="icon_572" descr="Wrench 아이콘">    </p:cNvPr>
          <p:cNvPicPr>
            <a:picLocks noChangeAspect="1"/>
          </p:cNvPicPr>
          <p:nvPr/>
        </p:nvPicPr>
        <p:blipFill>
          <a:blip r:embed="rId2"/>
          <a:stretch>
            <a:fillRect/>
          </a:stretch>
        </p:blipFill>
        <p:spPr>
          <a:xfrm>
            <a:off x="8121701" y="4967021"/>
            <a:ext cx="307238" cy="307238"/>
          </a:xfrm>
          <a:prstGeom prst="rect">
            <a:avLst/>
          </a:prstGeom>
        </p:spPr>
      </p:pic>
      <p:sp>
        <p:nvSpPr>
          <p:cNvPr id="17" name="text_573"/>
          <p:cNvSpPr txBox="1"/>
          <p:nvPr/>
        </p:nvSpPr>
        <p:spPr>
          <a:xfrm>
            <a:off x="8686800" y="4818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574"/>
          <p:cNvSpPr txBox="1"/>
          <p:nvPr/>
        </p:nvSpPr>
        <p:spPr>
          <a:xfrm>
            <a:off x="8001000" y="548640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colcon: command not found → ros-dev-tools가 없음. 설치 스크립트를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5단계. 설치 점검</a:t>
            </a:r>
            <a:endParaRPr lang="ko-KR" altLang="en-US" sz="3000" dirty="0"/>
          </a:p>
        </p:txBody>
      </p:sp>
      <p:sp>
        <p:nvSpPr>
          <p:cNvPr id="3" name="pill_5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77"/>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578"/>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UNBOLT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   ✔ ~/.bashrc 설정</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579"/>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5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5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5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583"/>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 이 화면을 캡처해서 제출</a:t>
            </a:r>
            <a:endParaRPr lang="ko-KR" altLang="en-US" sz="1400" dirty="0"/>
          </a:p>
        </p:txBody>
      </p:sp>
      <p:sp>
        <p:nvSpPr>
          <p:cNvPr id="13" name="box_584"/>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585"/>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586"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587"/>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588"/>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589"/>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590"/>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591"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592"/>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593"/>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 ~/.bashrc 설정 없음이면 환경 설정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6단계. 첫 실행: 로봇 몰아 보기</a:t>
            </a:r>
            <a:endParaRPr lang="ko-KR" altLang="en-US" sz="3000" dirty="0"/>
          </a:p>
        </p:txBody>
      </p:sp>
      <p:sp>
        <p:nvSpPr>
          <p:cNvPr id="3" name="pill_5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96"/>
          <p:cNvSpPr/>
          <p:nvPr/>
        </p:nvSpPr>
        <p:spPr>
          <a:xfrm>
            <a:off x="548640" y="1371600"/>
            <a:ext cx="6035040" cy="2194560"/>
          </a:xfrm>
          <a:prstGeom prst="roundRect">
            <a:avLst>
              <a:gd name="adj" fmla="val 3333"/>
            </a:avLst>
          </a:prstGeom>
          <a:solidFill>
            <a:schemeClr val="tx1"/>
          </a:solidFill>
          <a:ln w="12700">
            <a:solidFill>
              <a:schemeClr val="tx1"/>
            </a:solidFill>
            <a:prstDash val="solid"/>
          </a:ln>
        </p:spPr>
      </p:sp>
      <p:sp>
        <p:nvSpPr>
          <p:cNvPr id="7" name="code_597"/>
          <p:cNvSpPr txBox="1"/>
          <p:nvPr/>
        </p:nvSpPr>
        <p:spPr>
          <a:xfrm>
            <a:off x="731520" y="1508760"/>
            <a:ext cx="5669280" cy="1920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앞   , 뒤   j / l 회전   k 정지</a:t>
            </a:r>
            <a:endParaRPr lang="ko-KR" altLang="en-US" sz="1300" dirty="0"/>
          </a:p>
        </p:txBody>
      </p:sp>
      <p:sp>
        <p:nvSpPr>
          <p:cNvPr id="8" name="box_598"/>
          <p:cNvSpPr/>
          <p:nvPr/>
        </p:nvSpPr>
        <p:spPr>
          <a:xfrm>
            <a:off x="548640" y="3749040"/>
            <a:ext cx="6035040" cy="1143000"/>
          </a:xfrm>
          <a:prstGeom prst="roundRect">
            <a:avLst>
              <a:gd name="adj" fmla="val 6400"/>
            </a:avLst>
          </a:prstGeom>
          <a:solidFill>
            <a:schemeClr val="bg2"/>
          </a:solidFill>
          <a:ln w="12700">
            <a:solidFill>
              <a:schemeClr val="bg2"/>
            </a:solidFill>
            <a:prstDash val="solid"/>
          </a:ln>
        </p:spPr>
      </p:sp>
      <p:sp>
        <p:nvSpPr>
          <p:cNvPr id="9" name="iconbg_599"/>
          <p:cNvSpPr/>
          <p:nvPr/>
        </p:nvSpPr>
        <p:spPr>
          <a:xfrm>
            <a:off x="777240" y="3858768"/>
            <a:ext cx="411480" cy="411480"/>
          </a:xfrm>
          <a:prstGeom prst="ellipse">
            <a:avLst/>
          </a:prstGeom>
          <a:solidFill>
            <a:schemeClr val="accent2"/>
          </a:solidFill>
          <a:ln w="12700">
            <a:solidFill>
              <a:schemeClr val="accent2"/>
            </a:solidFill>
            <a:prstDash val="solid"/>
          </a:ln>
        </p:spPr>
      </p:sp>
      <p:pic>
        <p:nvPicPr>
          <p:cNvPr id="10" name="icon_600" descr="CheckCircle 아이콘">    </p:cNvPr>
          <p:cNvPicPr>
            <a:picLocks noChangeAspect="1"/>
          </p:cNvPicPr>
          <p:nvPr/>
        </p:nvPicPr>
        <p:blipFill>
          <a:blip r:embed="rId1"/>
          <a:stretch>
            <a:fillRect/>
          </a:stretch>
        </p:blipFill>
        <p:spPr>
          <a:xfrm>
            <a:off x="867766" y="3949294"/>
            <a:ext cx="230429" cy="230429"/>
          </a:xfrm>
          <a:prstGeom prst="rect">
            <a:avLst/>
          </a:prstGeom>
        </p:spPr>
      </p:pic>
      <p:sp>
        <p:nvSpPr>
          <p:cNvPr id="11" name="text_601"/>
          <p:cNvSpPr txBox="1"/>
          <p:nvPr/>
        </p:nvSpPr>
        <p:spPr>
          <a:xfrm>
            <a:off x="1325880" y="384048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602"/>
          <p:cNvSpPr txBox="1"/>
          <p:nvPr/>
        </p:nvSpPr>
        <p:spPr>
          <a:xfrm>
            <a:off x="777240" y="4315968"/>
            <a:ext cx="55778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뷰어의 로봇이 움직이고 RViz의 빨간 LiDAR 점이 따라 바뀐다. ✅ 체크포인트 3</a:t>
            </a:r>
            <a:endParaRPr lang="ko-KR" altLang="en-US" sz="1400" dirty="0"/>
          </a:p>
        </p:txBody>
      </p:sp>
      <p:sp>
        <p:nvSpPr>
          <p:cNvPr id="13" name="box_603"/>
          <p:cNvSpPr/>
          <p:nvPr/>
        </p:nvSpPr>
        <p:spPr>
          <a:xfrm>
            <a:off x="548640" y="5029200"/>
            <a:ext cx="6035040" cy="1097280"/>
          </a:xfrm>
          <a:prstGeom prst="roundRect">
            <a:avLst>
              <a:gd name="adj" fmla="val 6667"/>
            </a:avLst>
          </a:prstGeom>
          <a:solidFill>
            <a:schemeClr val="bg2"/>
          </a:solidFill>
          <a:ln w="12700">
            <a:solidFill>
              <a:schemeClr val="bg2"/>
            </a:solidFill>
            <a:prstDash val="solid"/>
          </a:ln>
        </p:spPr>
      </p:sp>
      <p:sp>
        <p:nvSpPr>
          <p:cNvPr id="14" name="iconbg_604"/>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15" name="icon_605" descr="Wrench 아이콘">    </p:cNvPr>
          <p:cNvPicPr>
            <a:picLocks noChangeAspect="1"/>
          </p:cNvPicPr>
          <p:nvPr/>
        </p:nvPicPr>
        <p:blipFill>
          <a:blip r:embed="rId2"/>
          <a:stretch>
            <a:fillRect/>
          </a:stretch>
        </p:blipFill>
        <p:spPr>
          <a:xfrm>
            <a:off x="867766" y="5229454"/>
            <a:ext cx="230429" cy="230429"/>
          </a:xfrm>
          <a:prstGeom prst="rect">
            <a:avLst/>
          </a:prstGeom>
        </p:spPr>
      </p:pic>
      <p:sp>
        <p:nvSpPr>
          <p:cNvPr id="16" name="text_606"/>
          <p:cNvSpPr txBox="1"/>
          <p:nvPr/>
        </p:nvSpPr>
        <p:spPr>
          <a:xfrm>
            <a:off x="1325880" y="512064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17" name="text_607"/>
          <p:cNvSpPr txBox="1"/>
          <p:nvPr/>
        </p:nvSpPr>
        <p:spPr>
          <a:xfrm>
            <a:off x="777240" y="5596128"/>
            <a:ext cx="5577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not found → 환경 설정 장. 키가 안 먹음 → teleop 터미널을 클릭한 뒤 누르기</a:t>
            </a:r>
            <a:endParaRPr lang="ko-KR" altLang="en-US" sz="1400" dirty="0"/>
          </a:p>
        </p:txBody>
      </p:sp>
      <p:pic>
        <p:nvPicPr>
          <p:cNvPr id="18" name="img_608" descr="RViz에 보이는 로봇 모델과 LiDAR 점">    </p:cNvPr>
          <p:cNvPicPr>
            <a:picLocks noChangeAspect="1"/>
          </p:cNvPicPr>
          <p:nvPr/>
        </p:nvPicPr>
        <p:blipFill>
          <a:blip r:embed="rId3"/>
          <a:stretch>
            <a:fillRect/>
          </a:stretch>
        </p:blipFill>
        <p:spPr>
          <a:xfrm>
            <a:off x="6858000" y="2219498"/>
            <a:ext cx="4754880" cy="3059084"/>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대시보드도 미리 열어 보기</a:t>
            </a:r>
            <a:endParaRPr lang="ko-KR" altLang="en-US" sz="3000" dirty="0"/>
          </a:p>
        </p:txBody>
      </p:sp>
      <p:sp>
        <p:nvSpPr>
          <p:cNvPr id="3" name="pill_6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pic>
        <p:nvPicPr>
          <p:cNvPr id="6" name="img_611" descr="ROS가 꺼져 있을 때의 대시보드: 연결 버튼과 시작 옵션">    </p:cNvPr>
          <p:cNvPicPr>
            <a:picLocks noChangeAspect="1"/>
          </p:cNvPicPr>
          <p:nvPr/>
        </p:nvPicPr>
        <p:blipFill>
          <a:blip r:embed="rId1"/>
          <a:stretch>
            <a:fillRect/>
          </a:stretch>
        </p:blipFill>
        <p:spPr>
          <a:xfrm>
            <a:off x="548640" y="1371600"/>
            <a:ext cx="5852160" cy="3657600"/>
          </a:xfrm>
          <a:prstGeom prst="rect">
            <a:avLst/>
          </a:prstGeom>
        </p:spPr>
      </p:pic>
      <p:sp>
        <p:nvSpPr>
          <p:cNvPr id="7" name="box_612"/>
          <p:cNvSpPr/>
          <p:nvPr/>
        </p:nvSpPr>
        <p:spPr>
          <a:xfrm>
            <a:off x="548640" y="5212080"/>
            <a:ext cx="5852160" cy="914400"/>
          </a:xfrm>
          <a:prstGeom prst="roundRect">
            <a:avLst>
              <a:gd name="adj" fmla="val 8000"/>
            </a:avLst>
          </a:prstGeom>
          <a:solidFill>
            <a:schemeClr val="tx1"/>
          </a:solidFill>
          <a:ln w="12700">
            <a:solidFill>
              <a:schemeClr val="tx1"/>
            </a:solidFill>
            <a:prstDash val="solid"/>
          </a:ln>
        </p:spPr>
      </p:sp>
      <p:sp>
        <p:nvSpPr>
          <p:cNvPr id="8" name="code_613"/>
          <p:cNvSpPr txBox="1"/>
          <p:nvPr/>
        </p:nvSpPr>
        <p:spPr>
          <a:xfrm>
            <a:off x="731520" y="5349240"/>
            <a:ext cx="548640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 http://localhost:8080</a:t>
            </a:r>
            <a:endParaRPr lang="ko-KR" altLang="en-US" sz="1300" dirty="0"/>
          </a:p>
        </p:txBody>
      </p:sp>
      <p:sp>
        <p:nvSpPr>
          <p:cNvPr id="9" name="box_614"/>
          <p:cNvSpPr/>
          <p:nvPr/>
        </p:nvSpPr>
        <p:spPr>
          <a:xfrm>
            <a:off x="6675120" y="1371600"/>
            <a:ext cx="4937760" cy="1874520"/>
          </a:xfrm>
          <a:prstGeom prst="roundRect">
            <a:avLst>
              <a:gd name="adj" fmla="val 3902"/>
            </a:avLst>
          </a:prstGeom>
          <a:solidFill>
            <a:schemeClr val="bg2"/>
          </a:solidFill>
          <a:ln w="12700">
            <a:solidFill>
              <a:schemeClr val="bg2"/>
            </a:solidFill>
            <a:prstDash val="solid"/>
          </a:ln>
        </p:spPr>
      </p:sp>
      <p:sp>
        <p:nvSpPr>
          <p:cNvPr id="10" name="iconbg_615"/>
          <p:cNvSpPr/>
          <p:nvPr/>
        </p:nvSpPr>
        <p:spPr>
          <a:xfrm>
            <a:off x="6903720" y="1600200"/>
            <a:ext cx="548640" cy="548640"/>
          </a:xfrm>
          <a:prstGeom prst="ellipse">
            <a:avLst/>
          </a:prstGeom>
          <a:solidFill>
            <a:schemeClr val="accent2"/>
          </a:solidFill>
          <a:ln w="12700">
            <a:solidFill>
              <a:schemeClr val="accent2"/>
            </a:solidFill>
            <a:prstDash val="solid"/>
          </a:ln>
        </p:spPr>
      </p:sp>
      <p:pic>
        <p:nvPicPr>
          <p:cNvPr id="11" name="icon_616" descr="PowerOff 아이콘">    </p:cNvPr>
          <p:cNvPicPr>
            <a:picLocks noChangeAspect="1"/>
          </p:cNvPicPr>
          <p:nvPr/>
        </p:nvPicPr>
        <p:blipFill>
          <a:blip r:embed="rId2"/>
          <a:stretch>
            <a:fillRect/>
          </a:stretch>
        </p:blipFill>
        <p:spPr>
          <a:xfrm>
            <a:off x="7024421" y="1720901"/>
            <a:ext cx="307238" cy="307238"/>
          </a:xfrm>
          <a:prstGeom prst="rect">
            <a:avLst/>
          </a:prstGeom>
        </p:spPr>
      </p:pic>
      <p:sp>
        <p:nvSpPr>
          <p:cNvPr id="12" name="text_617"/>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1. 런처 (추천)</a:t>
            </a:r>
            <a:endParaRPr lang="ko-KR" altLang="en-US" sz="1600" dirty="0"/>
          </a:p>
        </p:txBody>
      </p:sp>
      <p:sp>
        <p:nvSpPr>
          <p:cNvPr id="13" name="text_618"/>
          <p:cNvSpPr txBox="1"/>
          <p:nvPr/>
        </p:nvSpPr>
        <p:spPr>
          <a:xfrm>
            <a:off x="6903720" y="2240280"/>
            <a:ext cx="4480560" cy="932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런처를 켜 두고 브라우저에서 연결 → 옵션 고르기 → 25초쯤 뒤 "ROS 연결됨". 끌 때는 시스템 종료</a:t>
            </a:r>
            <a:endParaRPr lang="ko-KR" altLang="en-US" sz="1400" dirty="0"/>
          </a:p>
        </p:txBody>
      </p:sp>
      <p:sp>
        <p:nvSpPr>
          <p:cNvPr id="14" name="box_619"/>
          <p:cNvSpPr/>
          <p:nvPr/>
        </p:nvSpPr>
        <p:spPr>
          <a:xfrm>
            <a:off x="6675120" y="3383280"/>
            <a:ext cx="4937760" cy="1508760"/>
          </a:xfrm>
          <a:prstGeom prst="roundRect">
            <a:avLst>
              <a:gd name="adj" fmla="val 4848"/>
            </a:avLst>
          </a:prstGeom>
          <a:solidFill>
            <a:schemeClr val="bg2"/>
          </a:solidFill>
          <a:ln w="12700">
            <a:solidFill>
              <a:schemeClr val="bg2"/>
            </a:solidFill>
            <a:prstDash val="solid"/>
          </a:ln>
        </p:spPr>
      </p:sp>
      <p:sp>
        <p:nvSpPr>
          <p:cNvPr id="15" name="iconbg_620"/>
          <p:cNvSpPr/>
          <p:nvPr/>
        </p:nvSpPr>
        <p:spPr>
          <a:xfrm>
            <a:off x="6903720" y="3611880"/>
            <a:ext cx="548640" cy="548640"/>
          </a:xfrm>
          <a:prstGeom prst="ellipse">
            <a:avLst/>
          </a:prstGeom>
          <a:solidFill>
            <a:schemeClr val="accent3"/>
          </a:solidFill>
          <a:ln w="12700">
            <a:solidFill>
              <a:schemeClr val="accent3"/>
            </a:solidFill>
            <a:prstDash val="solid"/>
          </a:ln>
        </p:spPr>
      </p:sp>
      <p:pic>
        <p:nvPicPr>
          <p:cNvPr id="16" name="icon_621" descr="Terminal 아이콘">    </p:cNvPr>
          <p:cNvPicPr>
            <a:picLocks noChangeAspect="1"/>
          </p:cNvPicPr>
          <p:nvPr/>
        </p:nvPicPr>
        <p:blipFill>
          <a:blip r:embed="rId3"/>
          <a:stretch>
            <a:fillRect/>
          </a:stretch>
        </p:blipFill>
        <p:spPr>
          <a:xfrm>
            <a:off x="7024421" y="3732581"/>
            <a:ext cx="307238" cy="307238"/>
          </a:xfrm>
          <a:prstGeom prst="rect">
            <a:avLst/>
          </a:prstGeom>
        </p:spPr>
      </p:pic>
      <p:sp>
        <p:nvSpPr>
          <p:cNvPr id="17" name="text_622"/>
          <p:cNvSpPr txBox="1"/>
          <p:nvPr/>
        </p:nvSpPr>
        <p:spPr>
          <a:xfrm>
            <a:off x="7589520" y="35844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2. launch로 직접</a:t>
            </a:r>
            <a:endParaRPr lang="ko-KR" altLang="en-US" sz="1600" dirty="0"/>
          </a:p>
        </p:txBody>
      </p:sp>
      <p:sp>
        <p:nvSpPr>
          <p:cNvPr id="18" name="text_623"/>
          <p:cNvSpPr txBox="1"/>
          <p:nvPr/>
        </p:nvSpPr>
        <p:spPr>
          <a:xfrm>
            <a:off x="6903720" y="4251960"/>
            <a:ext cx="44805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bringup.launch.py planner:=true dashboard:=true (키가 없으면 llm:=scripted)</a:t>
            </a:r>
            <a:endParaRPr lang="ko-KR" altLang="en-US" sz="1400" dirty="0"/>
          </a:p>
        </p:txBody>
      </p:sp>
      <p:sp>
        <p:nvSpPr>
          <p:cNvPr id="19" name="box_624"/>
          <p:cNvSpPr/>
          <p:nvPr/>
        </p:nvSpPr>
        <p:spPr>
          <a:xfrm>
            <a:off x="6675120" y="5029200"/>
            <a:ext cx="4937760" cy="1097280"/>
          </a:xfrm>
          <a:prstGeom prst="roundRect">
            <a:avLst>
              <a:gd name="adj" fmla="val 6667"/>
            </a:avLst>
          </a:prstGeom>
          <a:solidFill>
            <a:schemeClr val="bg2"/>
          </a:solidFill>
          <a:ln w="12700">
            <a:solidFill>
              <a:schemeClr val="bg2"/>
            </a:solidFill>
            <a:prstDash val="solid"/>
          </a:ln>
        </p:spPr>
      </p:sp>
      <p:sp>
        <p:nvSpPr>
          <p:cNvPr id="20" name="iconbg_625"/>
          <p:cNvSpPr/>
          <p:nvPr/>
        </p:nvSpPr>
        <p:spPr>
          <a:xfrm>
            <a:off x="6903720" y="5138928"/>
            <a:ext cx="411480" cy="411480"/>
          </a:xfrm>
          <a:prstGeom prst="ellipse">
            <a:avLst/>
          </a:prstGeom>
          <a:solidFill>
            <a:schemeClr val="accent6"/>
          </a:solidFill>
          <a:ln w="12700">
            <a:solidFill>
              <a:schemeClr val="accent6"/>
            </a:solidFill>
            <a:prstDash val="solid"/>
          </a:ln>
        </p:spPr>
      </p:sp>
      <p:pic>
        <p:nvPicPr>
          <p:cNvPr id="21" name="icon_626" descr="Wrench 아이콘">    </p:cNvPr>
          <p:cNvPicPr>
            <a:picLocks noChangeAspect="1"/>
          </p:cNvPicPr>
          <p:nvPr/>
        </p:nvPicPr>
        <p:blipFill>
          <a:blip r:embed="rId4"/>
          <a:stretch>
            <a:fillRect/>
          </a:stretch>
        </p:blipFill>
        <p:spPr>
          <a:xfrm>
            <a:off x="6994246" y="5229454"/>
            <a:ext cx="230429" cy="230429"/>
          </a:xfrm>
          <a:prstGeom prst="rect">
            <a:avLst/>
          </a:prstGeom>
        </p:spPr>
      </p:pic>
      <p:sp>
        <p:nvSpPr>
          <p:cNvPr id="22" name="text_627"/>
          <p:cNvSpPr txBox="1"/>
          <p:nvPr/>
        </p:nvSpPr>
        <p:spPr>
          <a:xfrm>
            <a:off x="7452360" y="512064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23" name="text_628"/>
          <p:cNvSpPr txBox="1"/>
          <p:nvPr/>
        </p:nvSpPr>
        <p:spPr>
          <a:xfrm>
            <a:off x="6903720" y="5596128"/>
            <a:ext cx="44805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페이지가 안 열림 → 런처 터미널이 살아 있나. Package not found → 환경 설정</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Claude API 키 (모듈 4 전까지, 선택)</a:t>
            </a:r>
            <a:endParaRPr lang="ko-KR" altLang="en-US" sz="3000" dirty="0"/>
          </a:p>
        </p:txBody>
      </p:sp>
      <p:sp>
        <p:nvSpPr>
          <p:cNvPr id="3" name="pill_6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num_631"/>
          <p:cNvSpPr/>
          <p:nvPr/>
        </p:nvSpPr>
        <p:spPr>
          <a:xfrm>
            <a:off x="548640" y="1417320"/>
            <a:ext cx="457200" cy="457200"/>
          </a:xfrm>
          <a:prstGeom prst="ellipse">
            <a:avLst/>
          </a:prstGeom>
          <a:solidFill>
            <a:schemeClr val="accent1"/>
          </a:solidFill>
          <a:ln w="12700">
            <a:solidFill>
              <a:schemeClr val="accent1"/>
            </a:solidFill>
            <a:prstDash val="solid"/>
          </a:ln>
        </p:spPr>
      </p:sp>
      <p:sp>
        <p:nvSpPr>
          <p:cNvPr id="7" name="text_632"/>
          <p:cNvSpPr txBox="1"/>
          <p:nvPr/>
        </p:nvSpPr>
        <p:spPr>
          <a:xfrm>
            <a:off x="54864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633"/>
          <p:cNvSpPr txBox="1"/>
          <p:nvPr/>
        </p:nvSpPr>
        <p:spPr>
          <a:xfrm>
            <a:off x="1188720" y="13990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Console 가입, 크레딧 5달러</a:t>
            </a:r>
            <a:endParaRPr lang="ko-KR" altLang="en-US" sz="1700" dirty="0"/>
          </a:p>
        </p:txBody>
      </p:sp>
      <p:sp>
        <p:nvSpPr>
          <p:cNvPr id="9" name="text_634"/>
          <p:cNvSpPr txBox="1"/>
          <p:nvPr/>
        </p:nvSpPr>
        <p:spPr>
          <a:xfrm>
            <a:off x="1188720" y="187452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console.anthropic.com → Billing (강습회 전체에 1~3달러 정도)</a:t>
            </a:r>
            <a:endParaRPr lang="ko-KR" altLang="en-US" sz="1400" dirty="0"/>
          </a:p>
        </p:txBody>
      </p:sp>
      <p:sp>
        <p:nvSpPr>
          <p:cNvPr id="10" name="num_635"/>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636"/>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637"/>
          <p:cNvSpPr txBox="1"/>
          <p:nvPr/>
        </p:nvSpPr>
        <p:spPr>
          <a:xfrm>
            <a:off x="1188720" y="258775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월 사용 한도 5달러</a:t>
            </a:r>
            <a:endParaRPr lang="ko-KR" altLang="en-US" sz="1700" dirty="0"/>
          </a:p>
        </p:txBody>
      </p:sp>
      <p:sp>
        <p:nvSpPr>
          <p:cNvPr id="13" name="text_638"/>
          <p:cNvSpPr txBox="1"/>
          <p:nvPr/>
        </p:nvSpPr>
        <p:spPr>
          <a:xfrm>
            <a:off x="1188720" y="306324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Settings → Limits (실수로 많이 쓰는 것 방지)</a:t>
            </a:r>
            <a:endParaRPr lang="ko-KR" altLang="en-US" sz="1400" dirty="0"/>
          </a:p>
        </p:txBody>
      </p:sp>
      <p:sp>
        <p:nvSpPr>
          <p:cNvPr id="14" name="num_639"/>
          <p:cNvSpPr/>
          <p:nvPr/>
        </p:nvSpPr>
        <p:spPr>
          <a:xfrm>
            <a:off x="548640" y="3794760"/>
            <a:ext cx="457200" cy="457200"/>
          </a:xfrm>
          <a:prstGeom prst="ellipse">
            <a:avLst/>
          </a:prstGeom>
          <a:solidFill>
            <a:schemeClr val="accent1"/>
          </a:solidFill>
          <a:ln w="12700">
            <a:solidFill>
              <a:schemeClr val="accent1"/>
            </a:solidFill>
            <a:prstDash val="solid"/>
          </a:ln>
        </p:spPr>
      </p:sp>
      <p:sp>
        <p:nvSpPr>
          <p:cNvPr id="15" name="text_640"/>
          <p:cNvSpPr txBox="1"/>
          <p:nvPr/>
        </p:nvSpPr>
        <p:spPr>
          <a:xfrm>
            <a:off x="54864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641"/>
          <p:cNvSpPr txBox="1"/>
          <p:nvPr/>
        </p:nvSpPr>
        <p:spPr>
          <a:xfrm>
            <a:off x="1188720" y="377647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키 만들기</a:t>
            </a:r>
            <a:endParaRPr lang="ko-KR" altLang="en-US" sz="1700" dirty="0"/>
          </a:p>
        </p:txBody>
      </p:sp>
      <p:sp>
        <p:nvSpPr>
          <p:cNvPr id="17" name="text_642"/>
          <p:cNvSpPr txBox="1"/>
          <p:nvPr/>
        </p:nvSpPr>
        <p:spPr>
          <a:xfrm>
            <a:off x="1188720" y="425196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API Keys → Create Key → 복사 (sk-ant-로 시작, 이 화면에서만 보임)</a:t>
            </a:r>
            <a:endParaRPr lang="ko-KR" altLang="en-US" sz="1400" dirty="0"/>
          </a:p>
        </p:txBody>
      </p:sp>
      <p:sp>
        <p:nvSpPr>
          <p:cNvPr id="18" name="num_643"/>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9" name="text_644"/>
          <p:cNvSpPr txBox="1"/>
          <p:nvPr/>
        </p:nvSpPr>
        <p:spPr>
          <a:xfrm>
            <a:off x="54864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645"/>
          <p:cNvSpPr txBox="1"/>
          <p:nvPr/>
        </p:nvSpPr>
        <p:spPr>
          <a:xfrm>
            <a:off x="1188720" y="496519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Ubuntu에 넣기</a:t>
            </a:r>
            <a:endParaRPr lang="ko-KR" altLang="en-US" sz="1700" dirty="0"/>
          </a:p>
        </p:txBody>
      </p:sp>
      <p:sp>
        <p:nvSpPr>
          <p:cNvPr id="21" name="text_646"/>
          <p:cNvSpPr txBox="1"/>
          <p:nvPr/>
        </p:nvSpPr>
        <p:spPr>
          <a:xfrm>
            <a:off x="1188720" y="544068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오른쪽 명령. 붙여넣기는 Ctrl + Shift + V</a:t>
            </a:r>
            <a:endParaRPr lang="ko-KR" altLang="en-US" sz="1400" dirty="0"/>
          </a:p>
        </p:txBody>
      </p:sp>
      <p:sp>
        <p:nvSpPr>
          <p:cNvPr id="22" name="box_647"/>
          <p:cNvSpPr/>
          <p:nvPr/>
        </p:nvSpPr>
        <p:spPr>
          <a:xfrm>
            <a:off x="6675120" y="1371600"/>
            <a:ext cx="4937760" cy="2011680"/>
          </a:xfrm>
          <a:prstGeom prst="roundRect">
            <a:avLst>
              <a:gd name="adj" fmla="val 3636"/>
            </a:avLst>
          </a:prstGeom>
          <a:solidFill>
            <a:schemeClr val="tx1"/>
          </a:solidFill>
          <a:ln w="12700">
            <a:solidFill>
              <a:schemeClr val="tx1"/>
            </a:solidFill>
            <a:prstDash val="solid"/>
          </a:ln>
        </p:spPr>
      </p:sp>
      <p:sp>
        <p:nvSpPr>
          <p:cNvPr id="23" name="code_648"/>
          <p:cNvSpPr txBox="1"/>
          <p:nvPr/>
        </p:nvSpPr>
        <p:spPr>
          <a:xfrm>
            <a:off x="6858000" y="1508760"/>
            <a:ext cx="4572000" cy="1737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~/unbolt/workshop/setup/setup_api_key.sh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API 키:          ← 붙여넣고 Enter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(화면에 안 보이는 게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~/.unbolt_key 에 저장 (본인만 읽기 가능)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API 연결 확인</a:t>
            </a:r>
            <a:endParaRPr lang="ko-KR" altLang="en-US" sz="1300" dirty="0"/>
          </a:p>
        </p:txBody>
      </p:sp>
      <p:sp>
        <p:nvSpPr>
          <p:cNvPr id="24" name="box_649"/>
          <p:cNvSpPr/>
          <p:nvPr/>
        </p:nvSpPr>
        <p:spPr>
          <a:xfrm>
            <a:off x="6675120" y="3566160"/>
            <a:ext cx="4937760" cy="1463040"/>
          </a:xfrm>
          <a:prstGeom prst="roundRect">
            <a:avLst>
              <a:gd name="adj" fmla="val 5000"/>
            </a:avLst>
          </a:prstGeom>
          <a:solidFill>
            <a:schemeClr val="bg2"/>
          </a:solidFill>
          <a:ln w="12700">
            <a:solidFill>
              <a:schemeClr val="bg2"/>
            </a:solidFill>
            <a:prstDash val="solid"/>
          </a:ln>
        </p:spPr>
      </p:sp>
      <p:sp>
        <p:nvSpPr>
          <p:cNvPr id="25" name="iconbg_650"/>
          <p:cNvSpPr/>
          <p:nvPr/>
        </p:nvSpPr>
        <p:spPr>
          <a:xfrm>
            <a:off x="6903720" y="3794760"/>
            <a:ext cx="548640" cy="548640"/>
          </a:xfrm>
          <a:prstGeom prst="ellipse">
            <a:avLst/>
          </a:prstGeom>
          <a:solidFill>
            <a:schemeClr val="accent6"/>
          </a:solidFill>
          <a:ln w="12700">
            <a:solidFill>
              <a:schemeClr val="accent6"/>
            </a:solidFill>
            <a:prstDash val="solid"/>
          </a:ln>
        </p:spPr>
      </p:sp>
      <p:pic>
        <p:nvPicPr>
          <p:cNvPr id="26" name="icon_651" descr="ExclamationTriangle 아이콘">    </p:cNvPr>
          <p:cNvPicPr>
            <a:picLocks noChangeAspect="1"/>
          </p:cNvPicPr>
          <p:nvPr/>
        </p:nvPicPr>
        <p:blipFill>
          <a:blip r:embed="rId1"/>
          <a:stretch>
            <a:fillRect/>
          </a:stretch>
        </p:blipFill>
        <p:spPr>
          <a:xfrm>
            <a:off x="7024421" y="3915461"/>
            <a:ext cx="307238" cy="307238"/>
          </a:xfrm>
          <a:prstGeom prst="rect">
            <a:avLst/>
          </a:prstGeom>
        </p:spPr>
      </p:pic>
      <p:sp>
        <p:nvSpPr>
          <p:cNvPr id="27" name="text_652"/>
          <p:cNvSpPr txBox="1"/>
          <p:nvPr/>
        </p:nvSpPr>
        <p:spPr>
          <a:xfrm>
            <a:off x="7589520" y="37673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8" name="text_653"/>
          <p:cNvSpPr txBox="1"/>
          <p:nvPr/>
        </p:nvSpPr>
        <p:spPr>
          <a:xfrm>
            <a:off x="6903720" y="4434840"/>
            <a:ext cx="44805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비밀번호다. 채팅방·과제·GitHub·스크린샷에 올리지 않기. 노출되면 Console에서 바로 Delete</a:t>
            </a:r>
            <a:endParaRPr lang="ko-KR" altLang="en-US" sz="1400" dirty="0"/>
          </a:p>
        </p:txBody>
      </p:sp>
      <p:sp>
        <p:nvSpPr>
          <p:cNvPr id="29" name="box_654"/>
          <p:cNvSpPr/>
          <p:nvPr/>
        </p:nvSpPr>
        <p:spPr>
          <a:xfrm>
            <a:off x="6675120" y="5166360"/>
            <a:ext cx="4937760" cy="960120"/>
          </a:xfrm>
          <a:prstGeom prst="roundRect">
            <a:avLst>
              <a:gd name="adj" fmla="val 7619"/>
            </a:avLst>
          </a:prstGeom>
          <a:solidFill>
            <a:schemeClr val="bg2"/>
          </a:solidFill>
          <a:ln w="12700">
            <a:solidFill>
              <a:schemeClr val="bg2"/>
            </a:solidFill>
            <a:prstDash val="solid"/>
          </a:ln>
        </p:spPr>
      </p:sp>
      <p:sp>
        <p:nvSpPr>
          <p:cNvPr id="30" name="iconbg_655"/>
          <p:cNvSpPr/>
          <p:nvPr/>
        </p:nvSpPr>
        <p:spPr>
          <a:xfrm>
            <a:off x="6903720" y="5276088"/>
            <a:ext cx="411480" cy="411480"/>
          </a:xfrm>
          <a:prstGeom prst="ellipse">
            <a:avLst/>
          </a:prstGeom>
          <a:solidFill>
            <a:schemeClr val="accent1"/>
          </a:solidFill>
          <a:ln w="12700">
            <a:solidFill>
              <a:schemeClr val="accent1"/>
            </a:solidFill>
            <a:prstDash val="solid"/>
          </a:ln>
        </p:spPr>
      </p:sp>
      <p:pic>
        <p:nvPicPr>
          <p:cNvPr id="31" name="icon_656" descr="Bolt 아이콘">    </p:cNvPr>
          <p:cNvPicPr>
            <a:picLocks noChangeAspect="1"/>
          </p:cNvPicPr>
          <p:nvPr/>
        </p:nvPicPr>
        <p:blipFill>
          <a:blip r:embed="rId2"/>
          <a:stretch>
            <a:fillRect/>
          </a:stretch>
        </p:blipFill>
        <p:spPr>
          <a:xfrm>
            <a:off x="6994246" y="5366614"/>
            <a:ext cx="230429" cy="230429"/>
          </a:xfrm>
          <a:prstGeom prst="rect">
            <a:avLst/>
          </a:prstGeom>
        </p:spPr>
      </p:pic>
      <p:sp>
        <p:nvSpPr>
          <p:cNvPr id="32" name="text_657"/>
          <p:cNvSpPr txBox="1"/>
          <p:nvPr/>
        </p:nvSpPr>
        <p:spPr>
          <a:xfrm>
            <a:off x="7452360" y="525780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33" name="text_658"/>
          <p:cNvSpPr txBox="1"/>
          <p:nvPr/>
        </p:nvSpPr>
        <p:spPr>
          <a:xfrm>
            <a:off x="6903720" y="573328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없으면 llm:=scripted로 실습</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설치에서 자주 막히는 곳</a:t>
            </a:r>
            <a:endParaRPr lang="ko-KR" altLang="en-US" sz="3000" dirty="0"/>
          </a:p>
        </p:txBody>
      </p:sp>
      <p:sp>
        <p:nvSpPr>
          <p:cNvPr id="3" name="pill_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35" name="table_66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wsl --install이 도움말만 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Windows 업데이트, 또는 Store에서 WSL + Ubuntu 22.04 설치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0x80370102 "가상 머신을 시작할 수 없습니다"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BIOS에서 가상화 켜기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wsl -l -v에 VERSION 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wsl --set-version Ubuntu-22.04 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xeyes · RViz 창이 안 뜨거나 검다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그래픽 드라이버 업데이트 → wsl --shutdown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Could not get lock /var/lib/dpkg/lock-frontend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자동 업데이트 중. 5분 뒤 다시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/bin/bash^M: bad interpreter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스크립트 줄바꿈이 Windows 형식. git clone으로 다시 받기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~/.bashrc의 unbolt 블록 확인 (환경 설정 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프롬프트 앞 (base), rclpy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 conda config --set auto_activate_base 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한 장 요약</a:t>
            </a:r>
            <a:endParaRPr lang="ko-KR" altLang="en-US" sz="3000" dirty="0"/>
          </a:p>
        </p:txBody>
      </p:sp>
      <p:sp>
        <p:nvSpPr>
          <p:cNvPr id="3" name="pill_6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664"/>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65" descr="Window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66"/>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Windows 점검 → WSL + Ubuntu 22.04</a:t>
            </a:r>
            <a:endParaRPr lang="ko-KR" altLang="en-US" sz="1800" dirty="0"/>
          </a:p>
        </p:txBody>
      </p:sp>
      <p:sp>
        <p:nvSpPr>
          <p:cNvPr id="9" name="text_667"/>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winver · 가상화 · 메모리 확인 → 관리자 PowerShell에서 wsl --install -d Ubuntu-22.04 → VERSION 2, xeyes</a:t>
            </a:r>
            <a:endParaRPr lang="ko-KR" altLang="en-US" sz="1500" dirty="0"/>
          </a:p>
        </p:txBody>
      </p:sp>
      <p:sp>
        <p:nvSpPr>
          <p:cNvPr id="10" name="iconbg_668"/>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9" descr="Download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70"/>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코드는 ~/unbolt, 설치는 스크립트 한 줄</a:t>
            </a:r>
            <a:endParaRPr lang="ko-KR" altLang="en-US" sz="1800" dirty="0"/>
          </a:p>
        </p:txBody>
      </p:sp>
      <p:sp>
        <p:nvSpPr>
          <p:cNvPr id="13" name="text_671"/>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install_unbolt.sh가 ROS 2, Python 패키지, 로봇 모델, 빌드, 환경 설정까지 한다</a:t>
            </a:r>
            <a:endParaRPr lang="ko-KR" altLang="en-US" sz="1500" dirty="0"/>
          </a:p>
        </p:txBody>
      </p:sp>
      <p:sp>
        <p:nvSpPr>
          <p:cNvPr id="14" name="iconbg_672"/>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73" descr="Cogs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74"/>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환경 설정 = source 두 개 + UNBOLT_ROOT</a:t>
            </a:r>
            <a:endParaRPr lang="ko-KR" altLang="en-US" sz="1800" dirty="0"/>
          </a:p>
        </p:txBody>
      </p:sp>
      <p:sp>
        <p:nvSpPr>
          <p:cNvPr id="17" name="text_675"/>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~/.bashrc의 unbolt 블록. 없으면 Package not found. 열려 있던 터미널은 source ~/.bashrc</a:t>
            </a:r>
            <a:endParaRPr lang="ko-KR" altLang="en-US" sz="1500" dirty="0"/>
          </a:p>
        </p:txBody>
      </p:sp>
      <p:sp>
        <p:nvSpPr>
          <p:cNvPr id="18" name="iconbg_676"/>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77" descr="ClipboardCheck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8"/>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점검 → 첫 실행</a:t>
            </a:r>
            <a:endParaRPr lang="ko-KR" altLang="en-US" sz="1800" dirty="0"/>
          </a:p>
        </p:txBody>
      </p:sp>
      <p:sp>
        <p:nvSpPr>
          <p:cNvPr id="21" name="text_679"/>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check_env.sh "0 실패" → sim.launch.py + 키보드 주행</a:t>
            </a:r>
            <a:endParaRPr lang="ko-KR" altLang="en-US" sz="1500" dirty="0"/>
          </a:p>
        </p:txBody>
      </p:sp>
      <p:sp>
        <p:nvSpPr>
          <p:cNvPr id="22" name="iconbg_680"/>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81"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82"/>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a:t>
            </a:r>
            <a:endParaRPr lang="ko-KR" altLang="en-US" sz="1800" dirty="0"/>
          </a:p>
        </p:txBody>
      </p:sp>
      <p:sp>
        <p:nvSpPr>
          <p:cNvPr id="25" name="text_683"/>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dashboard_launcher를 켜 두고 http://localhost:8080 → 연결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셀프 체크</a:t>
            </a:r>
            <a:endParaRPr lang="ko-KR" altLang="en-US" sz="3000" dirty="0"/>
          </a:p>
        </p:txBody>
      </p:sp>
      <p:sp>
        <p:nvSpPr>
          <p:cNvPr id="3" name="pill_6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686"/>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이 장의 슬라이드에 있습니다.</a:t>
            </a:r>
            <a:endParaRPr lang="ko-KR" altLang="en-US" sz="1500" dirty="0"/>
          </a:p>
        </p:txBody>
      </p:sp>
      <p:sp>
        <p:nvSpPr>
          <p:cNvPr id="7" name="box_687"/>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8"/>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9"/>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"PS&gt; wsl -l -v"와 "$ ros2 node list"는 각각 어디에서 실행하나?</a:t>
            </a:r>
            <a:endParaRPr lang="ko-KR" altLang="en-US" sz="1600" dirty="0"/>
          </a:p>
        </p:txBody>
      </p:sp>
      <p:sp>
        <p:nvSpPr>
          <p:cNvPr id="10" name="box_690"/>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91"/>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92"/>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코드를 /mnt/c(Windows 드라이브)가 아니라 ~/unbolt에 두는 이유는?</a:t>
            </a:r>
            <a:endParaRPr lang="ko-KR" altLang="en-US" sz="1600" dirty="0"/>
          </a:p>
        </p:txBody>
      </p:sp>
      <p:sp>
        <p:nvSpPr>
          <p:cNvPr id="13" name="box_693"/>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94"/>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95"/>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새로 연 터미널에서 Package 'unbolt_dashboard' not found가 나온다. 무엇을 확인하나?</a:t>
            </a:r>
            <a:endParaRPr lang="ko-KR" altLang="en-US" sz="1600" dirty="0"/>
          </a:p>
        </p:txBody>
      </p:sp>
      <p:sp>
        <p:nvSpPr>
          <p:cNvPr id="16" name="box_696"/>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97"/>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8"/>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기존 Python 파일을 고쳤을 때와 새 노드 파일을 추가했을 때, colcon build가 필요한 쪽은?</a:t>
            </a:r>
            <a:endParaRPr lang="ko-KR" altLang="en-US" sz="1600" dirty="0"/>
          </a:p>
        </p:txBody>
      </p:sp>
      <p:sp>
        <p:nvSpPr>
          <p:cNvPr id="19" name="box_699"/>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700"/>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701"/>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8 GB 노트북에서 Nav2와 MoveIt을 함께 켜면 멈춘다. 무엇을 하나?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704"/>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705"/>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706"/>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707"/>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708"/>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709"/>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710"/>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711"/>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712"/>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713"/>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714"/>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715"/>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716"/>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717"/>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718"/>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719"/>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720"/>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721"/>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722"/>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723"/>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724"/>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725"/>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726"/>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727"/>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728"/>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3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3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733"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3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73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73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3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738"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73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74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74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74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743"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74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74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74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747"/>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748"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74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75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7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53"/>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754"/>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755"/>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756"/>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757"/>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758"/>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759"/>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760"/>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761"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762"/>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763"/>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66"/>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767"/>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768"/>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769"/>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770"/>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771"/>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772"/>
          <p:cNvSpPr/>
          <p:nvPr/>
        </p:nvSpPr>
        <p:spPr>
          <a:xfrm>
            <a:off x="3886200" y="2286000"/>
            <a:ext cx="502920" cy="0"/>
          </a:xfrm>
          <a:prstGeom prst="line">
            <a:avLst/>
          </a:prstGeom>
          <a:noFill/>
          <a:ln w="25400">
            <a:solidFill>
              <a:schemeClr val="tx2"/>
            </a:solidFill>
            <a:prstDash val="solid"/>
            <a:tailEnd type="triangle"/>
          </a:ln>
        </p:spPr>
      </p:sp>
      <p:sp>
        <p:nvSpPr>
          <p:cNvPr id="13" name="arrow_773"/>
          <p:cNvSpPr/>
          <p:nvPr/>
        </p:nvSpPr>
        <p:spPr>
          <a:xfrm>
            <a:off x="7772400" y="2286000"/>
            <a:ext cx="502920" cy="0"/>
          </a:xfrm>
          <a:prstGeom prst="line">
            <a:avLst/>
          </a:prstGeom>
          <a:noFill/>
          <a:ln w="25400">
            <a:solidFill>
              <a:schemeClr val="tx2"/>
            </a:solidFill>
            <a:prstDash val="solid"/>
            <a:tailEnd type="triangle"/>
          </a:ln>
        </p:spPr>
      </p:sp>
      <p:sp>
        <p:nvSpPr>
          <p:cNvPr id="14" name="box_774"/>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775"/>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776"/>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777"/>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778"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779"/>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780"/>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7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83"/>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784"/>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43" name="table_78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7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788"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789"/>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790"/>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791"/>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792"/>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793"/>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794"/>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795"/>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796"/>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797"/>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798"/>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799"/>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800"/>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44" name="table_801"/>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7 × 6 m 방</a:t>
            </a:r>
            <a:endParaRPr lang="ko-KR" altLang="en-US" sz="3000" dirty="0"/>
          </a:p>
        </p:txBody>
      </p:sp>
      <p:sp>
        <p:nvSpPr>
          <p:cNvPr id="3" name="pill_8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804" descr="위에서 본 방: 벽, 칸막이, 테이블,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805"/>
          <p:cNvSpPr/>
          <p:nvPr/>
        </p:nvSpPr>
        <p:spPr>
          <a:xfrm>
            <a:off x="3432472" y="3566160"/>
            <a:ext cx="365760" cy="365760"/>
          </a:xfrm>
          <a:prstGeom prst="ellipse">
            <a:avLst/>
          </a:prstGeom>
          <a:solidFill>
            <a:schemeClr val="accent1"/>
          </a:solidFill>
          <a:ln w="19050">
            <a:solidFill>
              <a:schemeClr val="bg1"/>
            </a:solidFill>
            <a:prstDash val="solid"/>
          </a:ln>
        </p:spPr>
      </p:sp>
      <p:sp>
        <p:nvSpPr>
          <p:cNvPr id="8" name="text_806"/>
          <p:cNvSpPr txBox="1"/>
          <p:nvPr/>
        </p:nvSpPr>
        <p:spPr>
          <a:xfrm>
            <a:off x="343247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807"/>
          <p:cNvSpPr/>
          <p:nvPr/>
        </p:nvSpPr>
        <p:spPr>
          <a:xfrm>
            <a:off x="3350697" y="4901822"/>
            <a:ext cx="365760" cy="365760"/>
          </a:xfrm>
          <a:prstGeom prst="ellipse">
            <a:avLst/>
          </a:prstGeom>
          <a:solidFill>
            <a:schemeClr val="accent1"/>
          </a:solidFill>
          <a:ln w="19050">
            <a:solidFill>
              <a:schemeClr val="bg1"/>
            </a:solidFill>
            <a:prstDash val="solid"/>
          </a:ln>
        </p:spPr>
      </p:sp>
      <p:sp>
        <p:nvSpPr>
          <p:cNvPr id="10" name="text_808"/>
          <p:cNvSpPr txBox="1"/>
          <p:nvPr/>
        </p:nvSpPr>
        <p:spPr>
          <a:xfrm>
            <a:off x="3350697" y="490182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809"/>
          <p:cNvSpPr/>
          <p:nvPr/>
        </p:nvSpPr>
        <p:spPr>
          <a:xfrm>
            <a:off x="4631842" y="3566160"/>
            <a:ext cx="365760" cy="365760"/>
          </a:xfrm>
          <a:prstGeom prst="ellipse">
            <a:avLst/>
          </a:prstGeom>
          <a:solidFill>
            <a:schemeClr val="accent1"/>
          </a:solidFill>
          <a:ln w="19050">
            <a:solidFill>
              <a:schemeClr val="bg1"/>
            </a:solidFill>
            <a:prstDash val="solid"/>
          </a:ln>
        </p:spPr>
      </p:sp>
      <p:sp>
        <p:nvSpPr>
          <p:cNvPr id="12" name="text_810"/>
          <p:cNvSpPr txBox="1"/>
          <p:nvPr/>
        </p:nvSpPr>
        <p:spPr>
          <a:xfrm>
            <a:off x="463184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811"/>
          <p:cNvSpPr/>
          <p:nvPr/>
        </p:nvSpPr>
        <p:spPr>
          <a:xfrm>
            <a:off x="2778270" y="3457126"/>
            <a:ext cx="365760" cy="365760"/>
          </a:xfrm>
          <a:prstGeom prst="ellipse">
            <a:avLst/>
          </a:prstGeom>
          <a:solidFill>
            <a:schemeClr val="accent1"/>
          </a:solidFill>
          <a:ln w="19050">
            <a:solidFill>
              <a:schemeClr val="bg1"/>
            </a:solidFill>
            <a:prstDash val="solid"/>
          </a:ln>
        </p:spPr>
      </p:sp>
      <p:sp>
        <p:nvSpPr>
          <p:cNvPr id="14" name="text_812"/>
          <p:cNvSpPr txBox="1"/>
          <p:nvPr/>
        </p:nvSpPr>
        <p:spPr>
          <a:xfrm>
            <a:off x="2778270" y="3457126"/>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813"/>
          <p:cNvSpPr/>
          <p:nvPr/>
        </p:nvSpPr>
        <p:spPr>
          <a:xfrm>
            <a:off x="3977640" y="4438429"/>
            <a:ext cx="365760" cy="365760"/>
          </a:xfrm>
          <a:prstGeom prst="ellipse">
            <a:avLst/>
          </a:prstGeom>
          <a:solidFill>
            <a:schemeClr val="accent1"/>
          </a:solidFill>
          <a:ln w="19050">
            <a:solidFill>
              <a:schemeClr val="bg1"/>
            </a:solidFill>
            <a:prstDash val="solid"/>
          </a:ln>
        </p:spPr>
      </p:sp>
      <p:sp>
        <p:nvSpPr>
          <p:cNvPr id="16" name="text_814"/>
          <p:cNvSpPr txBox="1"/>
          <p:nvPr/>
        </p:nvSpPr>
        <p:spPr>
          <a:xfrm>
            <a:off x="3977640" y="443842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graphicFrame>
        <p:nvGraphicFramePr>
          <p:cNvPr id="45" name="table_81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640080"/>
                <a:gridCol w="1188720"/>
                <a:gridCol w="173736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설명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시작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로봇이 처음 서 있는 곳 (0, 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공급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빨간 상자가 있는 하늘색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상자를 놓을 나무 테이블 (마커 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칸막이 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서쪽 방으로 가는 통로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기둥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피해 가야 하는 장애물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8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18"/>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819"/>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~/unbolt/models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820"/>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82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82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2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2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2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8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3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83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835"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83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83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83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839"/>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840"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4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84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빨간 상자를 굴려 보자</a:t>
            </a:r>
            <a:endParaRPr lang="ko-KR" altLang="en-US" sz="1600" dirty="0"/>
          </a:p>
        </p:txBody>
      </p:sp>
      <p:sp>
        <p:nvSpPr>
          <p:cNvPr id="16" name="box_84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45"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4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84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84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4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850"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85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85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8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55"/>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856"/>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857"/>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858"/>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859"/>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860"/>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861"/>
          <p:cNvSpPr/>
          <p:nvPr/>
        </p:nvSpPr>
        <p:spPr>
          <a:xfrm>
            <a:off x="3703320" y="2377440"/>
            <a:ext cx="777240" cy="0"/>
          </a:xfrm>
          <a:prstGeom prst="line">
            <a:avLst/>
          </a:prstGeom>
          <a:noFill/>
          <a:ln w="25400">
            <a:solidFill>
              <a:schemeClr val="tx2"/>
            </a:solidFill>
            <a:prstDash val="solid"/>
            <a:tailEnd type="triangle"/>
          </a:ln>
        </p:spPr>
      </p:sp>
      <p:sp>
        <p:nvSpPr>
          <p:cNvPr id="13" name="arrow_862"/>
          <p:cNvSpPr/>
          <p:nvPr/>
        </p:nvSpPr>
        <p:spPr>
          <a:xfrm>
            <a:off x="7680960" y="2377440"/>
            <a:ext cx="777240" cy="0"/>
          </a:xfrm>
          <a:prstGeom prst="line">
            <a:avLst/>
          </a:prstGeom>
          <a:noFill/>
          <a:ln w="25400">
            <a:solidFill>
              <a:schemeClr val="tx2"/>
            </a:solidFill>
            <a:prstDash val="solid"/>
            <a:tailEnd type="triangle"/>
          </a:ln>
        </p:spPr>
      </p:sp>
      <p:sp>
        <p:nvSpPr>
          <p:cNvPr id="14" name="arrow_863"/>
          <p:cNvSpPr/>
          <p:nvPr/>
        </p:nvSpPr>
        <p:spPr>
          <a:xfrm flipH="1">
            <a:off x="7680960" y="3840480"/>
            <a:ext cx="777240" cy="0"/>
          </a:xfrm>
          <a:prstGeom prst="line">
            <a:avLst/>
          </a:prstGeom>
          <a:noFill/>
          <a:ln w="25400">
            <a:solidFill>
              <a:schemeClr val="tx2"/>
            </a:solidFill>
            <a:prstDash val="solid"/>
            <a:tailEnd type="triangle"/>
          </a:ln>
        </p:spPr>
      </p:sp>
      <p:sp>
        <p:nvSpPr>
          <p:cNvPr id="15" name="arrow_864"/>
          <p:cNvSpPr/>
          <p:nvPr/>
        </p:nvSpPr>
        <p:spPr>
          <a:xfrm flipH="1">
            <a:off x="3703320" y="3840480"/>
            <a:ext cx="777240" cy="0"/>
          </a:xfrm>
          <a:prstGeom prst="line">
            <a:avLst/>
          </a:prstGeom>
          <a:noFill/>
          <a:ln w="25400">
            <a:solidFill>
              <a:schemeClr val="tx2"/>
            </a:solidFill>
            <a:prstDash val="solid"/>
            <a:tailEnd type="triangle"/>
          </a:ln>
        </p:spPr>
      </p:sp>
      <p:sp>
        <p:nvSpPr>
          <p:cNvPr id="16" name="box_865"/>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866"/>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867"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868"/>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869"/>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8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72"/>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873"/>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874"/>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875"/>
          <p:cNvSpPr/>
          <p:nvPr/>
        </p:nvSpPr>
        <p:spPr>
          <a:xfrm>
            <a:off x="3429000" y="2331720"/>
            <a:ext cx="0" cy="228600"/>
          </a:xfrm>
          <a:prstGeom prst="line">
            <a:avLst/>
          </a:prstGeom>
          <a:noFill/>
          <a:ln w="25400">
            <a:solidFill>
              <a:schemeClr val="tx2"/>
            </a:solidFill>
            <a:prstDash val="solid"/>
            <a:tailEnd type="triangle"/>
          </a:ln>
        </p:spPr>
      </p:sp>
      <p:sp>
        <p:nvSpPr>
          <p:cNvPr id="10" name="box_876"/>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877"/>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878"/>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879"/>
          <p:cNvSpPr/>
          <p:nvPr/>
        </p:nvSpPr>
        <p:spPr>
          <a:xfrm>
            <a:off x="3429000" y="3520440"/>
            <a:ext cx="0" cy="228600"/>
          </a:xfrm>
          <a:prstGeom prst="line">
            <a:avLst/>
          </a:prstGeom>
          <a:noFill/>
          <a:ln w="25400">
            <a:solidFill>
              <a:schemeClr val="tx2"/>
            </a:solidFill>
            <a:prstDash val="solid"/>
            <a:tailEnd type="triangle"/>
          </a:ln>
        </p:spPr>
      </p:sp>
      <p:sp>
        <p:nvSpPr>
          <p:cNvPr id="14" name="box_880"/>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881"/>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882"/>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883"/>
          <p:cNvSpPr/>
          <p:nvPr/>
        </p:nvSpPr>
        <p:spPr>
          <a:xfrm>
            <a:off x="3429000" y="4709160"/>
            <a:ext cx="0" cy="228600"/>
          </a:xfrm>
          <a:prstGeom prst="line">
            <a:avLst/>
          </a:prstGeom>
          <a:noFill/>
          <a:ln w="25400">
            <a:solidFill>
              <a:schemeClr val="tx2"/>
            </a:solidFill>
            <a:prstDash val="solid"/>
            <a:tailEnd type="triangle"/>
          </a:ln>
        </p:spPr>
      </p:sp>
      <p:sp>
        <p:nvSpPr>
          <p:cNvPr id="18" name="box_884"/>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885"/>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886"/>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887"/>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49" name="table_888"/>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400" b="1" dirty="0">
                          <a:solidFill>
                            <a:schemeClr val="bg1"/>
                          </a:solidFill>
                        </a:rPr>
                        <a:t>토픽</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/clock</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250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시뮬레이션 시간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100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관절 20개의 각도·속도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/odom + TF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바퀴로 계산한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/imu</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기울기·회전 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/scan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LiDAR 360빔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/camera/*</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헤드 카메라 영상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/ground_truth/*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진짜 위치 (평가용)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8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91"/>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892"/>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893"/>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894"/>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895"/>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896"/>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897"/>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898"/>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899"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900"/>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901"/>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902"/>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903"/>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904"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905"/>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906"/>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9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09"/>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910"/>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911"/>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91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91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91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91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1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91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91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91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92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92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9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24"/>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925"/>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926"/>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927"/>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928"/>
          <p:cNvSpPr/>
          <p:nvPr/>
        </p:nvSpPr>
        <p:spPr>
          <a:xfrm>
            <a:off x="1828800" y="2148840"/>
            <a:ext cx="0" cy="347472"/>
          </a:xfrm>
          <a:prstGeom prst="line">
            <a:avLst/>
          </a:prstGeom>
          <a:noFill/>
          <a:ln w="25400">
            <a:solidFill>
              <a:schemeClr val="tx2"/>
            </a:solidFill>
            <a:prstDash val="solid"/>
            <a:tailEnd type="triangle"/>
          </a:ln>
        </p:spPr>
      </p:sp>
      <p:sp>
        <p:nvSpPr>
          <p:cNvPr id="11" name="text_929"/>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930"/>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931"/>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932"/>
          <p:cNvSpPr/>
          <p:nvPr/>
        </p:nvSpPr>
        <p:spPr>
          <a:xfrm>
            <a:off x="1828800" y="3200400"/>
            <a:ext cx="0" cy="347472"/>
          </a:xfrm>
          <a:prstGeom prst="line">
            <a:avLst/>
          </a:prstGeom>
          <a:noFill/>
          <a:ln w="25400">
            <a:solidFill>
              <a:schemeClr val="tx2"/>
            </a:solidFill>
            <a:prstDash val="solid"/>
            <a:tailEnd type="triangle"/>
          </a:ln>
        </p:spPr>
      </p:sp>
      <p:sp>
        <p:nvSpPr>
          <p:cNvPr id="15" name="text_933"/>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934"/>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935"/>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936"/>
          <p:cNvSpPr/>
          <p:nvPr/>
        </p:nvSpPr>
        <p:spPr>
          <a:xfrm>
            <a:off x="1828800" y="4251960"/>
            <a:ext cx="0" cy="347472"/>
          </a:xfrm>
          <a:prstGeom prst="line">
            <a:avLst/>
          </a:prstGeom>
          <a:noFill/>
          <a:ln w="25400">
            <a:solidFill>
              <a:schemeClr val="tx2"/>
            </a:solidFill>
            <a:prstDash val="solid"/>
            <a:tailEnd type="triangle"/>
          </a:ln>
        </p:spPr>
      </p:sp>
      <p:sp>
        <p:nvSpPr>
          <p:cNvPr id="19" name="text_937"/>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938"/>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939"/>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940"/>
          <p:cNvSpPr/>
          <p:nvPr/>
        </p:nvSpPr>
        <p:spPr>
          <a:xfrm flipV="1">
            <a:off x="3154680" y="2651760"/>
            <a:ext cx="731520" cy="2304288"/>
          </a:xfrm>
          <a:prstGeom prst="line">
            <a:avLst/>
          </a:prstGeom>
          <a:noFill/>
          <a:ln w="25400">
            <a:solidFill>
              <a:schemeClr val="tx2"/>
            </a:solidFill>
            <a:prstDash val="solid"/>
            <a:tailEnd type="triangle"/>
          </a:ln>
        </p:spPr>
      </p:sp>
      <p:sp>
        <p:nvSpPr>
          <p:cNvPr id="23" name="box_941"/>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942"/>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943"/>
          <p:cNvSpPr/>
          <p:nvPr/>
        </p:nvSpPr>
        <p:spPr>
          <a:xfrm flipV="1">
            <a:off x="3154680" y="3566160"/>
            <a:ext cx="731520" cy="1389888"/>
          </a:xfrm>
          <a:prstGeom prst="line">
            <a:avLst/>
          </a:prstGeom>
          <a:noFill/>
          <a:ln w="25400">
            <a:solidFill>
              <a:schemeClr val="tx2"/>
            </a:solidFill>
            <a:prstDash val="solid"/>
            <a:tailEnd type="triangle"/>
          </a:ln>
        </p:spPr>
      </p:sp>
      <p:sp>
        <p:nvSpPr>
          <p:cNvPr id="26" name="box_944"/>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945"/>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946"/>
          <p:cNvSpPr/>
          <p:nvPr/>
        </p:nvSpPr>
        <p:spPr>
          <a:xfrm flipV="1">
            <a:off x="3154680" y="4480560"/>
            <a:ext cx="731520" cy="475488"/>
          </a:xfrm>
          <a:prstGeom prst="line">
            <a:avLst/>
          </a:prstGeom>
          <a:noFill/>
          <a:ln w="25400">
            <a:solidFill>
              <a:schemeClr val="tx2"/>
            </a:solidFill>
            <a:prstDash val="solid"/>
            <a:tailEnd type="triangle"/>
          </a:ln>
        </p:spPr>
      </p:sp>
      <p:sp>
        <p:nvSpPr>
          <p:cNvPr id="29" name="box_947"/>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948"/>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949"/>
          <p:cNvSpPr/>
          <p:nvPr/>
        </p:nvSpPr>
        <p:spPr>
          <a:xfrm>
            <a:off x="3154680" y="4956048"/>
            <a:ext cx="731520" cy="438912"/>
          </a:xfrm>
          <a:prstGeom prst="line">
            <a:avLst/>
          </a:prstGeom>
          <a:noFill/>
          <a:ln w="25400">
            <a:solidFill>
              <a:schemeClr val="tx2"/>
            </a:solidFill>
            <a:prstDash val="solid"/>
            <a:tailEnd type="triangle"/>
          </a:ln>
        </p:spPr>
      </p:sp>
      <p:sp>
        <p:nvSpPr>
          <p:cNvPr id="32" name="text_950"/>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951"/>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952"/>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953"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954"/>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955"/>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956"/>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957"/>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958"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959"/>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960"/>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96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63"/>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964"/>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965"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966"/>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967"/>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968"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969"/>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70"/>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9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73"/>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97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7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76"/>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models/unbolt_robot.xml</a:t>
            </a:r>
            <a:endParaRPr lang="ko-KR" altLang="en-US" sz="1700" dirty="0"/>
          </a:p>
        </p:txBody>
      </p:sp>
      <p:sp>
        <p:nvSpPr>
          <p:cNvPr id="10" name="text_977"/>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978"/>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97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980"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981"/>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unbolt.urdf.xacro</a:t>
            </a:r>
            <a:endParaRPr lang="ko-KR" altLang="en-US" sz="1700" dirty="0"/>
          </a:p>
        </p:txBody>
      </p:sp>
      <p:sp>
        <p:nvSpPr>
          <p:cNvPr id="15" name="text_982"/>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983"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984"/>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985"/>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986"/>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987"/>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988"/>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989"/>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990"/>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991"/>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992"/>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9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95"/>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996"/>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997"/>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998"/>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999"/>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1000"/>
          <p:cNvSpPr/>
          <p:nvPr/>
        </p:nvSpPr>
        <p:spPr>
          <a:xfrm>
            <a:off x="7406640" y="2057400"/>
            <a:ext cx="548640" cy="0"/>
          </a:xfrm>
          <a:prstGeom prst="line">
            <a:avLst/>
          </a:prstGeom>
          <a:noFill/>
          <a:ln w="25400">
            <a:solidFill>
              <a:schemeClr val="tx2"/>
            </a:solidFill>
            <a:prstDash val="solid"/>
            <a:tailEnd type="triangle"/>
          </a:ln>
        </p:spPr>
      </p:sp>
      <p:sp>
        <p:nvSpPr>
          <p:cNvPr id="12" name="box_1001"/>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1002"/>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1003"/>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1004"/>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1005"/>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1006"/>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1007"/>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1008"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1009"/>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010"/>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10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1013"/>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1014"/>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1015"/>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1016"/>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1017"/>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1018"/>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R.T).ravel()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mujoco.mj_multiRay(m, d, origin, vec,</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geomid, dist, None, n, max_range)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1019"/>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1020"/>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1021"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1022"/>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1023"/>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1024"/>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1025"/>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1026"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1027"/>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1028"/>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10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31"/>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1032"/>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1033"/>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103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3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3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3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3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103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4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4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4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4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10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46"/>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1047"/>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1048"/>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1049"/>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1050"/>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1051"/>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1052"/>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1053"/>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1054"/>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1055"/>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1056"/>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1057"/>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1058"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1059"/>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060"/>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1061"/>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1062"/>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1063"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1064"/>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1065"/>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10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68"/>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1069"/>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1070"/>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107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7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7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7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7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107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7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7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7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8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10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1083"/>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084"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085"/>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1086"/>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1087"/>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088"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089"/>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1090"/>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1091"/>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092"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093"/>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1094"/>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1095"/>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096"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097"/>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1098"/>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1099"/>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00"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01"/>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1102"/>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11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1105"/>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1106"/>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07"/>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08"/>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1109"/>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10"/>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11"/>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1112"/>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13"/>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14"/>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1115"/>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16"/>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17"/>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1118"/>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19"/>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20"/>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11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123"/>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112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2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26"/>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1127"/>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model_path:=$UNBOLT_ROOT/models/my_scene.xml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1128"/>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1129"/>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1130"/>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1131"/>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1132"/>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1133"/>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model_path:=$UNBOLT_ROOT/models/scene.xml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1134"/>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1135"/>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1136"/>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1137"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1138"/>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1139"/>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1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1142"/>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143"/>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144"/>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145"/>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146"/>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1147"/>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1148"/>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149"/>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150"/>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151"/>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1152"/>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153"/>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1154"/>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155"/>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156"/>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1157"/>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1158"/>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1159"/>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160"/>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161"/>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1162"/>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163"/>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164"/>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165"/>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a:t>
            </a:r>
            <a:endParaRPr lang="ko-KR" altLang="en-US" sz="1700" dirty="0"/>
          </a:p>
        </p:txBody>
      </p:sp>
      <p:sp>
        <p:nvSpPr>
          <p:cNvPr id="30" name="text_1166"/>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a:t>
            </a:r>
            <a:endParaRPr lang="ko-KR" altLang="en-US" sz="1600" dirty="0"/>
          </a:p>
        </p:txBody>
      </p:sp>
      <p:sp>
        <p:nvSpPr>
          <p:cNvPr id="31" name="pill_1167"/>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1168"/>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1169"/>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170"/>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1171"/>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117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4"/>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117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76"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7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1178"/>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1179"/>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1180"/>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1181"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1182"/>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1183"/>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1184"/>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1185"/>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1186"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1187"/>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1188"/>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1189"/>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1190"/>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1191"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1192"/>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1193"/>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11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96"/>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1197"/>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1198"/>
          <p:cNvSpPr/>
          <p:nvPr/>
        </p:nvSpPr>
        <p:spPr>
          <a:xfrm>
            <a:off x="3703320" y="1920240"/>
            <a:ext cx="731520" cy="0"/>
          </a:xfrm>
          <a:prstGeom prst="line">
            <a:avLst/>
          </a:prstGeom>
          <a:noFill/>
          <a:ln w="25400">
            <a:solidFill>
              <a:schemeClr val="tx2"/>
            </a:solidFill>
            <a:prstDash val="solid"/>
            <a:tailEnd type="triangle"/>
          </a:ln>
        </p:spPr>
      </p:sp>
      <p:sp>
        <p:nvSpPr>
          <p:cNvPr id="9" name="box_1199"/>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1200"/>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1201"/>
          <p:cNvSpPr/>
          <p:nvPr/>
        </p:nvSpPr>
        <p:spPr>
          <a:xfrm>
            <a:off x="7635240" y="1920240"/>
            <a:ext cx="731520" cy="0"/>
          </a:xfrm>
          <a:prstGeom prst="line">
            <a:avLst/>
          </a:prstGeom>
          <a:noFill/>
          <a:ln w="25400">
            <a:solidFill>
              <a:schemeClr val="tx2"/>
            </a:solidFill>
            <a:prstDash val="solid"/>
            <a:tailEnd type="triangle"/>
          </a:ln>
        </p:spPr>
      </p:sp>
      <p:sp>
        <p:nvSpPr>
          <p:cNvPr id="12" name="box_1202"/>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1203"/>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1204"/>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1205"/>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1206"/>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1207"/>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1208"/>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1209"/>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1210"/>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1211"/>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1212"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1213"/>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1214"/>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12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21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1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19"/>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1220"/>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1221"/>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1222"/>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23"/>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1224"/>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1225"/>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1226"/>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27"/>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1228"/>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1229"/>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1230"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12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33"/>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1234"/>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1235"/>
          <p:cNvSpPr/>
          <p:nvPr/>
        </p:nvSpPr>
        <p:spPr>
          <a:xfrm>
            <a:off x="6035040" y="3154680"/>
            <a:ext cx="365760" cy="0"/>
          </a:xfrm>
          <a:prstGeom prst="line">
            <a:avLst/>
          </a:prstGeom>
          <a:noFill/>
          <a:ln w="25400">
            <a:solidFill>
              <a:schemeClr val="tx2"/>
            </a:solidFill>
            <a:prstDash val="solid"/>
            <a:tailEnd type="triangle"/>
          </a:ln>
        </p:spPr>
      </p:sp>
      <p:sp>
        <p:nvSpPr>
          <p:cNvPr id="13" name="box_1236"/>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1237"/>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1238"/>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1239"/>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1240"/>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1241"/>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1242"/>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1243"/>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1244"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1245"/>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1246"/>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12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49"/>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250"/>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2분)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251"/>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125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5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5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5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5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125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5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5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6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6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12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264"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1265"/>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1266"/>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1267"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1268"/>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1269"/>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1270"/>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1271"/>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1272"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1273"/>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1274"/>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1275"/>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1276"/>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1277"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1278"/>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1279"/>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12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82"/>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283"/>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1284"/>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128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8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8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8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8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129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9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9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9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9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12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97"/>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1298"/>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1299"/>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1300"/>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1301"/>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1302"/>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1303"/>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1304"/>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1305"/>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1306"/>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1307"/>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1308"/>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1309"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1310"/>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311"/>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13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31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31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316"/>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1317"/>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1318"/>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319"/>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320"/>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1321"/>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1322"/>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323"/>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324"/>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1325"/>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1326"/>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327"/>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328"/>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1329"/>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1330"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1331"/>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1332"/>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1333"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1334"/>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1335"/>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1336"/>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1337"/>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1338"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1339"/>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1340"/>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13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43"/>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1344"/>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1345"/>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1346"/>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1347"/>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1348"/>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1349"/>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1350"/>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1351"/>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1352"/>
          <p:cNvSpPr/>
          <p:nvPr/>
        </p:nvSpPr>
        <p:spPr>
          <a:xfrm>
            <a:off x="3383280" y="4343400"/>
            <a:ext cx="0" cy="365760"/>
          </a:xfrm>
          <a:prstGeom prst="line">
            <a:avLst/>
          </a:prstGeom>
          <a:noFill/>
          <a:ln w="25400">
            <a:solidFill>
              <a:schemeClr val="tx2"/>
            </a:solidFill>
            <a:prstDash val="solid"/>
            <a:tailEnd type="triangle"/>
          </a:ln>
        </p:spPr>
      </p:sp>
      <p:sp>
        <p:nvSpPr>
          <p:cNvPr id="16" name="box_1353"/>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1354"/>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1355"/>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1356"/>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1357"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1358"/>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1359"/>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1360"/>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1361"/>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1362"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1363"/>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1364"/>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13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67"/>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1368"/>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1369"/>
          <p:cNvSpPr/>
          <p:nvPr/>
        </p:nvSpPr>
        <p:spPr>
          <a:xfrm>
            <a:off x="2971800" y="1920240"/>
            <a:ext cx="548640" cy="0"/>
          </a:xfrm>
          <a:prstGeom prst="line">
            <a:avLst/>
          </a:prstGeom>
          <a:noFill/>
          <a:ln w="25400">
            <a:solidFill>
              <a:schemeClr val="tx2"/>
            </a:solidFill>
            <a:prstDash val="solid"/>
            <a:tailEnd type="triangle"/>
          </a:ln>
        </p:spPr>
      </p:sp>
      <p:sp>
        <p:nvSpPr>
          <p:cNvPr id="9" name="box_1370"/>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1371"/>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1372"/>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1373"/>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1374"/>
          <p:cNvSpPr/>
          <p:nvPr/>
        </p:nvSpPr>
        <p:spPr>
          <a:xfrm>
            <a:off x="6720840" y="1920240"/>
            <a:ext cx="548640" cy="0"/>
          </a:xfrm>
          <a:prstGeom prst="line">
            <a:avLst/>
          </a:prstGeom>
          <a:noFill/>
          <a:ln w="25400">
            <a:solidFill>
              <a:schemeClr val="tx2"/>
            </a:solidFill>
            <a:prstDash val="solid"/>
            <a:tailEnd type="triangle"/>
          </a:ln>
        </p:spPr>
      </p:sp>
      <p:sp>
        <p:nvSpPr>
          <p:cNvPr id="14" name="box_1375"/>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1376"/>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1377"/>
          <p:cNvSpPr/>
          <p:nvPr/>
        </p:nvSpPr>
        <p:spPr>
          <a:xfrm>
            <a:off x="6675120" y="2395728"/>
            <a:ext cx="621792" cy="758952"/>
          </a:xfrm>
          <a:prstGeom prst="line">
            <a:avLst/>
          </a:prstGeom>
          <a:noFill/>
          <a:ln w="25400">
            <a:solidFill>
              <a:schemeClr val="tx2"/>
            </a:solidFill>
            <a:prstDash val="solid"/>
            <a:tailEnd type="triangle"/>
          </a:ln>
        </p:spPr>
      </p:sp>
      <p:sp>
        <p:nvSpPr>
          <p:cNvPr id="17" name="box_1378"/>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1379"/>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1380"/>
          <p:cNvSpPr/>
          <p:nvPr/>
        </p:nvSpPr>
        <p:spPr>
          <a:xfrm>
            <a:off x="9464040" y="3749040"/>
            <a:ext cx="0" cy="411480"/>
          </a:xfrm>
          <a:prstGeom prst="line">
            <a:avLst/>
          </a:prstGeom>
          <a:noFill/>
          <a:ln w="25400">
            <a:solidFill>
              <a:schemeClr val="tx2"/>
            </a:solidFill>
            <a:prstDash val="solid"/>
            <a:tailEnd type="triangle"/>
          </a:ln>
        </p:spPr>
      </p:sp>
      <p:sp>
        <p:nvSpPr>
          <p:cNvPr id="20" name="box_1381"/>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1382"/>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1383"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1384"/>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1385"/>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1386"/>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1387"/>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1388"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1389"/>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1390"/>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13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93"/>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139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395"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39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1397"/>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1398"/>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1399"/>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1400"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1402"/>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1403"/>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1404"/>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1405"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1406"/>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1407"/>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140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0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10"/>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1411"/>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1412"/>
          <p:cNvSpPr/>
          <p:nvPr/>
        </p:nvSpPr>
        <p:spPr>
          <a:xfrm>
            <a:off x="2740152" y="1874520"/>
            <a:ext cx="356616" cy="0"/>
          </a:xfrm>
          <a:prstGeom prst="line">
            <a:avLst/>
          </a:prstGeom>
          <a:noFill/>
          <a:ln w="25400">
            <a:solidFill>
              <a:schemeClr val="tx2"/>
            </a:solidFill>
            <a:prstDash val="solid"/>
            <a:tailEnd type="triangle"/>
          </a:ln>
        </p:spPr>
      </p:sp>
      <p:sp>
        <p:nvSpPr>
          <p:cNvPr id="9" name="box_1413"/>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1414"/>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1415"/>
          <p:cNvSpPr/>
          <p:nvPr/>
        </p:nvSpPr>
        <p:spPr>
          <a:xfrm>
            <a:off x="5315712" y="1874520"/>
            <a:ext cx="356616" cy="0"/>
          </a:xfrm>
          <a:prstGeom prst="line">
            <a:avLst/>
          </a:prstGeom>
          <a:noFill/>
          <a:ln w="25400">
            <a:solidFill>
              <a:schemeClr val="tx2"/>
            </a:solidFill>
            <a:prstDash val="solid"/>
            <a:tailEnd type="triangle"/>
          </a:ln>
        </p:spPr>
      </p:sp>
      <p:sp>
        <p:nvSpPr>
          <p:cNvPr id="12" name="box_1416"/>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1417"/>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1418"/>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1419"/>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1420"/>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1421"/>
          <p:cNvSpPr/>
          <p:nvPr/>
        </p:nvSpPr>
        <p:spPr>
          <a:xfrm>
            <a:off x="3067812" y="3246120"/>
            <a:ext cx="310896" cy="0"/>
          </a:xfrm>
          <a:prstGeom prst="line">
            <a:avLst/>
          </a:prstGeom>
          <a:noFill/>
          <a:ln w="25400">
            <a:solidFill>
              <a:schemeClr val="tx2"/>
            </a:solidFill>
            <a:prstDash val="solid"/>
            <a:tailEnd type="triangle"/>
          </a:ln>
        </p:spPr>
      </p:sp>
      <p:sp>
        <p:nvSpPr>
          <p:cNvPr id="18" name="box_1422"/>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1423"/>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1424"/>
          <p:cNvSpPr/>
          <p:nvPr/>
        </p:nvSpPr>
        <p:spPr>
          <a:xfrm>
            <a:off x="5925312" y="3246120"/>
            <a:ext cx="310896" cy="0"/>
          </a:xfrm>
          <a:prstGeom prst="line">
            <a:avLst/>
          </a:prstGeom>
          <a:noFill/>
          <a:ln w="25400">
            <a:solidFill>
              <a:schemeClr val="tx2"/>
            </a:solidFill>
            <a:prstDash val="solid"/>
            <a:tailEnd type="triangle"/>
          </a:ln>
        </p:spPr>
      </p:sp>
      <p:sp>
        <p:nvSpPr>
          <p:cNvPr id="21" name="box_1425"/>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1426"/>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427"/>
          <p:cNvSpPr/>
          <p:nvPr/>
        </p:nvSpPr>
        <p:spPr>
          <a:xfrm>
            <a:off x="8782812" y="3246120"/>
            <a:ext cx="310896" cy="0"/>
          </a:xfrm>
          <a:prstGeom prst="line">
            <a:avLst/>
          </a:prstGeom>
          <a:noFill/>
          <a:ln w="25400">
            <a:solidFill>
              <a:schemeClr val="tx2"/>
            </a:solidFill>
            <a:prstDash val="solid"/>
            <a:tailEnd type="triangle"/>
          </a:ln>
        </p:spPr>
      </p:sp>
      <p:sp>
        <p:nvSpPr>
          <p:cNvPr id="24" name="box_1428"/>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429"/>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430"/>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431"/>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432"/>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433"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434"/>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435"/>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436"/>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437"/>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438"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439"/>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440"/>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4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78" name="table_144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444"/>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unbolt_navigation/config/nav2_params.yaml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4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447"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448"/>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449"/>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a:t>
            </a:r>
            <a:endParaRPr lang="ko-KR" altLang="en-US" sz="1300" dirty="0"/>
          </a:p>
        </p:txBody>
      </p:sp>
      <p:sp>
        <p:nvSpPr>
          <p:cNvPr id="9" name="num_1450"/>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451"/>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452"/>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453"/>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454"/>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455"/>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456"/>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457"/>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458"/>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459"/>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460"/>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461"/>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462"/>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463"/>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464"/>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465"/>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4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68"/>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469"/>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80" name="table_1470"/>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(3.0, −1.4)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(−1.9, 1.6)</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471"/>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472"/>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473"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474"/>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75"/>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476"/>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477"/>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478"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479"/>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480"/>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4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1" name="table_148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484"/>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485"/>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unbolt_navigation)/share/unbolt_navigation/config/nav2_params.yaml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params_file:=$HOME/my_nav2.yaml</a:t>
            </a:r>
            <a:endParaRPr lang="ko-KR" altLang="en-US" sz="1300" dirty="0"/>
          </a:p>
        </p:txBody>
      </p:sp>
      <p:sp>
        <p:nvSpPr>
          <p:cNvPr id="9" name="box_1486"/>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487"/>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488"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489"/>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490"/>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4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93"/>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494"/>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12초</a:t>
            </a:r>
            <a:endParaRPr lang="ko-KR" altLang="en-US" sz="5400" dirty="0"/>
          </a:p>
        </p:txBody>
      </p:sp>
      <p:sp>
        <p:nvSpPr>
          <p:cNvPr id="8" name="text_1495"/>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작업대와 기둥 사이 남쪽 길</a:t>
            </a:r>
            <a:endParaRPr lang="ko-KR" altLang="en-US" sz="1600" dirty="0"/>
          </a:p>
        </p:txBody>
      </p:sp>
      <p:sp>
        <p:nvSpPr>
          <p:cNvPr id="9" name="box_1496"/>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497"/>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18초</a:t>
            </a:r>
            <a:endParaRPr lang="ko-KR" altLang="en-US" sz="5400" dirty="0"/>
          </a:p>
        </p:txBody>
      </p:sp>
      <p:sp>
        <p:nvSpPr>
          <p:cNvPr id="11" name="text_1498"/>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보고 작업대 북쪽으로 우회</a:t>
            </a:r>
            <a:endParaRPr lang="ko-KR" altLang="en-US" sz="1600" dirty="0"/>
          </a:p>
        </p:txBody>
      </p:sp>
      <p:sp>
        <p:nvSpPr>
          <p:cNvPr id="12" name="box_1499"/>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500"/>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pos="2.0 -1.0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model_path:=$UNBOLT_ROOT/models/my_scene.xml       # 지도는 옛 지도 그대로</a:t>
            </a:r>
            <a:endParaRPr lang="ko-KR" altLang="en-US" sz="1300" dirty="0"/>
          </a:p>
        </p:txBody>
      </p:sp>
      <p:sp>
        <p:nvSpPr>
          <p:cNvPr id="14" name="list_1501"/>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502"/>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(3.0, −1.4)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5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05"/>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506"/>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[(3.2, 1.2, 0.0), (3.0, -1.4,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(-1.9, 1.6,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507"/>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508"/>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509"/>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510"/>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511"/>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512"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513"/>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514"/>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515"/>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516"/>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517"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518"/>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519"/>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5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4" name="table_152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5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25"/>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526"/>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527"/>
          <p:cNvSpPr/>
          <p:nvPr/>
        </p:nvSpPr>
        <p:spPr>
          <a:xfrm>
            <a:off x="1960735" y="2011680"/>
            <a:ext cx="173736" cy="0"/>
          </a:xfrm>
          <a:prstGeom prst="line">
            <a:avLst/>
          </a:prstGeom>
          <a:noFill/>
          <a:ln w="25400">
            <a:solidFill>
              <a:schemeClr val="tx2"/>
            </a:solidFill>
            <a:prstDash val="solid"/>
            <a:tailEnd type="triangle"/>
          </a:ln>
        </p:spPr>
      </p:sp>
      <p:sp>
        <p:nvSpPr>
          <p:cNvPr id="9" name="box_1528"/>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529"/>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530"/>
          <p:cNvSpPr/>
          <p:nvPr/>
        </p:nvSpPr>
        <p:spPr>
          <a:xfrm>
            <a:off x="3573998" y="2011680"/>
            <a:ext cx="173736" cy="0"/>
          </a:xfrm>
          <a:prstGeom prst="line">
            <a:avLst/>
          </a:prstGeom>
          <a:noFill/>
          <a:ln w="25400">
            <a:solidFill>
              <a:schemeClr val="tx2"/>
            </a:solidFill>
            <a:prstDash val="solid"/>
            <a:tailEnd type="triangle"/>
          </a:ln>
        </p:spPr>
      </p:sp>
      <p:sp>
        <p:nvSpPr>
          <p:cNvPr id="12" name="box_1531"/>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532"/>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533"/>
          <p:cNvSpPr/>
          <p:nvPr/>
        </p:nvSpPr>
        <p:spPr>
          <a:xfrm>
            <a:off x="5187261" y="2011680"/>
            <a:ext cx="173736" cy="0"/>
          </a:xfrm>
          <a:prstGeom prst="line">
            <a:avLst/>
          </a:prstGeom>
          <a:noFill/>
          <a:ln w="25400">
            <a:solidFill>
              <a:schemeClr val="tx2"/>
            </a:solidFill>
            <a:prstDash val="solid"/>
            <a:tailEnd type="triangle"/>
          </a:ln>
        </p:spPr>
      </p:sp>
      <p:sp>
        <p:nvSpPr>
          <p:cNvPr id="15" name="box_1534"/>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535"/>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536"/>
          <p:cNvSpPr/>
          <p:nvPr/>
        </p:nvSpPr>
        <p:spPr>
          <a:xfrm>
            <a:off x="6800523" y="2011680"/>
            <a:ext cx="173736" cy="0"/>
          </a:xfrm>
          <a:prstGeom prst="line">
            <a:avLst/>
          </a:prstGeom>
          <a:noFill/>
          <a:ln w="25400">
            <a:solidFill>
              <a:schemeClr val="tx2"/>
            </a:solidFill>
            <a:prstDash val="solid"/>
            <a:tailEnd type="triangle"/>
          </a:ln>
        </p:spPr>
      </p:sp>
      <p:sp>
        <p:nvSpPr>
          <p:cNvPr id="18" name="box_1537"/>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538"/>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539"/>
          <p:cNvSpPr/>
          <p:nvPr/>
        </p:nvSpPr>
        <p:spPr>
          <a:xfrm>
            <a:off x="8413786" y="2011680"/>
            <a:ext cx="173736" cy="0"/>
          </a:xfrm>
          <a:prstGeom prst="line">
            <a:avLst/>
          </a:prstGeom>
          <a:noFill/>
          <a:ln w="25400">
            <a:solidFill>
              <a:schemeClr val="tx2"/>
            </a:solidFill>
            <a:prstDash val="solid"/>
            <a:tailEnd type="triangle"/>
          </a:ln>
        </p:spPr>
      </p:sp>
      <p:sp>
        <p:nvSpPr>
          <p:cNvPr id="21" name="box_1540"/>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541"/>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542"/>
          <p:cNvSpPr/>
          <p:nvPr/>
        </p:nvSpPr>
        <p:spPr>
          <a:xfrm>
            <a:off x="10027049" y="2011680"/>
            <a:ext cx="173736" cy="0"/>
          </a:xfrm>
          <a:prstGeom prst="line">
            <a:avLst/>
          </a:prstGeom>
          <a:noFill/>
          <a:ln w="25400">
            <a:solidFill>
              <a:schemeClr val="tx2"/>
            </a:solidFill>
            <a:prstDash val="solid"/>
            <a:tailEnd type="triangle"/>
          </a:ln>
        </p:spPr>
      </p:sp>
      <p:sp>
        <p:nvSpPr>
          <p:cNvPr id="24" name="box_1543"/>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544"/>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545"/>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546"/>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547"/>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548"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549"/>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550"/>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551"/>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552"/>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553"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554"/>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555"/>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5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558"/>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559"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560"/>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561"/>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562"/>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563"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564"/>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565"/>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566"/>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567"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568"/>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569"/>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570"/>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571"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572"/>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573"/>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574"/>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575"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576"/>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577"/>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57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7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580"/>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581"/>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582"/>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583"/>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584"/>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585"/>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586"/>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587"/>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588"/>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589"/>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590"/>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591"/>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592"/>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593"/>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594"/>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595"/>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5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98"/>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59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600"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601"/>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602"/>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603"/>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604"/>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605"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606"/>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자동 지도 작성</a:t>
            </a:r>
            <a:endParaRPr lang="ko-KR" altLang="en-US" sz="1800" dirty="0"/>
          </a:p>
        </p:txBody>
      </p:sp>
      <p:sp>
        <p:nvSpPr>
          <p:cNvPr id="15" name="text_1607"/>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explore_waypoints.py는 진짜 위치를 쓴다. /odom과 /scan만으로 방을 탐색해 지도를 만드는 노드를 만들어 보자.</a:t>
            </a:r>
            <a:endParaRPr lang="ko-KR" altLang="en-US" sz="1400" dirty="0"/>
          </a:p>
          <a:p>
            <a:pPr eaLnBrk="0" indent="0" marL="0">
              <a:buNone/>
            </a:pPr>
            <a:r>
              <a:rPr lang="ko-KR" altLang="en-US" sz="1400" dirty="0">
                <a:solidFill>
                  <a:schemeClr val="tx1"/>
                </a:solidFill>
              </a:rPr>
              <a:t>힌트: frontier 탐색(지도의 "아는 곳과 모르는 곳의 경계"로 가기), 벽 따라가기</a:t>
            </a:r>
            <a:endParaRPr lang="ko-KR" altLang="en-US" sz="1400" dirty="0"/>
          </a:p>
        </p:txBody>
      </p:sp>
      <p:sp>
        <p:nvSpPr>
          <p:cNvPr id="16" name="box_1608"/>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609"/>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610"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611"/>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612"/>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6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615"/>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616"/>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617"/>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618"/>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619"/>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620"/>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621"/>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622"/>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623"/>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624"/>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625"/>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626"/>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627"/>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628"/>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629"/>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630"/>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631"/>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632"/>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633"/>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634"/>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635"/>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636"/>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637"/>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638"/>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639"/>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6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642"/>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643"/>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644"/>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645"/>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646"/>
          <p:cNvSpPr/>
          <p:nvPr/>
        </p:nvSpPr>
        <p:spPr>
          <a:xfrm>
            <a:off x="4663440" y="2148840"/>
            <a:ext cx="2834640" cy="0"/>
          </a:xfrm>
          <a:prstGeom prst="line">
            <a:avLst/>
          </a:prstGeom>
          <a:noFill/>
          <a:ln w="25400">
            <a:solidFill>
              <a:schemeClr val="tx2"/>
            </a:solidFill>
            <a:prstDash val="solid"/>
            <a:tailEnd type="triangle"/>
          </a:ln>
        </p:spPr>
      </p:sp>
      <p:sp>
        <p:nvSpPr>
          <p:cNvPr id="11" name="arrow_1647"/>
          <p:cNvSpPr/>
          <p:nvPr/>
        </p:nvSpPr>
        <p:spPr>
          <a:xfrm flipH="1">
            <a:off x="4663440" y="2971800"/>
            <a:ext cx="2834640" cy="0"/>
          </a:xfrm>
          <a:prstGeom prst="line">
            <a:avLst/>
          </a:prstGeom>
          <a:noFill/>
          <a:ln w="25400">
            <a:solidFill>
              <a:schemeClr val="tx2"/>
            </a:solidFill>
            <a:prstDash val="solid"/>
            <a:tailEnd type="triangle"/>
          </a:ln>
        </p:spPr>
      </p:sp>
      <p:sp>
        <p:nvSpPr>
          <p:cNvPr id="12" name="text_1648"/>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649"/>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650"/>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651"/>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652"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653"/>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654"/>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655"/>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656"/>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657"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658"/>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659"/>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6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662"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92" name="table_1663"/>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66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665"/>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666"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66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66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6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671"/>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672"/>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673"/>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674"/>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675"/>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676"/>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677"/>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678"/>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679"/>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680"/>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681"/>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682"/>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683"/>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684"/>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685"/>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686"/>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687"/>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688"/>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689"/>
          <p:cNvSpPr/>
          <p:nvPr/>
        </p:nvSpPr>
        <p:spPr>
          <a:xfrm>
            <a:off x="2569464" y="4160520"/>
            <a:ext cx="219456" cy="0"/>
          </a:xfrm>
          <a:prstGeom prst="line">
            <a:avLst/>
          </a:prstGeom>
          <a:noFill/>
          <a:ln w="25400">
            <a:solidFill>
              <a:schemeClr val="tx2"/>
            </a:solidFill>
            <a:prstDash val="solid"/>
            <a:tailEnd type="triangle"/>
          </a:ln>
        </p:spPr>
      </p:sp>
      <p:sp>
        <p:nvSpPr>
          <p:cNvPr id="25" name="box_1690"/>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691"/>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692"/>
          <p:cNvSpPr/>
          <p:nvPr/>
        </p:nvSpPr>
        <p:spPr>
          <a:xfrm>
            <a:off x="4837176" y="4160520"/>
            <a:ext cx="219456" cy="0"/>
          </a:xfrm>
          <a:prstGeom prst="line">
            <a:avLst/>
          </a:prstGeom>
          <a:noFill/>
          <a:ln w="25400">
            <a:solidFill>
              <a:schemeClr val="tx2"/>
            </a:solidFill>
            <a:prstDash val="solid"/>
            <a:tailEnd type="triangle"/>
          </a:ln>
        </p:spPr>
      </p:sp>
      <p:sp>
        <p:nvSpPr>
          <p:cNvPr id="28" name="box_1693"/>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694"/>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695"/>
          <p:cNvSpPr/>
          <p:nvPr/>
        </p:nvSpPr>
        <p:spPr>
          <a:xfrm>
            <a:off x="7104888" y="4160520"/>
            <a:ext cx="219456" cy="0"/>
          </a:xfrm>
          <a:prstGeom prst="line">
            <a:avLst/>
          </a:prstGeom>
          <a:noFill/>
          <a:ln w="25400">
            <a:solidFill>
              <a:schemeClr val="tx2"/>
            </a:solidFill>
            <a:prstDash val="solid"/>
            <a:tailEnd type="triangle"/>
          </a:ln>
        </p:spPr>
      </p:sp>
      <p:sp>
        <p:nvSpPr>
          <p:cNvPr id="31" name="box_1696"/>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697"/>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698"/>
          <p:cNvSpPr/>
          <p:nvPr/>
        </p:nvSpPr>
        <p:spPr>
          <a:xfrm>
            <a:off x="9372600" y="4160520"/>
            <a:ext cx="219456" cy="0"/>
          </a:xfrm>
          <a:prstGeom prst="line">
            <a:avLst/>
          </a:prstGeom>
          <a:noFill/>
          <a:ln w="25400">
            <a:solidFill>
              <a:schemeClr val="tx2"/>
            </a:solidFill>
            <a:prstDash val="solid"/>
            <a:tailEnd type="triangle"/>
          </a:ln>
        </p:spPr>
      </p:sp>
      <p:sp>
        <p:nvSpPr>
          <p:cNvPr id="34" name="box_1699"/>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700"/>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701"/>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702"/>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703"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704"/>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705"/>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70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0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94" name="table_1708"/>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709"/>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710"/>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711"/>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712"/>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713"/>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714"/>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715"/>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716"/>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717"/>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718"/>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719"/>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720"/>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721"/>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722"/>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723"/>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724"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725"/>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726"/>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72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2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29"/>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730"/>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731"/>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빨간 상자</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732"/>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733"/>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734"/>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735"/>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736"/>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737"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738"/>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739"/>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740"/>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741"/>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742"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743"/>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744"/>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7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747"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748"/>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749"/>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p:txBody>
      </p:sp>
      <p:sp>
        <p:nvSpPr>
          <p:cNvPr id="9" name="num_1750"/>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751"/>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752"/>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753"/>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754"/>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755"/>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756"/>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757"/>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758"/>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759"/>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760"/>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761"/>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762"/>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763"/>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764"/>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765"/>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7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68"/>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769"/>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770"/>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77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77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77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77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77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77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77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77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77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78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7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83"/>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784"/>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785"/>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786"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787"/>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788"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789"/>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790"/>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791"/>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792"/>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793"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794"/>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795"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796"/>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98" name="table_1797"/>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79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9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00"/>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801"/>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802"/>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803"/>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804"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805"/>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806"/>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807"/>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808"/>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809"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810"/>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811"/>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812"/>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813"/>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814"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815"/>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816"/>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8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19"/>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820"/>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821"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822"/>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823"/>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824"/>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825"/>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826"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827"/>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828"/>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829"/>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830"/>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831"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832"/>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833"/>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834"/>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835"/>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836"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837"/>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838"/>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8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841" descr="공급 테이블 앞 헤드 카메라: 빨간 상자 위 마커 7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842" descr="작업대 앞 헤드 카메라: 놓을 자리 마커 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843"/>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공급 테이블 앞: 상자 위 마커 7 (3.75 cm)</a:t>
            </a:r>
            <a:endParaRPr lang="ko-KR" altLang="en-US" sz="1500" dirty="0"/>
          </a:p>
        </p:txBody>
      </p:sp>
      <p:sp>
        <p:nvSpPr>
          <p:cNvPr id="9" name="text_1844"/>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3 (7.5 cm)</a:t>
            </a:r>
            <a:endParaRPr lang="ko-KR" altLang="en-US" sz="1500" dirty="0"/>
          </a:p>
        </p:txBody>
      </p:sp>
      <p:sp>
        <p:nvSpPr>
          <p:cNvPr id="10" name="box_1845"/>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846"/>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847"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848"/>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849"/>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85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5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52"/>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853"/>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854"/>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855"/>
          <p:cNvSpPr/>
          <p:nvPr/>
        </p:nvSpPr>
        <p:spPr>
          <a:xfrm>
            <a:off x="3977640" y="2423160"/>
            <a:ext cx="320040" cy="0"/>
          </a:xfrm>
          <a:prstGeom prst="line">
            <a:avLst/>
          </a:prstGeom>
          <a:noFill/>
          <a:ln w="25400">
            <a:solidFill>
              <a:schemeClr val="tx2"/>
            </a:solidFill>
            <a:prstDash val="solid"/>
            <a:tailEnd type="triangle"/>
          </a:ln>
        </p:spPr>
      </p:sp>
      <p:sp>
        <p:nvSpPr>
          <p:cNvPr id="10" name="box_1856"/>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857"/>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858"/>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859"/>
          <p:cNvSpPr/>
          <p:nvPr/>
        </p:nvSpPr>
        <p:spPr>
          <a:xfrm>
            <a:off x="7772400" y="2423160"/>
            <a:ext cx="320040" cy="0"/>
          </a:xfrm>
          <a:prstGeom prst="line">
            <a:avLst/>
          </a:prstGeom>
          <a:noFill/>
          <a:ln w="25400">
            <a:solidFill>
              <a:schemeClr val="tx2"/>
            </a:solidFill>
            <a:prstDash val="solid"/>
            <a:tailEnd type="triangle"/>
          </a:ln>
        </p:spPr>
      </p:sp>
      <p:sp>
        <p:nvSpPr>
          <p:cNvPr id="14" name="box_1860"/>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861"/>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862"/>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863"/>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864"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865"/>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a:t>
            </a:r>
            <a:endParaRPr lang="ko-KR" altLang="en-US" sz="1600" dirty="0"/>
          </a:p>
        </p:txBody>
      </p:sp>
      <p:sp>
        <p:nvSpPr>
          <p:cNvPr id="20" name="text_1866"/>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상자 윗면, 3.75 cm</a:t>
            </a:r>
            <a:endParaRPr lang="ko-KR" altLang="en-US" sz="1400" dirty="0"/>
          </a:p>
        </p:txBody>
      </p:sp>
      <p:sp>
        <p:nvSpPr>
          <p:cNvPr id="21" name="iconbg_1867"/>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868"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869"/>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5</a:t>
            </a:r>
            <a:endParaRPr lang="ko-KR" altLang="en-US" sz="1600" dirty="0"/>
          </a:p>
        </p:txBody>
      </p:sp>
      <p:sp>
        <p:nvSpPr>
          <p:cNvPr id="24" name="text_1870"/>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공급 테이블 놓을 자리, 7.5 cm</a:t>
            </a:r>
            <a:endParaRPr lang="ko-KR" altLang="en-US" sz="1400" dirty="0"/>
          </a:p>
        </p:txBody>
      </p:sp>
      <p:sp>
        <p:nvSpPr>
          <p:cNvPr id="25" name="iconbg_1871"/>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872"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873"/>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3</a:t>
            </a:r>
            <a:endParaRPr lang="ko-KR" altLang="en-US" sz="1600" dirty="0"/>
          </a:p>
        </p:txBody>
      </p:sp>
      <p:sp>
        <p:nvSpPr>
          <p:cNvPr id="28" name="text_1874"/>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놓을 자리, 7.5 cm</a:t>
            </a:r>
            <a:endParaRPr lang="ko-KR" altLang="en-US" sz="1400" dirty="0"/>
          </a:p>
        </p:txBody>
      </p:sp>
      <p:sp>
        <p:nvSpPr>
          <p:cNvPr id="29" name="box_1875"/>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876"/>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877"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878"/>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879"/>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18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82"/>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1883"/>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1884"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1885"/>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1886"/>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1887"/>
          <p:cNvSpPr/>
          <p:nvPr/>
        </p:nvSpPr>
        <p:spPr>
          <a:xfrm>
            <a:off x="1600200" y="3063240"/>
            <a:ext cx="1097280" cy="0"/>
          </a:xfrm>
          <a:prstGeom prst="line">
            <a:avLst/>
          </a:prstGeom>
          <a:noFill/>
          <a:ln w="25400">
            <a:solidFill>
              <a:schemeClr val="tx2"/>
            </a:solidFill>
            <a:prstDash val="solid"/>
            <a:tailEnd type="triangle"/>
          </a:ln>
        </p:spPr>
      </p:sp>
      <p:sp>
        <p:nvSpPr>
          <p:cNvPr id="16" name="arrow_1888"/>
          <p:cNvSpPr/>
          <p:nvPr/>
        </p:nvSpPr>
        <p:spPr>
          <a:xfrm>
            <a:off x="3703320" y="3063240"/>
            <a:ext cx="1371600" cy="0"/>
          </a:xfrm>
          <a:prstGeom prst="line">
            <a:avLst/>
          </a:prstGeom>
          <a:noFill/>
          <a:ln w="25400">
            <a:solidFill>
              <a:schemeClr val="tx2"/>
            </a:solidFill>
            <a:prstDash val="solid"/>
            <a:tailEnd type="triangle"/>
          </a:ln>
        </p:spPr>
      </p:sp>
      <p:sp>
        <p:nvSpPr>
          <p:cNvPr id="17" name="box_1889"/>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1890"/>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1891"/>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1892"/>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1893"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1894"/>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1895"/>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1896"/>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1897"/>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1898"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1899"/>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1900"/>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19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03"/>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904"/>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905"/>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190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90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90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90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91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191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91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91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91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91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19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18"/>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1919"/>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1920"/>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1921"/>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1922"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1923"/>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1924"/>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1925"/>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1926"/>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1927"/>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1928"/>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1929"/>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1930"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1931"/>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1932"/>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1933"/>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1934"/>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1935"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1936"/>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1937"/>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19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40"/>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1941"/>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1942"/>
          <p:cNvSpPr/>
          <p:nvPr/>
        </p:nvSpPr>
        <p:spPr>
          <a:xfrm>
            <a:off x="3102102" y="2103120"/>
            <a:ext cx="265176" cy="0"/>
          </a:xfrm>
          <a:prstGeom prst="line">
            <a:avLst/>
          </a:prstGeom>
          <a:noFill/>
          <a:ln w="25400">
            <a:solidFill>
              <a:schemeClr val="tx2"/>
            </a:solidFill>
            <a:prstDash val="solid"/>
            <a:tailEnd type="triangle"/>
          </a:ln>
        </p:spPr>
      </p:sp>
      <p:sp>
        <p:nvSpPr>
          <p:cNvPr id="9" name="box_1943"/>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1944"/>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1945"/>
          <p:cNvSpPr/>
          <p:nvPr/>
        </p:nvSpPr>
        <p:spPr>
          <a:xfrm>
            <a:off x="5948172" y="2103120"/>
            <a:ext cx="265176" cy="0"/>
          </a:xfrm>
          <a:prstGeom prst="line">
            <a:avLst/>
          </a:prstGeom>
          <a:noFill/>
          <a:ln w="25400">
            <a:solidFill>
              <a:schemeClr val="tx2"/>
            </a:solidFill>
            <a:prstDash val="solid"/>
            <a:tailEnd type="triangle"/>
          </a:ln>
        </p:spPr>
      </p:sp>
      <p:sp>
        <p:nvSpPr>
          <p:cNvPr id="12" name="box_1946"/>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1947"/>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1948"/>
          <p:cNvSpPr/>
          <p:nvPr/>
        </p:nvSpPr>
        <p:spPr>
          <a:xfrm>
            <a:off x="8794242" y="2103120"/>
            <a:ext cx="265176" cy="0"/>
          </a:xfrm>
          <a:prstGeom prst="line">
            <a:avLst/>
          </a:prstGeom>
          <a:noFill/>
          <a:ln w="25400">
            <a:solidFill>
              <a:schemeClr val="tx2"/>
            </a:solidFill>
            <a:prstDash val="solid"/>
            <a:tailEnd type="triangle"/>
          </a:ln>
        </p:spPr>
      </p:sp>
      <p:sp>
        <p:nvSpPr>
          <p:cNvPr id="15" name="box_1949"/>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1950"/>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1951"/>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1952"/>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1953"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1954"/>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1955"/>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1956"/>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1957"/>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1958"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1959"/>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1960"/>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1961"/>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1962"/>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1963"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1964"/>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1965"/>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19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68"/>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1969"/>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1970"/>
          <p:cNvSpPr/>
          <p:nvPr/>
        </p:nvSpPr>
        <p:spPr>
          <a:xfrm>
            <a:off x="3081528" y="1737360"/>
            <a:ext cx="283464" cy="0"/>
          </a:xfrm>
          <a:prstGeom prst="line">
            <a:avLst/>
          </a:prstGeom>
          <a:noFill/>
          <a:ln w="25400">
            <a:solidFill>
              <a:schemeClr val="tx2"/>
            </a:solidFill>
            <a:prstDash val="solid"/>
            <a:tailEnd type="triangle"/>
          </a:ln>
        </p:spPr>
      </p:sp>
      <p:sp>
        <p:nvSpPr>
          <p:cNvPr id="9" name="box_1971"/>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1972"/>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공급 테이블</a:t>
            </a:r>
            <a:endParaRPr lang="ko-KR" altLang="en-US" sz="1500" dirty="0"/>
          </a:p>
        </p:txBody>
      </p:sp>
      <p:sp>
        <p:nvSpPr>
          <p:cNvPr id="11" name="arrow_1973"/>
          <p:cNvSpPr/>
          <p:nvPr/>
        </p:nvSpPr>
        <p:spPr>
          <a:xfrm>
            <a:off x="5916168" y="1737360"/>
            <a:ext cx="283464" cy="0"/>
          </a:xfrm>
          <a:prstGeom prst="line">
            <a:avLst/>
          </a:prstGeom>
          <a:noFill/>
          <a:ln w="25400">
            <a:solidFill>
              <a:schemeClr val="tx2"/>
            </a:solidFill>
            <a:prstDash val="solid"/>
            <a:tailEnd type="triangle"/>
          </a:ln>
        </p:spPr>
      </p:sp>
      <p:sp>
        <p:nvSpPr>
          <p:cNvPr id="12" name="box_1974"/>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1975"/>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1976"/>
          <p:cNvSpPr/>
          <p:nvPr/>
        </p:nvSpPr>
        <p:spPr>
          <a:xfrm>
            <a:off x="8750808" y="1737360"/>
            <a:ext cx="283464" cy="0"/>
          </a:xfrm>
          <a:prstGeom prst="line">
            <a:avLst/>
          </a:prstGeom>
          <a:noFill/>
          <a:ln w="25400">
            <a:solidFill>
              <a:schemeClr val="tx2"/>
            </a:solidFill>
            <a:prstDash val="solid"/>
            <a:tailEnd type="triangle"/>
          </a:ln>
        </p:spPr>
      </p:sp>
      <p:sp>
        <p:nvSpPr>
          <p:cNvPr id="15" name="box_1977"/>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1978"/>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1979"/>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1980"/>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1981"/>
          <p:cNvSpPr/>
          <p:nvPr/>
        </p:nvSpPr>
        <p:spPr>
          <a:xfrm>
            <a:off x="3081528" y="2834640"/>
            <a:ext cx="283464" cy="0"/>
          </a:xfrm>
          <a:prstGeom prst="line">
            <a:avLst/>
          </a:prstGeom>
          <a:noFill/>
          <a:ln w="25400">
            <a:solidFill>
              <a:schemeClr val="tx2"/>
            </a:solidFill>
            <a:prstDash val="solid"/>
            <a:tailEnd type="triangle"/>
          </a:ln>
        </p:spPr>
      </p:sp>
      <p:sp>
        <p:nvSpPr>
          <p:cNvPr id="20" name="box_1982"/>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1983"/>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1984"/>
          <p:cNvSpPr/>
          <p:nvPr/>
        </p:nvSpPr>
        <p:spPr>
          <a:xfrm>
            <a:off x="5916168" y="2834640"/>
            <a:ext cx="283464" cy="0"/>
          </a:xfrm>
          <a:prstGeom prst="line">
            <a:avLst/>
          </a:prstGeom>
          <a:noFill/>
          <a:ln w="25400">
            <a:solidFill>
              <a:schemeClr val="tx2"/>
            </a:solidFill>
            <a:prstDash val="solid"/>
            <a:tailEnd type="triangle"/>
          </a:ln>
        </p:spPr>
      </p:sp>
      <p:sp>
        <p:nvSpPr>
          <p:cNvPr id="23" name="box_1985"/>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1986"/>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3</a:t>
            </a:r>
            <a:endParaRPr lang="ko-KR" altLang="en-US" sz="1500" dirty="0"/>
          </a:p>
        </p:txBody>
      </p:sp>
      <p:sp>
        <p:nvSpPr>
          <p:cNvPr id="25" name="arrow_1987"/>
          <p:cNvSpPr/>
          <p:nvPr/>
        </p:nvSpPr>
        <p:spPr>
          <a:xfrm>
            <a:off x="8750808" y="2834640"/>
            <a:ext cx="283464" cy="0"/>
          </a:xfrm>
          <a:prstGeom prst="line">
            <a:avLst/>
          </a:prstGeom>
          <a:noFill/>
          <a:ln w="25400">
            <a:solidFill>
              <a:schemeClr val="tx2"/>
            </a:solidFill>
            <a:prstDash val="solid"/>
            <a:tailEnd type="triangle"/>
          </a:ln>
        </p:spPr>
      </p:sp>
      <p:sp>
        <p:nvSpPr>
          <p:cNvPr id="26" name="box_1988"/>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1989"/>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1990"/>
          <p:cNvSpPr/>
          <p:nvPr/>
        </p:nvSpPr>
        <p:spPr>
          <a:xfrm>
            <a:off x="10927080" y="2121408"/>
            <a:ext cx="0" cy="329184"/>
          </a:xfrm>
          <a:prstGeom prst="line">
            <a:avLst/>
          </a:prstGeom>
          <a:noFill/>
          <a:ln w="25400">
            <a:solidFill>
              <a:schemeClr val="tx2"/>
            </a:solidFill>
            <a:prstDash val="solid"/>
            <a:tailEnd type="triangle"/>
          </a:ln>
        </p:spPr>
      </p:sp>
      <p:pic>
        <p:nvPicPr>
          <p:cNvPr id="29" name="img_1991"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19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99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99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996"/>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1997"/>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1998"/>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1999"/>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000"/>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2001"/>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2002"/>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2003"/>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004"/>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2005"/>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2006"/>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2007"/>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008"/>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2009"/>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2010"/>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2011"/>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012"/>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2013"/>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2014"/>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2015"/>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016"/>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2017"/>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20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02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02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02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3 위 8 cm로</a:t>
            </a:r>
            <a:endParaRPr lang="ko-KR" altLang="en-US" sz="1700" dirty="0"/>
          </a:p>
        </p:txBody>
      </p:sp>
      <p:sp>
        <p:nvSpPr>
          <p:cNvPr id="9" name="text_2023"/>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202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02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02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2027"/>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2028"/>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2029"/>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030"/>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2031"/>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2032"/>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2033"/>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034"/>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2035"/>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2036"/>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2037"/>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038"/>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2039"/>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2040"/>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2041"/>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042"/>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2043"/>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2044"/>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2045"/>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2046"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2047"/>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2048"/>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20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51"/>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052"/>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2053"/>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205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5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5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5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5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205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6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6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6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6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20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2066"/>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067"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068"/>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2069"/>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2070"/>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071"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072"/>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2073"/>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2074"/>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075"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076"/>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2077"/>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2078"/>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079"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080"/>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2081"/>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2082"/>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083"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084"/>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2085"/>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20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2088"/>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089"/>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090"/>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091"/>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2092"/>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093"/>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094"/>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2095"/>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096"/>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097"/>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2098"/>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099"/>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100"/>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2101"/>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102"/>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103"/>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210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0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106"/>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210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108"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109"/>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2110"/>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공급 테이블(마커 5)로 되돌리는 put_back.py</a:t>
            </a:r>
            <a:endParaRPr lang="ko-KR" altLang="en-US" sz="1500" dirty="0"/>
          </a:p>
        </p:txBody>
      </p:sp>
      <p:sp>
        <p:nvSpPr>
          <p:cNvPr id="11" name="box_2111"/>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2112"/>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2113"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114"/>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2115"/>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2116"/>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2117"/>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2118"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2119"/>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2120"/>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21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2123"/>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2124"/>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2125"/>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2126"/>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2127"/>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2128"/>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2129"/>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2130"/>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2131"/>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2132"/>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2133"/>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2134"/>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2135"/>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2136"/>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2137"/>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2138"/>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2139"/>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2140"/>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2141"/>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2142"/>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2143"/>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2144"/>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2145"/>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2146"/>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2147"/>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2148"/>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2149"/>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2150"/>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2151"/>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2152"/>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21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155"/>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2156"/>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157"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158"/>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2159"/>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2160"/>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2161"/>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2162"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163"/>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2164"/>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2165"/>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2166"/>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2167"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2168"/>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169"/>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21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172"/>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2173"/>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2174"/>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2175"/>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2176"/>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2177"/>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2178"/>
          <p:cNvSpPr/>
          <p:nvPr/>
        </p:nvSpPr>
        <p:spPr>
          <a:xfrm>
            <a:off x="2377440" y="2468880"/>
            <a:ext cx="2926080" cy="0"/>
          </a:xfrm>
          <a:prstGeom prst="line">
            <a:avLst/>
          </a:prstGeom>
          <a:noFill/>
          <a:ln w="25400">
            <a:solidFill>
              <a:srgbClr val="3D5A80"/>
            </a:solidFill>
            <a:prstDash val="solid"/>
            <a:tailEnd type="triangle"/>
          </a:ln>
        </p:spPr>
      </p:sp>
      <p:sp>
        <p:nvSpPr>
          <p:cNvPr id="13" name="text_2179"/>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2180"/>
          <p:cNvSpPr/>
          <p:nvPr/>
        </p:nvSpPr>
        <p:spPr>
          <a:xfrm>
            <a:off x="5303520" y="3108960"/>
            <a:ext cx="4023360" cy="0"/>
          </a:xfrm>
          <a:prstGeom prst="line">
            <a:avLst/>
          </a:prstGeom>
          <a:noFill/>
          <a:ln w="25400">
            <a:solidFill>
              <a:srgbClr val="3D5A80"/>
            </a:solidFill>
            <a:prstDash val="solid"/>
            <a:tailEnd type="triangle"/>
          </a:ln>
        </p:spPr>
      </p:sp>
      <p:sp>
        <p:nvSpPr>
          <p:cNvPr id="15" name="text_2181"/>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navigate_to(supply_table)</a:t>
            </a:r>
            <a:endParaRPr lang="ko-KR" altLang="en-US" sz="1300" dirty="0"/>
          </a:p>
        </p:txBody>
      </p:sp>
      <p:sp>
        <p:nvSpPr>
          <p:cNvPr id="16" name="arrow_2182"/>
          <p:cNvSpPr/>
          <p:nvPr/>
        </p:nvSpPr>
        <p:spPr>
          <a:xfrm flipH="1">
            <a:off x="5303520" y="3749040"/>
            <a:ext cx="4023360" cy="0"/>
          </a:xfrm>
          <a:prstGeom prst="line">
            <a:avLst/>
          </a:prstGeom>
          <a:noFill/>
          <a:ln w="25400">
            <a:solidFill>
              <a:srgbClr val="F2711C"/>
            </a:solidFill>
            <a:prstDash val="solid"/>
            <a:tailEnd type="triangle"/>
          </a:ln>
        </p:spPr>
      </p:sp>
      <p:sp>
        <p:nvSpPr>
          <p:cNvPr id="17" name="text_2183"/>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supply_table</a:t>
            </a:r>
            <a:endParaRPr lang="ko-KR" altLang="en-US" sz="1300" dirty="0"/>
          </a:p>
        </p:txBody>
      </p:sp>
      <p:sp>
        <p:nvSpPr>
          <p:cNvPr id="18" name="arrow_2184"/>
          <p:cNvSpPr/>
          <p:nvPr/>
        </p:nvSpPr>
        <p:spPr>
          <a:xfrm>
            <a:off x="5303520" y="4389120"/>
            <a:ext cx="4023360" cy="0"/>
          </a:xfrm>
          <a:prstGeom prst="line">
            <a:avLst/>
          </a:prstGeom>
          <a:noFill/>
          <a:ln w="25400">
            <a:solidFill>
              <a:srgbClr val="3D5A80"/>
            </a:solidFill>
            <a:prstDash val="solid"/>
            <a:tailEnd type="triangle"/>
          </a:ln>
        </p:spPr>
      </p:sp>
      <p:sp>
        <p:nvSpPr>
          <p:cNvPr id="19" name="text_2185"/>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2186"/>
          <p:cNvSpPr/>
          <p:nvPr/>
        </p:nvSpPr>
        <p:spPr>
          <a:xfrm flipH="1">
            <a:off x="5303520" y="5029200"/>
            <a:ext cx="4023360" cy="0"/>
          </a:xfrm>
          <a:prstGeom prst="line">
            <a:avLst/>
          </a:prstGeom>
          <a:noFill/>
          <a:ln w="25400">
            <a:solidFill>
              <a:srgbClr val="F2711C"/>
            </a:solidFill>
            <a:prstDash val="solid"/>
            <a:tailEnd type="triangle"/>
          </a:ln>
        </p:spPr>
      </p:sp>
      <p:sp>
        <p:nvSpPr>
          <p:cNvPr id="21" name="text_2187"/>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2188"/>
          <p:cNvSpPr/>
          <p:nvPr/>
        </p:nvSpPr>
        <p:spPr>
          <a:xfrm flipH="1">
            <a:off x="2377440" y="5669280"/>
            <a:ext cx="2926080" cy="0"/>
          </a:xfrm>
          <a:prstGeom prst="line">
            <a:avLst/>
          </a:prstGeom>
          <a:noFill/>
          <a:ln w="25400">
            <a:solidFill>
              <a:srgbClr val="F2711C"/>
            </a:solidFill>
            <a:prstDash val="solid"/>
            <a:tailEnd type="triangle"/>
          </a:ln>
        </p:spPr>
      </p:sp>
      <p:sp>
        <p:nvSpPr>
          <p:cNvPr id="23" name="text_2189"/>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2190"/>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21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193"/>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2194"/>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2195"/>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2196"/>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2197"/>
          <p:cNvSpPr/>
          <p:nvPr/>
        </p:nvSpPr>
        <p:spPr>
          <a:xfrm>
            <a:off x="3840480" y="2651760"/>
            <a:ext cx="0" cy="320040"/>
          </a:xfrm>
          <a:prstGeom prst="line">
            <a:avLst/>
          </a:prstGeom>
          <a:noFill/>
          <a:ln w="25400">
            <a:solidFill>
              <a:schemeClr val="tx2"/>
            </a:solidFill>
            <a:prstDash val="solid"/>
            <a:tailEnd type="triangle"/>
          </a:ln>
        </p:spPr>
      </p:sp>
      <p:sp>
        <p:nvSpPr>
          <p:cNvPr id="11" name="box_2198"/>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2199"/>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2200"/>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2201"/>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2202"/>
          <p:cNvSpPr/>
          <p:nvPr/>
        </p:nvSpPr>
        <p:spPr>
          <a:xfrm>
            <a:off x="3840480" y="4251960"/>
            <a:ext cx="0" cy="320040"/>
          </a:xfrm>
          <a:prstGeom prst="line">
            <a:avLst/>
          </a:prstGeom>
          <a:noFill/>
          <a:ln w="25400">
            <a:solidFill>
              <a:schemeClr val="tx2"/>
            </a:solidFill>
            <a:prstDash val="solid"/>
            <a:tailEnd type="triangle"/>
          </a:ln>
        </p:spPr>
      </p:sp>
      <p:sp>
        <p:nvSpPr>
          <p:cNvPr id="16" name="box_2203"/>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2204"/>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2205"/>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2206"/>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22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09"/>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210"/>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0.8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["supply_table",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119" name="table_2211"/>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다섯 개</a:t>
            </a:r>
            <a:endParaRPr lang="ko-KR" altLang="en-US" sz="3000" dirty="0"/>
          </a:p>
        </p:txBody>
      </p:sp>
      <p:sp>
        <p:nvSpPr>
          <p:cNvPr id="3" name="pill_2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20" name="table_221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840480"/>
                <a:gridCol w="5029200"/>
              </a:tblGrid>
              <a:tr h="0">
                <a:tc>
                  <a:txBody>
                    <a:bodyPr/>
                    <a:lstStyle/>
                    <a:p>
                      <a:pPr eaLnBrk="0" indent="0" marL="0">
                        <a:buNone/>
                      </a:pPr>
                      <a:r>
                        <a:rPr lang="ko-KR" altLang="en-US" sz="1500" b="1" dirty="0">
                          <a:solidFill>
                            <a:schemeClr val="bg1"/>
                          </a:solidFill>
                        </a:rPr>
                        <a:t>도구</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입력</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안에서 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get_world_state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없음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로봇 위치, 들고 있는 것, 물체 위치를 알려 줌 (빠름)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navigate_to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팔 tuck → Nav2로 테이블 앞 0.8 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pick_object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object: red_box</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마커 찾기 → 정밀 접근 → 집기 → 들기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place_object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놓을 자리 마커로 정밀 접근 → 내려놓기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set_arm_posture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posture: tuck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두 팔 자세 바꾸기 (물체를 들고 있으면 거부)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215"/>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216"/>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217"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218"/>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219"/>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22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22"/>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223"/>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UNBOLT,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"원래 자리" of the red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means supply_table.</a:t>
            </a:r>
            <a:endParaRPr lang="ko-KR" altLang="en-US" sz="1300" dirty="0"/>
          </a:p>
        </p:txBody>
      </p:sp>
      <p:sp>
        <p:nvSpPr>
          <p:cNvPr id="8" name="box_2224"/>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2225"/>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2226"/>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2227"/>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2228"/>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2229"/>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2230"/>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2231"/>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2232"/>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2233"/>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2234"/>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2235"/>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2236"/>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2237"/>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2238"/>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22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41"/>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2242"/>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2243"/>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2244"/>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2245"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2246"/>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2247"/>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2248"/>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2249"/>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2250"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2251"/>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2252"/>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22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55"/>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2256"/>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2257"/>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2258"/>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2259"/>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2260"/>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2261"/>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상자는 공급 테이블</a:t>
            </a:r>
            <a:endParaRPr lang="ko-KR" altLang="en-US" sz="1400" dirty="0"/>
          </a:p>
        </p:txBody>
      </p:sp>
      <p:sp>
        <p:nvSpPr>
          <p:cNvPr id="13" name="text_2262"/>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2263"/>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2264"/>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navigate_to(supply_table)</a:t>
            </a:r>
            <a:endParaRPr lang="ko-KR" altLang="en-US" sz="1400" dirty="0"/>
          </a:p>
        </p:txBody>
      </p:sp>
      <p:sp>
        <p:nvSpPr>
          <p:cNvPr id="16" name="text_2265"/>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supply_table</a:t>
            </a:r>
            <a:endParaRPr lang="ko-KR" altLang="en-US" sz="1400" dirty="0"/>
          </a:p>
        </p:txBody>
      </p:sp>
      <p:sp>
        <p:nvSpPr>
          <p:cNvPr id="17" name="text_2266"/>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9 s</a:t>
            </a:r>
            <a:endParaRPr lang="ko-KR" altLang="en-US" sz="1400" dirty="0"/>
          </a:p>
        </p:txBody>
      </p:sp>
      <p:sp>
        <p:nvSpPr>
          <p:cNvPr id="18" name="box_2267"/>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2268"/>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2269"/>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with the right arm</a:t>
            </a:r>
            <a:endParaRPr lang="ko-KR" altLang="en-US" sz="1400" dirty="0"/>
          </a:p>
        </p:txBody>
      </p:sp>
      <p:sp>
        <p:nvSpPr>
          <p:cNvPr id="21" name="text_2270"/>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22 s</a:t>
            </a:r>
            <a:endParaRPr lang="ko-KR" altLang="en-US" sz="1400" dirty="0"/>
          </a:p>
        </p:txBody>
      </p:sp>
      <p:sp>
        <p:nvSpPr>
          <p:cNvPr id="22" name="box_2271"/>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2272"/>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2273"/>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2274"/>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12 s</a:t>
            </a:r>
            <a:endParaRPr lang="ko-KR" altLang="en-US" sz="1400" dirty="0"/>
          </a:p>
        </p:txBody>
      </p:sp>
      <p:sp>
        <p:nvSpPr>
          <p:cNvPr id="26" name="box_2275"/>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2276"/>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a:t>
            </a:r>
            <a:endParaRPr lang="ko-KR" altLang="en-US" sz="1400" dirty="0"/>
          </a:p>
        </p:txBody>
      </p:sp>
      <p:sp>
        <p:nvSpPr>
          <p:cNvPr id="28" name="text_2277"/>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work_table</a:t>
            </a:r>
            <a:endParaRPr lang="ko-KR" altLang="en-US" sz="1400" dirty="0"/>
          </a:p>
        </p:txBody>
      </p:sp>
      <p:sp>
        <p:nvSpPr>
          <p:cNvPr id="29" name="text_2278"/>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21 s</a:t>
            </a:r>
            <a:endParaRPr lang="ko-KR" altLang="en-US" sz="1400" dirty="0"/>
          </a:p>
        </p:txBody>
      </p:sp>
      <p:sp>
        <p:nvSpPr>
          <p:cNvPr id="30" name="box_2279"/>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2280"/>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2281"/>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2282"/>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64 s</a:t>
            </a:r>
            <a:endParaRPr lang="ko-KR" altLang="en-US" sz="1400" dirty="0"/>
          </a:p>
        </p:txBody>
      </p:sp>
      <p:sp>
        <p:nvSpPr>
          <p:cNvPr id="34" name="text_2283"/>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22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86"/>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2287"/>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2288"/>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2289"/>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supply_table / work_table / home 중 하나인가</a:t>
            </a:r>
            <a:endParaRPr lang="ko-KR" altLang="en-US" sz="1700" dirty="0"/>
          </a:p>
        </p:txBody>
      </p:sp>
      <p:sp>
        <p:nvSpPr>
          <p:cNvPr id="10" name="text_2290"/>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2291"/>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2292"/>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2293"/>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2294"/>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2295"/>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2296"/>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2297"/>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229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9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00"/>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2301"/>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self.object_location.get(object)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2302"/>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2303"/>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2304"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2305"/>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2306"/>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2307"/>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2308"/>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2309"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2310"/>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2311"/>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23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314"/>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2315"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2316"/>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2317"/>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2318"/>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2319"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2320"/>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2321"/>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2322"/>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2323"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2324"/>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2325"/>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23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28"/>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329"/>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(9 s) arrived at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(22 s) picked red_box with the right arm</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64 s: 빨간 상자를 작업대로 옮겼습니다. (scripted)</a:t>
            </a:r>
            <a:endParaRPr lang="ko-KR" altLang="en-US" sz="1200" dirty="0"/>
          </a:p>
        </p:txBody>
      </p:sp>
      <p:sp>
        <p:nvSpPr>
          <p:cNvPr id="8" name="box_233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233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33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33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33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233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233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233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233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233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23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28" name="table_2342"/>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343"/>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2344"/>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"supply_table"}}</a:t>
            </a:r>
            <a:endParaRPr lang="ko-KR" altLang="en-US" sz="1200" dirty="0"/>
          </a:p>
        </p:txBody>
      </p:sp>
      <p:sp>
        <p:nvSpPr>
          <p:cNvPr id="9" name="box_2345"/>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2346"/>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2347"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2348"/>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2349"/>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127</a:t>
            </a:fld>
            <a:endParaRPr lang="ko-KR" alt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235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5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52"/>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2353"/>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"파란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"작업대 앞에 갔다가 처음 위치로 돌아와"</a:t>
            </a:r>
            <a:endParaRPr lang="ko-KR" altLang="en-US" sz="1300" dirty="0"/>
          </a:p>
        </p:txBody>
      </p:sp>
      <p:graphicFrame>
        <p:nvGraphicFramePr>
          <p:cNvPr id="129" name="table_2354"/>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파란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355"/>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2356"/>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2357"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2358"/>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359"/>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128</a:t>
            </a:fld>
            <a:endParaRPr lang="ko-KR"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23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62"/>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2363"/>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2364"/>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2365"/>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2366"/>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2367"/>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2368"/>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2369"/>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2370"/>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2371"/>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2372"/>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2373"/>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2374"/>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2375"/>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2376"/>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2377"/>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2378"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2379"/>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2380"/>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2381"/>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2382"/>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2383"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2384"/>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2385"/>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129</a:t>
            </a:fld>
            <a:endParaRPr lang="ko-KR"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23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88"/>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389"/>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p:txBody>
      </p:sp>
      <p:sp>
        <p:nvSpPr>
          <p:cNvPr id="8" name="list_2390"/>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239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39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39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39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39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239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39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39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39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40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130</a:t>
            </a:fld>
            <a:endParaRPr lang="ko-KR"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24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03"/>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2404"/>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2405"/>
          <p:cNvSpPr/>
          <p:nvPr/>
        </p:nvSpPr>
        <p:spPr>
          <a:xfrm>
            <a:off x="3102102" y="2103120"/>
            <a:ext cx="265176" cy="0"/>
          </a:xfrm>
          <a:prstGeom prst="line">
            <a:avLst/>
          </a:prstGeom>
          <a:noFill/>
          <a:ln w="25400">
            <a:solidFill>
              <a:schemeClr val="tx2"/>
            </a:solidFill>
            <a:prstDash val="solid"/>
            <a:tailEnd type="triangle"/>
          </a:ln>
        </p:spPr>
      </p:sp>
      <p:sp>
        <p:nvSpPr>
          <p:cNvPr id="9" name="box_2406"/>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2407"/>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2408"/>
          <p:cNvSpPr/>
          <p:nvPr/>
        </p:nvSpPr>
        <p:spPr>
          <a:xfrm>
            <a:off x="5948172" y="2103120"/>
            <a:ext cx="265176" cy="0"/>
          </a:xfrm>
          <a:prstGeom prst="line">
            <a:avLst/>
          </a:prstGeom>
          <a:noFill/>
          <a:ln w="25400">
            <a:solidFill>
              <a:schemeClr val="tx2"/>
            </a:solidFill>
            <a:prstDash val="solid"/>
            <a:tailEnd type="triangle"/>
          </a:ln>
        </p:spPr>
      </p:sp>
      <p:sp>
        <p:nvSpPr>
          <p:cNvPr id="12" name="box_2409"/>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2410"/>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2411"/>
          <p:cNvSpPr/>
          <p:nvPr/>
        </p:nvSpPr>
        <p:spPr>
          <a:xfrm>
            <a:off x="8794242" y="2103120"/>
            <a:ext cx="265176" cy="0"/>
          </a:xfrm>
          <a:prstGeom prst="line">
            <a:avLst/>
          </a:prstGeom>
          <a:noFill/>
          <a:ln w="25400">
            <a:solidFill>
              <a:schemeClr val="tx2"/>
            </a:solidFill>
            <a:prstDash val="solid"/>
            <a:tailEnd type="triangle"/>
          </a:ln>
        </p:spPr>
      </p:sp>
      <p:sp>
        <p:nvSpPr>
          <p:cNvPr id="15" name="box_2412"/>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2413"/>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2414"/>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2415"/>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2416"/>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2417"/>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2418"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2419"/>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2420"/>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2421"/>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2422"/>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2423"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2424"/>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2425"/>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131</a:t>
            </a:fld>
            <a:endParaRPr lang="ko-KR"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24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428"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429"/>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430"/>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431"/>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432"/>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433"/>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434"/>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435"/>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436"/>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437"/>
          <p:cNvSpPr/>
          <p:nvPr/>
        </p:nvSpPr>
        <p:spPr>
          <a:xfrm>
            <a:off x="6015838" y="2088032"/>
            <a:ext cx="365760" cy="365760"/>
          </a:xfrm>
          <a:prstGeom prst="ellipse">
            <a:avLst/>
          </a:prstGeom>
          <a:solidFill>
            <a:schemeClr val="accent1"/>
          </a:solidFill>
          <a:ln w="19050">
            <a:solidFill>
              <a:schemeClr val="bg1"/>
            </a:solidFill>
            <a:prstDash val="solid"/>
          </a:ln>
        </p:spPr>
      </p:sp>
      <p:sp>
        <p:nvSpPr>
          <p:cNvPr id="16" name="text_2438"/>
          <p:cNvSpPr txBox="1"/>
          <p:nvPr/>
        </p:nvSpPr>
        <p:spPr>
          <a:xfrm>
            <a:off x="6015838" y="208803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439"/>
          <p:cNvSpPr/>
          <p:nvPr/>
        </p:nvSpPr>
        <p:spPr>
          <a:xfrm>
            <a:off x="6258154" y="2461199"/>
            <a:ext cx="365760" cy="365760"/>
          </a:xfrm>
          <a:prstGeom prst="ellipse">
            <a:avLst/>
          </a:prstGeom>
          <a:solidFill>
            <a:schemeClr val="accent1"/>
          </a:solidFill>
          <a:ln w="19050">
            <a:solidFill>
              <a:schemeClr val="bg1"/>
            </a:solidFill>
            <a:prstDash val="solid"/>
          </a:ln>
        </p:spPr>
      </p:sp>
      <p:sp>
        <p:nvSpPr>
          <p:cNvPr id="18" name="text_2440"/>
          <p:cNvSpPr txBox="1"/>
          <p:nvPr/>
        </p:nvSpPr>
        <p:spPr>
          <a:xfrm>
            <a:off x="6258154" y="246119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441"/>
          <p:cNvSpPr/>
          <p:nvPr/>
        </p:nvSpPr>
        <p:spPr>
          <a:xfrm>
            <a:off x="5894680" y="3091221"/>
            <a:ext cx="365760" cy="365760"/>
          </a:xfrm>
          <a:prstGeom prst="ellipse">
            <a:avLst/>
          </a:prstGeom>
          <a:solidFill>
            <a:schemeClr val="accent1"/>
          </a:solidFill>
          <a:ln w="19050">
            <a:solidFill>
              <a:schemeClr val="bg1"/>
            </a:solidFill>
            <a:prstDash val="solid"/>
          </a:ln>
        </p:spPr>
      </p:sp>
      <p:sp>
        <p:nvSpPr>
          <p:cNvPr id="20" name="text_2442"/>
          <p:cNvSpPr txBox="1"/>
          <p:nvPr/>
        </p:nvSpPr>
        <p:spPr>
          <a:xfrm>
            <a:off x="5894680" y="3091221"/>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443"/>
          <p:cNvSpPr/>
          <p:nvPr/>
        </p:nvSpPr>
        <p:spPr>
          <a:xfrm>
            <a:off x="5894680" y="4050792"/>
            <a:ext cx="365760" cy="365760"/>
          </a:xfrm>
          <a:prstGeom prst="ellipse">
            <a:avLst/>
          </a:prstGeom>
          <a:solidFill>
            <a:schemeClr val="accent1"/>
          </a:solidFill>
          <a:ln w="19050">
            <a:solidFill>
              <a:schemeClr val="bg1"/>
            </a:solidFill>
            <a:prstDash val="solid"/>
          </a:ln>
        </p:spPr>
      </p:sp>
      <p:sp>
        <p:nvSpPr>
          <p:cNvPr id="22" name="text_2444"/>
          <p:cNvSpPr txBox="1"/>
          <p:nvPr/>
        </p:nvSpPr>
        <p:spPr>
          <a:xfrm>
            <a:off x="5894680" y="40507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445"/>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446"/>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sp>
        <p:nvSpPr>
          <p:cNvPr id="25" name="mark_2447"/>
          <p:cNvSpPr/>
          <p:nvPr/>
        </p:nvSpPr>
        <p:spPr>
          <a:xfrm>
            <a:off x="7106260" y="1521013"/>
            <a:ext cx="365760" cy="365760"/>
          </a:xfrm>
          <a:prstGeom prst="ellipse">
            <a:avLst/>
          </a:prstGeom>
          <a:solidFill>
            <a:schemeClr val="accent1"/>
          </a:solidFill>
          <a:ln w="19050">
            <a:solidFill>
              <a:schemeClr val="bg1"/>
            </a:solidFill>
            <a:prstDash val="solid"/>
          </a:ln>
        </p:spPr>
      </p:sp>
      <p:sp>
        <p:nvSpPr>
          <p:cNvPr id="26" name="text_2448"/>
          <p:cNvSpPr txBox="1"/>
          <p:nvPr/>
        </p:nvSpPr>
        <p:spPr>
          <a:xfrm>
            <a:off x="7106260" y="1521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a:t>
            </a:r>
            <a:endParaRPr lang="ko-KR" altLang="en-US" sz="1300" dirty="0"/>
          </a:p>
        </p:txBody>
      </p:sp>
      <p:graphicFrame>
        <p:nvGraphicFramePr>
          <p:cNvPr id="133" name="table_2449"/>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10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시스템 종료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모두 끄기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132</a:t>
            </a:fld>
            <a:endParaRPr lang="ko-KR"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브라우저에서 켜고 끄기: 연결 버튼</a:t>
            </a:r>
            <a:endParaRPr lang="ko-KR" altLang="en-US" sz="3000" dirty="0"/>
          </a:p>
        </p:txBody>
      </p:sp>
      <p:sp>
        <p:nvSpPr>
          <p:cNvPr id="3" name="pill_245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5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452" descr="ROS가 꺼져 있을 때의 대시보드: 연결 버튼과 시작 옵션">    </p:cNvPr>
          <p:cNvPicPr>
            <a:picLocks noChangeAspect="1"/>
          </p:cNvPicPr>
          <p:nvPr/>
        </p:nvPicPr>
        <p:blipFill>
          <a:blip r:embed="rId1"/>
          <a:stretch>
            <a:fillRect/>
          </a:stretch>
        </p:blipFill>
        <p:spPr>
          <a:xfrm>
            <a:off x="557784" y="1371600"/>
            <a:ext cx="6291072" cy="3931920"/>
          </a:xfrm>
          <a:prstGeom prst="rect">
            <a:avLst/>
          </a:prstGeom>
        </p:spPr>
      </p:pic>
      <p:sp>
        <p:nvSpPr>
          <p:cNvPr id="7" name="box_2453"/>
          <p:cNvSpPr/>
          <p:nvPr/>
        </p:nvSpPr>
        <p:spPr>
          <a:xfrm>
            <a:off x="548640" y="5486400"/>
            <a:ext cx="6309360" cy="685800"/>
          </a:xfrm>
          <a:prstGeom prst="roundRect">
            <a:avLst>
              <a:gd name="adj" fmla="val 10667"/>
            </a:avLst>
          </a:prstGeom>
          <a:solidFill>
            <a:schemeClr val="tx1"/>
          </a:solidFill>
          <a:ln w="12700">
            <a:solidFill>
              <a:schemeClr val="tx1"/>
            </a:solidFill>
            <a:prstDash val="solid"/>
          </a:ln>
        </p:spPr>
      </p:sp>
      <p:sp>
        <p:nvSpPr>
          <p:cNvPr id="8" name="code_2454"/>
          <p:cNvSpPr txBox="1"/>
          <p:nvPr/>
        </p:nvSpPr>
        <p:spPr>
          <a:xfrm>
            <a:off x="731520" y="5623560"/>
            <a:ext cx="5943600" cy="411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한 번만 켜 두기 (터미널 하나)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p:txBody>
      </p:sp>
      <p:sp>
        <p:nvSpPr>
          <p:cNvPr id="9" name="num_2455"/>
          <p:cNvSpPr/>
          <p:nvPr/>
        </p:nvSpPr>
        <p:spPr>
          <a:xfrm>
            <a:off x="7132320" y="1463040"/>
            <a:ext cx="457200" cy="457200"/>
          </a:xfrm>
          <a:prstGeom prst="ellipse">
            <a:avLst/>
          </a:prstGeom>
          <a:solidFill>
            <a:schemeClr val="accent1"/>
          </a:solidFill>
          <a:ln w="12700">
            <a:solidFill>
              <a:schemeClr val="accent1"/>
            </a:solidFill>
            <a:prstDash val="solid"/>
          </a:ln>
        </p:spPr>
      </p:sp>
      <p:sp>
        <p:nvSpPr>
          <p:cNvPr id="10" name="text_2456"/>
          <p:cNvSpPr txBox="1"/>
          <p:nvPr/>
        </p:nvSpPr>
        <p:spPr>
          <a:xfrm>
            <a:off x="713232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457"/>
          <p:cNvSpPr txBox="1"/>
          <p:nvPr/>
        </p:nvSpPr>
        <p:spPr>
          <a:xfrm>
            <a:off x="7772400" y="14447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http://localhost:8080 열기</a:t>
            </a:r>
            <a:endParaRPr lang="ko-KR" altLang="en-US" sz="1700" dirty="0"/>
          </a:p>
        </p:txBody>
      </p:sp>
      <p:sp>
        <p:nvSpPr>
          <p:cNvPr id="12" name="text_2458"/>
          <p:cNvSpPr txBox="1"/>
          <p:nvPr/>
        </p:nvSpPr>
        <p:spPr>
          <a:xfrm>
            <a:off x="7772400" y="192024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"ROS가 꺼져 있습니다" 화면이 뜬다</a:t>
            </a:r>
            <a:endParaRPr lang="ko-KR" altLang="en-US" sz="1400" dirty="0"/>
          </a:p>
        </p:txBody>
      </p:sp>
      <p:sp>
        <p:nvSpPr>
          <p:cNvPr id="13" name="num_2459"/>
          <p:cNvSpPr/>
          <p:nvPr/>
        </p:nvSpPr>
        <p:spPr>
          <a:xfrm>
            <a:off x="7132320" y="2468880"/>
            <a:ext cx="457200" cy="457200"/>
          </a:xfrm>
          <a:prstGeom prst="ellipse">
            <a:avLst/>
          </a:prstGeom>
          <a:solidFill>
            <a:schemeClr val="accent1"/>
          </a:solidFill>
          <a:ln w="12700">
            <a:solidFill>
              <a:schemeClr val="accent1"/>
            </a:solidFill>
            <a:prstDash val="solid"/>
          </a:ln>
        </p:spPr>
      </p:sp>
      <p:sp>
        <p:nvSpPr>
          <p:cNvPr id="14" name="text_2460"/>
          <p:cNvSpPr txBox="1"/>
          <p:nvPr/>
        </p:nvSpPr>
        <p:spPr>
          <a:xfrm>
            <a:off x="7132320" y="24688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461"/>
          <p:cNvSpPr txBox="1"/>
          <p:nvPr/>
        </p:nvSpPr>
        <p:spPr>
          <a:xfrm>
            <a:off x="7772400" y="24505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옵션 고르고 연결</a:t>
            </a:r>
            <a:endParaRPr lang="ko-KR" altLang="en-US" sz="1700" dirty="0"/>
          </a:p>
        </p:txBody>
      </p:sp>
      <p:sp>
        <p:nvSpPr>
          <p:cNvPr id="16" name="text_2462"/>
          <p:cNvSpPr txBox="1"/>
          <p:nvPr/>
        </p:nvSpPr>
        <p:spPr>
          <a:xfrm>
            <a:off x="7772400" y="292608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LLM (Claude / 대역), MuJoCo 창, RViz</a:t>
            </a:r>
            <a:endParaRPr lang="ko-KR" altLang="en-US" sz="1400" dirty="0"/>
          </a:p>
        </p:txBody>
      </p:sp>
      <p:sp>
        <p:nvSpPr>
          <p:cNvPr id="17" name="num_2463"/>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8" name="text_2464"/>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465"/>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25~60초 기다리기</a:t>
            </a:r>
            <a:endParaRPr lang="ko-KR" altLang="en-US" sz="1700" dirty="0"/>
          </a:p>
        </p:txBody>
      </p:sp>
      <p:sp>
        <p:nvSpPr>
          <p:cNvPr id="20" name="text_2466"/>
          <p:cNvSpPr txBox="1"/>
          <p:nvPr/>
        </p:nvSpPr>
        <p:spPr>
          <a:xfrm>
            <a:off x="7772400" y="393192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켜지는 동안 진행 상황과 로그가 보인다. 중간에 시작 취소 가능</a:t>
            </a:r>
            <a:endParaRPr lang="ko-KR" altLang="en-US" sz="1400" dirty="0"/>
          </a:p>
        </p:txBody>
      </p:sp>
      <p:sp>
        <p:nvSpPr>
          <p:cNvPr id="21" name="num_2467"/>
          <p:cNvSpPr/>
          <p:nvPr/>
        </p:nvSpPr>
        <p:spPr>
          <a:xfrm>
            <a:off x="7132320" y="4663440"/>
            <a:ext cx="457200" cy="457200"/>
          </a:xfrm>
          <a:prstGeom prst="ellipse">
            <a:avLst/>
          </a:prstGeom>
          <a:solidFill>
            <a:schemeClr val="accent1"/>
          </a:solidFill>
          <a:ln w="12700">
            <a:solidFill>
              <a:schemeClr val="accent1"/>
            </a:solidFill>
            <a:prstDash val="solid"/>
          </a:ln>
        </p:spPr>
      </p:sp>
      <p:sp>
        <p:nvSpPr>
          <p:cNvPr id="22" name="text_2468"/>
          <p:cNvSpPr txBox="1"/>
          <p:nvPr/>
        </p:nvSpPr>
        <p:spPr>
          <a:xfrm>
            <a:off x="7132320" y="46634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2469"/>
          <p:cNvSpPr txBox="1"/>
          <p:nvPr/>
        </p:nvSpPr>
        <p:spPr>
          <a:xfrm>
            <a:off x="7772400" y="46451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 시스템 종료 → 다시 연결</a:t>
            </a:r>
            <a:endParaRPr lang="ko-KR" altLang="en-US" sz="1700" dirty="0"/>
          </a:p>
        </p:txBody>
      </p:sp>
      <p:sp>
        <p:nvSpPr>
          <p:cNvPr id="24" name="text_2470"/>
          <p:cNvSpPr txBox="1"/>
          <p:nvPr/>
        </p:nvSpPr>
        <p:spPr>
          <a:xfrm>
            <a:off x="7772400" y="512064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런처 터미널의 Ctrl+C는 런처가 켠 시스템도 함께 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133</a:t>
            </a:fld>
            <a:endParaRPr lang="ko-KR"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4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73"/>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474"/>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475"/>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47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47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47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47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48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48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48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48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48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48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134</a:t>
            </a:fld>
            <a:endParaRPr lang="ko-KR"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4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488" descr="작업 중인 웹 대시보드">    </p:cNvPr>
          <p:cNvPicPr>
            <a:picLocks noChangeAspect="1"/>
          </p:cNvPicPr>
          <p:nvPr/>
        </p:nvPicPr>
        <p:blipFill>
          <a:blip r:embed="rId1"/>
          <a:stretch>
            <a:fillRect/>
          </a:stretch>
        </p:blipFill>
        <p:spPr>
          <a:xfrm>
            <a:off x="548640" y="1799996"/>
            <a:ext cx="5120640" cy="3898087"/>
          </a:xfrm>
          <a:prstGeom prst="rect">
            <a:avLst/>
          </a:prstGeom>
        </p:spPr>
      </p:pic>
      <p:sp>
        <p:nvSpPr>
          <p:cNvPr id="7" name="box_2489"/>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490"/>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491"/>
          <p:cNvSpPr/>
          <p:nvPr/>
        </p:nvSpPr>
        <p:spPr>
          <a:xfrm>
            <a:off x="8823960" y="2240280"/>
            <a:ext cx="0" cy="411480"/>
          </a:xfrm>
          <a:prstGeom prst="line">
            <a:avLst/>
          </a:prstGeom>
          <a:noFill/>
          <a:ln w="25400">
            <a:solidFill>
              <a:schemeClr val="tx2"/>
            </a:solidFill>
            <a:prstDash val="solid"/>
            <a:tailEnd type="triangle"/>
          </a:ln>
        </p:spPr>
      </p:sp>
      <p:sp>
        <p:nvSpPr>
          <p:cNvPr id="10" name="text_2492"/>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493"/>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494"/>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495"/>
          <p:cNvSpPr/>
          <p:nvPr/>
        </p:nvSpPr>
        <p:spPr>
          <a:xfrm>
            <a:off x="8823960" y="3566160"/>
            <a:ext cx="0" cy="365760"/>
          </a:xfrm>
          <a:prstGeom prst="line">
            <a:avLst/>
          </a:prstGeom>
          <a:noFill/>
          <a:ln w="25400">
            <a:solidFill>
              <a:schemeClr val="tx2"/>
            </a:solidFill>
            <a:prstDash val="solid"/>
            <a:tailEnd type="triangle"/>
          </a:ln>
        </p:spPr>
      </p:sp>
      <p:graphicFrame>
        <p:nvGraphicFramePr>
          <p:cNvPr id="136" name="table_2496"/>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135</a:t>
            </a:fld>
            <a:endParaRPr lang="ko-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4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499"/>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500"/>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501"/>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502"/>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503"/>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504"/>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505"/>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506"/>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507"/>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508"/>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509"/>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510"/>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511"/>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512"/>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513"/>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514"/>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515"/>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516"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517"/>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518"/>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519"/>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520"/>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521"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522"/>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523"/>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136</a:t>
            </a:fld>
            <a:endParaRPr lang="ko-KR" alt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5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26"/>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527"/>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528"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529"/>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530"/>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531"/>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532"/>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마커 3 위</a:t>
            </a:r>
            <a:endParaRPr lang="ko-KR" altLang="en-US" sz="3600" dirty="0"/>
          </a:p>
        </p:txBody>
      </p:sp>
      <p:sp>
        <p:nvSpPr>
          <p:cNvPr id="13" name="text_2533"/>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534"/>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535"/>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536"/>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537"/>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538"/>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539"/>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540"/>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541"/>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137</a:t>
            </a:fld>
            <a:endParaRPr lang="ko-KR" alt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5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44"/>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54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546"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54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548"/>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549"/>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550"/>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551"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552"/>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553"/>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554"/>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555"/>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556"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557"/>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558"/>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559"/>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560"/>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561"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562"/>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563"/>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138</a:t>
            </a:fld>
            <a:endParaRPr lang="ko-KR" alt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5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566"/>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567"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568"/>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569"/>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570"/>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571"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572"/>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573"/>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574"/>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575"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576"/>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577"/>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578"/>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579"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580"/>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581"/>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582"/>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583"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584"/>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585"/>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139</a:t>
            </a:fld>
            <a:endParaRPr lang="ko-KR" alt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5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588"/>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589"/>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590"/>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591"/>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592"/>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593"/>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594"/>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595"/>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596"/>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597"/>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598"/>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599"/>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600"/>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601"/>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602"/>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603"/>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140</a:t>
            </a:fld>
            <a:endParaRPr lang="ko-KR" alt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60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0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06"/>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60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608"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09"/>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610"/>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611"/>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612"/>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613"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614"/>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615"/>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616"/>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617"/>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618"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619"/>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620"/>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621"/>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622"/>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623"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624"/>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625"/>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141</a:t>
            </a:fld>
            <a:endParaRPr lang="ko-KR" alt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142</a:t>
            </a:fld>
            <a:endParaRPr lang="ko-KR" alt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26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2628"/>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2629"/>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2630"/>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2631"/>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2632"/>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2633"/>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2634"/>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2635"/>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2636"/>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2637"/>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2638"/>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2639"/>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2640"/>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2641"/>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2642"/>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2643"/>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2644"/>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2645"/>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2646"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2647"/>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2648"/>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143</a:t>
            </a:fld>
            <a:endParaRPr lang="ko-KR" alt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26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65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265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653"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5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265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265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265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658"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65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266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266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662"/>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663"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66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266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266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667"/>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668"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66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267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144</a:t>
            </a:fld>
            <a:endParaRPr lang="ko-KR" alt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26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46" name="table_267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저장소의 workshop/ 폴더</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00_install ~ 04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145</a:t>
            </a:fld>
            <a:endParaRPr lang="ko-KR" alt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26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676"/>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267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678"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79"/>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2680"/>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2681"/>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2682"/>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2683"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684"/>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2685"/>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2686"/>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2687"/>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2688"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689"/>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2690"/>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2691"/>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2692"/>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2693"/>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146</a:t>
            </a:fld>
            <a:endParaRPr lang="ko-KR" alt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26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48" name="table_269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147</a:t>
            </a:fld>
            <a:endParaRPr lang="ko-KR" alt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26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699"/>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700"/>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1: 시뮬레이터 + RViz</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2: 지도 만들기 / 주행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3: MoveIt / 전체 + Pick &amp; Place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pick_place_demo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 dashboard:=true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   # 브라우저의 "연결"로 켜고 끄기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148</a:t>
            </a:fld>
            <a:endParaRPr lang="ko-KR" alt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27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703"/>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704"/>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 / 모두 끄기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/dashboard/shutdown std_msgs/msg/Empty # 시스템 종료 (대시보드 버튼과 같음)</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남은 프로세스가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149</a:t>
            </a:fld>
            <a:endParaRPr lang="ko-KR" alt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2705"/>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706"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UNBOLT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150</Slides>
  <Notes>150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150</vt:i4>
      </vt:variant>
    </vt:vector>
  </HeadingPairs>
  <TitlesOfParts>
    <vt:vector size="1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UNBOLT 강습회: ROS 2 + MuJoCo로 만드는 주행형 양팔로봇</dc:title>
  <dc:subject>PptxGenJS Presentation</dc:subject>
  <dc:creator>UNBOLT</dc:creator>
  <cp:lastModifiedBy>UNBOLT</cp:lastModifiedBy>
  <cp:revision>1</cp:revision>
  <dcterms:created xsi:type="dcterms:W3CDTF">2026-10-25T22:33:32Z</dcterms:created>
  <dcterms:modified xsi:type="dcterms:W3CDTF">2026-10-25T22:33:32Z</dcterms:modified>
</cp:coreProperties>
</file>