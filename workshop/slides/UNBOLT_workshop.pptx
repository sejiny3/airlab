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charts/chart1.xml" ContentType="application/vnd.openxmlformats-officedocument.drawingml.chart+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Lst>
  <p:notesMasterIdLst>
    <p:notesMasterId r:id="rId1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ad843b1b-1838-fa30-1adb-d228a148e6e5}">
          <p14:sldIdLst>
            <p14:sldId id="256"/>
            <p14:sldId id="257"/>
            <p14:sldId id="258"/>
            <p14:sldId id="259"/>
            <p14:sldId id="260"/>
            <p14:sldId id="261"/>
            <p14:sldId id="262"/>
            <p14:sldId id="263"/>
            <p14:sldId id="264"/>
            <p14:sldId id="265"/>
            <p14:sldId id="266"/>
            <p14:sldId id="267"/>
            <p14:sldId id="268"/>
          </p14:sldIdLst>
        </p14:section>
        <p14:section name="설치" id="{b69c38a3-cf1b-11b2-a484-de0405f294aa}">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6e3efc13-f9b3-7c81-5747-c01547267cd5}">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70b93cf4-7d28-917b-9f52-6c6550e93f99}">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모듈 3: MoveIt 2 + Pick &amp; Place" id="{33833a3b-9870-3eff-37a7-658f7902f34c}">
          <p14:sldIdLst>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모듈 4: LLM 작업 계획" id="{d4a89544-f691-54aa-8704-5357873238c5}">
          <p14:sldIdLst>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Lst>
        </p14:section>
        <p14:section name="심화 모듈 5: VLA" id="{8beaf111-9783-2102-e52d-c1db1028eb26}">
          <p14:sldIdLst>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Lst>
        </p14:section>
        <p14:section name="마무리" id="{035806dd-637d-fef9-27b8-21d22c30de9e}">
          <p14:sldIdLst>
            <p14:sldId id="427"/>
            <p14:sldId id="428"/>
            <p14:sldId id="429"/>
            <p14:sldId id="430"/>
            <p14:sldId id="431"/>
            <p14:sldId id="432"/>
            <p14:sldId id="433"/>
            <p14:sldId id="434"/>
            <p14:sldId id="43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notesMaster" Target="notesMasters/notesMaster1.xml"/><Relationship Id="rId183" Type="http://schemas.openxmlformats.org/officeDocument/2006/relationships/presProps" Target="presProps.xml"/><Relationship Id="rId184" Type="http://schemas.openxmlformats.org/officeDocument/2006/relationships/viewProps" Target="viewProps.xml"/><Relationship Id="rId185" Type="http://schemas.openxmlformats.org/officeDocument/2006/relationships/theme" Target="theme/theme1.xml"/><Relationship Id="rId18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430"/>
                </a:solidFill>
                <a:latin typeface="+mn-lt"/>
              </a:defRPr>
            </a:pPr>
            <a:r>
              <a:rPr sz="1500" b="0" i="0" u="none" strike="noStrike">
                <a:solidFill>
                  <a:srgbClr val="1B2430"/>
                </a:solidFill>
                <a:latin typeface="+mn-lt"/>
              </a:rPr>
              <a:t>검증 L1 (500단계마다)</a:t>
            </a:r>
          </a:p>
        </c:rich>
      </c:tx>
      <c:layout/>
      <c:overlay val="0"/>
    </c:title>
    <c:autoTitleDeleted val="0"/>
    <c:plotArea>
      <c:layout/>
      <c:lineChart>
        <c:varyColors val="0"/>
        <c:ser>
          <c:idx val="0"/>
          <c:order val="0"/>
          <c:tx>
            <c:strRef>
              <c:f>Sheet1!$B$1</c:f>
              <c:strCache>
                <c:ptCount val="1"/>
                <c:pt idx="0">
                  <c:v>두 테이블 583편</c:v>
                </c:pt>
              </c:strCache>
            </c:strRef>
          </c:tx>
          <c:spPr>
            <a:solidFill>
              <a:srgbClr val="F2711C"/>
            </a:solidFill>
            <a:ln w="31750" cap="flat">
              <a:solidFill>
                <a:srgbClr val="F271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711C"/>
              </a:solidFill>
              <a:ln w="9525" cap="flat">
                <a:solidFill>
                  <a:srgbClr val="F2711C"/>
                </a:solidFill>
                <a:prstDash val="solid"/>
                <a:round/>
              </a:ln>
              <a:effectLst/>
            </c:spPr>
          </c:marker>
          <c:cat>
            <c:multiLvlStrRef>
              <c:f>Sheet1!$A$2:$A$25</c:f>
              <c:multiLvlStrCache>
                <c:ptCount val="24"/>
                <c:lvl>
                  <c:pt idx="0">
                    <c:v>500</c:v>
                  </c:pt>
                  <c:pt idx="1">
                    <c:v>1000</c:v>
                  </c:pt>
                  <c:pt idx="2">
                    <c:v>1500</c:v>
                  </c:pt>
                  <c:pt idx="3">
                    <c:v>2000</c:v>
                  </c:pt>
                  <c:pt idx="4">
                    <c:v>2500</c:v>
                  </c:pt>
                  <c:pt idx="5">
                    <c:v>3000</c:v>
                  </c:pt>
                  <c:pt idx="6">
                    <c:v>3500</c:v>
                  </c:pt>
                  <c:pt idx="7">
                    <c:v>4000</c:v>
                  </c:pt>
                  <c:pt idx="8">
                    <c:v>4500</c:v>
                  </c:pt>
                  <c:pt idx="9">
                    <c:v>5000</c:v>
                  </c:pt>
                  <c:pt idx="10">
                    <c:v>5500</c:v>
                  </c:pt>
                  <c:pt idx="11">
                    <c:v>6000</c:v>
                  </c:pt>
                  <c:pt idx="12">
                    <c:v>6500</c:v>
                  </c:pt>
                  <c:pt idx="13">
                    <c:v>7000</c:v>
                  </c:pt>
                  <c:pt idx="14">
                    <c:v>7500</c:v>
                  </c:pt>
                  <c:pt idx="15">
                    <c:v>8000</c:v>
                  </c:pt>
                  <c:pt idx="16">
                    <c:v>8500</c:v>
                  </c:pt>
                  <c:pt idx="17">
                    <c:v>9000</c:v>
                  </c:pt>
                  <c:pt idx="18">
                    <c:v>9500</c:v>
                  </c:pt>
                  <c:pt idx="19">
                    <c:v>10000</c:v>
                  </c:pt>
                  <c:pt idx="20">
                    <c:v>10500</c:v>
                  </c:pt>
                  <c:pt idx="21">
                    <c:v>11000</c:v>
                  </c:pt>
                  <c:pt idx="22">
                    <c:v>11500</c:v>
                  </c:pt>
                  <c:pt idx="23">
                    <c:v>12000</c:v>
                  </c:pt>
                </c:lvl>
              </c:multiLvlStrCache>
            </c:multiLvlStrRef>
          </c:cat>
          <c:val>
            <c:numRef>
              <c:f>Sheet1!$B$2:$B$25</c:f>
              <c:numCache>
                <c:formatCode>General</c:formatCode>
                <c:ptCount val="24"/>
                <c:pt idx="0">
                  <c:v>0.1113</c:v>
                </c:pt>
                <c:pt idx="1">
                  <c:v>0.0892</c:v>
                </c:pt>
                <c:pt idx="2">
                  <c:v>0.0731</c:v>
                </c:pt>
                <c:pt idx="3">
                  <c:v>0.0683</c:v>
                </c:pt>
                <c:pt idx="4">
                  <c:v>0.0694</c:v>
                </c:pt>
                <c:pt idx="5">
                  <c:v>0.063</c:v>
                </c:pt>
                <c:pt idx="6">
                  <c:v>0.0612</c:v>
                </c:pt>
                <c:pt idx="7">
                  <c:v>0.0547</c:v>
                </c:pt>
                <c:pt idx="8">
                  <c:v>0.0546</c:v>
                </c:pt>
                <c:pt idx="9">
                  <c:v>0.0559</c:v>
                </c:pt>
                <c:pt idx="10">
                  <c:v>0.0519</c:v>
                </c:pt>
                <c:pt idx="11">
                  <c:v>0.0518</c:v>
                </c:pt>
                <c:pt idx="12">
                  <c:v>0.0502</c:v>
                </c:pt>
                <c:pt idx="13">
                  <c:v>0.0475</c:v>
                </c:pt>
                <c:pt idx="14">
                  <c:v>0.0445</c:v>
                </c:pt>
                <c:pt idx="15">
                  <c:v>0.0454</c:v>
                </c:pt>
                <c:pt idx="16">
                  <c:v>0.044</c:v>
                </c:pt>
                <c:pt idx="17">
                  <c:v>0.0412</c:v>
                </c:pt>
                <c:pt idx="18">
                  <c:v>0.0409</c:v>
                </c:pt>
                <c:pt idx="19">
                  <c:v>0.039</c:v>
                </c:pt>
                <c:pt idx="20">
                  <c:v>0.0395</c:v>
                </c:pt>
                <c:pt idx="21">
                  <c:v>0.0387</c:v>
                </c:pt>
                <c:pt idx="22">
                  <c:v>0.0381</c:v>
                </c:pt>
                <c:pt idx="23">
                  <c:v>0.0381</c:v>
                </c:pt>
              </c:numCache>
            </c:numRef>
          </c:val>
          <c:smooth val="0"/>
        </c:ser>
        <c:ser>
          <c:idx val="1"/>
          <c:order val="1"/>
          <c:tx>
            <c:strRef>
              <c:f>Sheet1!$C$1</c:f>
              <c:strCache>
                <c:ptCount val="1"/>
                <c:pt idx="0">
                  <c:v>공급 테이블만 297편</c:v>
                </c:pt>
              </c:strCache>
            </c:strRef>
          </c:tx>
          <c:spPr>
            <a:solidFill>
              <a:srgbClr val="3D5A80"/>
            </a:solidFill>
            <a:ln w="31750" cap="flat">
              <a:solidFill>
                <a:srgbClr val="3D5A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D5A80"/>
              </a:solidFill>
              <a:ln w="9525" cap="flat">
                <a:solidFill>
                  <a:srgbClr val="3D5A80"/>
                </a:solidFill>
                <a:prstDash val="solid"/>
                <a:round/>
              </a:ln>
              <a:effectLst/>
            </c:spPr>
          </c:marker>
          <c:cat>
            <c:multiLvlStrRef>
              <c:f>Sheet1!$A$2:$A$25</c:f>
              <c:multiLvlStrCache>
                <c:ptCount val="24"/>
                <c:lvl>
                  <c:pt idx="0">
                    <c:v>500</c:v>
                  </c:pt>
                  <c:pt idx="1">
                    <c:v>1000</c:v>
                  </c:pt>
                  <c:pt idx="2">
                    <c:v>1500</c:v>
                  </c:pt>
                  <c:pt idx="3">
                    <c:v>2000</c:v>
                  </c:pt>
                  <c:pt idx="4">
                    <c:v>2500</c:v>
                  </c:pt>
                  <c:pt idx="5">
                    <c:v>3000</c:v>
                  </c:pt>
                  <c:pt idx="6">
                    <c:v>3500</c:v>
                  </c:pt>
                  <c:pt idx="7">
                    <c:v>4000</c:v>
                  </c:pt>
                  <c:pt idx="8">
                    <c:v>4500</c:v>
                  </c:pt>
                  <c:pt idx="9">
                    <c:v>5000</c:v>
                  </c:pt>
                  <c:pt idx="10">
                    <c:v>5500</c:v>
                  </c:pt>
                  <c:pt idx="11">
                    <c:v>6000</c:v>
                  </c:pt>
                  <c:pt idx="12">
                    <c:v>6500</c:v>
                  </c:pt>
                  <c:pt idx="13">
                    <c:v>7000</c:v>
                  </c:pt>
                  <c:pt idx="14">
                    <c:v>7500</c:v>
                  </c:pt>
                  <c:pt idx="15">
                    <c:v>8000</c:v>
                  </c:pt>
                  <c:pt idx="16">
                    <c:v>8500</c:v>
                  </c:pt>
                  <c:pt idx="17">
                    <c:v>9000</c:v>
                  </c:pt>
                  <c:pt idx="18">
                    <c:v>9500</c:v>
                  </c:pt>
                  <c:pt idx="19">
                    <c:v>10000</c:v>
                  </c:pt>
                  <c:pt idx="20">
                    <c:v>10500</c:v>
                  </c:pt>
                  <c:pt idx="21">
                    <c:v>11000</c:v>
                  </c:pt>
                  <c:pt idx="22">
                    <c:v>11500</c:v>
                  </c:pt>
                  <c:pt idx="23">
                    <c:v>12000</c:v>
                  </c:pt>
                </c:lvl>
              </c:multiLvlStrCache>
            </c:multiLvlStrRef>
          </c:cat>
          <c:val>
            <c:numRef>
              <c:f>Sheet1!$C$2:$C$25</c:f>
              <c:numCache>
                <c:formatCode>General</c:formatCode>
                <c:ptCount val="24"/>
                <c:pt idx="0">
                  <c:v>0.1265</c:v>
                </c:pt>
                <c:pt idx="1">
                  <c:v>0.0875</c:v>
                </c:pt>
                <c:pt idx="2">
                  <c:v>0.0711</c:v>
                </c:pt>
                <c:pt idx="3">
                  <c:v>0.073</c:v>
                </c:pt>
                <c:pt idx="4">
                  <c:v>0.0619</c:v>
                </c:pt>
                <c:pt idx="5">
                  <c:v>0.0602</c:v>
                </c:pt>
                <c:pt idx="6">
                  <c:v>0.0582</c:v>
                </c:pt>
                <c:pt idx="7">
                  <c:v>0.0569</c:v>
                </c:pt>
                <c:pt idx="8">
                  <c:v>0.0537</c:v>
                </c:pt>
                <c:pt idx="9">
                  <c:v>0.0546</c:v>
                </c:pt>
                <c:pt idx="10">
                  <c:v>0.0491</c:v>
                </c:pt>
                <c:pt idx="11">
                  <c:v>0.0507</c:v>
                </c:pt>
                <c:pt idx="12">
                  <c:v>0.0522</c:v>
                </c:pt>
                <c:pt idx="13">
                  <c:v>0.049</c:v>
                </c:pt>
                <c:pt idx="14">
                  <c:v>0.0469</c:v>
                </c:pt>
                <c:pt idx="15">
                  <c:v>0.0475</c:v>
                </c:pt>
                <c:pt idx="16">
                  <c:v>0.0453</c:v>
                </c:pt>
                <c:pt idx="17">
                  <c:v>0.0442</c:v>
                </c:pt>
                <c:pt idx="18">
                  <c:v>0.044</c:v>
                </c:pt>
                <c:pt idx="19">
                  <c:v>0.0435</c:v>
                </c:pt>
                <c:pt idx="20">
                  <c:v>0.0427</c:v>
                </c:pt>
                <c:pt idx="21">
                  <c:v>0.0428</c:v>
                </c:pt>
                <c:pt idx="22">
                  <c:v>0.0427</c:v>
                </c:pt>
                <c:pt idx="23">
                  <c:v>0.0427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2"/>
        <c:crosses val="autoZero"/>
        <c:auto val="1"/>
        <c:lblAlgn val="ctr"/>
        <c:noMultiLvlLbl val="1"/>
        <c:tickLblSkip val="4"/>
      </c:catAx>
      <c:valAx>
        <c:axId val="2094734552"/>
        <c:scaling>
          <c:orientation val="minMax"/>
          <c:max val="0.14"/>
          <c:min val="0"/>
        </c:scaling>
        <c:delete val="0"/>
        <c:axPos val="l"/>
        <c:majorGridlines>
          <c:spPr>
            <a:ln w="9525" cap="flat">
              <a:solidFill>
                <a:srgbClr val="F1F3F6"/>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~/unbolt를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~/unbolt 대신 /home/&lt;이름&gt;/unbolt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~/unbolt가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unbolt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 번호를 짚으며 공급 테이블(빨간 상자가 있는 곳)과 작업대(상자를 옮길 곳)를 먼저 익히게 합니다.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자동 탐색(실습 8, 시간이 모자라면 시연)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문(y −0.4~0.8 m)을 지나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−1.0). 원래 경로가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1에서는 사람이 몰면서 지도를 만들었습니다. 이번에는 로봇이 스스로 다닙니다(능동 탐색, active exploration). 프론티어는 아는 빈 곳과 모르는 곳의 경계입니다. 그림은 대시보드의 지도 만들기 모드로, 하늘색 선이 프론티어, 파란 원이 지금 가는 곳(설 자리), 점선 끝의 하늘색 점이 보러 가는 프론티어입니다. 프론티어가 하나도 안 남으면 지도가 완성된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unbolt_navigation/scripts/frontier_explorer.py입니다. ①②는 OpenCV 몇 줄(오른쪽 코드), ③이 핵심입니다. 설 자리는 costmap 비용이 낮고(벽에서 약 0.55 m 이상), 로봇이 갈 수 있고, 프론티어에서 빈 공간을 따라 1 m 안이어야 합니다. "빈 공간을 따라"가 중요합니다: 직선 거리로 재면 칸막이 벽 반대편이 뽑혀서 그 너머를 못 봅니다. 그래도 못 보면 다른 자리에서 한 번 더, 두 번 실패하면 그 프론티어는 포기합니다(벽에 붙은 좁은 틈 등). 탐색 모드의 Nav2는 로봇을 반지름 0.44 m 원으로 봅니다(회전 때 모서리가 쓰는 0.40 m + 여유). 실제로 겪은 문제: 처음에는 실행 절반 정도에서 지도가 비스듬히 두 번 그려졌는데, 추적해 보니 로봇이 공급 테이블 다리에 걸려 바퀴만 헛돌았고(오도메트리 틀어짐), 근본 원인은 브리지의 LiDAR가 쓰던 mj_multiRay가 테이블 다리 두 개를 건너뛴 것이었습니다(지금은 광선마다 mj_ray). 고친 뒤 6번 연속 성공. 강사 노트북에서 약 2~4분, 목표 15개 안팎, 실패 0~1번이었습니다.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런처의 "지도 만들기" 모드는 시뮬레이터 + slam_toolbox + Nav2(저장된 지도·AMCL 없이) + frontier_explorer + 대시보드를 켭니다(unbolt_dashboard mapping.launch.py). 준비되면 탐색이 저절로 시작됩니다. 지도 카드에서 지도가 자라는 모습과 목표가 바뀌는 순간을 같이 보세요. 터미널로만 하려면 ros2 launch unbolt_navigation explore.launch.py (RViz로 보기). 체크포인트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탐색이 끝나거나 멈춤을 누르면 키보드 조종 카드가 켜집니다. 페이지를 한 번 클릭하고 W A S D 또는 방향키. 누르고 있는 동안만 /cmd_vel을 10 Hz로 보내고, 떼면 멈춥니다(브리지도 0.5초 동안 명령이 없으면 멈춤). LiDAR로 앞(약 0.35 m)이나 뒤(약 0.7 m)가 막혔으면 그쪽으로는 안 갑니다. 몰고 다니는 동안에도 SLAM이 지도를 고치므로, 남은 회색 곳을 채운 뒤 지도 저장을 다시 누르면 됩니다. 저장한 지도는 작업 모드의 지도 목록에 나옵니다. 로봇이 같은 자리(원점)에서 출발하므로 공급 테이블·작업대 좌표가 그대로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
6. 아는 빈 칸과 모르는 칸의 경계. 갈 수 있는(설 자리가 있는) 프론티어가 하나도 남지 않으면 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공급 테이블(남쪽,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기록입니다(새로 설치한 환경, 총 64초). 실제 Claude도 거의 같은 순서를 고릅니다.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물건(파란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4까지 끝낸 뒤 시간이 남거나 관심 있는 학생을 위한 심화 모듈입니다. GPU는 필요 없고 PyTorch CPU판만 있으면 됩니다. 녹화 13분과 학습 35분이 걸리므로 녹화와 학습을 먼저 걸어 두고 개념을 설명하면 시간이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pick()은 마커에서 상자의 위치와 방향을 숫자로 얻고, 손 자세를 계산해 MoveIt에 맡깁니다. 정확하지만 마커가 붙은 물체만 집을 수 있고, 잡는 법을 사람이 코드로 정해야 합니다. 학습된 정책은 숫자 좌표 없이 영상에서 바로 관절 명령을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RT-2, OpenVLA, π0 같은 큰 VLA는 인터넷 규모 데이터로 미리 학습한 수십억 매개변수 모델이고 GPU가 필요합니다. 여기서는 같은 입출력 구조를 아주 작게(60만 매개변수) 만들어 노트북 CPU에서 학습합니다. 작게 만들어도 "영상을 보고 관절을 낸다"는 핵심은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전체를 학습으로 바꾸지 않고 집기 한 단계만 바꿉니다. 그래야 성공률을 기존 방식과 바로 비교할 수 있고, 실패하면 원인이 정책에 있다는 것을 압니다. 정책은 상자가 오른손 앞 대략 그 자리에 있을 때만 학습했으므로, 정렬(마커 정밀 접근)은 그대로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시뮬레이션과 데이터는 MuJoCo와 NumPy, 신경망과 학습은 PyTorch(CPU판), 로봇 시스템에 붙이는 일은 ROS 2(rclpy)가 맡습니다. LeRobot 같은 로봇 학습 프레임워크나 미리 학습된 가중치는 일부러 쓰지 않았습니다. 전체가 939줄이라 처음부터 끝까지 읽을 수 있고, 모든 숫자가 어디서 나오는지 보입니다. 구조를 이해한 뒤 LeRobot으로 옮기면 같은 시연으로 ACT를 학습해 비교할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네 단계는 ROS 없이 돌고, 마지막만 ROS 2 노드입니다. 시연 1편은 0.1초마다 한 장면씩 77장면이고, 학습은 장면 하나하나를 표본으로 씁니다. evaluate는 같은 장면 코드로 정책과 전문가를 나란히 시켜 성공률을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사람 대신 expert.py입니다. 시뮬레이터가 아는 상자의 실제 위치로 IK를 풀어 pick()과 같은 순서로 움직입니다. 정책은 실제 위치를 모르고 영상만 봅니다. 그래서 "영상에서 위치를 알아내는 법"까지 스스로 배워야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보는 것(관찰)과 내는 것(행동)을 정하는 곳입니다. 행동은 토크가 아니라 관절 위치 목표라서, 정책이 조금 틀려도 MuJoCo의 위치 액추에이터가 부드럽게 따라갑니다. 머리 카메라는 ROS 노드가 1280×720을 줄이는 것과 같아지도록 3배 크게 그린 뒤 3×3 평균으로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MoveIt 대신 IK를 직접 풉니다. 목표와 지금 손의 위치·자세 차이(6차원)를 자코비안으로 관절 7개의 변화로 바꿉니다. λ를 더해 팔이 쭉 펴진 특이점 근처에서도 값이 튀지 않게 합니다. 팔이 접힌 tuck은 시작점으로 나빠서 home 자세부터 시도하고, 같은 시작점을 먼저 써서 시연마다 팔 모양이 같게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위는 머리 카메라, 아래는 손목 카메라입니다. 손목 카메라에서 상자가 점점 커지다가 손가락 사이로 들어옵니다. 집는 순간에는 머리 카메라에서 손이 상자를 가리기 때문에, 마지막 몇 cm는 손목 카메라가 결정적입니다.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조금만 틀려도 다음 장면은 시연에 없던 장면이 되고, 거기서 더 틀리게 됩니다(compounding error). 모방 학습의 가장 큰 문제입니다. 세 가지로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영상마다 작은 합성곱 신경망을 지나 공간 소프트맥스로 "특징이 가장 강한 위치 (x, y)" 64개를 뽑습니다. 상자와 손가락이 어디 있는지가 숫자로 나오는 셈이라 적은 데이터로도 잘 배웁니다. 명령은 단어를 해시해서 어떤 문장이든 벡터로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nn.Sequential로 쌓은 인코더 두 개(머리, 손목은 가중치를 따로 가짐), 단어 임베딩 표, MLP입니다. 매개변수 대부분(76%)은 MLP에 있습니다. 직접 확인: python3 -c "from unbolt_vla.model import PickPolicy; print(PickPolicy())"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특징 지도 한 장을 화면 전체에 대한 확률로 바꾸고, 그 확률로 화면 좌표의 평균을 냅니다. 결과는 "이 특징이 화면 어디에 있나"라는 숫자 두 개입니다. 학습하면서 어떤 키포인트는 상자를, 어떤 것은 손가락 끝을 따라가게 됩니다. Levine 등(2016)이 로봇 손-눈 협응 학습에 쓴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시연의 모든 장면이 표본 하나입니다. 그 순간의 영상 두 장·관절각·문장을 넣고, 그 장면부터 10단계의 전문가 목표를 맞히게 합니다. 손실은 묶음 전체의 L1과 "끝" 판단의 이진 교차 엔트로피입니다. 검증은 편 단위로 떼어 둔 10%로 합니다(같은 편의 장면이 양쪽에 섞이면 검증이 너무 쉬워짐).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번의 실제 학습 기록입니다. 검증 L1은 정규화 단위라 0.038은 관절마다 평균 0.4~1.4° 차이입니다. 공급 테이블만 쓴 학습도 곡선은 비슷하게 내려갔지만 작업대에서는 0/20이었습니다. 검증 데이터가 학습 데이터와 같은 범위에서만 왔기 때문입니다. 낮은 검증 오차가 "처음 보는 곳에서도 잘한다"를 뜻하지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정책은 0.1초마다 앞으로 10단계를 예측합니다. 그러면 "지금"에 대한 예측이 최근 10번의 호출에서 하나씩 쌓입니다. 이것을 가중 평균해 보냅니다(ACT의 temporal ensembling). 오래된 예측에 조금 더 무게를 둬서 움직임이 매끄럽고, 한 번 튄 예측이 바로 팔을 흔들지 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녹화는 MuJoCo만 쓰고 ROS는 필요 없습니다. 8코어 노트북에서 녹화 13분, 학습 35분 정도입니다. 학습을 걸어 두고 앞의 개념 슬라이드와 model.py를 읽으면 시간이 맞습니다. 검증 오차가 가장 낮을 때마다 policy.pt를 덮어씁니다.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evaluate는 학습에 쓰지 않은 무작위 배치 100개(테이블도 무작위)에서 정책과 전문가를 똑같이 시킵니다. 정책은 "다 집었다"를 세 번 연속 말하거나 12초가 지나면 멈춥니다. 성공 = 상자가 3 cm 이상 들렸다. 이 저장소의 정책(두 테이블 시연 583개, 12000단계, CPU 35분)은 공급 테이블 48/48, 작업대 52/52를 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공급 테이블 시연만으로 학습했습니다. 공급 테이블에서는 거의 다 집었지만, 나무색 작업대에서는 한 번도 못 집었고, 팔을 조금 움직이다 2초 만에 "다 집었다"고 말했습니다. "원래 자리에 갖다 놔"는 작업대에서 집어야 하므로 작업대 시연을 더해 다시 학습했습니다. 멈춤(stall)도 시연을 늘리자 사라졌습니다.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pick:=vla로 켜면 브리지가 손목 카메라를 켜고 머리 카메라를 10 Hz로 올립니다(정책은 매 단계 새 영상으로 학습). 작업 관리자는 정렬까지 한 뒤 /vla/pick에 명령 문장을 보내고 /vla/result를 기다립니다. 성공하면 MoveIt으로 팔을 접는 것부터는 기존과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작업대에서 정책이 상자를 집은 직후입니다. 왼쪽 아래 카드에 손목 카메라(정책이 보는 96×96), 단계 수, "다 집었다" 확률, 마지막 결과가 나옵니다. vla_pick은 정책의 "다 집었다"를 그대로 믿지 않고, 손을 닫으라고 명령했고 손가락이 물체에 걸려 덜 닫혔을 때만 성공으로 보고합니다. 처음에는 손가락 각도만 봐서, 벌린 손도 성공으로 잘못 보고된 적이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같고 크기와 부품이 다릅니다. ACT는 같은 "묶음 예측 + 시간 평균"을 트랜스포머와 CVAE로 합니다. OpenVLA는 큰 언어 모델이 행동을 토큰으로 하나씩 말하고, π0는 비전-언어 모델 옆의 "행동 전문가"가 flow matching으로 50단계 묶음을 만듭니다. LeRobot은 이런 정책과 데이터 형식, 학습 스크립트를 모아 둔 Hugging Face의 프레임워크입니다.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모듈의 정책은 장난감 크기입니다. 그래도 큰 VLA가 부딪히는 문제를 그대로 겪어 볼 수 있습니다. 과제에서 하나씩 건드려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영상에 상자가 보이고, 같은 영상에서 전문가가 낸 관절 목표를 수만 번 보며 "영상 속 위치 → 관절" 관계를 배웠기 때문이다. 공간 소프트맥스가 위치를 숫자로 뽑는 것을 돕는다.
2. 잡음 섞인 목표를 정답으로 두면 잡음까지 따라 한다. 어긋난 장면에서 "원래 가야 할 곳"을 정답으로 줘야 돌아오는 법을 배운다.
3. 움직임이 매끄럽고, 한 번 틀린 예측의 영향이 겹치는 다른 예측과 평균되어 줄어든다. 결정 횟수가 줄어 오차가 덜 쌓인다.
4. 정책은 상자가 오른손 앞 대략 그 자리(±수 cm)에 있을 때만 학습했다. 그 범위로 데려다 놓는 일은 검증된 방식이 맡는다.
5. 렌더링과 실제 카메라 영상의 차이(색·조명·노이즈), 상자·테이블의 다양성, 실제 관절 응답과 지연의 차이 등.
6. 평균 풀링은 위치 정보를 지우지만 공간 소프트맥스는 특징의 화면 좌표를 숫자로 넘긴다. 집기는 "어디에"가 핵심이라 적은 데이터로도 배운다.
7. 검증 데이터도 공급 테이블에서만 왔다. 검증 오차는 본 적 있는 종류의 장면에서의 실력일 뿐이고, 처음 보는 장면(색·배경·방향)에서는 닫힌 루프로 평가해야 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slideLayout" Target="../slideLayouts/slideLayout4.xml"/><Relationship Id="rId7"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4.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slideLayout" Target="../slideLayouts/slideLayout4.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4.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4.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4.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4.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slideLayout" Target="../slideLayouts/slideLayout4.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4.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4.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4.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slideLayout" Target="../slideLayouts/slideLayout4.xm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slideLayout" Target="../slideLayouts/slideLayout4.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4.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slideLayout" Target="../slideLayouts/slideLayout4.xml"/><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4.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slideLayout" Target="../slideLayouts/slideLayout4.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4.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4.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4.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4.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4.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slideLayout" Target="../slideLayouts/slideLayout4.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4.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image" Target="../media/image-140-2.png"/><Relationship Id="rId3" Type="http://schemas.openxmlformats.org/officeDocument/2006/relationships/slideLayout" Target="../slideLayouts/slideLayout4.xml"/><Relationship Id="rId4"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slideLayout" Target="../slideLayouts/slideLayout4.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png"/><Relationship Id="rId2" Type="http://schemas.openxmlformats.org/officeDocument/2006/relationships/image" Target="../media/image-142-2.png"/><Relationship Id="rId3" Type="http://schemas.openxmlformats.org/officeDocument/2006/relationships/image" Target="../media/image-142-3.png"/><Relationship Id="rId4" Type="http://schemas.openxmlformats.org/officeDocument/2006/relationships/image" Target="../media/image-142-4.png"/><Relationship Id="rId5" Type="http://schemas.openxmlformats.org/officeDocument/2006/relationships/slideLayout" Target="../slideLayouts/slideLayout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image" Target="../media/image-143-3.png"/><Relationship Id="rId4" Type="http://schemas.openxmlformats.org/officeDocument/2006/relationships/image" Target="../media/image-143-4.png"/><Relationship Id="rId5" Type="http://schemas.openxmlformats.org/officeDocument/2006/relationships/image" Target="../media/image-143-5.png"/><Relationship Id="rId6" Type="http://schemas.openxmlformats.org/officeDocument/2006/relationships/slideLayout" Target="../slideLayouts/slideLayout4.xml"/><Relationship Id="rId7"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image" Target="../media/image-145-3.png"/><Relationship Id="rId4" Type="http://schemas.openxmlformats.org/officeDocument/2006/relationships/image" Target="../media/image-145-4.png"/><Relationship Id="rId5" Type="http://schemas.openxmlformats.org/officeDocument/2006/relationships/slideLayout" Target="../slideLayouts/slideLayout4.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image" Target="../media/image-147-2.png"/><Relationship Id="rId3" Type="http://schemas.openxmlformats.org/officeDocument/2006/relationships/image" Target="../media/image-147-3.png"/><Relationship Id="rId4" Type="http://schemas.openxmlformats.org/officeDocument/2006/relationships/slideLayout" Target="../slideLayouts/slideLayout4.xml"/><Relationship Id="rId5"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slideLayout" Target="../slideLayouts/slideLayout4.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slideLayout" Target="../slideLayouts/slideLayout4.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slideLayout" Target="../slideLayouts/slideLayout4.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png"/><Relationship Id="rId2" Type="http://schemas.openxmlformats.org/officeDocument/2006/relationships/slideLayout" Target="../slideLayouts/slideLayout4.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png"/><Relationship Id="rId2" Type="http://schemas.openxmlformats.org/officeDocument/2006/relationships/image" Target="../media/image-154-2.png"/><Relationship Id="rId3" Type="http://schemas.openxmlformats.org/officeDocument/2006/relationships/slideLayout" Target="../slideLayouts/slideLayout4.xml"/><Relationship Id="rId4"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png"/><Relationship Id="rId2" Type="http://schemas.openxmlformats.org/officeDocument/2006/relationships/slideLayout" Target="../slideLayouts/slideLayout4.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image" Target="../media/image-156-2.png"/><Relationship Id="rId3" Type="http://schemas.openxmlformats.org/officeDocument/2006/relationships/image" Target="../media/image-156-3.png"/><Relationship Id="rId4" Type="http://schemas.openxmlformats.org/officeDocument/2006/relationships/image" Target="../media/image-156-4.png"/><Relationship Id="rId5" Type="http://schemas.openxmlformats.org/officeDocument/2006/relationships/slideLayout" Target="../slideLayouts/slideLayout4.xml"/><Relationship Id="rId6"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image" Target="../media/image-159-2.png"/><Relationship Id="rId3" Type="http://schemas.openxmlformats.org/officeDocument/2006/relationships/slideLayout" Target="../slideLayouts/slideLayout4.xml"/><Relationship Id="rId4"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61-1.png"/><Relationship Id="rId3" Type="http://schemas.openxmlformats.org/officeDocument/2006/relationships/slideLayout" Target="../slideLayouts/slideLayout4.xml"/><Relationship Id="rId4"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slideLayout" Target="../slideLayouts/slideLayout4.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image" Target="../media/image-163-2.png"/><Relationship Id="rId3" Type="http://schemas.openxmlformats.org/officeDocument/2006/relationships/slideLayout" Target="../slideLayouts/slideLayout4.xml"/><Relationship Id="rId4"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png"/><Relationship Id="rId2" Type="http://schemas.openxmlformats.org/officeDocument/2006/relationships/image" Target="../media/image-164-2.png"/><Relationship Id="rId3" Type="http://schemas.openxmlformats.org/officeDocument/2006/relationships/slideLayout" Target="../slideLayouts/slideLayout4.xml"/><Relationship Id="rId4"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image" Target="../media/image-165-2.png"/><Relationship Id="rId3" Type="http://schemas.openxmlformats.org/officeDocument/2006/relationships/slideLayout" Target="../slideLayouts/slideLayout4.xml"/><Relationship Id="rId4"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jpg"/><Relationship Id="rId2" Type="http://schemas.openxmlformats.org/officeDocument/2006/relationships/image" Target="../media/image-167-2.png"/><Relationship Id="rId3" Type="http://schemas.openxmlformats.org/officeDocument/2006/relationships/image" Target="../media/image-167-3.png"/><Relationship Id="rId4" Type="http://schemas.openxmlformats.org/officeDocument/2006/relationships/slideLayout" Target="../slideLayouts/slideLayout4.xml"/><Relationship Id="rId5"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slideLayout" Target="../slideLayouts/slideLayout4.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image" Target="../media/image-169-2.png"/><Relationship Id="rId3" Type="http://schemas.openxmlformats.org/officeDocument/2006/relationships/image" Target="../media/image-169-3.png"/><Relationship Id="rId4" Type="http://schemas.openxmlformats.org/officeDocument/2006/relationships/image" Target="../media/image-169-4.png"/><Relationship Id="rId5" Type="http://schemas.openxmlformats.org/officeDocument/2006/relationships/slideLayout" Target="../slideLayouts/slideLayout4.xml"/><Relationship Id="rId6"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png"/><Relationship Id="rId2" Type="http://schemas.openxmlformats.org/officeDocument/2006/relationships/image" Target="../media/image-170-2.png"/><Relationship Id="rId3" Type="http://schemas.openxmlformats.org/officeDocument/2006/relationships/image" Target="../media/image-170-3.png"/><Relationship Id="rId4" Type="http://schemas.openxmlformats.org/officeDocument/2006/relationships/image" Target="../media/image-170-4.png"/><Relationship Id="rId5" Type="http://schemas.openxmlformats.org/officeDocument/2006/relationships/image" Target="../media/image-170-5.png"/><Relationship Id="rId6" Type="http://schemas.openxmlformats.org/officeDocument/2006/relationships/slideLayout" Target="../slideLayouts/slideLayout4.xml"/><Relationship Id="rId7"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png"/><Relationship Id="rId2" Type="http://schemas.openxmlformats.org/officeDocument/2006/relationships/slideLayout" Target="../slideLayouts/slideLayout4.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png"/><Relationship Id="rId2" Type="http://schemas.openxmlformats.org/officeDocument/2006/relationships/image" Target="../media/image-174-2.png"/><Relationship Id="rId3" Type="http://schemas.openxmlformats.org/officeDocument/2006/relationships/image" Target="../media/image-174-3.png"/><Relationship Id="rId4" Type="http://schemas.openxmlformats.org/officeDocument/2006/relationships/image" Target="../media/image-174-4.png"/><Relationship Id="rId5" Type="http://schemas.openxmlformats.org/officeDocument/2006/relationships/slideLayout" Target="../slideLayouts/slideLayout4.xml"/><Relationship Id="rId6"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png"/><Relationship Id="rId2" Type="http://schemas.openxmlformats.org/officeDocument/2006/relationships/image" Target="../media/image-176-2.png"/><Relationship Id="rId3" Type="http://schemas.openxmlformats.org/officeDocument/2006/relationships/image" Target="../media/image-176-3.png"/><Relationship Id="rId4" Type="http://schemas.openxmlformats.org/officeDocument/2006/relationships/slideLayout" Target="../slideLayouts/slideLayout4.xml"/><Relationship Id="rId5"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png"/><Relationship Id="rId2" Type="http://schemas.openxmlformats.org/officeDocument/2006/relationships/slideLayout" Target="../slideLayouts/slideLayout2.xml"/><Relationship Id="rId3" Type="http://schemas.openxmlformats.org/officeDocument/2006/relationships/notesSlide" Target="../notesSlides/notesSlide1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765192"/>
            <a:ext cx="5212080" cy="3967696"/>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UNBOLT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&lt;강사가 안내한 저장소 주소&gt; ~/unbolt</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/mnt/c/Users/&lt;윈도우사용자&gt;/Downloads/&lt;폴더&gt;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~/unbolt에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~/unbolt로.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~/unbolt/workshop/setup/install_unbolt.sh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~/unbolt/ros2_ws/install/setup.bash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(unbolt_dashboard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UNBOLT_ROOT=~/unbolt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unbolt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~/unbolt/ros2_ws/install/setup.bash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UNBOLT_ROOT=~/unbolt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~/.unbolt_key ] &amp;&amp; source ~/.unbolt_key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unbolt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unbolt"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unbolt_dashboard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/home/student/unbolt/ros2_ws/install/unbolt_dashboard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$UNBOLT_ROOT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REPO=~/unbolt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unbolt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UNBOLT_ROOT=$REPO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unbolt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'unbolt_dashboard'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~/unbolt/ros2_ws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모드(작업 / 지도 만들기) 고르기 → 연결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~/.unbolt_key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unbolt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~/unbolt,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install_unbolt.sh가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UNBOLT_ROOT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unbolt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~/unbolt에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'unbolt_dashboard'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7 × 6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432472"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43247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50697" y="4901822"/>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50697" y="490182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631842" y="3566160"/>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63184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2778270" y="3457126"/>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2778270" y="3457126"/>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3977640" y="4438429"/>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3977640" y="443842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graphicFrame>
        <p:nvGraphicFramePr>
          <p:cNvPr id="45" name="table_81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640080"/>
                <a:gridCol w="1188720"/>
                <a:gridCol w="173736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설명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시작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로봇이 처음 서 있는 곳 (0, 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빨간 상자가 있는 하늘색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상자를 놓을 나무 테이블 (마커 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칸막이 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서쪽 방으로 가는 통로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기둥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피해 가야 하는 장애물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18"/>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19"/>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0"/>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2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2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2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2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5"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3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3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3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39"/>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0"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빨간 상자를 굴려 보자</a:t>
            </a:r>
            <a:endParaRPr lang="ko-KR" altLang="en-US" sz="1600" dirty="0"/>
          </a:p>
        </p:txBody>
      </p:sp>
      <p:sp>
        <p:nvSpPr>
          <p:cNvPr id="16" name="box_84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5"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4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4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4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4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0"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5"/>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56"/>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57"/>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58"/>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59"/>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0"/>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1"/>
          <p:cNvSpPr/>
          <p:nvPr/>
        </p:nvSpPr>
        <p:spPr>
          <a:xfrm>
            <a:off x="3703320" y="2377440"/>
            <a:ext cx="777240" cy="0"/>
          </a:xfrm>
          <a:prstGeom prst="line">
            <a:avLst/>
          </a:prstGeom>
          <a:noFill/>
          <a:ln w="25400">
            <a:solidFill>
              <a:schemeClr val="tx2"/>
            </a:solidFill>
            <a:prstDash val="solid"/>
            <a:tailEnd type="triangle"/>
          </a:ln>
        </p:spPr>
      </p:sp>
      <p:sp>
        <p:nvSpPr>
          <p:cNvPr id="13" name="arrow_862"/>
          <p:cNvSpPr/>
          <p:nvPr/>
        </p:nvSpPr>
        <p:spPr>
          <a:xfrm>
            <a:off x="7680960" y="2377440"/>
            <a:ext cx="777240" cy="0"/>
          </a:xfrm>
          <a:prstGeom prst="line">
            <a:avLst/>
          </a:prstGeom>
          <a:noFill/>
          <a:ln w="25400">
            <a:solidFill>
              <a:schemeClr val="tx2"/>
            </a:solidFill>
            <a:prstDash val="solid"/>
            <a:tailEnd type="triangle"/>
          </a:ln>
        </p:spPr>
      </p:sp>
      <p:sp>
        <p:nvSpPr>
          <p:cNvPr id="14" name="arrow_863"/>
          <p:cNvSpPr/>
          <p:nvPr/>
        </p:nvSpPr>
        <p:spPr>
          <a:xfrm flipH="1">
            <a:off x="7680960" y="3840480"/>
            <a:ext cx="777240" cy="0"/>
          </a:xfrm>
          <a:prstGeom prst="line">
            <a:avLst/>
          </a:prstGeom>
          <a:noFill/>
          <a:ln w="25400">
            <a:solidFill>
              <a:schemeClr val="tx2"/>
            </a:solidFill>
            <a:prstDash val="solid"/>
            <a:tailEnd type="triangle"/>
          </a:ln>
        </p:spPr>
      </p:sp>
      <p:sp>
        <p:nvSpPr>
          <p:cNvPr id="15" name="arrow_864"/>
          <p:cNvSpPr/>
          <p:nvPr/>
        </p:nvSpPr>
        <p:spPr>
          <a:xfrm flipH="1">
            <a:off x="3703320" y="3840480"/>
            <a:ext cx="777240" cy="0"/>
          </a:xfrm>
          <a:prstGeom prst="line">
            <a:avLst/>
          </a:prstGeom>
          <a:noFill/>
          <a:ln w="25400">
            <a:solidFill>
              <a:schemeClr val="tx2"/>
            </a:solidFill>
            <a:prstDash val="solid"/>
            <a:tailEnd type="triangle"/>
          </a:ln>
        </p:spPr>
      </p:sp>
      <p:sp>
        <p:nvSpPr>
          <p:cNvPr id="16" name="box_865"/>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66"/>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67"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68"/>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69"/>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2"/>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3"/>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4"/>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5"/>
          <p:cNvSpPr/>
          <p:nvPr/>
        </p:nvSpPr>
        <p:spPr>
          <a:xfrm>
            <a:off x="3429000" y="2331720"/>
            <a:ext cx="0" cy="228600"/>
          </a:xfrm>
          <a:prstGeom prst="line">
            <a:avLst/>
          </a:prstGeom>
          <a:noFill/>
          <a:ln w="25400">
            <a:solidFill>
              <a:schemeClr val="tx2"/>
            </a:solidFill>
            <a:prstDash val="solid"/>
            <a:tailEnd type="triangle"/>
          </a:ln>
        </p:spPr>
      </p:sp>
      <p:sp>
        <p:nvSpPr>
          <p:cNvPr id="10" name="box_876"/>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77"/>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78"/>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79"/>
          <p:cNvSpPr/>
          <p:nvPr/>
        </p:nvSpPr>
        <p:spPr>
          <a:xfrm>
            <a:off x="3429000" y="3520440"/>
            <a:ext cx="0" cy="228600"/>
          </a:xfrm>
          <a:prstGeom prst="line">
            <a:avLst/>
          </a:prstGeom>
          <a:noFill/>
          <a:ln w="25400">
            <a:solidFill>
              <a:schemeClr val="tx2"/>
            </a:solidFill>
            <a:prstDash val="solid"/>
            <a:tailEnd type="triangle"/>
          </a:ln>
        </p:spPr>
      </p:sp>
      <p:sp>
        <p:nvSpPr>
          <p:cNvPr id="14" name="box_880"/>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1"/>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2"/>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3"/>
          <p:cNvSpPr/>
          <p:nvPr/>
        </p:nvSpPr>
        <p:spPr>
          <a:xfrm>
            <a:off x="3429000" y="4709160"/>
            <a:ext cx="0" cy="228600"/>
          </a:xfrm>
          <a:prstGeom prst="line">
            <a:avLst/>
          </a:prstGeom>
          <a:noFill/>
          <a:ln w="25400">
            <a:solidFill>
              <a:schemeClr val="tx2"/>
            </a:solidFill>
            <a:prstDash val="solid"/>
            <a:tailEnd type="triangle"/>
          </a:ln>
        </p:spPr>
      </p:sp>
      <p:sp>
        <p:nvSpPr>
          <p:cNvPr id="18" name="box_884"/>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5"/>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86"/>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87"/>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88"/>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/clock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시뮬레이션 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관절 20개의 각도·속도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/odom + TF</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바퀴로 계산한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/imu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기울기·회전 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LiDAR 360빔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 영상 (camera_rate)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/wrist_camera/*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 /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손목 카메라, VLA 모드만 (모듈 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/ground_truth/*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진짜 위치 (평가용)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1"/>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2"/>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3"/>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4"/>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5"/>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896"/>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897"/>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898"/>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899"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0"/>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1"/>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2"/>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3"/>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4"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5"/>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06"/>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0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1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1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1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1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4"/>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5"/>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26"/>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27"/>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28"/>
          <p:cNvSpPr/>
          <p:nvPr/>
        </p:nvSpPr>
        <p:spPr>
          <a:xfrm>
            <a:off x="1828800" y="2148840"/>
            <a:ext cx="0" cy="347472"/>
          </a:xfrm>
          <a:prstGeom prst="line">
            <a:avLst/>
          </a:prstGeom>
          <a:noFill/>
          <a:ln w="25400">
            <a:solidFill>
              <a:schemeClr val="tx2"/>
            </a:solidFill>
            <a:prstDash val="solid"/>
            <a:tailEnd type="triangle"/>
          </a:ln>
        </p:spPr>
      </p:sp>
      <p:sp>
        <p:nvSpPr>
          <p:cNvPr id="11" name="text_929"/>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0"/>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1"/>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2"/>
          <p:cNvSpPr/>
          <p:nvPr/>
        </p:nvSpPr>
        <p:spPr>
          <a:xfrm>
            <a:off x="1828800" y="3200400"/>
            <a:ext cx="0" cy="347472"/>
          </a:xfrm>
          <a:prstGeom prst="line">
            <a:avLst/>
          </a:prstGeom>
          <a:noFill/>
          <a:ln w="25400">
            <a:solidFill>
              <a:schemeClr val="tx2"/>
            </a:solidFill>
            <a:prstDash val="solid"/>
            <a:tailEnd type="triangle"/>
          </a:ln>
        </p:spPr>
      </p:sp>
      <p:sp>
        <p:nvSpPr>
          <p:cNvPr id="15" name="text_933"/>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4"/>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5"/>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36"/>
          <p:cNvSpPr/>
          <p:nvPr/>
        </p:nvSpPr>
        <p:spPr>
          <a:xfrm>
            <a:off x="1828800" y="4251960"/>
            <a:ext cx="0" cy="347472"/>
          </a:xfrm>
          <a:prstGeom prst="line">
            <a:avLst/>
          </a:prstGeom>
          <a:noFill/>
          <a:ln w="25400">
            <a:solidFill>
              <a:schemeClr val="tx2"/>
            </a:solidFill>
            <a:prstDash val="solid"/>
            <a:tailEnd type="triangle"/>
          </a:ln>
        </p:spPr>
      </p:sp>
      <p:sp>
        <p:nvSpPr>
          <p:cNvPr id="19" name="text_937"/>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38"/>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39"/>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0"/>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1"/>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2"/>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3"/>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4"/>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5"/>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46"/>
          <p:cNvSpPr/>
          <p:nvPr/>
        </p:nvSpPr>
        <p:spPr>
          <a:xfrm flipV="1">
            <a:off x="3154680" y="4480560"/>
            <a:ext cx="731520" cy="475488"/>
          </a:xfrm>
          <a:prstGeom prst="line">
            <a:avLst/>
          </a:prstGeom>
          <a:noFill/>
          <a:ln w="25400">
            <a:solidFill>
              <a:schemeClr val="tx2"/>
            </a:solidFill>
            <a:prstDash val="solid"/>
            <a:tailEnd type="triangle"/>
          </a:ln>
        </p:spPr>
      </p:sp>
      <p:sp>
        <p:nvSpPr>
          <p:cNvPr id="29" name="box_947"/>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48"/>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49"/>
          <p:cNvSpPr/>
          <p:nvPr/>
        </p:nvSpPr>
        <p:spPr>
          <a:xfrm>
            <a:off x="3154680" y="4956048"/>
            <a:ext cx="731520" cy="438912"/>
          </a:xfrm>
          <a:prstGeom prst="line">
            <a:avLst/>
          </a:prstGeom>
          <a:noFill/>
          <a:ln w="25400">
            <a:solidFill>
              <a:schemeClr val="tx2"/>
            </a:solidFill>
            <a:prstDash val="solid"/>
            <a:tailEnd type="triangle"/>
          </a:ln>
        </p:spPr>
      </p:sp>
      <p:sp>
        <p:nvSpPr>
          <p:cNvPr id="32" name="text_950"/>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1"/>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2"/>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3"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4"/>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5"/>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56"/>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57"/>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58"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59"/>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0"/>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3"/>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4"/>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5"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66"/>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67"/>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68"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69"/>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0"/>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3"/>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76"/>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977"/>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78"/>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7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0"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1"/>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982"/>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3"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4"/>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5"/>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86"/>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87"/>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88"/>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89"/>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0"/>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1"/>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2"/>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5"/>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996"/>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997"/>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998"/>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999"/>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0"/>
          <p:cNvSpPr/>
          <p:nvPr/>
        </p:nvSpPr>
        <p:spPr>
          <a:xfrm>
            <a:off x="7406640" y="2057400"/>
            <a:ext cx="548640" cy="0"/>
          </a:xfrm>
          <a:prstGeom prst="line">
            <a:avLst/>
          </a:prstGeom>
          <a:noFill/>
          <a:ln w="25400">
            <a:solidFill>
              <a:schemeClr val="tx2"/>
            </a:solidFill>
            <a:prstDash val="solid"/>
            <a:tailEnd type="triangle"/>
          </a:ln>
        </p:spPr>
      </p:sp>
      <p:sp>
        <p:nvSpPr>
          <p:cNvPr id="12" name="box_1001"/>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2"/>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3"/>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4"/>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5"/>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06"/>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07"/>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08"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09"/>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0"/>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3"/>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4"/>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5"/>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16"/>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17"/>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18"/>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k in range(n):                        # 광선 하나씩</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dist[k] = mujoco.mj_ray(m, d, origin, vec[k],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geomid)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19"/>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0"/>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1"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2"/>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3"/>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4"/>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5"/>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26"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27"/>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28"/>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1"/>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2"/>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3"/>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3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3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3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3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46"/>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47"/>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48"/>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49"/>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0"/>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1"/>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2"/>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3"/>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4"/>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5"/>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56"/>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57"/>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58"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59"/>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0"/>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1"/>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2"/>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3"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4"/>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5"/>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68"/>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69"/>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0"/>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7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7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7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7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3"/>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4"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5"/>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86"/>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87"/>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88"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89"/>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0"/>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1"/>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2"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3"/>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4"/>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5"/>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096"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097"/>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098"/>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099"/>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0"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1"/>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2"/>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5"/>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06"/>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07"/>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08"/>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09"/>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0"/>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1"/>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2"/>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3"/>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4"/>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5"/>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16"/>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17"/>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18"/>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19"/>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0"/>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3"/>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26"/>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27"/>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28"/>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29"/>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0"/>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1"/>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2"/>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3"/>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4"/>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5"/>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36"/>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37"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38"/>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39"/>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2"/>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3"/>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4"/>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5"/>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46"/>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47"/>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48"/>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49"/>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0"/>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1"/>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2"/>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3"/>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4"/>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5"/>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56"/>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57"/>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58"/>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59"/>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0"/>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1"/>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2"/>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3"/>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4"/>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5"/>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7~8</a:t>
            </a:r>
            <a:endParaRPr lang="ko-KR" altLang="en-US" sz="1700" dirty="0"/>
          </a:p>
        </p:txBody>
      </p:sp>
      <p:sp>
        <p:nvSpPr>
          <p:cNvPr id="30" name="text_1166"/>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 자동 탐색으로 지도 만들기</a:t>
            </a:r>
            <a:endParaRPr lang="ko-KR" altLang="en-US" sz="1600" dirty="0"/>
          </a:p>
        </p:txBody>
      </p:sp>
      <p:sp>
        <p:nvSpPr>
          <p:cNvPr id="31" name="pill_1167"/>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68"/>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69"/>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0"/>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1"/>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4"/>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76"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7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78"/>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79"/>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1"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2"/>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3"/>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4"/>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86"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87"/>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88"/>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89"/>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0"/>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1"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2"/>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3"/>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96"/>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197"/>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198"/>
          <p:cNvSpPr/>
          <p:nvPr/>
        </p:nvSpPr>
        <p:spPr>
          <a:xfrm>
            <a:off x="3703320" y="1920240"/>
            <a:ext cx="731520" cy="0"/>
          </a:xfrm>
          <a:prstGeom prst="line">
            <a:avLst/>
          </a:prstGeom>
          <a:noFill/>
          <a:ln w="25400">
            <a:solidFill>
              <a:schemeClr val="tx2"/>
            </a:solidFill>
            <a:prstDash val="solid"/>
            <a:tailEnd type="triangle"/>
          </a:ln>
        </p:spPr>
      </p:sp>
      <p:sp>
        <p:nvSpPr>
          <p:cNvPr id="9" name="box_1199"/>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0"/>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1"/>
          <p:cNvSpPr/>
          <p:nvPr/>
        </p:nvSpPr>
        <p:spPr>
          <a:xfrm>
            <a:off x="7635240" y="1920240"/>
            <a:ext cx="731520" cy="0"/>
          </a:xfrm>
          <a:prstGeom prst="line">
            <a:avLst/>
          </a:prstGeom>
          <a:noFill/>
          <a:ln w="25400">
            <a:solidFill>
              <a:schemeClr val="tx2"/>
            </a:solidFill>
            <a:prstDash val="solid"/>
            <a:tailEnd type="triangle"/>
          </a:ln>
        </p:spPr>
      </p:sp>
      <p:sp>
        <p:nvSpPr>
          <p:cNvPr id="12" name="box_1202"/>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3"/>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4"/>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5"/>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06"/>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07"/>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08"/>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09"/>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0"/>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1"/>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2"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3"/>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4"/>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1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1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19"/>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0"/>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1"/>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2"/>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3"/>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4"/>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5"/>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26"/>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27"/>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28"/>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29"/>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0"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3"/>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4"/>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5"/>
          <p:cNvSpPr/>
          <p:nvPr/>
        </p:nvSpPr>
        <p:spPr>
          <a:xfrm>
            <a:off x="6035040" y="3154680"/>
            <a:ext cx="365760" cy="0"/>
          </a:xfrm>
          <a:prstGeom prst="line">
            <a:avLst/>
          </a:prstGeom>
          <a:noFill/>
          <a:ln w="25400">
            <a:solidFill>
              <a:schemeClr val="tx2"/>
            </a:solidFill>
            <a:prstDash val="solid"/>
            <a:tailEnd type="triangle"/>
          </a:ln>
        </p:spPr>
      </p:sp>
      <p:sp>
        <p:nvSpPr>
          <p:cNvPr id="13" name="box_1236"/>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37"/>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38"/>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39"/>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0"/>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1"/>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2"/>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3"/>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4"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5"/>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46"/>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4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2분)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5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5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5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5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4"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5"/>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66"/>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67"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68"/>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69"/>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0"/>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1"/>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2"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3"/>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4"/>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5"/>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76"/>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77"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78"/>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79"/>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2"/>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3"/>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4"/>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8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8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8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8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97"/>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298"/>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299"/>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0"/>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1"/>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2"/>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3"/>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4"/>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5"/>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06"/>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07"/>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08"/>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09"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0"/>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1"/>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16"/>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17"/>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18"/>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19"/>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0"/>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1"/>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2"/>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3"/>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4"/>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5"/>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26"/>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27"/>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28"/>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29"/>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0"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1"/>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2"/>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3"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4"/>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5"/>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36"/>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37"/>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38"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39"/>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0"/>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3"/>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4"/>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5"/>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46"/>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47"/>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48"/>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49"/>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0"/>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1"/>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2"/>
          <p:cNvSpPr/>
          <p:nvPr/>
        </p:nvSpPr>
        <p:spPr>
          <a:xfrm>
            <a:off x="3383280" y="4343400"/>
            <a:ext cx="0" cy="365760"/>
          </a:xfrm>
          <a:prstGeom prst="line">
            <a:avLst/>
          </a:prstGeom>
          <a:noFill/>
          <a:ln w="25400">
            <a:solidFill>
              <a:schemeClr val="tx2"/>
            </a:solidFill>
            <a:prstDash val="solid"/>
            <a:tailEnd type="triangle"/>
          </a:ln>
        </p:spPr>
      </p:sp>
      <p:sp>
        <p:nvSpPr>
          <p:cNvPr id="16" name="box_1353"/>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4"/>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5"/>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56"/>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57"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58"/>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59"/>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0"/>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1"/>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2"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3"/>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4"/>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67"/>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68"/>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69"/>
          <p:cNvSpPr/>
          <p:nvPr/>
        </p:nvSpPr>
        <p:spPr>
          <a:xfrm>
            <a:off x="2971800" y="1920240"/>
            <a:ext cx="548640" cy="0"/>
          </a:xfrm>
          <a:prstGeom prst="line">
            <a:avLst/>
          </a:prstGeom>
          <a:noFill/>
          <a:ln w="25400">
            <a:solidFill>
              <a:schemeClr val="tx2"/>
            </a:solidFill>
            <a:prstDash val="solid"/>
            <a:tailEnd type="triangle"/>
          </a:ln>
        </p:spPr>
      </p:sp>
      <p:sp>
        <p:nvSpPr>
          <p:cNvPr id="9" name="box_1370"/>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1"/>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2"/>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3"/>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4"/>
          <p:cNvSpPr/>
          <p:nvPr/>
        </p:nvSpPr>
        <p:spPr>
          <a:xfrm>
            <a:off x="6720840" y="1920240"/>
            <a:ext cx="548640" cy="0"/>
          </a:xfrm>
          <a:prstGeom prst="line">
            <a:avLst/>
          </a:prstGeom>
          <a:noFill/>
          <a:ln w="25400">
            <a:solidFill>
              <a:schemeClr val="tx2"/>
            </a:solidFill>
            <a:prstDash val="solid"/>
            <a:tailEnd type="triangle"/>
          </a:ln>
        </p:spPr>
      </p:sp>
      <p:sp>
        <p:nvSpPr>
          <p:cNvPr id="14" name="box_1375"/>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76"/>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77"/>
          <p:cNvSpPr/>
          <p:nvPr/>
        </p:nvSpPr>
        <p:spPr>
          <a:xfrm>
            <a:off x="6675120" y="2395728"/>
            <a:ext cx="621792" cy="758952"/>
          </a:xfrm>
          <a:prstGeom prst="line">
            <a:avLst/>
          </a:prstGeom>
          <a:noFill/>
          <a:ln w="25400">
            <a:solidFill>
              <a:schemeClr val="tx2"/>
            </a:solidFill>
            <a:prstDash val="solid"/>
            <a:tailEnd type="triangle"/>
          </a:ln>
        </p:spPr>
      </p:sp>
      <p:sp>
        <p:nvSpPr>
          <p:cNvPr id="17" name="box_1378"/>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79"/>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0"/>
          <p:cNvSpPr/>
          <p:nvPr/>
        </p:nvSpPr>
        <p:spPr>
          <a:xfrm>
            <a:off x="9464040" y="3749040"/>
            <a:ext cx="0" cy="411480"/>
          </a:xfrm>
          <a:prstGeom prst="line">
            <a:avLst/>
          </a:prstGeom>
          <a:noFill/>
          <a:ln w="25400">
            <a:solidFill>
              <a:schemeClr val="tx2"/>
            </a:solidFill>
            <a:prstDash val="solid"/>
            <a:tailEnd type="triangle"/>
          </a:ln>
        </p:spPr>
      </p:sp>
      <p:sp>
        <p:nvSpPr>
          <p:cNvPr id="20" name="box_1381"/>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2"/>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3"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4"/>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5"/>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86"/>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87"/>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88"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89"/>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0"/>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3"/>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5"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39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397"/>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398"/>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399"/>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0"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2"/>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3"/>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4"/>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5"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06"/>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07"/>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0"/>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1"/>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2"/>
          <p:cNvSpPr/>
          <p:nvPr/>
        </p:nvSpPr>
        <p:spPr>
          <a:xfrm>
            <a:off x="2740152" y="1874520"/>
            <a:ext cx="356616" cy="0"/>
          </a:xfrm>
          <a:prstGeom prst="line">
            <a:avLst/>
          </a:prstGeom>
          <a:noFill/>
          <a:ln w="25400">
            <a:solidFill>
              <a:schemeClr val="tx2"/>
            </a:solidFill>
            <a:prstDash val="solid"/>
            <a:tailEnd type="triangle"/>
          </a:ln>
        </p:spPr>
      </p:sp>
      <p:sp>
        <p:nvSpPr>
          <p:cNvPr id="9" name="box_1413"/>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4"/>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5"/>
          <p:cNvSpPr/>
          <p:nvPr/>
        </p:nvSpPr>
        <p:spPr>
          <a:xfrm>
            <a:off x="5315712" y="1874520"/>
            <a:ext cx="356616" cy="0"/>
          </a:xfrm>
          <a:prstGeom prst="line">
            <a:avLst/>
          </a:prstGeom>
          <a:noFill/>
          <a:ln w="25400">
            <a:solidFill>
              <a:schemeClr val="tx2"/>
            </a:solidFill>
            <a:prstDash val="solid"/>
            <a:tailEnd type="triangle"/>
          </a:ln>
        </p:spPr>
      </p:sp>
      <p:sp>
        <p:nvSpPr>
          <p:cNvPr id="12" name="box_1416"/>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17"/>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18"/>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19"/>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0"/>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1"/>
          <p:cNvSpPr/>
          <p:nvPr/>
        </p:nvSpPr>
        <p:spPr>
          <a:xfrm>
            <a:off x="3067812" y="3246120"/>
            <a:ext cx="310896" cy="0"/>
          </a:xfrm>
          <a:prstGeom prst="line">
            <a:avLst/>
          </a:prstGeom>
          <a:noFill/>
          <a:ln w="25400">
            <a:solidFill>
              <a:schemeClr val="tx2"/>
            </a:solidFill>
            <a:prstDash val="solid"/>
            <a:tailEnd type="triangle"/>
          </a:ln>
        </p:spPr>
      </p:sp>
      <p:sp>
        <p:nvSpPr>
          <p:cNvPr id="18" name="box_1422"/>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3"/>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4"/>
          <p:cNvSpPr/>
          <p:nvPr/>
        </p:nvSpPr>
        <p:spPr>
          <a:xfrm>
            <a:off x="5925312" y="3246120"/>
            <a:ext cx="310896" cy="0"/>
          </a:xfrm>
          <a:prstGeom prst="line">
            <a:avLst/>
          </a:prstGeom>
          <a:noFill/>
          <a:ln w="25400">
            <a:solidFill>
              <a:schemeClr val="tx2"/>
            </a:solidFill>
            <a:prstDash val="solid"/>
            <a:tailEnd type="triangle"/>
          </a:ln>
        </p:spPr>
      </p:sp>
      <p:sp>
        <p:nvSpPr>
          <p:cNvPr id="21" name="box_1425"/>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26"/>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27"/>
          <p:cNvSpPr/>
          <p:nvPr/>
        </p:nvSpPr>
        <p:spPr>
          <a:xfrm>
            <a:off x="8782812" y="3246120"/>
            <a:ext cx="310896" cy="0"/>
          </a:xfrm>
          <a:prstGeom prst="line">
            <a:avLst/>
          </a:prstGeom>
          <a:noFill/>
          <a:ln w="25400">
            <a:solidFill>
              <a:schemeClr val="tx2"/>
            </a:solidFill>
            <a:prstDash val="solid"/>
            <a:tailEnd type="triangle"/>
          </a:ln>
        </p:spPr>
      </p:sp>
      <p:sp>
        <p:nvSpPr>
          <p:cNvPr id="24" name="box_1428"/>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29"/>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0"/>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1"/>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2"/>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3"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4"/>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5"/>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36"/>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37"/>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38"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39"/>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0"/>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4"/>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47"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48"/>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49"/>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45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5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5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5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5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68"/>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69"/>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0"/>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(3.0, −1.4)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(−1.9, 1.6)</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1"/>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2"/>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3"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4"/>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5"/>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76"/>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77"/>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78"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79"/>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0"/>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4"/>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5"/>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486"/>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87"/>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88"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89"/>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0"/>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3"/>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4"/>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12초</a:t>
            </a:r>
            <a:endParaRPr lang="ko-KR" altLang="en-US" sz="5400" dirty="0"/>
          </a:p>
        </p:txBody>
      </p:sp>
      <p:sp>
        <p:nvSpPr>
          <p:cNvPr id="8" name="text_1495"/>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작업대와 기둥 사이 남쪽 길</a:t>
            </a:r>
            <a:endParaRPr lang="ko-KR" altLang="en-US" sz="1600" dirty="0"/>
          </a:p>
        </p:txBody>
      </p:sp>
      <p:sp>
        <p:nvSpPr>
          <p:cNvPr id="9" name="box_1496"/>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497"/>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18초</a:t>
            </a:r>
            <a:endParaRPr lang="ko-KR" altLang="en-US" sz="5400" dirty="0"/>
          </a:p>
        </p:txBody>
      </p:sp>
      <p:sp>
        <p:nvSpPr>
          <p:cNvPr id="11" name="text_1498"/>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보고 작업대 북쪽으로 우회</a:t>
            </a:r>
            <a:endParaRPr lang="ko-KR" altLang="en-US" sz="1600" dirty="0"/>
          </a:p>
        </p:txBody>
      </p:sp>
      <p:sp>
        <p:nvSpPr>
          <p:cNvPr id="12" name="box_1499"/>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0"/>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pos="2.0 -1.0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501"/>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2"/>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(3.0, −1.4)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5"/>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06"/>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[(3.2, 1.2, 0.0), (3.0, -1.4,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(-1.9, 1.6,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07"/>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08"/>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09"/>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0"/>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1"/>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2"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3"/>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4"/>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5"/>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16"/>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17"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18"/>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19"/>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자동 탐색: 프론티어를 따라가면 지도가 완성된다</a:t>
            </a:r>
            <a:endParaRPr lang="ko-KR" altLang="en-US" sz="3000" dirty="0"/>
          </a:p>
        </p:txBody>
      </p:sp>
      <p:sp>
        <p:nvSpPr>
          <p:cNvPr id="3" name="pill_15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25" descr="지도 만들기 모드의 지도: 자라는 SLAM 지도, 하늘색 프론티어, 탐색 목표와 경로">    </p:cNvPr>
          <p:cNvPicPr>
            <a:picLocks noChangeAspect="1"/>
          </p:cNvPicPr>
          <p:nvPr/>
        </p:nvPicPr>
        <p:blipFill>
          <a:blip r:embed="rId1"/>
          <a:stretch>
            <a:fillRect/>
          </a:stretch>
        </p:blipFill>
        <p:spPr>
          <a:xfrm>
            <a:off x="1219240" y="1371600"/>
            <a:ext cx="4968160" cy="4754880"/>
          </a:xfrm>
          <a:prstGeom prst="rect">
            <a:avLst/>
          </a:prstGeom>
        </p:spPr>
      </p:pic>
      <p:sp>
        <p:nvSpPr>
          <p:cNvPr id="7" name="box_1526"/>
          <p:cNvSpPr/>
          <p:nvPr/>
        </p:nvSpPr>
        <p:spPr>
          <a:xfrm>
            <a:off x="7132320" y="1371600"/>
            <a:ext cx="4480560" cy="1051560"/>
          </a:xfrm>
          <a:prstGeom prst="roundRect">
            <a:avLst>
              <a:gd name="adj" fmla="val 6957"/>
            </a:avLst>
          </a:prstGeom>
          <a:solidFill>
            <a:schemeClr val="bg2"/>
          </a:solidFill>
          <a:ln w="12700">
            <a:solidFill>
              <a:schemeClr val="bg2"/>
            </a:solidFill>
            <a:prstDash val="solid"/>
          </a:ln>
        </p:spPr>
      </p:sp>
      <p:sp>
        <p:nvSpPr>
          <p:cNvPr id="8" name="iconbg_1527"/>
          <p:cNvSpPr/>
          <p:nvPr/>
        </p:nvSpPr>
        <p:spPr>
          <a:xfrm>
            <a:off x="7360920" y="1481328"/>
            <a:ext cx="411480" cy="411480"/>
          </a:xfrm>
          <a:prstGeom prst="ellipse">
            <a:avLst/>
          </a:prstGeom>
          <a:solidFill>
            <a:schemeClr val="tx2"/>
          </a:solidFill>
          <a:ln w="12700">
            <a:solidFill>
              <a:schemeClr val="tx2"/>
            </a:solidFill>
            <a:prstDash val="solid"/>
          </a:ln>
        </p:spPr>
      </p:sp>
      <p:pic>
        <p:nvPicPr>
          <p:cNvPr id="9" name="icon_1528" descr="Map 아이콘">    </p:cNvPr>
          <p:cNvPicPr>
            <a:picLocks noChangeAspect="1"/>
          </p:cNvPicPr>
          <p:nvPr/>
        </p:nvPicPr>
        <p:blipFill>
          <a:blip r:embed="rId2"/>
          <a:stretch>
            <a:fillRect/>
          </a:stretch>
        </p:blipFill>
        <p:spPr>
          <a:xfrm>
            <a:off x="7451446" y="1571854"/>
            <a:ext cx="230429" cy="230429"/>
          </a:xfrm>
          <a:prstGeom prst="rect">
            <a:avLst/>
          </a:prstGeom>
        </p:spPr>
      </p:pic>
      <p:sp>
        <p:nvSpPr>
          <p:cNvPr id="10" name="text_1529"/>
          <p:cNvSpPr txBox="1"/>
          <p:nvPr/>
        </p:nvSpPr>
        <p:spPr>
          <a:xfrm>
            <a:off x="7909560" y="14630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아는 빈 곳</a:t>
            </a:r>
            <a:endParaRPr lang="ko-KR" altLang="en-US" sz="1500" dirty="0"/>
          </a:p>
        </p:txBody>
      </p:sp>
      <p:sp>
        <p:nvSpPr>
          <p:cNvPr id="11" name="text_1530"/>
          <p:cNvSpPr txBox="1"/>
          <p:nvPr/>
        </p:nvSpPr>
        <p:spPr>
          <a:xfrm>
            <a:off x="7360920" y="193852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LiDAR가 비춰 본 바닥. 지도에서 밝은 칸</a:t>
            </a:r>
            <a:endParaRPr lang="ko-KR" altLang="en-US" sz="1300" dirty="0"/>
          </a:p>
        </p:txBody>
      </p:sp>
      <p:sp>
        <p:nvSpPr>
          <p:cNvPr id="12" name="box_1531"/>
          <p:cNvSpPr/>
          <p:nvPr/>
        </p:nvSpPr>
        <p:spPr>
          <a:xfrm>
            <a:off x="7132320" y="2560320"/>
            <a:ext cx="4480560" cy="1051560"/>
          </a:xfrm>
          <a:prstGeom prst="roundRect">
            <a:avLst>
              <a:gd name="adj" fmla="val 6957"/>
            </a:avLst>
          </a:prstGeom>
          <a:solidFill>
            <a:schemeClr val="bg2"/>
          </a:solidFill>
          <a:ln w="12700">
            <a:solidFill>
              <a:schemeClr val="bg2"/>
            </a:solidFill>
            <a:prstDash val="solid"/>
          </a:ln>
        </p:spPr>
      </p:sp>
      <p:sp>
        <p:nvSpPr>
          <p:cNvPr id="13" name="iconbg_1532"/>
          <p:cNvSpPr/>
          <p:nvPr/>
        </p:nvSpPr>
        <p:spPr>
          <a:xfrm>
            <a:off x="7360920" y="2670048"/>
            <a:ext cx="411480" cy="411480"/>
          </a:xfrm>
          <a:prstGeom prst="ellipse">
            <a:avLst/>
          </a:prstGeom>
          <a:solidFill>
            <a:schemeClr val="accent5"/>
          </a:solidFill>
          <a:ln w="12700">
            <a:solidFill>
              <a:schemeClr val="accent5"/>
            </a:solidFill>
            <a:prstDash val="solid"/>
          </a:ln>
        </p:spPr>
      </p:sp>
      <p:pic>
        <p:nvPicPr>
          <p:cNvPr id="14" name="icon_1533" descr="QuestionCircle 아이콘">    </p:cNvPr>
          <p:cNvPicPr>
            <a:picLocks noChangeAspect="1"/>
          </p:cNvPicPr>
          <p:nvPr/>
        </p:nvPicPr>
        <p:blipFill>
          <a:blip r:embed="rId3"/>
          <a:stretch>
            <a:fillRect/>
          </a:stretch>
        </p:blipFill>
        <p:spPr>
          <a:xfrm>
            <a:off x="7451446" y="2760574"/>
            <a:ext cx="230429" cy="230429"/>
          </a:xfrm>
          <a:prstGeom prst="rect">
            <a:avLst/>
          </a:prstGeom>
        </p:spPr>
      </p:pic>
      <p:sp>
        <p:nvSpPr>
          <p:cNvPr id="15" name="text_1534"/>
          <p:cNvSpPr txBox="1"/>
          <p:nvPr/>
        </p:nvSpPr>
        <p:spPr>
          <a:xfrm>
            <a:off x="7909560" y="265176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모르는 곳 (미지)</a:t>
            </a:r>
            <a:endParaRPr lang="ko-KR" altLang="en-US" sz="1500" dirty="0"/>
          </a:p>
        </p:txBody>
      </p:sp>
      <p:sp>
        <p:nvSpPr>
          <p:cNvPr id="16" name="text_1535"/>
          <p:cNvSpPr txBox="1"/>
          <p:nvPr/>
        </p:nvSpPr>
        <p:spPr>
          <a:xfrm>
            <a:off x="7360920" y="312724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아직 한 번도 못 본 곳. 지도에서 회색 칸</a:t>
            </a:r>
            <a:endParaRPr lang="ko-KR" altLang="en-US" sz="1300" dirty="0"/>
          </a:p>
        </p:txBody>
      </p:sp>
      <p:sp>
        <p:nvSpPr>
          <p:cNvPr id="17" name="box_1536"/>
          <p:cNvSpPr/>
          <p:nvPr/>
        </p:nvSpPr>
        <p:spPr>
          <a:xfrm>
            <a:off x="7132320" y="3749040"/>
            <a:ext cx="4480560" cy="1051560"/>
          </a:xfrm>
          <a:prstGeom prst="roundRect">
            <a:avLst>
              <a:gd name="adj" fmla="val 6957"/>
            </a:avLst>
          </a:prstGeom>
          <a:solidFill>
            <a:schemeClr val="bg2"/>
          </a:solidFill>
          <a:ln w="12700">
            <a:solidFill>
              <a:schemeClr val="bg2"/>
            </a:solidFill>
            <a:prstDash val="solid"/>
          </a:ln>
        </p:spPr>
      </p:sp>
      <p:sp>
        <p:nvSpPr>
          <p:cNvPr id="18" name="iconbg_1537"/>
          <p:cNvSpPr/>
          <p:nvPr/>
        </p:nvSpPr>
        <p:spPr>
          <a:xfrm>
            <a:off x="7360920" y="3858768"/>
            <a:ext cx="411480" cy="411480"/>
          </a:xfrm>
          <a:prstGeom prst="ellipse">
            <a:avLst/>
          </a:prstGeom>
          <a:solidFill>
            <a:schemeClr val="accent2"/>
          </a:solidFill>
          <a:ln w="12700">
            <a:solidFill>
              <a:schemeClr val="accent2"/>
            </a:solidFill>
            <a:prstDash val="solid"/>
          </a:ln>
        </p:spPr>
      </p:sp>
      <p:pic>
        <p:nvPicPr>
          <p:cNvPr id="19" name="icon_1538" descr="Compass 아이콘">    </p:cNvPr>
          <p:cNvPicPr>
            <a:picLocks noChangeAspect="1"/>
          </p:cNvPicPr>
          <p:nvPr/>
        </p:nvPicPr>
        <p:blipFill>
          <a:blip r:embed="rId4"/>
          <a:stretch>
            <a:fillRect/>
          </a:stretch>
        </p:blipFill>
        <p:spPr>
          <a:xfrm>
            <a:off x="7451446" y="3949294"/>
            <a:ext cx="230429" cy="230429"/>
          </a:xfrm>
          <a:prstGeom prst="rect">
            <a:avLst/>
          </a:prstGeom>
        </p:spPr>
      </p:pic>
      <p:sp>
        <p:nvSpPr>
          <p:cNvPr id="20" name="text_1539"/>
          <p:cNvSpPr txBox="1"/>
          <p:nvPr/>
        </p:nvSpPr>
        <p:spPr>
          <a:xfrm>
            <a:off x="7909560" y="38404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프론티어 = 둘의 경계</a:t>
            </a:r>
            <a:endParaRPr lang="ko-KR" altLang="en-US" sz="1500" dirty="0"/>
          </a:p>
        </p:txBody>
      </p:sp>
      <p:sp>
        <p:nvSpPr>
          <p:cNvPr id="21" name="text_1540"/>
          <p:cNvSpPr txBox="1"/>
          <p:nvPr/>
        </p:nvSpPr>
        <p:spPr>
          <a:xfrm>
            <a:off x="7360920" y="431596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빈 칸인데 바로 옆이 미지인 칸. 여기 가서 보면 그 너머가 지도에 채워진다</a:t>
            </a:r>
            <a:endParaRPr lang="ko-KR" altLang="en-US" sz="1300" dirty="0"/>
          </a:p>
        </p:txBody>
      </p:sp>
      <p:sp>
        <p:nvSpPr>
          <p:cNvPr id="22" name="box_1541"/>
          <p:cNvSpPr/>
          <p:nvPr/>
        </p:nvSpPr>
        <p:spPr>
          <a:xfrm>
            <a:off x="7132320" y="5029200"/>
            <a:ext cx="4480560" cy="1097280"/>
          </a:xfrm>
          <a:prstGeom prst="roundRect">
            <a:avLst>
              <a:gd name="adj" fmla="val 6667"/>
            </a:avLst>
          </a:prstGeom>
          <a:solidFill>
            <a:schemeClr val="bg2"/>
          </a:solidFill>
          <a:ln w="12700">
            <a:solidFill>
              <a:schemeClr val="bg2"/>
            </a:solidFill>
            <a:prstDash val="solid"/>
          </a:ln>
        </p:spPr>
      </p:sp>
      <p:sp>
        <p:nvSpPr>
          <p:cNvPr id="23" name="iconbg_1542"/>
          <p:cNvSpPr/>
          <p:nvPr/>
        </p:nvSpPr>
        <p:spPr>
          <a:xfrm>
            <a:off x="7360920" y="5138928"/>
            <a:ext cx="411480" cy="411480"/>
          </a:xfrm>
          <a:prstGeom prst="ellipse">
            <a:avLst/>
          </a:prstGeom>
          <a:solidFill>
            <a:schemeClr val="accent4"/>
          </a:solidFill>
          <a:ln w="12700">
            <a:solidFill>
              <a:schemeClr val="accent4"/>
            </a:solidFill>
            <a:prstDash val="solid"/>
          </a:ln>
        </p:spPr>
      </p:sp>
      <p:pic>
        <p:nvPicPr>
          <p:cNvPr id="24" name="icon_1543" descr="Lightbulb 아이콘">    </p:cNvPr>
          <p:cNvPicPr>
            <a:picLocks noChangeAspect="1"/>
          </p:cNvPicPr>
          <p:nvPr/>
        </p:nvPicPr>
        <p:blipFill>
          <a:blip r:embed="rId5"/>
          <a:stretch>
            <a:fillRect/>
          </a:stretch>
        </p:blipFill>
        <p:spPr>
          <a:xfrm>
            <a:off x="7451446" y="5229454"/>
            <a:ext cx="230429" cy="230429"/>
          </a:xfrm>
          <a:prstGeom prst="rect">
            <a:avLst/>
          </a:prstGeom>
        </p:spPr>
      </p:pic>
      <p:sp>
        <p:nvSpPr>
          <p:cNvPr id="25" name="text_1544"/>
          <p:cNvSpPr txBox="1"/>
          <p:nvPr/>
        </p:nvSpPr>
        <p:spPr>
          <a:xfrm>
            <a:off x="7909560" y="51206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6" name="text_1545"/>
          <p:cNvSpPr txBox="1"/>
          <p:nvPr/>
        </p:nvSpPr>
        <p:spPr>
          <a:xfrm>
            <a:off x="7360920" y="5596128"/>
            <a:ext cx="40233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불 꺼진 집을 손전등으로: 빛이 닿는 끝까지 걸어가기를 반복하면 집 전체가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frontier_explorer가 1초마다 하는 일</a:t>
            </a:r>
            <a:endParaRPr lang="ko-KR" altLang="en-US" sz="3000" dirty="0"/>
          </a:p>
        </p:txBody>
      </p:sp>
      <p:sp>
        <p:nvSpPr>
          <p:cNvPr id="3" name="pill_15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548"/>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1549"/>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50"/>
          <p:cNvSpPr txBox="1"/>
          <p:nvPr/>
        </p:nvSpPr>
        <p:spPr>
          <a:xfrm>
            <a:off x="1188720" y="135331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프론티어 칸 찾기</a:t>
            </a:r>
            <a:endParaRPr lang="ko-KR" altLang="en-US" sz="1700" dirty="0"/>
          </a:p>
        </p:txBody>
      </p:sp>
      <p:sp>
        <p:nvSpPr>
          <p:cNvPr id="9" name="text_1551"/>
          <p:cNvSpPr txBox="1"/>
          <p:nvPr/>
        </p:nvSpPr>
        <p:spPr>
          <a:xfrm>
            <a:off x="1188720" y="182880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칸 중 옆이 미지인 칸 (/map)</a:t>
            </a:r>
            <a:endParaRPr lang="ko-KR" altLang="en-US" sz="1400" dirty="0"/>
          </a:p>
        </p:txBody>
      </p:sp>
      <p:sp>
        <p:nvSpPr>
          <p:cNvPr id="10" name="num_1552"/>
          <p:cNvSpPr/>
          <p:nvPr/>
        </p:nvSpPr>
        <p:spPr>
          <a:xfrm>
            <a:off x="548640" y="2157984"/>
            <a:ext cx="457200" cy="457200"/>
          </a:xfrm>
          <a:prstGeom prst="ellipse">
            <a:avLst/>
          </a:prstGeom>
          <a:solidFill>
            <a:schemeClr val="accent1"/>
          </a:solidFill>
          <a:ln w="12700">
            <a:solidFill>
              <a:schemeClr val="accent1"/>
            </a:solidFill>
            <a:prstDash val="solid"/>
          </a:ln>
        </p:spPr>
      </p:sp>
      <p:sp>
        <p:nvSpPr>
          <p:cNvPr id="11" name="text_1553"/>
          <p:cNvSpPr txBox="1"/>
          <p:nvPr/>
        </p:nvSpPr>
        <p:spPr>
          <a:xfrm>
            <a:off x="548640" y="2157984"/>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54"/>
          <p:cNvSpPr txBox="1"/>
          <p:nvPr/>
        </p:nvSpPr>
        <p:spPr>
          <a:xfrm>
            <a:off x="1188720" y="2139696"/>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묶기</a:t>
            </a:r>
            <a:endParaRPr lang="ko-KR" altLang="en-US" sz="1700" dirty="0"/>
          </a:p>
        </p:txBody>
      </p:sp>
      <p:sp>
        <p:nvSpPr>
          <p:cNvPr id="13" name="text_1555"/>
          <p:cNvSpPr txBox="1"/>
          <p:nvPr/>
        </p:nvSpPr>
        <p:spPr>
          <a:xfrm>
            <a:off x="1188720" y="2615184"/>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붙어 있는 칸끼리 한 묶음, 0.3 m 미만은 무시</a:t>
            </a:r>
            <a:endParaRPr lang="ko-KR" altLang="en-US" sz="1400" dirty="0"/>
          </a:p>
        </p:txBody>
      </p:sp>
      <p:sp>
        <p:nvSpPr>
          <p:cNvPr id="14" name="num_1556"/>
          <p:cNvSpPr/>
          <p:nvPr/>
        </p:nvSpPr>
        <p:spPr>
          <a:xfrm>
            <a:off x="548640" y="2944368"/>
            <a:ext cx="457200" cy="457200"/>
          </a:xfrm>
          <a:prstGeom prst="ellipse">
            <a:avLst/>
          </a:prstGeom>
          <a:solidFill>
            <a:schemeClr val="accent1"/>
          </a:solidFill>
          <a:ln w="12700">
            <a:solidFill>
              <a:schemeClr val="accent1"/>
            </a:solidFill>
            <a:prstDash val="solid"/>
          </a:ln>
        </p:spPr>
      </p:sp>
      <p:sp>
        <p:nvSpPr>
          <p:cNvPr id="15" name="text_1557"/>
          <p:cNvSpPr txBox="1"/>
          <p:nvPr/>
        </p:nvSpPr>
        <p:spPr>
          <a:xfrm>
            <a:off x="548640" y="2944368"/>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58"/>
          <p:cNvSpPr txBox="1"/>
          <p:nvPr/>
        </p:nvSpPr>
        <p:spPr>
          <a:xfrm>
            <a:off x="1188720" y="2926080"/>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설 자리 고르기</a:t>
            </a:r>
            <a:endParaRPr lang="ko-KR" altLang="en-US" sz="1700" dirty="0"/>
          </a:p>
        </p:txBody>
      </p:sp>
      <p:sp>
        <p:nvSpPr>
          <p:cNvPr id="17" name="text_1559"/>
          <p:cNvSpPr txBox="1"/>
          <p:nvPr/>
        </p:nvSpPr>
        <p:spPr>
          <a:xfrm>
            <a:off x="1188720" y="3401568"/>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costmap이 낮고 · 갈 수 있고 · 빈 공간을 따라 1 m 안</a:t>
            </a:r>
            <a:endParaRPr lang="ko-KR" altLang="en-US" sz="1400" dirty="0"/>
          </a:p>
        </p:txBody>
      </p:sp>
      <p:sp>
        <p:nvSpPr>
          <p:cNvPr id="18" name="num_1560"/>
          <p:cNvSpPr/>
          <p:nvPr/>
        </p:nvSpPr>
        <p:spPr>
          <a:xfrm>
            <a:off x="548640" y="3730752"/>
            <a:ext cx="457200" cy="457200"/>
          </a:xfrm>
          <a:prstGeom prst="ellipse">
            <a:avLst/>
          </a:prstGeom>
          <a:solidFill>
            <a:schemeClr val="accent1"/>
          </a:solidFill>
          <a:ln w="12700">
            <a:solidFill>
              <a:schemeClr val="accent1"/>
            </a:solidFill>
            <a:prstDash val="solid"/>
          </a:ln>
        </p:spPr>
      </p:sp>
      <p:sp>
        <p:nvSpPr>
          <p:cNvPr id="19" name="text_1561"/>
          <p:cNvSpPr txBox="1"/>
          <p:nvPr/>
        </p:nvSpPr>
        <p:spPr>
          <a:xfrm>
            <a:off x="548640" y="3730752"/>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62"/>
          <p:cNvSpPr txBox="1"/>
          <p:nvPr/>
        </p:nvSpPr>
        <p:spPr>
          <a:xfrm>
            <a:off x="1188720" y="3712464"/>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점수로 하나 고르기</a:t>
            </a:r>
            <a:endParaRPr lang="ko-KR" altLang="en-US" sz="1700" dirty="0"/>
          </a:p>
        </p:txBody>
      </p:sp>
      <p:sp>
        <p:nvSpPr>
          <p:cNvPr id="21" name="text_1563"/>
          <p:cNvSpPr txBox="1"/>
          <p:nvPr/>
        </p:nvSpPr>
        <p:spPr>
          <a:xfrm>
            <a:off x="1188720" y="4187952"/>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가는 거리 − 프론티어 길이 보너스</a:t>
            </a:r>
            <a:endParaRPr lang="ko-KR" altLang="en-US" sz="1400" dirty="0"/>
          </a:p>
        </p:txBody>
      </p:sp>
      <p:sp>
        <p:nvSpPr>
          <p:cNvPr id="22" name="num_1564"/>
          <p:cNvSpPr/>
          <p:nvPr/>
        </p:nvSpPr>
        <p:spPr>
          <a:xfrm>
            <a:off x="548640" y="4517136"/>
            <a:ext cx="457200" cy="457200"/>
          </a:xfrm>
          <a:prstGeom prst="ellipse">
            <a:avLst/>
          </a:prstGeom>
          <a:solidFill>
            <a:schemeClr val="accent1"/>
          </a:solidFill>
          <a:ln w="12700">
            <a:solidFill>
              <a:schemeClr val="accent1"/>
            </a:solidFill>
            <a:prstDash val="solid"/>
          </a:ln>
        </p:spPr>
      </p:sp>
      <p:sp>
        <p:nvSpPr>
          <p:cNvPr id="23" name="text_1565"/>
          <p:cNvSpPr txBox="1"/>
          <p:nvPr/>
        </p:nvSpPr>
        <p:spPr>
          <a:xfrm>
            <a:off x="548640" y="4517136"/>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66"/>
          <p:cNvSpPr txBox="1"/>
          <p:nvPr/>
        </p:nvSpPr>
        <p:spPr>
          <a:xfrm>
            <a:off x="1188720" y="4498848"/>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Nav2로 가기</a:t>
            </a:r>
            <a:endParaRPr lang="ko-KR" altLang="en-US" sz="1700" dirty="0"/>
          </a:p>
        </p:txBody>
      </p:sp>
      <p:sp>
        <p:nvSpPr>
          <p:cNvPr id="25" name="text_1567"/>
          <p:cNvSpPr txBox="1"/>
          <p:nvPr/>
        </p:nvSpPr>
        <p:spPr>
          <a:xfrm>
            <a:off x="1188720" y="4974336"/>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NavigateToPose. 가는 도중 프론티어가 지워지면 바로 다음으로</a:t>
            </a:r>
            <a:endParaRPr lang="ko-KR" altLang="en-US" sz="1400" dirty="0"/>
          </a:p>
        </p:txBody>
      </p:sp>
      <p:sp>
        <p:nvSpPr>
          <p:cNvPr id="26" name="num_1568"/>
          <p:cNvSpPr/>
          <p:nvPr/>
        </p:nvSpPr>
        <p:spPr>
          <a:xfrm>
            <a:off x="548640" y="5303520"/>
            <a:ext cx="457200" cy="457200"/>
          </a:xfrm>
          <a:prstGeom prst="ellipse">
            <a:avLst/>
          </a:prstGeom>
          <a:solidFill>
            <a:schemeClr val="accent1"/>
          </a:solidFill>
          <a:ln w="12700">
            <a:solidFill>
              <a:schemeClr val="accent1"/>
            </a:solidFill>
            <a:prstDash val="solid"/>
          </a:ln>
        </p:spPr>
      </p:sp>
      <p:sp>
        <p:nvSpPr>
          <p:cNvPr id="27" name="text_1569"/>
          <p:cNvSpPr txBox="1"/>
          <p:nvPr/>
        </p:nvSpPr>
        <p:spPr>
          <a:xfrm>
            <a:off x="548640" y="5303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70"/>
          <p:cNvSpPr txBox="1"/>
          <p:nvPr/>
        </p:nvSpPr>
        <p:spPr>
          <a:xfrm>
            <a:off x="1188720" y="52852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a:t>
            </a:r>
            <a:endParaRPr lang="ko-KR" altLang="en-US" sz="1700" dirty="0"/>
          </a:p>
        </p:txBody>
      </p:sp>
      <p:sp>
        <p:nvSpPr>
          <p:cNvPr id="29" name="text_1571"/>
          <p:cNvSpPr txBox="1"/>
          <p:nvPr/>
        </p:nvSpPr>
        <p:spPr>
          <a:xfrm>
            <a:off x="1188720" y="576072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갈 수 있는 프론티어가 없으면 지도 저장 (~/maps)</a:t>
            </a:r>
            <a:endParaRPr lang="ko-KR" altLang="en-US" sz="1400" dirty="0"/>
          </a:p>
        </p:txBody>
      </p:sp>
      <p:sp>
        <p:nvSpPr>
          <p:cNvPr id="30" name="box_1572"/>
          <p:cNvSpPr/>
          <p:nvPr/>
        </p:nvSpPr>
        <p:spPr>
          <a:xfrm>
            <a:off x="6675120" y="1371600"/>
            <a:ext cx="4937760" cy="3200400"/>
          </a:xfrm>
          <a:prstGeom prst="roundRect">
            <a:avLst>
              <a:gd name="adj" fmla="val 2286"/>
            </a:avLst>
          </a:prstGeom>
          <a:solidFill>
            <a:schemeClr val="tx1"/>
          </a:solidFill>
          <a:ln w="12700">
            <a:solidFill>
              <a:schemeClr val="tx1"/>
            </a:solidFill>
            <a:prstDash val="solid"/>
          </a:ln>
        </p:spPr>
      </p:sp>
      <p:sp>
        <p:nvSpPr>
          <p:cNvPr id="31" name="code_1573"/>
          <p:cNvSpPr txBox="1"/>
          <p:nvPr/>
        </p:nvSpPr>
        <p:spPr>
          <a:xfrm>
            <a:off x="6858000" y="1508760"/>
            <a:ext cx="4572000" cy="29260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① 프론티어 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free = (grid &gt;= 0) &amp; (grid &lt; 25)</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unknown = grid &lt; 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frontier = free &amp; (cv2.dilate(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unknown.astype(np.uint8), cross) &gt; 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② 붙어 있는 칸끼리 묶기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n, labels, stats, _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cv2.connectedComponentsWithStats(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frontier.astype(np.uint8),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connectivity=8)</a:t>
            </a:r>
            <a:endParaRPr lang="ko-KR" altLang="en-US" sz="1200" dirty="0"/>
          </a:p>
        </p:txBody>
      </p:sp>
      <p:sp>
        <p:nvSpPr>
          <p:cNvPr id="32" name="box_1574"/>
          <p:cNvSpPr/>
          <p:nvPr/>
        </p:nvSpPr>
        <p:spPr>
          <a:xfrm>
            <a:off x="6675120" y="4754880"/>
            <a:ext cx="4937760" cy="1371600"/>
          </a:xfrm>
          <a:prstGeom prst="roundRect">
            <a:avLst>
              <a:gd name="adj" fmla="val 5333"/>
            </a:avLst>
          </a:prstGeom>
          <a:solidFill>
            <a:schemeClr val="bg2"/>
          </a:solidFill>
          <a:ln w="12700">
            <a:solidFill>
              <a:schemeClr val="bg2"/>
            </a:solidFill>
            <a:prstDash val="solid"/>
          </a:ln>
        </p:spPr>
      </p:sp>
      <p:sp>
        <p:nvSpPr>
          <p:cNvPr id="33" name="iconbg_1575"/>
          <p:cNvSpPr/>
          <p:nvPr/>
        </p:nvSpPr>
        <p:spPr>
          <a:xfrm>
            <a:off x="6903720" y="4983480"/>
            <a:ext cx="548640" cy="548640"/>
          </a:xfrm>
          <a:prstGeom prst="ellipse">
            <a:avLst/>
          </a:prstGeom>
          <a:solidFill>
            <a:schemeClr val="accent3"/>
          </a:solidFill>
          <a:ln w="12700">
            <a:solidFill>
              <a:schemeClr val="accent3"/>
            </a:solidFill>
            <a:prstDash val="solid"/>
          </a:ln>
        </p:spPr>
      </p:sp>
      <p:pic>
        <p:nvPicPr>
          <p:cNvPr id="34" name="icon_1576" descr="QuestionCircle 아이콘">    </p:cNvPr>
          <p:cNvPicPr>
            <a:picLocks noChangeAspect="1"/>
          </p:cNvPicPr>
          <p:nvPr/>
        </p:nvPicPr>
        <p:blipFill>
          <a:blip r:embed="rId1"/>
          <a:stretch>
            <a:fillRect/>
          </a:stretch>
        </p:blipFill>
        <p:spPr>
          <a:xfrm>
            <a:off x="7024421" y="5104181"/>
            <a:ext cx="307238" cy="307238"/>
          </a:xfrm>
          <a:prstGeom prst="rect">
            <a:avLst/>
          </a:prstGeom>
        </p:spPr>
      </p:pic>
      <p:sp>
        <p:nvSpPr>
          <p:cNvPr id="35" name="text_1577"/>
          <p:cNvSpPr txBox="1"/>
          <p:nvPr/>
        </p:nvSpPr>
        <p:spPr>
          <a:xfrm>
            <a:off x="7589520" y="49560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6" name="text_1578"/>
          <p:cNvSpPr txBox="1"/>
          <p:nvPr/>
        </p:nvSpPr>
        <p:spPr>
          <a:xfrm>
            <a:off x="6903720" y="5623560"/>
            <a:ext cx="448056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거리는 빈 공간을 따라 잰다: 직선으로 재면 벽 반대편에 서서 아무것도 못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8. 대시보드로 자동 지도 만들기</a:t>
            </a:r>
            <a:endParaRPr lang="ko-KR" altLang="en-US" sz="3000" dirty="0"/>
          </a:p>
        </p:txBody>
      </p:sp>
      <p:sp>
        <p:nvSpPr>
          <p:cNvPr id="3" name="pill_15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81" descr="탐색이 끝난 지도 만들기 화면: 완성된 지도, 저장 경로, 키보드 조종">    </p:cNvPr>
          <p:cNvPicPr>
            <a:picLocks noChangeAspect="1"/>
          </p:cNvPicPr>
          <p:nvPr/>
        </p:nvPicPr>
        <p:blipFill>
          <a:blip r:embed="rId1"/>
          <a:stretch>
            <a:fillRect/>
          </a:stretch>
        </p:blipFill>
        <p:spPr>
          <a:xfrm>
            <a:off x="548640" y="1777365"/>
            <a:ext cx="6309360" cy="3943350"/>
          </a:xfrm>
          <a:prstGeom prst="rect">
            <a:avLst/>
          </a:prstGeom>
        </p:spPr>
      </p:pic>
      <p:sp>
        <p:nvSpPr>
          <p:cNvPr id="7" name="box_1582"/>
          <p:cNvSpPr/>
          <p:nvPr/>
        </p:nvSpPr>
        <p:spPr>
          <a:xfrm>
            <a:off x="7132320" y="1371600"/>
            <a:ext cx="4480560" cy="1097280"/>
          </a:xfrm>
          <a:prstGeom prst="roundRect">
            <a:avLst>
              <a:gd name="adj" fmla="val 6667"/>
            </a:avLst>
          </a:prstGeom>
          <a:solidFill>
            <a:schemeClr val="tx1"/>
          </a:solidFill>
          <a:ln w="12700">
            <a:solidFill>
              <a:schemeClr val="tx1"/>
            </a:solidFill>
            <a:prstDash val="solid"/>
          </a:ln>
        </p:spPr>
      </p:sp>
      <p:sp>
        <p:nvSpPr>
          <p:cNvPr id="8" name="code_1583"/>
          <p:cNvSpPr txBox="1"/>
          <p:nvPr/>
        </p:nvSpPr>
        <p:spPr>
          <a:xfrm>
            <a:off x="7315200" y="1508760"/>
            <a:ext cx="411480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브라우저: http://localhost:8080</a:t>
            </a:r>
            <a:endParaRPr lang="ko-KR" altLang="en-US" sz="1300" dirty="0"/>
          </a:p>
        </p:txBody>
      </p:sp>
      <p:sp>
        <p:nvSpPr>
          <p:cNvPr id="9" name="num_1584"/>
          <p:cNvSpPr/>
          <p:nvPr/>
        </p:nvSpPr>
        <p:spPr>
          <a:xfrm>
            <a:off x="7132320" y="2651760"/>
            <a:ext cx="457200" cy="457200"/>
          </a:xfrm>
          <a:prstGeom prst="ellipse">
            <a:avLst/>
          </a:prstGeom>
          <a:solidFill>
            <a:schemeClr val="accent1"/>
          </a:solidFill>
          <a:ln w="12700">
            <a:solidFill>
              <a:schemeClr val="accent1"/>
            </a:solidFill>
            <a:prstDash val="solid"/>
          </a:ln>
        </p:spPr>
      </p:sp>
      <p:sp>
        <p:nvSpPr>
          <p:cNvPr id="10" name="text_1585"/>
          <p:cNvSpPr txBox="1"/>
          <p:nvPr/>
        </p:nvSpPr>
        <p:spPr>
          <a:xfrm>
            <a:off x="7132320" y="2651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586"/>
          <p:cNvSpPr txBox="1"/>
          <p:nvPr/>
        </p:nvSpPr>
        <p:spPr>
          <a:xfrm>
            <a:off x="7772400" y="263347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 지도 만들기 → 연결</a:t>
            </a:r>
            <a:endParaRPr lang="ko-KR" altLang="en-US" sz="1700" dirty="0"/>
          </a:p>
        </p:txBody>
      </p:sp>
      <p:sp>
        <p:nvSpPr>
          <p:cNvPr id="12" name="text_1587"/>
          <p:cNvSpPr txBox="1"/>
          <p:nvPr/>
        </p:nvSpPr>
        <p:spPr>
          <a:xfrm>
            <a:off x="7772400" y="310896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20~40초 뒤 탐색이 저절로 시작</a:t>
            </a:r>
            <a:endParaRPr lang="ko-KR" altLang="en-US" sz="1400" dirty="0"/>
          </a:p>
        </p:txBody>
      </p:sp>
      <p:sp>
        <p:nvSpPr>
          <p:cNvPr id="13" name="num_1588"/>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4" name="text_1589"/>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590"/>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지켜보기</a:t>
            </a:r>
            <a:endParaRPr lang="ko-KR" altLang="en-US" sz="1700" dirty="0"/>
          </a:p>
        </p:txBody>
      </p:sp>
      <p:sp>
        <p:nvSpPr>
          <p:cNvPr id="16" name="text_1591"/>
          <p:cNvSpPr txBox="1"/>
          <p:nvPr/>
        </p:nvSpPr>
        <p:spPr>
          <a:xfrm>
            <a:off x="7772400" y="393192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지도가 자라고, 하늘색 프론티어가 줄어든다</a:t>
            </a:r>
            <a:endParaRPr lang="ko-KR" altLang="en-US" sz="1400" dirty="0"/>
          </a:p>
        </p:txBody>
      </p:sp>
      <p:sp>
        <p:nvSpPr>
          <p:cNvPr id="17" name="num_1592"/>
          <p:cNvSpPr/>
          <p:nvPr/>
        </p:nvSpPr>
        <p:spPr>
          <a:xfrm>
            <a:off x="7132320" y="4297680"/>
            <a:ext cx="457200" cy="457200"/>
          </a:xfrm>
          <a:prstGeom prst="ellipse">
            <a:avLst/>
          </a:prstGeom>
          <a:solidFill>
            <a:schemeClr val="accent1"/>
          </a:solidFill>
          <a:ln w="12700">
            <a:solidFill>
              <a:schemeClr val="accent1"/>
            </a:solidFill>
            <a:prstDash val="solid"/>
          </a:ln>
        </p:spPr>
      </p:sp>
      <p:sp>
        <p:nvSpPr>
          <p:cNvPr id="18" name="text_1593"/>
          <p:cNvSpPr txBox="1"/>
          <p:nvPr/>
        </p:nvSpPr>
        <p:spPr>
          <a:xfrm>
            <a:off x="7132320" y="42976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594"/>
          <p:cNvSpPr txBox="1"/>
          <p:nvPr/>
        </p:nvSpPr>
        <p:spPr>
          <a:xfrm>
            <a:off x="7772400" y="42793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탐색 완료 (3~4분)</a:t>
            </a:r>
            <a:endParaRPr lang="ko-KR" altLang="en-US" sz="1700" dirty="0"/>
          </a:p>
        </p:txBody>
      </p:sp>
      <p:sp>
        <p:nvSpPr>
          <p:cNvPr id="20" name="text_1595"/>
          <p:cNvSpPr txBox="1"/>
          <p:nvPr/>
        </p:nvSpPr>
        <p:spPr>
          <a:xfrm>
            <a:off x="7772400" y="475488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~/maps에 지도 자동 저장</a:t>
            </a:r>
            <a:endParaRPr lang="ko-KR" altLang="en-US" sz="1400" dirty="0"/>
          </a:p>
        </p:txBody>
      </p:sp>
      <p:sp>
        <p:nvSpPr>
          <p:cNvPr id="21" name="box_1596"/>
          <p:cNvSpPr/>
          <p:nvPr/>
        </p:nvSpPr>
        <p:spPr>
          <a:xfrm>
            <a:off x="7132320" y="5120640"/>
            <a:ext cx="4480560" cy="1005840"/>
          </a:xfrm>
          <a:prstGeom prst="roundRect">
            <a:avLst>
              <a:gd name="adj" fmla="val 7273"/>
            </a:avLst>
          </a:prstGeom>
          <a:solidFill>
            <a:schemeClr val="bg2"/>
          </a:solidFill>
          <a:ln w="12700">
            <a:solidFill>
              <a:schemeClr val="bg2"/>
            </a:solidFill>
            <a:prstDash val="solid"/>
          </a:ln>
        </p:spPr>
      </p:sp>
      <p:sp>
        <p:nvSpPr>
          <p:cNvPr id="22" name="iconbg_1597"/>
          <p:cNvSpPr/>
          <p:nvPr/>
        </p:nvSpPr>
        <p:spPr>
          <a:xfrm>
            <a:off x="7360920" y="5230368"/>
            <a:ext cx="411480" cy="411480"/>
          </a:xfrm>
          <a:prstGeom prst="ellipse">
            <a:avLst/>
          </a:prstGeom>
          <a:solidFill>
            <a:schemeClr val="accent2"/>
          </a:solidFill>
          <a:ln w="12700">
            <a:solidFill>
              <a:schemeClr val="accent2"/>
            </a:solidFill>
            <a:prstDash val="solid"/>
          </a:ln>
        </p:spPr>
      </p:sp>
      <p:pic>
        <p:nvPicPr>
          <p:cNvPr id="23" name="icon_1598" descr="CheckCircle 아이콘">    </p:cNvPr>
          <p:cNvPicPr>
            <a:picLocks noChangeAspect="1"/>
          </p:cNvPicPr>
          <p:nvPr/>
        </p:nvPicPr>
        <p:blipFill>
          <a:blip r:embed="rId2"/>
          <a:stretch>
            <a:fillRect/>
          </a:stretch>
        </p:blipFill>
        <p:spPr>
          <a:xfrm>
            <a:off x="7451446" y="5320894"/>
            <a:ext cx="230429" cy="230429"/>
          </a:xfrm>
          <a:prstGeom prst="rect">
            <a:avLst/>
          </a:prstGeom>
        </p:spPr>
      </p:pic>
      <p:sp>
        <p:nvSpPr>
          <p:cNvPr id="24" name="text_1599"/>
          <p:cNvSpPr txBox="1"/>
          <p:nvPr/>
        </p:nvSpPr>
        <p:spPr>
          <a:xfrm>
            <a:off x="7909560" y="52120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25" name="text_1600"/>
          <p:cNvSpPr txBox="1"/>
          <p:nvPr/>
        </p:nvSpPr>
        <p:spPr>
          <a:xfrm>
            <a:off x="7360920" y="5687568"/>
            <a:ext cx="402336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"탐색 완료" + 저장 경로 ✅ 2-7</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탐색이 끝나면: 키보드로 몰기 · 저장 · 작업에 쓰기</a:t>
            </a:r>
            <a:endParaRPr lang="ko-KR" altLang="en-US" sz="3000" dirty="0"/>
          </a:p>
        </p:txBody>
      </p:sp>
      <p:sp>
        <p:nvSpPr>
          <p:cNvPr id="3" name="pill_16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03"/>
          <p:cNvSpPr/>
          <p:nvPr/>
        </p:nvSpPr>
        <p:spPr>
          <a:xfrm>
            <a:off x="1965960" y="1554480"/>
            <a:ext cx="1005840" cy="1005840"/>
          </a:xfrm>
          <a:prstGeom prst="roundRect">
            <a:avLst>
              <a:gd name="adj" fmla="val 7273"/>
            </a:avLst>
          </a:prstGeom>
          <a:solidFill>
            <a:schemeClr val="accent1"/>
          </a:solidFill>
          <a:ln w="12700">
            <a:solidFill>
              <a:schemeClr val="accent1"/>
            </a:solidFill>
            <a:prstDash val="solid"/>
          </a:ln>
        </p:spPr>
      </p:sp>
      <p:sp>
        <p:nvSpPr>
          <p:cNvPr id="7" name="text_1604"/>
          <p:cNvSpPr txBox="1"/>
          <p:nvPr/>
        </p:nvSpPr>
        <p:spPr>
          <a:xfrm>
            <a:off x="1965960" y="1554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W</a:t>
            </a:r>
            <a:endParaRPr lang="ko-KR" altLang="en-US" sz="2800" dirty="0"/>
          </a:p>
        </p:txBody>
      </p:sp>
      <p:sp>
        <p:nvSpPr>
          <p:cNvPr id="8" name="text_1605"/>
          <p:cNvSpPr txBox="1"/>
          <p:nvPr/>
        </p:nvSpPr>
        <p:spPr>
          <a:xfrm>
            <a:off x="1874520" y="114300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앞 0.25 m/s</a:t>
            </a:r>
            <a:endParaRPr lang="ko-KR" altLang="en-US" sz="1200" dirty="0"/>
          </a:p>
        </p:txBody>
      </p:sp>
      <p:sp>
        <p:nvSpPr>
          <p:cNvPr id="9" name="box_1606"/>
          <p:cNvSpPr/>
          <p:nvPr/>
        </p:nvSpPr>
        <p:spPr>
          <a:xfrm>
            <a:off x="822960" y="2697480"/>
            <a:ext cx="1005840" cy="1005840"/>
          </a:xfrm>
          <a:prstGeom prst="roundRect">
            <a:avLst>
              <a:gd name="adj" fmla="val 7273"/>
            </a:avLst>
          </a:prstGeom>
          <a:solidFill>
            <a:schemeClr val="tx1"/>
          </a:solidFill>
          <a:ln w="12700">
            <a:solidFill>
              <a:schemeClr val="tx1"/>
            </a:solidFill>
            <a:prstDash val="solid"/>
          </a:ln>
        </p:spPr>
      </p:sp>
      <p:sp>
        <p:nvSpPr>
          <p:cNvPr id="10" name="text_1607"/>
          <p:cNvSpPr txBox="1"/>
          <p:nvPr/>
        </p:nvSpPr>
        <p:spPr>
          <a:xfrm>
            <a:off x="822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A</a:t>
            </a:r>
            <a:endParaRPr lang="ko-KR" altLang="en-US" sz="2800" dirty="0"/>
          </a:p>
        </p:txBody>
      </p:sp>
      <p:sp>
        <p:nvSpPr>
          <p:cNvPr id="11" name="text_1608"/>
          <p:cNvSpPr txBox="1"/>
          <p:nvPr/>
        </p:nvSpPr>
        <p:spPr>
          <a:xfrm>
            <a:off x="731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왼쪽 회전</a:t>
            </a:r>
            <a:endParaRPr lang="ko-KR" altLang="en-US" sz="1200" dirty="0"/>
          </a:p>
        </p:txBody>
      </p:sp>
      <p:sp>
        <p:nvSpPr>
          <p:cNvPr id="12" name="box_1609"/>
          <p:cNvSpPr/>
          <p:nvPr/>
        </p:nvSpPr>
        <p:spPr>
          <a:xfrm>
            <a:off x="1965960" y="2697480"/>
            <a:ext cx="1005840" cy="1005840"/>
          </a:xfrm>
          <a:prstGeom prst="roundRect">
            <a:avLst>
              <a:gd name="adj" fmla="val 7273"/>
            </a:avLst>
          </a:prstGeom>
          <a:solidFill>
            <a:schemeClr val="tx1"/>
          </a:solidFill>
          <a:ln w="12700">
            <a:solidFill>
              <a:schemeClr val="tx1"/>
            </a:solidFill>
            <a:prstDash val="solid"/>
          </a:ln>
        </p:spPr>
      </p:sp>
      <p:sp>
        <p:nvSpPr>
          <p:cNvPr id="13" name="text_1610"/>
          <p:cNvSpPr txBox="1"/>
          <p:nvPr/>
        </p:nvSpPr>
        <p:spPr>
          <a:xfrm>
            <a:off x="1965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S</a:t>
            </a:r>
            <a:endParaRPr lang="ko-KR" altLang="en-US" sz="2800" dirty="0"/>
          </a:p>
        </p:txBody>
      </p:sp>
      <p:sp>
        <p:nvSpPr>
          <p:cNvPr id="14" name="text_1611"/>
          <p:cNvSpPr txBox="1"/>
          <p:nvPr/>
        </p:nvSpPr>
        <p:spPr>
          <a:xfrm>
            <a:off x="1874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뒤 0.15 m/s</a:t>
            </a:r>
            <a:endParaRPr lang="ko-KR" altLang="en-US" sz="1200" dirty="0"/>
          </a:p>
        </p:txBody>
      </p:sp>
      <p:sp>
        <p:nvSpPr>
          <p:cNvPr id="15" name="box_1612"/>
          <p:cNvSpPr/>
          <p:nvPr/>
        </p:nvSpPr>
        <p:spPr>
          <a:xfrm>
            <a:off x="3108960" y="2697480"/>
            <a:ext cx="1005840" cy="1005840"/>
          </a:xfrm>
          <a:prstGeom prst="roundRect">
            <a:avLst>
              <a:gd name="adj" fmla="val 7273"/>
            </a:avLst>
          </a:prstGeom>
          <a:solidFill>
            <a:schemeClr val="tx1"/>
          </a:solidFill>
          <a:ln w="12700">
            <a:solidFill>
              <a:schemeClr val="tx1"/>
            </a:solidFill>
            <a:prstDash val="solid"/>
          </a:ln>
        </p:spPr>
      </p:sp>
      <p:sp>
        <p:nvSpPr>
          <p:cNvPr id="16" name="text_1613"/>
          <p:cNvSpPr txBox="1"/>
          <p:nvPr/>
        </p:nvSpPr>
        <p:spPr>
          <a:xfrm>
            <a:off x="3108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D</a:t>
            </a:r>
            <a:endParaRPr lang="ko-KR" altLang="en-US" sz="2800" dirty="0"/>
          </a:p>
        </p:txBody>
      </p:sp>
      <p:sp>
        <p:nvSpPr>
          <p:cNvPr id="17" name="text_1614"/>
          <p:cNvSpPr txBox="1"/>
          <p:nvPr/>
        </p:nvSpPr>
        <p:spPr>
          <a:xfrm>
            <a:off x="3017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오른쪽 회전</a:t>
            </a:r>
            <a:endParaRPr lang="ko-KR" altLang="en-US" sz="1200" dirty="0"/>
          </a:p>
        </p:txBody>
      </p:sp>
      <p:sp>
        <p:nvSpPr>
          <p:cNvPr id="18" name="text_1615"/>
          <p:cNvSpPr txBox="1"/>
          <p:nvPr/>
        </p:nvSpPr>
        <p:spPr>
          <a:xfrm>
            <a:off x="548640" y="4206240"/>
            <a:ext cx="374904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방향키도 같음 · 스페이스 = 정지</a:t>
            </a:r>
            <a:endParaRPr lang="ko-KR" altLang="en-US" sz="1400" dirty="0"/>
          </a:p>
          <a:p>
            <a:pPr eaLnBrk="0" algn="ctr" indent="0" marL="0">
              <a:buNone/>
            </a:pPr>
            <a:r>
              <a:rPr lang="ko-KR" altLang="en-US" sz="1400" dirty="0">
                <a:solidFill>
                  <a:schemeClr val="tx2"/>
                </a:solidFill>
              </a:rPr>
              <a:t>누르는 동안만 움직인다</a:t>
            </a:r>
            <a:endParaRPr lang="ko-KR" altLang="en-US" sz="1400" dirty="0"/>
          </a:p>
        </p:txBody>
      </p:sp>
      <p:sp>
        <p:nvSpPr>
          <p:cNvPr id="19" name="box_1616"/>
          <p:cNvSpPr/>
          <p:nvPr/>
        </p:nvSpPr>
        <p:spPr>
          <a:xfrm>
            <a:off x="548640" y="5029200"/>
            <a:ext cx="3749040" cy="1097280"/>
          </a:xfrm>
          <a:prstGeom prst="roundRect">
            <a:avLst>
              <a:gd name="adj" fmla="val 6667"/>
            </a:avLst>
          </a:prstGeom>
          <a:solidFill>
            <a:schemeClr val="bg2"/>
          </a:solidFill>
          <a:ln w="12700">
            <a:solidFill>
              <a:schemeClr val="bg2"/>
            </a:solidFill>
            <a:prstDash val="solid"/>
          </a:ln>
        </p:spPr>
      </p:sp>
      <p:sp>
        <p:nvSpPr>
          <p:cNvPr id="20" name="iconbg_1617"/>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21" name="icon_1618" descr="ExclamationTriangle 아이콘">    </p:cNvPr>
          <p:cNvPicPr>
            <a:picLocks noChangeAspect="1"/>
          </p:cNvPicPr>
          <p:nvPr/>
        </p:nvPicPr>
        <p:blipFill>
          <a:blip r:embed="rId1"/>
          <a:stretch>
            <a:fillRect/>
          </a:stretch>
        </p:blipFill>
        <p:spPr>
          <a:xfrm>
            <a:off x="867766" y="5229454"/>
            <a:ext cx="230429" cy="230429"/>
          </a:xfrm>
          <a:prstGeom prst="rect">
            <a:avLst/>
          </a:prstGeom>
        </p:spPr>
      </p:pic>
      <p:sp>
        <p:nvSpPr>
          <p:cNvPr id="22" name="text_1619"/>
          <p:cNvSpPr txBox="1"/>
          <p:nvPr/>
        </p:nvSpPr>
        <p:spPr>
          <a:xfrm>
            <a:off x="1325880" y="5120640"/>
            <a:ext cx="2743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3" name="text_1620"/>
          <p:cNvSpPr txBox="1"/>
          <p:nvPr/>
        </p:nvSpPr>
        <p:spPr>
          <a:xfrm>
            <a:off x="777240" y="5596128"/>
            <a:ext cx="3291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앞이나 뒤가 너무 가까우면 그 방향으로는 안 움직인다 (LiDAR 확인)</a:t>
            </a:r>
            <a:endParaRPr lang="ko-KR" altLang="en-US" sz="1400" dirty="0"/>
          </a:p>
        </p:txBody>
      </p:sp>
      <p:sp>
        <p:nvSpPr>
          <p:cNvPr id="24" name="box_1621"/>
          <p:cNvSpPr/>
          <p:nvPr/>
        </p:nvSpPr>
        <p:spPr>
          <a:xfrm>
            <a:off x="4572000" y="1371600"/>
            <a:ext cx="7040880" cy="1463040"/>
          </a:xfrm>
          <a:prstGeom prst="roundRect">
            <a:avLst>
              <a:gd name="adj" fmla="val 5000"/>
            </a:avLst>
          </a:prstGeom>
          <a:solidFill>
            <a:schemeClr val="bg2"/>
          </a:solidFill>
          <a:ln w="12700">
            <a:solidFill>
              <a:schemeClr val="bg2"/>
            </a:solidFill>
            <a:prstDash val="solid"/>
          </a:ln>
        </p:spPr>
      </p:sp>
      <p:sp>
        <p:nvSpPr>
          <p:cNvPr id="25" name="iconbg_1622"/>
          <p:cNvSpPr/>
          <p:nvPr/>
        </p:nvSpPr>
        <p:spPr>
          <a:xfrm>
            <a:off x="4800600" y="1600200"/>
            <a:ext cx="548640" cy="548640"/>
          </a:xfrm>
          <a:prstGeom prst="ellipse">
            <a:avLst/>
          </a:prstGeom>
          <a:solidFill>
            <a:schemeClr val="accent2"/>
          </a:solidFill>
          <a:ln w="12700">
            <a:solidFill>
              <a:schemeClr val="accent2"/>
            </a:solidFill>
            <a:prstDash val="solid"/>
          </a:ln>
        </p:spPr>
      </p:sp>
      <p:pic>
        <p:nvPicPr>
          <p:cNvPr id="26" name="icon_1623" descr="Keyboard 아이콘">    </p:cNvPr>
          <p:cNvPicPr>
            <a:picLocks noChangeAspect="1"/>
          </p:cNvPicPr>
          <p:nvPr/>
        </p:nvPicPr>
        <p:blipFill>
          <a:blip r:embed="rId2"/>
          <a:stretch>
            <a:fillRect/>
          </a:stretch>
        </p:blipFill>
        <p:spPr>
          <a:xfrm>
            <a:off x="4921301" y="1720901"/>
            <a:ext cx="307238" cy="307238"/>
          </a:xfrm>
          <a:prstGeom prst="rect">
            <a:avLst/>
          </a:prstGeom>
        </p:spPr>
      </p:pic>
      <p:sp>
        <p:nvSpPr>
          <p:cNvPr id="27" name="text_1624"/>
          <p:cNvSpPr txBox="1"/>
          <p:nvPr/>
        </p:nvSpPr>
        <p:spPr>
          <a:xfrm>
            <a:off x="5486400" y="15727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키보드로 빈 곳 채우기</a:t>
            </a:r>
            <a:endParaRPr lang="ko-KR" altLang="en-US" sz="1600" dirty="0"/>
          </a:p>
        </p:txBody>
      </p:sp>
      <p:sp>
        <p:nvSpPr>
          <p:cNvPr id="28" name="text_1625"/>
          <p:cNvSpPr txBox="1"/>
          <p:nvPr/>
        </p:nvSpPr>
        <p:spPr>
          <a:xfrm>
            <a:off x="4800600" y="22402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몰고 다니는 동안에도 SLAM이 지도를 계속 고친다. 남은 회색 곳에 가 보기</a:t>
            </a:r>
            <a:endParaRPr lang="ko-KR" altLang="en-US" sz="1400" dirty="0"/>
          </a:p>
        </p:txBody>
      </p:sp>
      <p:sp>
        <p:nvSpPr>
          <p:cNvPr id="29" name="box_1626"/>
          <p:cNvSpPr/>
          <p:nvPr/>
        </p:nvSpPr>
        <p:spPr>
          <a:xfrm>
            <a:off x="4572000" y="2971800"/>
            <a:ext cx="7040880" cy="1463040"/>
          </a:xfrm>
          <a:prstGeom prst="roundRect">
            <a:avLst>
              <a:gd name="adj" fmla="val 5000"/>
            </a:avLst>
          </a:prstGeom>
          <a:solidFill>
            <a:schemeClr val="bg2"/>
          </a:solidFill>
          <a:ln w="12700">
            <a:solidFill>
              <a:schemeClr val="bg2"/>
            </a:solidFill>
            <a:prstDash val="solid"/>
          </a:ln>
        </p:spPr>
      </p:sp>
      <p:sp>
        <p:nvSpPr>
          <p:cNvPr id="30" name="iconbg_1627"/>
          <p:cNvSpPr/>
          <p:nvPr/>
        </p:nvSpPr>
        <p:spPr>
          <a:xfrm>
            <a:off x="4800600" y="3200400"/>
            <a:ext cx="548640" cy="548640"/>
          </a:xfrm>
          <a:prstGeom prst="ellipse">
            <a:avLst/>
          </a:prstGeom>
          <a:solidFill>
            <a:schemeClr val="accent3"/>
          </a:solidFill>
          <a:ln w="12700">
            <a:solidFill>
              <a:schemeClr val="accent3"/>
            </a:solidFill>
            <a:prstDash val="solid"/>
          </a:ln>
        </p:spPr>
      </p:sp>
      <p:pic>
        <p:nvPicPr>
          <p:cNvPr id="31" name="icon_1628" descr="Hdd 아이콘">    </p:cNvPr>
          <p:cNvPicPr>
            <a:picLocks noChangeAspect="1"/>
          </p:cNvPicPr>
          <p:nvPr/>
        </p:nvPicPr>
        <p:blipFill>
          <a:blip r:embed="rId3"/>
          <a:stretch>
            <a:fillRect/>
          </a:stretch>
        </p:blipFill>
        <p:spPr>
          <a:xfrm>
            <a:off x="4921301" y="3321101"/>
            <a:ext cx="307238" cy="307238"/>
          </a:xfrm>
          <a:prstGeom prst="rect">
            <a:avLst/>
          </a:prstGeom>
        </p:spPr>
      </p:pic>
      <p:sp>
        <p:nvSpPr>
          <p:cNvPr id="32" name="text_1629"/>
          <p:cNvSpPr txBox="1"/>
          <p:nvPr/>
        </p:nvSpPr>
        <p:spPr>
          <a:xfrm>
            <a:off x="5486400" y="31729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 저장</a:t>
            </a:r>
            <a:endParaRPr lang="ko-KR" altLang="en-US" sz="1600" dirty="0"/>
          </a:p>
        </p:txBody>
      </p:sp>
      <p:sp>
        <p:nvSpPr>
          <p:cNvPr id="33" name="text_1630"/>
          <p:cNvSpPr txBox="1"/>
          <p:nvPr/>
        </p:nvSpPr>
        <p:spPr>
          <a:xfrm>
            <a:off x="4800600" y="38404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저장"을 누를 때마다 ~/maps에 새 파일 (.yaml + .pgm)</a:t>
            </a:r>
            <a:endParaRPr lang="ko-KR" altLang="en-US" sz="1400" dirty="0"/>
          </a:p>
        </p:txBody>
      </p:sp>
      <p:sp>
        <p:nvSpPr>
          <p:cNvPr id="34" name="box_1631"/>
          <p:cNvSpPr/>
          <p:nvPr/>
        </p:nvSpPr>
        <p:spPr>
          <a:xfrm>
            <a:off x="4572000" y="4572000"/>
            <a:ext cx="7040880" cy="1463040"/>
          </a:xfrm>
          <a:prstGeom prst="roundRect">
            <a:avLst>
              <a:gd name="adj" fmla="val 5000"/>
            </a:avLst>
          </a:prstGeom>
          <a:solidFill>
            <a:schemeClr val="bg2"/>
          </a:solidFill>
          <a:ln w="12700">
            <a:solidFill>
              <a:schemeClr val="bg2"/>
            </a:solidFill>
            <a:prstDash val="solid"/>
          </a:ln>
        </p:spPr>
      </p:sp>
      <p:sp>
        <p:nvSpPr>
          <p:cNvPr id="35" name="iconbg_1632"/>
          <p:cNvSpPr/>
          <p:nvPr/>
        </p:nvSpPr>
        <p:spPr>
          <a:xfrm>
            <a:off x="4800600" y="4800600"/>
            <a:ext cx="548640" cy="548640"/>
          </a:xfrm>
          <a:prstGeom prst="ellipse">
            <a:avLst/>
          </a:prstGeom>
          <a:solidFill>
            <a:schemeClr val="accent1"/>
          </a:solidFill>
          <a:ln w="12700">
            <a:solidFill>
              <a:schemeClr val="accent1"/>
            </a:solidFill>
            <a:prstDash val="solid"/>
          </a:ln>
        </p:spPr>
      </p:sp>
      <p:pic>
        <p:nvPicPr>
          <p:cNvPr id="36" name="icon_1633" descr="Play 아이콘">    </p:cNvPr>
          <p:cNvPicPr>
            <a:picLocks noChangeAspect="1"/>
          </p:cNvPicPr>
          <p:nvPr/>
        </p:nvPicPr>
        <p:blipFill>
          <a:blip r:embed="rId4"/>
          <a:stretch>
            <a:fillRect/>
          </a:stretch>
        </p:blipFill>
        <p:spPr>
          <a:xfrm>
            <a:off x="4921301" y="4921301"/>
            <a:ext cx="307238" cy="307238"/>
          </a:xfrm>
          <a:prstGeom prst="rect">
            <a:avLst/>
          </a:prstGeom>
        </p:spPr>
      </p:pic>
      <p:sp>
        <p:nvSpPr>
          <p:cNvPr id="37" name="text_1634"/>
          <p:cNvSpPr txBox="1"/>
          <p:nvPr/>
        </p:nvSpPr>
        <p:spPr>
          <a:xfrm>
            <a:off x="5486400" y="47731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작업 모드에서 쓰기</a:t>
            </a:r>
            <a:endParaRPr lang="ko-KR" altLang="en-US" sz="1600" dirty="0"/>
          </a:p>
        </p:txBody>
      </p:sp>
      <p:sp>
        <p:nvSpPr>
          <p:cNvPr id="38" name="text_1635"/>
          <p:cNvSpPr txBox="1"/>
          <p:nvPr/>
        </p:nvSpPr>
        <p:spPr>
          <a:xfrm>
            <a:off x="4800600" y="54406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종료 → 모드 "작업" → 지도 목록에서 내 지도 → 연결. 장소 좌표는 그대로 맞다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6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38"/>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639"/>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640"/>
          <p:cNvSpPr/>
          <p:nvPr/>
        </p:nvSpPr>
        <p:spPr>
          <a:xfrm>
            <a:off x="1960735" y="2011680"/>
            <a:ext cx="173736" cy="0"/>
          </a:xfrm>
          <a:prstGeom prst="line">
            <a:avLst/>
          </a:prstGeom>
          <a:noFill/>
          <a:ln w="25400">
            <a:solidFill>
              <a:schemeClr val="tx2"/>
            </a:solidFill>
            <a:prstDash val="solid"/>
            <a:tailEnd type="triangle"/>
          </a:ln>
        </p:spPr>
      </p:sp>
      <p:sp>
        <p:nvSpPr>
          <p:cNvPr id="9" name="box_1641"/>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642"/>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643"/>
          <p:cNvSpPr/>
          <p:nvPr/>
        </p:nvSpPr>
        <p:spPr>
          <a:xfrm>
            <a:off x="3573998" y="2011680"/>
            <a:ext cx="173736" cy="0"/>
          </a:xfrm>
          <a:prstGeom prst="line">
            <a:avLst/>
          </a:prstGeom>
          <a:noFill/>
          <a:ln w="25400">
            <a:solidFill>
              <a:schemeClr val="tx2"/>
            </a:solidFill>
            <a:prstDash val="solid"/>
            <a:tailEnd type="triangle"/>
          </a:ln>
        </p:spPr>
      </p:sp>
      <p:sp>
        <p:nvSpPr>
          <p:cNvPr id="12" name="box_1644"/>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645"/>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646"/>
          <p:cNvSpPr/>
          <p:nvPr/>
        </p:nvSpPr>
        <p:spPr>
          <a:xfrm>
            <a:off x="5187261" y="2011680"/>
            <a:ext cx="173736" cy="0"/>
          </a:xfrm>
          <a:prstGeom prst="line">
            <a:avLst/>
          </a:prstGeom>
          <a:noFill/>
          <a:ln w="25400">
            <a:solidFill>
              <a:schemeClr val="tx2"/>
            </a:solidFill>
            <a:prstDash val="solid"/>
            <a:tailEnd type="triangle"/>
          </a:ln>
        </p:spPr>
      </p:sp>
      <p:sp>
        <p:nvSpPr>
          <p:cNvPr id="15" name="box_1647"/>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648"/>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649"/>
          <p:cNvSpPr/>
          <p:nvPr/>
        </p:nvSpPr>
        <p:spPr>
          <a:xfrm>
            <a:off x="6800523" y="2011680"/>
            <a:ext cx="173736" cy="0"/>
          </a:xfrm>
          <a:prstGeom prst="line">
            <a:avLst/>
          </a:prstGeom>
          <a:noFill/>
          <a:ln w="25400">
            <a:solidFill>
              <a:schemeClr val="tx2"/>
            </a:solidFill>
            <a:prstDash val="solid"/>
            <a:tailEnd type="triangle"/>
          </a:ln>
        </p:spPr>
      </p:sp>
      <p:sp>
        <p:nvSpPr>
          <p:cNvPr id="18" name="box_1650"/>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651"/>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652"/>
          <p:cNvSpPr/>
          <p:nvPr/>
        </p:nvSpPr>
        <p:spPr>
          <a:xfrm>
            <a:off x="8413786" y="2011680"/>
            <a:ext cx="173736" cy="0"/>
          </a:xfrm>
          <a:prstGeom prst="line">
            <a:avLst/>
          </a:prstGeom>
          <a:noFill/>
          <a:ln w="25400">
            <a:solidFill>
              <a:schemeClr val="tx2"/>
            </a:solidFill>
            <a:prstDash val="solid"/>
            <a:tailEnd type="triangle"/>
          </a:ln>
        </p:spPr>
      </p:sp>
      <p:sp>
        <p:nvSpPr>
          <p:cNvPr id="21" name="box_1653"/>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654"/>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655"/>
          <p:cNvSpPr/>
          <p:nvPr/>
        </p:nvSpPr>
        <p:spPr>
          <a:xfrm>
            <a:off x="10027049" y="2011680"/>
            <a:ext cx="173736" cy="0"/>
          </a:xfrm>
          <a:prstGeom prst="line">
            <a:avLst/>
          </a:prstGeom>
          <a:noFill/>
          <a:ln w="25400">
            <a:solidFill>
              <a:schemeClr val="tx2"/>
            </a:solidFill>
            <a:prstDash val="solid"/>
            <a:tailEnd type="triangle"/>
          </a:ln>
        </p:spPr>
      </p:sp>
      <p:sp>
        <p:nvSpPr>
          <p:cNvPr id="24" name="box_1656"/>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657"/>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658"/>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659"/>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660"/>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661"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662"/>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663"/>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664"/>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665"/>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666"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667"/>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668"/>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6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671"/>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72"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73"/>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674"/>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675"/>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76"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77"/>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678"/>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679"/>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80"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81"/>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682"/>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683"/>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84"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85"/>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686"/>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687"/>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88"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89"/>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690"/>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6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693"/>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94"/>
          <p:cNvSpPr/>
          <p:nvPr/>
        </p:nvSpPr>
        <p:spPr>
          <a:xfrm>
            <a:off x="548640" y="1828800"/>
            <a:ext cx="11064240" cy="579120"/>
          </a:xfrm>
          <a:prstGeom prst="roundRect">
            <a:avLst>
              <a:gd name="adj" fmla="val 12632"/>
            </a:avLst>
          </a:prstGeom>
          <a:solidFill>
            <a:schemeClr val="bg2"/>
          </a:solidFill>
          <a:ln w="12700">
            <a:solidFill>
              <a:schemeClr val="bg2"/>
            </a:solidFill>
            <a:prstDash val="solid"/>
          </a:ln>
        </p:spPr>
      </p:sp>
      <p:sp>
        <p:nvSpPr>
          <p:cNvPr id="8" name="text_1695"/>
          <p:cNvSpPr txBox="1"/>
          <p:nvPr/>
        </p:nvSpPr>
        <p:spPr>
          <a:xfrm>
            <a:off x="731520" y="18288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696"/>
          <p:cNvSpPr txBox="1"/>
          <p:nvPr/>
        </p:nvSpPr>
        <p:spPr>
          <a:xfrm>
            <a:off x="1463040" y="18288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697"/>
          <p:cNvSpPr/>
          <p:nvPr/>
        </p:nvSpPr>
        <p:spPr>
          <a:xfrm>
            <a:off x="548640" y="2545080"/>
            <a:ext cx="11064240" cy="579120"/>
          </a:xfrm>
          <a:prstGeom prst="roundRect">
            <a:avLst>
              <a:gd name="adj" fmla="val 12632"/>
            </a:avLst>
          </a:prstGeom>
          <a:solidFill>
            <a:schemeClr val="bg2"/>
          </a:solidFill>
          <a:ln w="12700">
            <a:solidFill>
              <a:schemeClr val="bg2"/>
            </a:solidFill>
            <a:prstDash val="solid"/>
          </a:ln>
        </p:spPr>
      </p:sp>
      <p:sp>
        <p:nvSpPr>
          <p:cNvPr id="11" name="text_1698"/>
          <p:cNvSpPr txBox="1"/>
          <p:nvPr/>
        </p:nvSpPr>
        <p:spPr>
          <a:xfrm>
            <a:off x="731520" y="254508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699"/>
          <p:cNvSpPr txBox="1"/>
          <p:nvPr/>
        </p:nvSpPr>
        <p:spPr>
          <a:xfrm>
            <a:off x="1463040" y="254508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700"/>
          <p:cNvSpPr/>
          <p:nvPr/>
        </p:nvSpPr>
        <p:spPr>
          <a:xfrm>
            <a:off x="548640" y="3261360"/>
            <a:ext cx="11064240" cy="579120"/>
          </a:xfrm>
          <a:prstGeom prst="roundRect">
            <a:avLst>
              <a:gd name="adj" fmla="val 12632"/>
            </a:avLst>
          </a:prstGeom>
          <a:solidFill>
            <a:schemeClr val="bg2"/>
          </a:solidFill>
          <a:ln w="12700">
            <a:solidFill>
              <a:schemeClr val="bg2"/>
            </a:solidFill>
            <a:prstDash val="solid"/>
          </a:ln>
        </p:spPr>
      </p:sp>
      <p:sp>
        <p:nvSpPr>
          <p:cNvPr id="14" name="text_1701"/>
          <p:cNvSpPr txBox="1"/>
          <p:nvPr/>
        </p:nvSpPr>
        <p:spPr>
          <a:xfrm>
            <a:off x="731520" y="326136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702"/>
          <p:cNvSpPr txBox="1"/>
          <p:nvPr/>
        </p:nvSpPr>
        <p:spPr>
          <a:xfrm>
            <a:off x="1463040" y="326136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703"/>
          <p:cNvSpPr/>
          <p:nvPr/>
        </p:nvSpPr>
        <p:spPr>
          <a:xfrm>
            <a:off x="548640" y="3977640"/>
            <a:ext cx="11064240" cy="579120"/>
          </a:xfrm>
          <a:prstGeom prst="roundRect">
            <a:avLst>
              <a:gd name="adj" fmla="val 12632"/>
            </a:avLst>
          </a:prstGeom>
          <a:solidFill>
            <a:schemeClr val="bg2"/>
          </a:solidFill>
          <a:ln w="12700">
            <a:solidFill>
              <a:schemeClr val="bg2"/>
            </a:solidFill>
            <a:prstDash val="solid"/>
          </a:ln>
        </p:spPr>
      </p:sp>
      <p:sp>
        <p:nvSpPr>
          <p:cNvPr id="17" name="text_1704"/>
          <p:cNvSpPr txBox="1"/>
          <p:nvPr/>
        </p:nvSpPr>
        <p:spPr>
          <a:xfrm>
            <a:off x="731520" y="397764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705"/>
          <p:cNvSpPr txBox="1"/>
          <p:nvPr/>
        </p:nvSpPr>
        <p:spPr>
          <a:xfrm>
            <a:off x="1463040" y="397764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706"/>
          <p:cNvSpPr/>
          <p:nvPr/>
        </p:nvSpPr>
        <p:spPr>
          <a:xfrm>
            <a:off x="548640" y="4693920"/>
            <a:ext cx="11064240" cy="579120"/>
          </a:xfrm>
          <a:prstGeom prst="roundRect">
            <a:avLst>
              <a:gd name="adj" fmla="val 12632"/>
            </a:avLst>
          </a:prstGeom>
          <a:solidFill>
            <a:schemeClr val="bg2"/>
          </a:solidFill>
          <a:ln w="12700">
            <a:solidFill>
              <a:schemeClr val="bg2"/>
            </a:solidFill>
            <a:prstDash val="solid"/>
          </a:ln>
        </p:spPr>
      </p:sp>
      <p:sp>
        <p:nvSpPr>
          <p:cNvPr id="20" name="text_1707"/>
          <p:cNvSpPr txBox="1"/>
          <p:nvPr/>
        </p:nvSpPr>
        <p:spPr>
          <a:xfrm>
            <a:off x="731520" y="469392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708"/>
          <p:cNvSpPr txBox="1"/>
          <p:nvPr/>
        </p:nvSpPr>
        <p:spPr>
          <a:xfrm>
            <a:off x="1463040" y="469392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2" name="box_1709"/>
          <p:cNvSpPr/>
          <p:nvPr/>
        </p:nvSpPr>
        <p:spPr>
          <a:xfrm>
            <a:off x="548640" y="5410200"/>
            <a:ext cx="11064240" cy="579120"/>
          </a:xfrm>
          <a:prstGeom prst="roundRect">
            <a:avLst>
              <a:gd name="adj" fmla="val 12632"/>
            </a:avLst>
          </a:prstGeom>
          <a:solidFill>
            <a:schemeClr val="bg2"/>
          </a:solidFill>
          <a:ln w="12700">
            <a:solidFill>
              <a:schemeClr val="bg2"/>
            </a:solidFill>
            <a:prstDash val="solid"/>
          </a:ln>
        </p:spPr>
      </p:sp>
      <p:sp>
        <p:nvSpPr>
          <p:cNvPr id="23" name="text_1710"/>
          <p:cNvSpPr txBox="1"/>
          <p:nvPr/>
        </p:nvSpPr>
        <p:spPr>
          <a:xfrm>
            <a:off x="731520" y="54102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1711"/>
          <p:cNvSpPr txBox="1"/>
          <p:nvPr/>
        </p:nvSpPr>
        <p:spPr>
          <a:xfrm>
            <a:off x="1463040" y="54102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자동 탐색에서 프론티어란? 탐색은 언제 끝날까?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7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714"/>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71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16"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17"/>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718"/>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719"/>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720"/>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721"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722"/>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더 똑똑한 탐색</a:t>
            </a:r>
            <a:endParaRPr lang="ko-KR" altLang="en-US" sz="1800" dirty="0"/>
          </a:p>
        </p:txBody>
      </p:sp>
      <p:sp>
        <p:nvSpPr>
          <p:cNvPr id="15" name="text_1723"/>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frontier_explorer.py는 "가까운 곳 + 긴 프론티어"로 고른다. 설 자리에서 광선을 쏘아 새로 보일 미지 칸 수(정보 이득)를 점수에 넣어 보자.</a:t>
            </a:r>
            <a:endParaRPr lang="ko-KR" altLang="en-US" sz="1400" dirty="0"/>
          </a:p>
          <a:p>
            <a:pPr eaLnBrk="0" indent="0" marL="0">
              <a:buNone/>
            </a:pPr>
            <a:r>
              <a:rPr lang="ko-KR" altLang="en-US" sz="1400" dirty="0">
                <a:solidFill>
                  <a:schemeClr val="tx1"/>
                </a:solidFill>
              </a:rPr>
              <a:t>탐색 시간과 목표 수를 3번씩 재서 비교</a:t>
            </a:r>
            <a:endParaRPr lang="ko-KR" altLang="en-US" sz="1400" dirty="0"/>
          </a:p>
        </p:txBody>
      </p:sp>
      <p:sp>
        <p:nvSpPr>
          <p:cNvPr id="16" name="box_1724"/>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725"/>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726"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727"/>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728"/>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731"/>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732"/>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733"/>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734"/>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735"/>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736"/>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737"/>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738"/>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739"/>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740"/>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741"/>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742"/>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743"/>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744"/>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745"/>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746"/>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747"/>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748"/>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749"/>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750"/>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751"/>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752"/>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753"/>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754"/>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755"/>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7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58"/>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759"/>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760"/>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761"/>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762"/>
          <p:cNvSpPr/>
          <p:nvPr/>
        </p:nvSpPr>
        <p:spPr>
          <a:xfrm>
            <a:off x="4663440" y="2148840"/>
            <a:ext cx="2834640" cy="0"/>
          </a:xfrm>
          <a:prstGeom prst="line">
            <a:avLst/>
          </a:prstGeom>
          <a:noFill/>
          <a:ln w="25400">
            <a:solidFill>
              <a:schemeClr val="tx2"/>
            </a:solidFill>
            <a:prstDash val="solid"/>
            <a:tailEnd type="triangle"/>
          </a:ln>
        </p:spPr>
      </p:sp>
      <p:sp>
        <p:nvSpPr>
          <p:cNvPr id="11" name="arrow_1763"/>
          <p:cNvSpPr/>
          <p:nvPr/>
        </p:nvSpPr>
        <p:spPr>
          <a:xfrm flipH="1">
            <a:off x="4663440" y="2971800"/>
            <a:ext cx="2834640" cy="0"/>
          </a:xfrm>
          <a:prstGeom prst="line">
            <a:avLst/>
          </a:prstGeom>
          <a:noFill/>
          <a:ln w="25400">
            <a:solidFill>
              <a:schemeClr val="tx2"/>
            </a:solidFill>
            <a:prstDash val="solid"/>
            <a:tailEnd type="triangle"/>
          </a:ln>
        </p:spPr>
      </p:sp>
      <p:sp>
        <p:nvSpPr>
          <p:cNvPr id="12" name="text_1764"/>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765"/>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766"/>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767"/>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768"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769"/>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770"/>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771"/>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772"/>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773"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774"/>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775"/>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7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78"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6" name="table_1779"/>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780"/>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781"/>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782"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783"/>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784"/>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7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78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78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789"/>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790"/>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791"/>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792"/>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793"/>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794"/>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795"/>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796"/>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797"/>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798"/>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799"/>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800"/>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801"/>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802"/>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803"/>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804"/>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805"/>
          <p:cNvSpPr/>
          <p:nvPr/>
        </p:nvSpPr>
        <p:spPr>
          <a:xfrm>
            <a:off x="2569464" y="4160520"/>
            <a:ext cx="219456" cy="0"/>
          </a:xfrm>
          <a:prstGeom prst="line">
            <a:avLst/>
          </a:prstGeom>
          <a:noFill/>
          <a:ln w="25400">
            <a:solidFill>
              <a:schemeClr val="tx2"/>
            </a:solidFill>
            <a:prstDash val="solid"/>
            <a:tailEnd type="triangle"/>
          </a:ln>
        </p:spPr>
      </p:sp>
      <p:sp>
        <p:nvSpPr>
          <p:cNvPr id="25" name="box_1806"/>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807"/>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808"/>
          <p:cNvSpPr/>
          <p:nvPr/>
        </p:nvSpPr>
        <p:spPr>
          <a:xfrm>
            <a:off x="4837176" y="4160520"/>
            <a:ext cx="219456" cy="0"/>
          </a:xfrm>
          <a:prstGeom prst="line">
            <a:avLst/>
          </a:prstGeom>
          <a:noFill/>
          <a:ln w="25400">
            <a:solidFill>
              <a:schemeClr val="tx2"/>
            </a:solidFill>
            <a:prstDash val="solid"/>
            <a:tailEnd type="triangle"/>
          </a:ln>
        </p:spPr>
      </p:sp>
      <p:sp>
        <p:nvSpPr>
          <p:cNvPr id="28" name="box_1809"/>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810"/>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811"/>
          <p:cNvSpPr/>
          <p:nvPr/>
        </p:nvSpPr>
        <p:spPr>
          <a:xfrm>
            <a:off x="7104888" y="4160520"/>
            <a:ext cx="219456" cy="0"/>
          </a:xfrm>
          <a:prstGeom prst="line">
            <a:avLst/>
          </a:prstGeom>
          <a:noFill/>
          <a:ln w="25400">
            <a:solidFill>
              <a:schemeClr val="tx2"/>
            </a:solidFill>
            <a:prstDash val="solid"/>
            <a:tailEnd type="triangle"/>
          </a:ln>
        </p:spPr>
      </p:sp>
      <p:sp>
        <p:nvSpPr>
          <p:cNvPr id="31" name="box_1812"/>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813"/>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814"/>
          <p:cNvSpPr/>
          <p:nvPr/>
        </p:nvSpPr>
        <p:spPr>
          <a:xfrm>
            <a:off x="9372600" y="4160520"/>
            <a:ext cx="219456" cy="0"/>
          </a:xfrm>
          <a:prstGeom prst="line">
            <a:avLst/>
          </a:prstGeom>
          <a:noFill/>
          <a:ln w="25400">
            <a:solidFill>
              <a:schemeClr val="tx2"/>
            </a:solidFill>
            <a:prstDash val="solid"/>
            <a:tailEnd type="triangle"/>
          </a:ln>
        </p:spPr>
      </p:sp>
      <p:sp>
        <p:nvSpPr>
          <p:cNvPr id="34" name="box_1815"/>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816"/>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817"/>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818"/>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819"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820"/>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821"/>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8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8" name="table_18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825"/>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826"/>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827"/>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828"/>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829"/>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830"/>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831"/>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832"/>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833"/>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834"/>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835"/>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836"/>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837"/>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838"/>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839"/>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840"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841"/>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842"/>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8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45"/>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846"/>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847"/>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빨간 상자</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848"/>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849"/>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850"/>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851"/>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852"/>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853"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854"/>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855"/>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856"/>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857"/>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858"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859"/>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860"/>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8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63"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864"/>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865"/>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866"/>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867"/>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868"/>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869"/>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870"/>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871"/>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872"/>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873"/>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874"/>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875"/>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876"/>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877"/>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878"/>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879"/>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880"/>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881"/>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8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4"/>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885"/>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886"/>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88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88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88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89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89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89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89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89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89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89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8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99"/>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900"/>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901"/>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902"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903"/>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904"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905"/>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906"/>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907"/>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908"/>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909"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910"/>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911"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912"/>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102" name="table_1913"/>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9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16"/>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917"/>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918"/>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919"/>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920"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921"/>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22"/>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923"/>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924"/>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925"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926"/>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927"/>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928"/>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929"/>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930"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931"/>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932"/>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9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35"/>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6"/>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937"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3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939"/>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940"/>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41"/>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42"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94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944"/>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945"/>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946"/>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947"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948"/>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949"/>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950"/>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951"/>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952"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953"/>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954"/>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9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957" descr="공급 테이블 앞 헤드 카메라: 빨간 상자 위 마커 7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958" descr="작업대 앞 헤드 카메라: 놓을 자리 마커 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959"/>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공급 테이블 앞: 상자 위 마커 7 (3.75 cm)</a:t>
            </a:r>
            <a:endParaRPr lang="ko-KR" altLang="en-US" sz="1500" dirty="0"/>
          </a:p>
        </p:txBody>
      </p:sp>
      <p:sp>
        <p:nvSpPr>
          <p:cNvPr id="9" name="text_1960"/>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3 (7.5 cm)</a:t>
            </a:r>
            <a:endParaRPr lang="ko-KR" altLang="en-US" sz="1500" dirty="0"/>
          </a:p>
        </p:txBody>
      </p:sp>
      <p:sp>
        <p:nvSpPr>
          <p:cNvPr id="10" name="box_196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96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963"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96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96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9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68"/>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969"/>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970"/>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971"/>
          <p:cNvSpPr/>
          <p:nvPr/>
        </p:nvSpPr>
        <p:spPr>
          <a:xfrm>
            <a:off x="3977640" y="2423160"/>
            <a:ext cx="320040" cy="0"/>
          </a:xfrm>
          <a:prstGeom prst="line">
            <a:avLst/>
          </a:prstGeom>
          <a:noFill/>
          <a:ln w="25400">
            <a:solidFill>
              <a:schemeClr val="tx2"/>
            </a:solidFill>
            <a:prstDash val="solid"/>
            <a:tailEnd type="triangle"/>
          </a:ln>
        </p:spPr>
      </p:sp>
      <p:sp>
        <p:nvSpPr>
          <p:cNvPr id="10" name="box_1972"/>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973"/>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974"/>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975"/>
          <p:cNvSpPr/>
          <p:nvPr/>
        </p:nvSpPr>
        <p:spPr>
          <a:xfrm>
            <a:off x="7772400" y="2423160"/>
            <a:ext cx="320040" cy="0"/>
          </a:xfrm>
          <a:prstGeom prst="line">
            <a:avLst/>
          </a:prstGeom>
          <a:noFill/>
          <a:ln w="25400">
            <a:solidFill>
              <a:schemeClr val="tx2"/>
            </a:solidFill>
            <a:prstDash val="solid"/>
            <a:tailEnd type="triangle"/>
          </a:ln>
        </p:spPr>
      </p:sp>
      <p:sp>
        <p:nvSpPr>
          <p:cNvPr id="14" name="box_1976"/>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977"/>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978"/>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979"/>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980"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981"/>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a:t>
            </a:r>
            <a:endParaRPr lang="ko-KR" altLang="en-US" sz="1600" dirty="0"/>
          </a:p>
        </p:txBody>
      </p:sp>
      <p:sp>
        <p:nvSpPr>
          <p:cNvPr id="20" name="text_1982"/>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상자 윗면, 3.75 cm</a:t>
            </a:r>
            <a:endParaRPr lang="ko-KR" altLang="en-US" sz="1400" dirty="0"/>
          </a:p>
        </p:txBody>
      </p:sp>
      <p:sp>
        <p:nvSpPr>
          <p:cNvPr id="21" name="iconbg_1983"/>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984"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985"/>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5</a:t>
            </a:r>
            <a:endParaRPr lang="ko-KR" altLang="en-US" sz="1600" dirty="0"/>
          </a:p>
        </p:txBody>
      </p:sp>
      <p:sp>
        <p:nvSpPr>
          <p:cNvPr id="24" name="text_1986"/>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공급 테이블 놓을 자리, 7.5 cm</a:t>
            </a:r>
            <a:endParaRPr lang="ko-KR" altLang="en-US" sz="1400" dirty="0"/>
          </a:p>
        </p:txBody>
      </p:sp>
      <p:sp>
        <p:nvSpPr>
          <p:cNvPr id="25" name="iconbg_1987"/>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988"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989"/>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3</a:t>
            </a:r>
            <a:endParaRPr lang="ko-KR" altLang="en-US" sz="1600" dirty="0"/>
          </a:p>
        </p:txBody>
      </p:sp>
      <p:sp>
        <p:nvSpPr>
          <p:cNvPr id="28" name="text_1990"/>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놓을 자리, 7.5 cm</a:t>
            </a:r>
            <a:endParaRPr lang="ko-KR" altLang="en-US" sz="1400" dirty="0"/>
          </a:p>
        </p:txBody>
      </p:sp>
      <p:sp>
        <p:nvSpPr>
          <p:cNvPr id="29" name="box_1991"/>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992"/>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993"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994"/>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995"/>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19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98"/>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1999"/>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2000"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2001"/>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2002"/>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2003"/>
          <p:cNvSpPr/>
          <p:nvPr/>
        </p:nvSpPr>
        <p:spPr>
          <a:xfrm>
            <a:off x="1600200" y="3063240"/>
            <a:ext cx="1097280" cy="0"/>
          </a:xfrm>
          <a:prstGeom prst="line">
            <a:avLst/>
          </a:prstGeom>
          <a:noFill/>
          <a:ln w="25400">
            <a:solidFill>
              <a:schemeClr val="tx2"/>
            </a:solidFill>
            <a:prstDash val="solid"/>
            <a:tailEnd type="triangle"/>
          </a:ln>
        </p:spPr>
      </p:sp>
      <p:sp>
        <p:nvSpPr>
          <p:cNvPr id="16" name="arrow_2004"/>
          <p:cNvSpPr/>
          <p:nvPr/>
        </p:nvSpPr>
        <p:spPr>
          <a:xfrm>
            <a:off x="3703320" y="3063240"/>
            <a:ext cx="1371600" cy="0"/>
          </a:xfrm>
          <a:prstGeom prst="line">
            <a:avLst/>
          </a:prstGeom>
          <a:noFill/>
          <a:ln w="25400">
            <a:solidFill>
              <a:schemeClr val="tx2"/>
            </a:solidFill>
            <a:prstDash val="solid"/>
            <a:tailEnd type="triangle"/>
          </a:ln>
        </p:spPr>
      </p:sp>
      <p:sp>
        <p:nvSpPr>
          <p:cNvPr id="17" name="box_2005"/>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2006"/>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2007"/>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2008"/>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2009"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2010"/>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2011"/>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2012"/>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2013"/>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2014"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2015"/>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2016"/>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20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1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202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202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202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2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202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2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2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20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34"/>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2035"/>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2036"/>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2037"/>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2038"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2039"/>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2040"/>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2041"/>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2042"/>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2043"/>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2044"/>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2045"/>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2046"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2047"/>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2048"/>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2049"/>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2050"/>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2051"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2052"/>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2053"/>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20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56"/>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2057"/>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2058"/>
          <p:cNvSpPr/>
          <p:nvPr/>
        </p:nvSpPr>
        <p:spPr>
          <a:xfrm>
            <a:off x="3102102" y="2103120"/>
            <a:ext cx="265176" cy="0"/>
          </a:xfrm>
          <a:prstGeom prst="line">
            <a:avLst/>
          </a:prstGeom>
          <a:noFill/>
          <a:ln w="25400">
            <a:solidFill>
              <a:schemeClr val="tx2"/>
            </a:solidFill>
            <a:prstDash val="solid"/>
            <a:tailEnd type="triangle"/>
          </a:ln>
        </p:spPr>
      </p:sp>
      <p:sp>
        <p:nvSpPr>
          <p:cNvPr id="9" name="box_2059"/>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2060"/>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2061"/>
          <p:cNvSpPr/>
          <p:nvPr/>
        </p:nvSpPr>
        <p:spPr>
          <a:xfrm>
            <a:off x="5948172" y="2103120"/>
            <a:ext cx="265176" cy="0"/>
          </a:xfrm>
          <a:prstGeom prst="line">
            <a:avLst/>
          </a:prstGeom>
          <a:noFill/>
          <a:ln w="25400">
            <a:solidFill>
              <a:schemeClr val="tx2"/>
            </a:solidFill>
            <a:prstDash val="solid"/>
            <a:tailEnd type="triangle"/>
          </a:ln>
        </p:spPr>
      </p:sp>
      <p:sp>
        <p:nvSpPr>
          <p:cNvPr id="12" name="box_2062"/>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2063"/>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2064"/>
          <p:cNvSpPr/>
          <p:nvPr/>
        </p:nvSpPr>
        <p:spPr>
          <a:xfrm>
            <a:off x="8794242" y="2103120"/>
            <a:ext cx="265176" cy="0"/>
          </a:xfrm>
          <a:prstGeom prst="line">
            <a:avLst/>
          </a:prstGeom>
          <a:noFill/>
          <a:ln w="25400">
            <a:solidFill>
              <a:schemeClr val="tx2"/>
            </a:solidFill>
            <a:prstDash val="solid"/>
            <a:tailEnd type="triangle"/>
          </a:ln>
        </p:spPr>
      </p:sp>
      <p:sp>
        <p:nvSpPr>
          <p:cNvPr id="15" name="box_2065"/>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2066"/>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2067"/>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2068"/>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2069"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2070"/>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2071"/>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2072"/>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2073"/>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2074"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2075"/>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2076"/>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2077"/>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2078"/>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2079"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2080"/>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2081"/>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20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84"/>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2085"/>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2086"/>
          <p:cNvSpPr/>
          <p:nvPr/>
        </p:nvSpPr>
        <p:spPr>
          <a:xfrm>
            <a:off x="3081528" y="1737360"/>
            <a:ext cx="283464" cy="0"/>
          </a:xfrm>
          <a:prstGeom prst="line">
            <a:avLst/>
          </a:prstGeom>
          <a:noFill/>
          <a:ln w="25400">
            <a:solidFill>
              <a:schemeClr val="tx2"/>
            </a:solidFill>
            <a:prstDash val="solid"/>
            <a:tailEnd type="triangle"/>
          </a:ln>
        </p:spPr>
      </p:sp>
      <p:sp>
        <p:nvSpPr>
          <p:cNvPr id="9" name="box_2087"/>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2088"/>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공급 테이블</a:t>
            </a:r>
            <a:endParaRPr lang="ko-KR" altLang="en-US" sz="1500" dirty="0"/>
          </a:p>
        </p:txBody>
      </p:sp>
      <p:sp>
        <p:nvSpPr>
          <p:cNvPr id="11" name="arrow_2089"/>
          <p:cNvSpPr/>
          <p:nvPr/>
        </p:nvSpPr>
        <p:spPr>
          <a:xfrm>
            <a:off x="5916168" y="1737360"/>
            <a:ext cx="283464" cy="0"/>
          </a:xfrm>
          <a:prstGeom prst="line">
            <a:avLst/>
          </a:prstGeom>
          <a:noFill/>
          <a:ln w="25400">
            <a:solidFill>
              <a:schemeClr val="tx2"/>
            </a:solidFill>
            <a:prstDash val="solid"/>
            <a:tailEnd type="triangle"/>
          </a:ln>
        </p:spPr>
      </p:sp>
      <p:sp>
        <p:nvSpPr>
          <p:cNvPr id="12" name="box_2090"/>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2091"/>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2092"/>
          <p:cNvSpPr/>
          <p:nvPr/>
        </p:nvSpPr>
        <p:spPr>
          <a:xfrm>
            <a:off x="8750808" y="1737360"/>
            <a:ext cx="283464" cy="0"/>
          </a:xfrm>
          <a:prstGeom prst="line">
            <a:avLst/>
          </a:prstGeom>
          <a:noFill/>
          <a:ln w="25400">
            <a:solidFill>
              <a:schemeClr val="tx2"/>
            </a:solidFill>
            <a:prstDash val="solid"/>
            <a:tailEnd type="triangle"/>
          </a:ln>
        </p:spPr>
      </p:sp>
      <p:sp>
        <p:nvSpPr>
          <p:cNvPr id="15" name="box_2093"/>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2094"/>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2095"/>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2096"/>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2097"/>
          <p:cNvSpPr/>
          <p:nvPr/>
        </p:nvSpPr>
        <p:spPr>
          <a:xfrm>
            <a:off x="3081528" y="2834640"/>
            <a:ext cx="283464" cy="0"/>
          </a:xfrm>
          <a:prstGeom prst="line">
            <a:avLst/>
          </a:prstGeom>
          <a:noFill/>
          <a:ln w="25400">
            <a:solidFill>
              <a:schemeClr val="tx2"/>
            </a:solidFill>
            <a:prstDash val="solid"/>
            <a:tailEnd type="triangle"/>
          </a:ln>
        </p:spPr>
      </p:sp>
      <p:sp>
        <p:nvSpPr>
          <p:cNvPr id="20" name="box_2098"/>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2099"/>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2100"/>
          <p:cNvSpPr/>
          <p:nvPr/>
        </p:nvSpPr>
        <p:spPr>
          <a:xfrm>
            <a:off x="5916168" y="2834640"/>
            <a:ext cx="283464" cy="0"/>
          </a:xfrm>
          <a:prstGeom prst="line">
            <a:avLst/>
          </a:prstGeom>
          <a:noFill/>
          <a:ln w="25400">
            <a:solidFill>
              <a:schemeClr val="tx2"/>
            </a:solidFill>
            <a:prstDash val="solid"/>
            <a:tailEnd type="triangle"/>
          </a:ln>
        </p:spPr>
      </p:sp>
      <p:sp>
        <p:nvSpPr>
          <p:cNvPr id="23" name="box_2101"/>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2102"/>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3</a:t>
            </a:r>
            <a:endParaRPr lang="ko-KR" altLang="en-US" sz="1500" dirty="0"/>
          </a:p>
        </p:txBody>
      </p:sp>
      <p:sp>
        <p:nvSpPr>
          <p:cNvPr id="25" name="arrow_2103"/>
          <p:cNvSpPr/>
          <p:nvPr/>
        </p:nvSpPr>
        <p:spPr>
          <a:xfrm>
            <a:off x="8750808" y="2834640"/>
            <a:ext cx="283464" cy="0"/>
          </a:xfrm>
          <a:prstGeom prst="line">
            <a:avLst/>
          </a:prstGeom>
          <a:noFill/>
          <a:ln w="25400">
            <a:solidFill>
              <a:schemeClr val="tx2"/>
            </a:solidFill>
            <a:prstDash val="solid"/>
            <a:tailEnd type="triangle"/>
          </a:ln>
        </p:spPr>
      </p:sp>
      <p:sp>
        <p:nvSpPr>
          <p:cNvPr id="26" name="box_2104"/>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2105"/>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2106"/>
          <p:cNvSpPr/>
          <p:nvPr/>
        </p:nvSpPr>
        <p:spPr>
          <a:xfrm>
            <a:off x="10927080" y="2121408"/>
            <a:ext cx="0" cy="329184"/>
          </a:xfrm>
          <a:prstGeom prst="line">
            <a:avLst/>
          </a:prstGeom>
          <a:noFill/>
          <a:ln w="25400">
            <a:solidFill>
              <a:schemeClr val="tx2"/>
            </a:solidFill>
            <a:prstDash val="solid"/>
            <a:tailEnd type="triangle"/>
          </a:ln>
        </p:spPr>
      </p:sp>
      <p:pic>
        <p:nvPicPr>
          <p:cNvPr id="29" name="img_2107"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21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1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1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1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2113"/>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211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1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1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117"/>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118"/>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119"/>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20"/>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121"/>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122"/>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123"/>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24"/>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125"/>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126"/>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127"/>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28"/>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129"/>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130"/>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131"/>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32"/>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133"/>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13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36"/>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37"/>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38"/>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3 위 8 cm로</a:t>
            </a:r>
            <a:endParaRPr lang="ko-KR" altLang="en-US" sz="1700" dirty="0"/>
          </a:p>
        </p:txBody>
      </p:sp>
      <p:sp>
        <p:nvSpPr>
          <p:cNvPr id="9" name="text_2139"/>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140"/>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41"/>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42"/>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143"/>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144"/>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145"/>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46"/>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147"/>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148"/>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149"/>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50"/>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151"/>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152"/>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153"/>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54"/>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155"/>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156"/>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157"/>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58"/>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159"/>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160"/>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161"/>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162"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163"/>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164"/>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1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67"/>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168"/>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169"/>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17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17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17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17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17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17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17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17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17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17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1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1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83"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1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1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87"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1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1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91"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1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1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95"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1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1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1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199"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2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2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2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2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2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2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2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2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2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2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2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2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2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2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2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2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2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2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2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2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222"/>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2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4"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226"/>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공급 테이블(마커 5)로 되돌리는 put_back.py</a:t>
            </a:r>
            <a:endParaRPr lang="ko-KR" altLang="en-US" sz="1500" dirty="0"/>
          </a:p>
        </p:txBody>
      </p:sp>
      <p:sp>
        <p:nvSpPr>
          <p:cNvPr id="11" name="box_2227"/>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22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229"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231"/>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232"/>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233"/>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234"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235"/>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236"/>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2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239"/>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240"/>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241"/>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242"/>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243"/>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244"/>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245"/>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246"/>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247"/>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248"/>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249"/>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250"/>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251"/>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252"/>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253"/>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254"/>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255"/>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256"/>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257"/>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258"/>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259"/>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260"/>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261"/>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262"/>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263"/>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264"/>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265"/>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266"/>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267"/>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268"/>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2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71"/>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27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73"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7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275"/>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276"/>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277"/>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278"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7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280"/>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281"/>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282"/>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283"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284"/>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285"/>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2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88"/>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289"/>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290"/>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291"/>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292"/>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293"/>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294"/>
          <p:cNvSpPr/>
          <p:nvPr/>
        </p:nvSpPr>
        <p:spPr>
          <a:xfrm>
            <a:off x="2377440" y="2468880"/>
            <a:ext cx="2926080" cy="0"/>
          </a:xfrm>
          <a:prstGeom prst="line">
            <a:avLst/>
          </a:prstGeom>
          <a:noFill/>
          <a:ln w="25400">
            <a:solidFill>
              <a:srgbClr val="3D5A80"/>
            </a:solidFill>
            <a:prstDash val="solid"/>
            <a:tailEnd type="triangle"/>
          </a:ln>
        </p:spPr>
      </p:sp>
      <p:sp>
        <p:nvSpPr>
          <p:cNvPr id="13" name="text_2295"/>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296"/>
          <p:cNvSpPr/>
          <p:nvPr/>
        </p:nvSpPr>
        <p:spPr>
          <a:xfrm>
            <a:off x="5303520" y="3108960"/>
            <a:ext cx="4023360" cy="0"/>
          </a:xfrm>
          <a:prstGeom prst="line">
            <a:avLst/>
          </a:prstGeom>
          <a:noFill/>
          <a:ln w="25400">
            <a:solidFill>
              <a:srgbClr val="3D5A80"/>
            </a:solidFill>
            <a:prstDash val="solid"/>
            <a:tailEnd type="triangle"/>
          </a:ln>
        </p:spPr>
      </p:sp>
      <p:sp>
        <p:nvSpPr>
          <p:cNvPr id="15" name="text_2297"/>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navigate_to(supply_table)</a:t>
            </a:r>
            <a:endParaRPr lang="ko-KR" altLang="en-US" sz="1300" dirty="0"/>
          </a:p>
        </p:txBody>
      </p:sp>
      <p:sp>
        <p:nvSpPr>
          <p:cNvPr id="16" name="arrow_2298"/>
          <p:cNvSpPr/>
          <p:nvPr/>
        </p:nvSpPr>
        <p:spPr>
          <a:xfrm flipH="1">
            <a:off x="5303520" y="3749040"/>
            <a:ext cx="4023360" cy="0"/>
          </a:xfrm>
          <a:prstGeom prst="line">
            <a:avLst/>
          </a:prstGeom>
          <a:noFill/>
          <a:ln w="25400">
            <a:solidFill>
              <a:srgbClr val="F2711C"/>
            </a:solidFill>
            <a:prstDash val="solid"/>
            <a:tailEnd type="triangle"/>
          </a:ln>
        </p:spPr>
      </p:sp>
      <p:sp>
        <p:nvSpPr>
          <p:cNvPr id="17" name="text_2299"/>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supply_table</a:t>
            </a:r>
            <a:endParaRPr lang="ko-KR" altLang="en-US" sz="1300" dirty="0"/>
          </a:p>
        </p:txBody>
      </p:sp>
      <p:sp>
        <p:nvSpPr>
          <p:cNvPr id="18" name="arrow_2300"/>
          <p:cNvSpPr/>
          <p:nvPr/>
        </p:nvSpPr>
        <p:spPr>
          <a:xfrm>
            <a:off x="5303520" y="4389120"/>
            <a:ext cx="4023360" cy="0"/>
          </a:xfrm>
          <a:prstGeom prst="line">
            <a:avLst/>
          </a:prstGeom>
          <a:noFill/>
          <a:ln w="25400">
            <a:solidFill>
              <a:srgbClr val="3D5A80"/>
            </a:solidFill>
            <a:prstDash val="solid"/>
            <a:tailEnd type="triangle"/>
          </a:ln>
        </p:spPr>
      </p:sp>
      <p:sp>
        <p:nvSpPr>
          <p:cNvPr id="19" name="text_2301"/>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302"/>
          <p:cNvSpPr/>
          <p:nvPr/>
        </p:nvSpPr>
        <p:spPr>
          <a:xfrm flipH="1">
            <a:off x="5303520" y="5029200"/>
            <a:ext cx="4023360" cy="0"/>
          </a:xfrm>
          <a:prstGeom prst="line">
            <a:avLst/>
          </a:prstGeom>
          <a:noFill/>
          <a:ln w="25400">
            <a:solidFill>
              <a:srgbClr val="F2711C"/>
            </a:solidFill>
            <a:prstDash val="solid"/>
            <a:tailEnd type="triangle"/>
          </a:ln>
        </p:spPr>
      </p:sp>
      <p:sp>
        <p:nvSpPr>
          <p:cNvPr id="21" name="text_2303"/>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304"/>
          <p:cNvSpPr/>
          <p:nvPr/>
        </p:nvSpPr>
        <p:spPr>
          <a:xfrm flipH="1">
            <a:off x="2377440" y="5669280"/>
            <a:ext cx="2926080" cy="0"/>
          </a:xfrm>
          <a:prstGeom prst="line">
            <a:avLst/>
          </a:prstGeom>
          <a:noFill/>
          <a:ln w="25400">
            <a:solidFill>
              <a:srgbClr val="F2711C"/>
            </a:solidFill>
            <a:prstDash val="solid"/>
            <a:tailEnd type="triangle"/>
          </a:ln>
        </p:spPr>
      </p:sp>
      <p:sp>
        <p:nvSpPr>
          <p:cNvPr id="23" name="text_2305"/>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306"/>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3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09"/>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310"/>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311"/>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312"/>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313"/>
          <p:cNvSpPr/>
          <p:nvPr/>
        </p:nvSpPr>
        <p:spPr>
          <a:xfrm>
            <a:off x="3840480" y="2651760"/>
            <a:ext cx="0" cy="320040"/>
          </a:xfrm>
          <a:prstGeom prst="line">
            <a:avLst/>
          </a:prstGeom>
          <a:noFill/>
          <a:ln w="25400">
            <a:solidFill>
              <a:schemeClr val="tx2"/>
            </a:solidFill>
            <a:prstDash val="solid"/>
            <a:tailEnd type="triangle"/>
          </a:ln>
        </p:spPr>
      </p:sp>
      <p:sp>
        <p:nvSpPr>
          <p:cNvPr id="11" name="box_2314"/>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315"/>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316"/>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317"/>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318"/>
          <p:cNvSpPr/>
          <p:nvPr/>
        </p:nvSpPr>
        <p:spPr>
          <a:xfrm>
            <a:off x="3840480" y="4251960"/>
            <a:ext cx="0" cy="320040"/>
          </a:xfrm>
          <a:prstGeom prst="line">
            <a:avLst/>
          </a:prstGeom>
          <a:noFill/>
          <a:ln w="25400">
            <a:solidFill>
              <a:schemeClr val="tx2"/>
            </a:solidFill>
            <a:prstDash val="solid"/>
            <a:tailEnd type="triangle"/>
          </a:ln>
        </p:spPr>
      </p:sp>
      <p:sp>
        <p:nvSpPr>
          <p:cNvPr id="16" name="box_2319"/>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320"/>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321"/>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322"/>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3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5"/>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26"/>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0.8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["supply_table",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23" name="table_2327"/>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다섯 개</a:t>
            </a:r>
            <a:endParaRPr lang="ko-KR" altLang="en-US" sz="3000" dirty="0"/>
          </a:p>
        </p:txBody>
      </p:sp>
      <p:sp>
        <p:nvSpPr>
          <p:cNvPr id="3" name="pill_23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4" name="table_233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840480"/>
                <a:gridCol w="5029200"/>
              </a:tblGrid>
              <a:tr h="0">
                <a:tc>
                  <a:txBody>
                    <a:bodyPr/>
                    <a:lstStyle/>
                    <a:p>
                      <a:pPr eaLnBrk="0" indent="0" marL="0">
                        <a:buNone/>
                      </a:pPr>
                      <a:r>
                        <a:rPr lang="ko-KR" altLang="en-US" sz="1500" b="1" dirty="0">
                          <a:solidFill>
                            <a:schemeClr val="bg1"/>
                          </a:solidFill>
                        </a:rPr>
                        <a:t>도구</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입력</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안에서 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get_world_state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없음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로봇 위치, 들고 있는 것, 물체 위치를 알려 줌 (빠름)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navigate_to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팔 tuck → Nav2로 테이블 앞 0.8 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pick_object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object: red_box</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마커 찾기 → 정밀 접근 → 집기 → 들기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place_object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놓을 자리 마커로 정밀 접근 → 내려놓기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set_arm_posture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posture: tuck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두 팔 자세 바꾸기 (물체를 들고 있으면 거부)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331"/>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332"/>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333"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334"/>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335"/>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3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38"/>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39"/>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"원래 자리" of the red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means supply_table.</a:t>
            </a:r>
            <a:endParaRPr lang="ko-KR" altLang="en-US" sz="1300" dirty="0"/>
          </a:p>
        </p:txBody>
      </p:sp>
      <p:sp>
        <p:nvSpPr>
          <p:cNvPr id="8" name="box_2340"/>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341"/>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342"/>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343"/>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344"/>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345"/>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346"/>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347"/>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348"/>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349"/>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350"/>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351"/>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352"/>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353"/>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354"/>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3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57"/>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358"/>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359"/>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360"/>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361"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362"/>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363"/>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364"/>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365"/>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366"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367"/>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368"/>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3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71"/>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372"/>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373"/>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374"/>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375"/>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376"/>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377"/>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상자는 공급 테이블</a:t>
            </a:r>
            <a:endParaRPr lang="ko-KR" altLang="en-US" sz="1400" dirty="0"/>
          </a:p>
        </p:txBody>
      </p:sp>
      <p:sp>
        <p:nvSpPr>
          <p:cNvPr id="13" name="text_2378"/>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379"/>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380"/>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navigate_to(supply_table)</a:t>
            </a:r>
            <a:endParaRPr lang="ko-KR" altLang="en-US" sz="1400" dirty="0"/>
          </a:p>
        </p:txBody>
      </p:sp>
      <p:sp>
        <p:nvSpPr>
          <p:cNvPr id="16" name="text_2381"/>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supply_table</a:t>
            </a:r>
            <a:endParaRPr lang="ko-KR" altLang="en-US" sz="1400" dirty="0"/>
          </a:p>
        </p:txBody>
      </p:sp>
      <p:sp>
        <p:nvSpPr>
          <p:cNvPr id="17" name="text_2382"/>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9 s</a:t>
            </a:r>
            <a:endParaRPr lang="ko-KR" altLang="en-US" sz="1400" dirty="0"/>
          </a:p>
        </p:txBody>
      </p:sp>
      <p:sp>
        <p:nvSpPr>
          <p:cNvPr id="18" name="box_2383"/>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384"/>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385"/>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with the right arm</a:t>
            </a:r>
            <a:endParaRPr lang="ko-KR" altLang="en-US" sz="1400" dirty="0"/>
          </a:p>
        </p:txBody>
      </p:sp>
      <p:sp>
        <p:nvSpPr>
          <p:cNvPr id="21" name="text_2386"/>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22 s</a:t>
            </a:r>
            <a:endParaRPr lang="ko-KR" altLang="en-US" sz="1400" dirty="0"/>
          </a:p>
        </p:txBody>
      </p:sp>
      <p:sp>
        <p:nvSpPr>
          <p:cNvPr id="22" name="box_2387"/>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388"/>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389"/>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390"/>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12 s</a:t>
            </a:r>
            <a:endParaRPr lang="ko-KR" altLang="en-US" sz="1400" dirty="0"/>
          </a:p>
        </p:txBody>
      </p:sp>
      <p:sp>
        <p:nvSpPr>
          <p:cNvPr id="26" name="box_2391"/>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392"/>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a:t>
            </a:r>
            <a:endParaRPr lang="ko-KR" altLang="en-US" sz="1400" dirty="0"/>
          </a:p>
        </p:txBody>
      </p:sp>
      <p:sp>
        <p:nvSpPr>
          <p:cNvPr id="28" name="text_2393"/>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work_table</a:t>
            </a:r>
            <a:endParaRPr lang="ko-KR" altLang="en-US" sz="1400" dirty="0"/>
          </a:p>
        </p:txBody>
      </p:sp>
      <p:sp>
        <p:nvSpPr>
          <p:cNvPr id="29" name="text_2394"/>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21 s</a:t>
            </a:r>
            <a:endParaRPr lang="ko-KR" altLang="en-US" sz="1400" dirty="0"/>
          </a:p>
        </p:txBody>
      </p:sp>
      <p:sp>
        <p:nvSpPr>
          <p:cNvPr id="30" name="box_2395"/>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396"/>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397"/>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398"/>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64 s</a:t>
            </a:r>
            <a:endParaRPr lang="ko-KR" altLang="en-US" sz="1400" dirty="0"/>
          </a:p>
        </p:txBody>
      </p:sp>
      <p:sp>
        <p:nvSpPr>
          <p:cNvPr id="34" name="text_2399"/>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4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2"/>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403"/>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404"/>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405"/>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supply_table / work_table / home 중 하나인가</a:t>
            </a:r>
            <a:endParaRPr lang="ko-KR" altLang="en-US" sz="1700" dirty="0"/>
          </a:p>
        </p:txBody>
      </p:sp>
      <p:sp>
        <p:nvSpPr>
          <p:cNvPr id="10" name="text_2406"/>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407"/>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408"/>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409"/>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410"/>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411"/>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412"/>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413"/>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4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16"/>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417"/>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self.object_location.get(object)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418"/>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419"/>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420"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421"/>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422"/>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423"/>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424"/>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425"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426"/>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427"/>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4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430"/>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431"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432"/>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433"/>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434"/>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435"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436"/>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437"/>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438"/>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439"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440"/>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441"/>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4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44"/>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445"/>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(9 s) arrived at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(22 s) picked red_box with the right arm</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64 s: 빨간 상자를 작업대로 옮겼습니다. (scripted)</a:t>
            </a:r>
            <a:endParaRPr lang="ko-KR" altLang="en-US" sz="1200" dirty="0"/>
          </a:p>
        </p:txBody>
      </p:sp>
      <p:sp>
        <p:nvSpPr>
          <p:cNvPr id="8" name="box_244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44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44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44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45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45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45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45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45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45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4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2" name="table_2458"/>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459"/>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460"/>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"supply_table"}}</a:t>
            </a:r>
            <a:endParaRPr lang="ko-KR" altLang="en-US" sz="1200" dirty="0"/>
          </a:p>
        </p:txBody>
      </p:sp>
      <p:sp>
        <p:nvSpPr>
          <p:cNvPr id="9" name="box_2461"/>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462"/>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463"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464"/>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465"/>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68"/>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469"/>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"파란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33" name="table_2470"/>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파란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471"/>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472"/>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473"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474"/>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75"/>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4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8"/>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479"/>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480"/>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481"/>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482"/>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483"/>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484"/>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485"/>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486"/>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487"/>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488"/>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489"/>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490"/>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491"/>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492"/>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493"/>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494"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495"/>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496"/>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497"/>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498"/>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499"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500"/>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501"/>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5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04"/>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05"/>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2506"/>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50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0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0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1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1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51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1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1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1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1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5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19"/>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520"/>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521"/>
          <p:cNvSpPr/>
          <p:nvPr/>
        </p:nvSpPr>
        <p:spPr>
          <a:xfrm>
            <a:off x="3102102" y="2103120"/>
            <a:ext cx="265176" cy="0"/>
          </a:xfrm>
          <a:prstGeom prst="line">
            <a:avLst/>
          </a:prstGeom>
          <a:noFill/>
          <a:ln w="25400">
            <a:solidFill>
              <a:schemeClr val="tx2"/>
            </a:solidFill>
            <a:prstDash val="solid"/>
            <a:tailEnd type="triangle"/>
          </a:ln>
        </p:spPr>
      </p:sp>
      <p:sp>
        <p:nvSpPr>
          <p:cNvPr id="9" name="box_2522"/>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523"/>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524"/>
          <p:cNvSpPr/>
          <p:nvPr/>
        </p:nvSpPr>
        <p:spPr>
          <a:xfrm>
            <a:off x="5948172" y="2103120"/>
            <a:ext cx="265176" cy="0"/>
          </a:xfrm>
          <a:prstGeom prst="line">
            <a:avLst/>
          </a:prstGeom>
          <a:noFill/>
          <a:ln w="25400">
            <a:solidFill>
              <a:schemeClr val="tx2"/>
            </a:solidFill>
            <a:prstDash val="solid"/>
            <a:tailEnd type="triangle"/>
          </a:ln>
        </p:spPr>
      </p:sp>
      <p:sp>
        <p:nvSpPr>
          <p:cNvPr id="12" name="box_2525"/>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526"/>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527"/>
          <p:cNvSpPr/>
          <p:nvPr/>
        </p:nvSpPr>
        <p:spPr>
          <a:xfrm>
            <a:off x="8794242" y="2103120"/>
            <a:ext cx="265176" cy="0"/>
          </a:xfrm>
          <a:prstGeom prst="line">
            <a:avLst/>
          </a:prstGeom>
          <a:noFill/>
          <a:ln w="25400">
            <a:solidFill>
              <a:schemeClr val="tx2"/>
            </a:solidFill>
            <a:prstDash val="solid"/>
            <a:tailEnd type="triangle"/>
          </a:ln>
        </p:spPr>
      </p:sp>
      <p:sp>
        <p:nvSpPr>
          <p:cNvPr id="15" name="box_2528"/>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529"/>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530"/>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531"/>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532"/>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533"/>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534"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535"/>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536"/>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537"/>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538"/>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539"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540"/>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541"/>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5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44"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545"/>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546"/>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547"/>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548"/>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549"/>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550"/>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551"/>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552"/>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553"/>
          <p:cNvSpPr/>
          <p:nvPr/>
        </p:nvSpPr>
        <p:spPr>
          <a:xfrm>
            <a:off x="6015838" y="2088032"/>
            <a:ext cx="365760" cy="365760"/>
          </a:xfrm>
          <a:prstGeom prst="ellipse">
            <a:avLst/>
          </a:prstGeom>
          <a:solidFill>
            <a:schemeClr val="accent1"/>
          </a:solidFill>
          <a:ln w="19050">
            <a:solidFill>
              <a:schemeClr val="bg1"/>
            </a:solidFill>
            <a:prstDash val="solid"/>
          </a:ln>
        </p:spPr>
      </p:sp>
      <p:sp>
        <p:nvSpPr>
          <p:cNvPr id="16" name="text_2554"/>
          <p:cNvSpPr txBox="1"/>
          <p:nvPr/>
        </p:nvSpPr>
        <p:spPr>
          <a:xfrm>
            <a:off x="6015838" y="208803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555"/>
          <p:cNvSpPr/>
          <p:nvPr/>
        </p:nvSpPr>
        <p:spPr>
          <a:xfrm>
            <a:off x="6258154" y="2461199"/>
            <a:ext cx="365760" cy="365760"/>
          </a:xfrm>
          <a:prstGeom prst="ellipse">
            <a:avLst/>
          </a:prstGeom>
          <a:solidFill>
            <a:schemeClr val="accent1"/>
          </a:solidFill>
          <a:ln w="19050">
            <a:solidFill>
              <a:schemeClr val="bg1"/>
            </a:solidFill>
            <a:prstDash val="solid"/>
          </a:ln>
        </p:spPr>
      </p:sp>
      <p:sp>
        <p:nvSpPr>
          <p:cNvPr id="18" name="text_2556"/>
          <p:cNvSpPr txBox="1"/>
          <p:nvPr/>
        </p:nvSpPr>
        <p:spPr>
          <a:xfrm>
            <a:off x="6258154" y="246119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557"/>
          <p:cNvSpPr/>
          <p:nvPr/>
        </p:nvSpPr>
        <p:spPr>
          <a:xfrm>
            <a:off x="5894680" y="3091221"/>
            <a:ext cx="365760" cy="365760"/>
          </a:xfrm>
          <a:prstGeom prst="ellipse">
            <a:avLst/>
          </a:prstGeom>
          <a:solidFill>
            <a:schemeClr val="accent1"/>
          </a:solidFill>
          <a:ln w="19050">
            <a:solidFill>
              <a:schemeClr val="bg1"/>
            </a:solidFill>
            <a:prstDash val="solid"/>
          </a:ln>
        </p:spPr>
      </p:sp>
      <p:sp>
        <p:nvSpPr>
          <p:cNvPr id="20" name="text_2558"/>
          <p:cNvSpPr txBox="1"/>
          <p:nvPr/>
        </p:nvSpPr>
        <p:spPr>
          <a:xfrm>
            <a:off x="5894680" y="3091221"/>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559"/>
          <p:cNvSpPr/>
          <p:nvPr/>
        </p:nvSpPr>
        <p:spPr>
          <a:xfrm>
            <a:off x="5894680" y="4050792"/>
            <a:ext cx="365760" cy="365760"/>
          </a:xfrm>
          <a:prstGeom prst="ellipse">
            <a:avLst/>
          </a:prstGeom>
          <a:solidFill>
            <a:schemeClr val="accent1"/>
          </a:solidFill>
          <a:ln w="19050">
            <a:solidFill>
              <a:schemeClr val="bg1"/>
            </a:solidFill>
            <a:prstDash val="solid"/>
          </a:ln>
        </p:spPr>
      </p:sp>
      <p:sp>
        <p:nvSpPr>
          <p:cNvPr id="22" name="text_2560"/>
          <p:cNvSpPr txBox="1"/>
          <p:nvPr/>
        </p:nvSpPr>
        <p:spPr>
          <a:xfrm>
            <a:off x="5894680" y="40507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561"/>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562"/>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563"/>
          <p:cNvSpPr/>
          <p:nvPr/>
        </p:nvSpPr>
        <p:spPr>
          <a:xfrm>
            <a:off x="7106260" y="1521013"/>
            <a:ext cx="365760" cy="365760"/>
          </a:xfrm>
          <a:prstGeom prst="ellipse">
            <a:avLst/>
          </a:prstGeom>
          <a:solidFill>
            <a:schemeClr val="accent1"/>
          </a:solidFill>
          <a:ln w="19050">
            <a:solidFill>
              <a:schemeClr val="bg1"/>
            </a:solidFill>
            <a:prstDash val="solid"/>
          </a:ln>
        </p:spPr>
      </p:sp>
      <p:sp>
        <p:nvSpPr>
          <p:cNvPr id="26" name="text_2564"/>
          <p:cNvSpPr txBox="1"/>
          <p:nvPr/>
        </p:nvSpPr>
        <p:spPr>
          <a:xfrm>
            <a:off x="7106260" y="1521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37" name="table_2565"/>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5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68"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569"/>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570"/>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p:txBody>
      </p:sp>
      <p:sp>
        <p:nvSpPr>
          <p:cNvPr id="9" name="num_2571"/>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572"/>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573"/>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574"/>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575"/>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576"/>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577"/>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모드·옵션 고르고 연결</a:t>
            </a:r>
            <a:endParaRPr lang="ko-KR" altLang="en-US" sz="1700" dirty="0"/>
          </a:p>
        </p:txBody>
      </p:sp>
      <p:sp>
        <p:nvSpPr>
          <p:cNvPr id="16" name="text_2578"/>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작업(지도·LLM), VLA 집기(모듈 5) 또는 지도 만들기, MuJoCo 창, RViz</a:t>
            </a:r>
            <a:endParaRPr lang="ko-KR" altLang="en-US" sz="1400" dirty="0"/>
          </a:p>
        </p:txBody>
      </p:sp>
      <p:sp>
        <p:nvSpPr>
          <p:cNvPr id="17" name="num_2579"/>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580"/>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581"/>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582"/>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583"/>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584"/>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585"/>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586"/>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58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8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8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59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59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59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9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9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9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9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59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9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9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60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60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04" descr="작업 중인 웹 대시보드">    </p:cNvPr>
          <p:cNvPicPr>
            <a:picLocks noChangeAspect="1"/>
          </p:cNvPicPr>
          <p:nvPr/>
        </p:nvPicPr>
        <p:blipFill>
          <a:blip r:embed="rId1"/>
          <a:stretch>
            <a:fillRect/>
          </a:stretch>
        </p:blipFill>
        <p:spPr>
          <a:xfrm>
            <a:off x="548640" y="1799996"/>
            <a:ext cx="5120640" cy="3898087"/>
          </a:xfrm>
          <a:prstGeom prst="rect">
            <a:avLst/>
          </a:prstGeom>
        </p:spPr>
      </p:pic>
      <p:sp>
        <p:nvSpPr>
          <p:cNvPr id="7" name="box_2605"/>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606"/>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607"/>
          <p:cNvSpPr/>
          <p:nvPr/>
        </p:nvSpPr>
        <p:spPr>
          <a:xfrm>
            <a:off x="8823960" y="2240280"/>
            <a:ext cx="0" cy="411480"/>
          </a:xfrm>
          <a:prstGeom prst="line">
            <a:avLst/>
          </a:prstGeom>
          <a:noFill/>
          <a:ln w="25400">
            <a:solidFill>
              <a:schemeClr val="tx2"/>
            </a:solidFill>
            <a:prstDash val="solid"/>
            <a:tailEnd type="triangle"/>
          </a:ln>
        </p:spPr>
      </p:sp>
      <p:sp>
        <p:nvSpPr>
          <p:cNvPr id="10" name="text_2608"/>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609"/>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610"/>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611"/>
          <p:cNvSpPr/>
          <p:nvPr/>
        </p:nvSpPr>
        <p:spPr>
          <a:xfrm>
            <a:off x="8823960" y="3566160"/>
            <a:ext cx="0" cy="365760"/>
          </a:xfrm>
          <a:prstGeom prst="line">
            <a:avLst/>
          </a:prstGeom>
          <a:noFill/>
          <a:ln w="25400">
            <a:solidFill>
              <a:schemeClr val="tx2"/>
            </a:solidFill>
            <a:prstDash val="solid"/>
            <a:tailEnd type="triangle"/>
          </a:ln>
        </p:spPr>
      </p:sp>
      <p:graphicFrame>
        <p:nvGraphicFramePr>
          <p:cNvPr id="140" name="table_2612"/>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 /task_manual_drive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/cmd_vel (키보드 조종)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6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615"/>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616"/>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617"/>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618"/>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619"/>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20"/>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621"/>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622"/>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623"/>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24"/>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625"/>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626"/>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627"/>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28"/>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629"/>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630"/>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631"/>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632"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633"/>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634"/>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635"/>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636"/>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637"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638"/>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639"/>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42"/>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643"/>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644"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645"/>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646"/>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647"/>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648"/>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마커 3 위</a:t>
            </a:r>
            <a:endParaRPr lang="ko-KR" altLang="en-US" sz="3600" dirty="0"/>
          </a:p>
        </p:txBody>
      </p:sp>
      <p:sp>
        <p:nvSpPr>
          <p:cNvPr id="13" name="text_2649"/>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650"/>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651"/>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652"/>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653"/>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654"/>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655"/>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656"/>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657"/>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65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60"/>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661"/>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62"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63"/>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664"/>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665"/>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666"/>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667"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668"/>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669"/>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670"/>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671"/>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672"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673"/>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674"/>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675"/>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676"/>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677"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678"/>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679"/>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6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6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683"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6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6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6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687"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6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6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6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691"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6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6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6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695"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6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6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6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699"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7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7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7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7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7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7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7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7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7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7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7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7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7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7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7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7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7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7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7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722"/>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7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24"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25"/>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726"/>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727"/>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728"/>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729"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730"/>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731"/>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732"/>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733"/>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734"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735"/>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736"/>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737"/>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738"/>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739"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740"/>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741"/>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심화 모듈 5 · 선택 · 약 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VLA</a:t>
            </a:r>
            <a:endParaRPr lang="ko-KR" altLang="en-US" sz="4000" dirty="0"/>
          </a:p>
          <a:p>
            <a:pPr eaLnBrk="0" algn="l" indent="0" marL="0">
              <a:buNone/>
            </a:pPr>
            <a:r>
              <a:rPr lang="ko-KR" altLang="en-US" sz="4000" b="1" dirty="0">
                <a:solidFill>
                  <a:schemeClr val="bg1"/>
                </a:solidFill>
              </a:rPr>
              <a:t>보고 배우는 집기 정책</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"계산해서 집기"와 "배워서 집기"의 차이를 설명한다</a:t>
            </a:r>
            <a:endParaRPr lang="ko-KR" altLang="en-US" sz="1600" dirty="0"/>
          </a:p>
          <a:p>
            <a:pPr eaLnBrk="0" marL="228600" indent="-228600">
              <a:spcAft>
                <a:spcPts val="800"/>
              </a:spcAft>
              <a:buSzPct val="100000"/>
              <a:buChar char="•"/>
            </a:pPr>
            <a:r>
              <a:rPr lang="ko-KR" altLang="en-US" sz="1600" dirty="0">
                <a:solidFill>
                  <a:schemeClr val="accent5"/>
                </a:solidFill>
              </a:rPr>
              <a:t>스크립트 전문가의 시연으로 작은 정책을 노트북 CPU에서 학습한다</a:t>
            </a:r>
            <a:endParaRPr lang="ko-KR" altLang="en-US" sz="1600" dirty="0"/>
          </a:p>
          <a:p>
            <a:pPr eaLnBrk="0" marL="228600" indent="-228600">
              <a:spcAft>
                <a:spcPts val="800"/>
              </a:spcAft>
              <a:buSzPct val="100000"/>
              <a:buChar char="•"/>
            </a:pPr>
            <a:r>
              <a:rPr lang="ko-KR" altLang="en-US" sz="1600" dirty="0">
                <a:solidFill>
                  <a:schemeClr val="accent5"/>
                </a:solidFill>
              </a:rPr>
              <a:t>처음 보는 배치에서 정책과 전문가의 성공률을 비교한다</a:t>
            </a:r>
            <a:endParaRPr lang="ko-KR" altLang="en-US" sz="1600" dirty="0"/>
          </a:p>
          <a:p>
            <a:pPr eaLnBrk="0" marL="228600" indent="-228600">
              <a:spcAft>
                <a:spcPts val="800"/>
              </a:spcAft>
              <a:buSzPct val="100000"/>
              <a:buChar char="•"/>
            </a:pPr>
            <a:r>
              <a:rPr lang="ko-KR" altLang="en-US" sz="1600" dirty="0">
                <a:solidFill>
                  <a:schemeClr val="accent5"/>
                </a:solidFill>
              </a:rPr>
              <a:t>정책을 ROS 노드로 감싸 작업의 "집기" 한 단계만 바꿔 끼운다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계산해서 집기 vs 배워서 집기</a:t>
            </a:r>
            <a:endParaRPr lang="ko-KR" altLang="en-US" sz="3000" dirty="0"/>
          </a:p>
        </p:txBody>
      </p:sp>
      <p:sp>
        <p:nvSpPr>
          <p:cNvPr id="3" name="pill_27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44"/>
          <p:cNvSpPr/>
          <p:nvPr/>
        </p:nvSpPr>
        <p:spPr>
          <a:xfrm>
            <a:off x="548640" y="1371600"/>
            <a:ext cx="5440680" cy="3108960"/>
          </a:xfrm>
          <a:prstGeom prst="roundRect">
            <a:avLst>
              <a:gd name="adj" fmla="val 2353"/>
            </a:avLst>
          </a:prstGeom>
          <a:solidFill>
            <a:schemeClr val="bg2"/>
          </a:solidFill>
          <a:ln w="12700">
            <a:solidFill>
              <a:schemeClr val="bg2"/>
            </a:solidFill>
            <a:prstDash val="solid"/>
          </a:ln>
        </p:spPr>
      </p:sp>
      <p:sp>
        <p:nvSpPr>
          <p:cNvPr id="7" name="iconbg_274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746" descr="Cog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47"/>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계산해서 (모듈 3)</a:t>
            </a:r>
            <a:endParaRPr lang="ko-KR" altLang="en-US" sz="1800" dirty="0"/>
          </a:p>
        </p:txBody>
      </p:sp>
      <p:sp>
        <p:nvSpPr>
          <p:cNvPr id="10" name="text_2748"/>
          <p:cNvSpPr txBox="1"/>
          <p:nvPr/>
        </p:nvSpPr>
        <p:spPr>
          <a:xfrm>
            <a:off x="77724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 ArUco 마커 → 상자 위치·방향 (숫자)</a:t>
            </a:r>
            <a:endParaRPr lang="ko-KR" altLang="en-US" sz="1500" dirty="0"/>
          </a:p>
          <a:p>
            <a:pPr eaLnBrk="0" indent="0" marL="0">
              <a:buNone/>
            </a:pPr>
            <a:r>
              <a:rPr lang="ko-KR" altLang="en-US" sz="1500" dirty="0">
                <a:solidFill>
                  <a:schemeClr val="tx1"/>
                </a:solidFill>
              </a:rPr>
              <a:t>→ 손 목표 자세 계산 (접근 15°)</a:t>
            </a:r>
            <a:endParaRPr lang="ko-KR" altLang="en-US" sz="1500" dirty="0"/>
          </a:p>
          <a:p>
            <a:pPr eaLnBrk="0" indent="0" marL="0">
              <a:buNone/>
            </a:pPr>
            <a:r>
              <a:rPr lang="ko-KR" altLang="en-US" sz="1500" dirty="0">
                <a:solidFill>
                  <a:schemeClr val="tx1"/>
                </a:solidFill>
              </a:rPr>
              <a:t>→ MoveIt IK · 경로 계획 → 궤적</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정확하고 왜 그렇게 움직였는지 설명 가능</a:t>
            </a:r>
            <a:endParaRPr lang="ko-KR" altLang="en-US" sz="1500" dirty="0"/>
          </a:p>
          <a:p>
            <a:pPr eaLnBrk="0" indent="0" marL="0">
              <a:buNone/>
            </a:pPr>
            <a:r>
              <a:rPr lang="ko-KR" altLang="en-US" sz="1500" dirty="0">
                <a:solidFill>
                  <a:schemeClr val="tx1"/>
                </a:solidFill>
              </a:rPr>
              <a:t>• 마커 없는 물체, 새 모양은 사람이 다시 코딩</a:t>
            </a:r>
            <a:endParaRPr lang="ko-KR" altLang="en-US" sz="1500" dirty="0"/>
          </a:p>
        </p:txBody>
      </p:sp>
      <p:sp>
        <p:nvSpPr>
          <p:cNvPr id="11" name="box_2749"/>
          <p:cNvSpPr/>
          <p:nvPr/>
        </p:nvSpPr>
        <p:spPr>
          <a:xfrm>
            <a:off x="6172200" y="1371600"/>
            <a:ext cx="5440680" cy="3108960"/>
          </a:xfrm>
          <a:prstGeom prst="roundRect">
            <a:avLst>
              <a:gd name="adj" fmla="val 2353"/>
            </a:avLst>
          </a:prstGeom>
          <a:solidFill>
            <a:schemeClr val="bg2"/>
          </a:solidFill>
          <a:ln w="12700">
            <a:solidFill>
              <a:schemeClr val="bg2"/>
            </a:solidFill>
            <a:prstDash val="solid"/>
          </a:ln>
        </p:spPr>
      </p:sp>
      <p:sp>
        <p:nvSpPr>
          <p:cNvPr id="12" name="iconbg_2750"/>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751" descr="Brai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752"/>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배워서 (이 모듈)</a:t>
            </a:r>
            <a:endParaRPr lang="ko-KR" altLang="en-US" sz="1800" dirty="0"/>
          </a:p>
        </p:txBody>
      </p:sp>
      <p:sp>
        <p:nvSpPr>
          <p:cNvPr id="15" name="text_2753"/>
          <p:cNvSpPr txBox="1"/>
          <p:nvPr/>
        </p:nvSpPr>
        <p:spPr>
          <a:xfrm>
            <a:off x="640080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영상 + 명령 문장 + 관절각</a:t>
            </a:r>
            <a:endParaRPr lang="ko-KR" altLang="en-US" sz="1500" dirty="0"/>
          </a:p>
          <a:p>
            <a:pPr eaLnBrk="0" indent="0" marL="0">
              <a:buNone/>
            </a:pPr>
            <a:r>
              <a:rPr lang="ko-KR" altLang="en-US" sz="1500" dirty="0">
                <a:solidFill>
                  <a:schemeClr val="tx1"/>
                </a:solidFill>
              </a:rPr>
              <a:t>→ 신경망 → 다음 1초의 관절 목표</a:t>
            </a:r>
            <a:endParaRPr lang="ko-KR" altLang="en-US" sz="1500" dirty="0"/>
          </a:p>
          <a:p>
            <a:pPr eaLnBrk="0" indent="0" marL="0">
              <a:buNone/>
            </a:pPr>
            <a:r>
              <a:rPr lang="ko-KR" altLang="en-US" sz="1500" dirty="0">
                <a:solidFill>
                  <a:schemeClr val="tx1"/>
                </a:solidFill>
              </a:rPr>
              <a:t>(0.1초마다 다시 보고 다시 낸다)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시연만 있으면 새 물체·새 동작도 같은 방법</a:t>
            </a:r>
            <a:endParaRPr lang="ko-KR" altLang="en-US" sz="1500" dirty="0"/>
          </a:p>
          <a:p>
            <a:pPr eaLnBrk="0" indent="0" marL="0">
              <a:buNone/>
            </a:pPr>
            <a:r>
              <a:rPr lang="ko-KR" altLang="en-US" sz="1500" dirty="0">
                <a:solidFill>
                  <a:schemeClr val="tx1"/>
                </a:solidFill>
              </a:rPr>
              <a:t>• 데이터 밖 상황에서는 무엇을 할지 모른다</a:t>
            </a:r>
            <a:endParaRPr lang="ko-KR" altLang="en-US" sz="1500" dirty="0"/>
          </a:p>
        </p:txBody>
      </p:sp>
      <p:sp>
        <p:nvSpPr>
          <p:cNvPr id="16" name="box_2754"/>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17" name="iconbg_2755"/>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18" name="icon_2756" descr="Lightbulb 아이콘">    </p:cNvPr>
          <p:cNvPicPr>
            <a:picLocks noChangeAspect="1"/>
          </p:cNvPicPr>
          <p:nvPr/>
        </p:nvPicPr>
        <p:blipFill>
          <a:blip r:embed="rId3"/>
          <a:stretch>
            <a:fillRect/>
          </a:stretch>
        </p:blipFill>
        <p:spPr>
          <a:xfrm>
            <a:off x="897941" y="5012741"/>
            <a:ext cx="307238" cy="307238"/>
          </a:xfrm>
          <a:prstGeom prst="rect">
            <a:avLst/>
          </a:prstGeom>
        </p:spPr>
      </p:pic>
      <p:sp>
        <p:nvSpPr>
          <p:cNvPr id="19" name="text_2757"/>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758"/>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요리책을 보고 계량해서 만드는 사람(계산)과, 잘하는 사람 옆에서 수백 번 보고 손이 기억하는 사람(학습). 앞사람은 레시피가 없으면 못 하고, 뒷사람은 처음 보는 부엌에서 헤맨다.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VLA = Vision + Language → Action</a:t>
            </a:r>
            <a:endParaRPr lang="ko-KR" altLang="en-US" sz="3000" dirty="0"/>
          </a:p>
        </p:txBody>
      </p:sp>
      <p:sp>
        <p:nvSpPr>
          <p:cNvPr id="3" name="pill_27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61"/>
          <p:cNvSpPr/>
          <p:nvPr/>
        </p:nvSpPr>
        <p:spPr>
          <a:xfrm>
            <a:off x="548640" y="1371600"/>
            <a:ext cx="3291840" cy="603504"/>
          </a:xfrm>
          <a:prstGeom prst="roundRect">
            <a:avLst>
              <a:gd name="adj" fmla="val 12121"/>
            </a:avLst>
          </a:prstGeom>
          <a:solidFill>
            <a:schemeClr val="accent3"/>
          </a:solidFill>
          <a:ln w="12700">
            <a:solidFill>
              <a:schemeClr val="accent3"/>
            </a:solidFill>
            <a:prstDash val="solid"/>
          </a:ln>
        </p:spPr>
      </p:sp>
      <p:sp>
        <p:nvSpPr>
          <p:cNvPr id="7" name="text_2762"/>
          <p:cNvSpPr txBox="1"/>
          <p:nvPr/>
        </p:nvSpPr>
        <p:spPr>
          <a:xfrm>
            <a:off x="640080" y="1371600"/>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머리 카메라 128×72</a:t>
            </a:r>
            <a:endParaRPr lang="ko-KR" altLang="en-US" sz="1500" dirty="0"/>
          </a:p>
        </p:txBody>
      </p:sp>
      <p:sp>
        <p:nvSpPr>
          <p:cNvPr id="8" name="arrow_2763"/>
          <p:cNvSpPr/>
          <p:nvPr/>
        </p:nvSpPr>
        <p:spPr>
          <a:xfrm>
            <a:off x="3886200" y="1673352"/>
            <a:ext cx="685800" cy="1069848"/>
          </a:xfrm>
          <a:prstGeom prst="line">
            <a:avLst/>
          </a:prstGeom>
          <a:noFill/>
          <a:ln w="25400">
            <a:solidFill>
              <a:schemeClr val="tx2"/>
            </a:solidFill>
            <a:prstDash val="solid"/>
            <a:tailEnd type="triangle"/>
          </a:ln>
        </p:spPr>
      </p:sp>
      <p:sp>
        <p:nvSpPr>
          <p:cNvPr id="9" name="box_2764"/>
          <p:cNvSpPr/>
          <p:nvPr/>
        </p:nvSpPr>
        <p:spPr>
          <a:xfrm>
            <a:off x="548640" y="2121408"/>
            <a:ext cx="3291840" cy="603504"/>
          </a:xfrm>
          <a:prstGeom prst="roundRect">
            <a:avLst>
              <a:gd name="adj" fmla="val 12121"/>
            </a:avLst>
          </a:prstGeom>
          <a:solidFill>
            <a:schemeClr val="accent3"/>
          </a:solidFill>
          <a:ln w="12700">
            <a:solidFill>
              <a:schemeClr val="accent3"/>
            </a:solidFill>
            <a:prstDash val="solid"/>
          </a:ln>
        </p:spPr>
      </p:sp>
      <p:sp>
        <p:nvSpPr>
          <p:cNvPr id="10" name="text_2765"/>
          <p:cNvSpPr txBox="1"/>
          <p:nvPr/>
        </p:nvSpPr>
        <p:spPr>
          <a:xfrm>
            <a:off x="640080" y="2121408"/>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손목 카메라 96×96</a:t>
            </a:r>
            <a:endParaRPr lang="ko-KR" altLang="en-US" sz="1500" dirty="0"/>
          </a:p>
        </p:txBody>
      </p:sp>
      <p:sp>
        <p:nvSpPr>
          <p:cNvPr id="11" name="arrow_2766"/>
          <p:cNvSpPr/>
          <p:nvPr/>
        </p:nvSpPr>
        <p:spPr>
          <a:xfrm>
            <a:off x="3886200" y="2423160"/>
            <a:ext cx="685800" cy="320040"/>
          </a:xfrm>
          <a:prstGeom prst="line">
            <a:avLst/>
          </a:prstGeom>
          <a:noFill/>
          <a:ln w="25400">
            <a:solidFill>
              <a:schemeClr val="tx2"/>
            </a:solidFill>
            <a:prstDash val="solid"/>
            <a:tailEnd type="triangle"/>
          </a:ln>
        </p:spPr>
      </p:sp>
      <p:sp>
        <p:nvSpPr>
          <p:cNvPr id="12" name="box_2767"/>
          <p:cNvSpPr/>
          <p:nvPr/>
        </p:nvSpPr>
        <p:spPr>
          <a:xfrm>
            <a:off x="548640" y="2871216"/>
            <a:ext cx="3291840" cy="603504"/>
          </a:xfrm>
          <a:prstGeom prst="roundRect">
            <a:avLst>
              <a:gd name="adj" fmla="val 12121"/>
            </a:avLst>
          </a:prstGeom>
          <a:solidFill>
            <a:schemeClr val="accent4"/>
          </a:solidFill>
          <a:ln w="12700">
            <a:solidFill>
              <a:schemeClr val="accent4"/>
            </a:solidFill>
            <a:prstDash val="solid"/>
          </a:ln>
        </p:spPr>
      </p:sp>
      <p:sp>
        <p:nvSpPr>
          <p:cNvPr id="13" name="text_2768"/>
          <p:cNvSpPr txBox="1"/>
          <p:nvPr/>
        </p:nvSpPr>
        <p:spPr>
          <a:xfrm>
            <a:off x="640080" y="2871216"/>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명령 "pick up the red box"</a:t>
            </a:r>
            <a:endParaRPr lang="ko-KR" altLang="en-US" sz="1500" dirty="0"/>
          </a:p>
        </p:txBody>
      </p:sp>
      <p:sp>
        <p:nvSpPr>
          <p:cNvPr id="14" name="arrow_2769"/>
          <p:cNvSpPr/>
          <p:nvPr/>
        </p:nvSpPr>
        <p:spPr>
          <a:xfrm flipV="1">
            <a:off x="3886200" y="2743200"/>
            <a:ext cx="685800" cy="429768"/>
          </a:xfrm>
          <a:prstGeom prst="line">
            <a:avLst/>
          </a:prstGeom>
          <a:noFill/>
          <a:ln w="25400">
            <a:solidFill>
              <a:schemeClr val="tx2"/>
            </a:solidFill>
            <a:prstDash val="solid"/>
            <a:tailEnd type="triangle"/>
          </a:ln>
        </p:spPr>
      </p:sp>
      <p:sp>
        <p:nvSpPr>
          <p:cNvPr id="15" name="box_2770"/>
          <p:cNvSpPr/>
          <p:nvPr/>
        </p:nvSpPr>
        <p:spPr>
          <a:xfrm>
            <a:off x="548640" y="3621024"/>
            <a:ext cx="3291840" cy="603504"/>
          </a:xfrm>
          <a:prstGeom prst="roundRect">
            <a:avLst>
              <a:gd name="adj" fmla="val 12121"/>
            </a:avLst>
          </a:prstGeom>
          <a:solidFill>
            <a:schemeClr val="accent5"/>
          </a:solidFill>
          <a:ln w="12700">
            <a:solidFill>
              <a:schemeClr val="accent5"/>
            </a:solidFill>
            <a:prstDash val="solid"/>
          </a:ln>
        </p:spPr>
      </p:sp>
      <p:sp>
        <p:nvSpPr>
          <p:cNvPr id="16" name="text_2771"/>
          <p:cNvSpPr txBox="1"/>
          <p:nvPr/>
        </p:nvSpPr>
        <p:spPr>
          <a:xfrm>
            <a:off x="640080" y="3621024"/>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관절각 8개</a:t>
            </a:r>
            <a:endParaRPr lang="ko-KR" altLang="en-US" sz="1500" dirty="0"/>
          </a:p>
        </p:txBody>
      </p:sp>
      <p:sp>
        <p:nvSpPr>
          <p:cNvPr id="17" name="arrow_2772"/>
          <p:cNvSpPr/>
          <p:nvPr/>
        </p:nvSpPr>
        <p:spPr>
          <a:xfrm flipV="1">
            <a:off x="3886200" y="2743200"/>
            <a:ext cx="685800" cy="1179576"/>
          </a:xfrm>
          <a:prstGeom prst="line">
            <a:avLst/>
          </a:prstGeom>
          <a:noFill/>
          <a:ln w="25400">
            <a:solidFill>
              <a:schemeClr val="tx2"/>
            </a:solidFill>
            <a:prstDash val="solid"/>
            <a:tailEnd type="triangle"/>
          </a:ln>
        </p:spPr>
      </p:sp>
      <p:sp>
        <p:nvSpPr>
          <p:cNvPr id="18" name="box_2773"/>
          <p:cNvSpPr/>
          <p:nvPr/>
        </p:nvSpPr>
        <p:spPr>
          <a:xfrm>
            <a:off x="4617720" y="2011680"/>
            <a:ext cx="2377440" cy="1463040"/>
          </a:xfrm>
          <a:prstGeom prst="roundRect">
            <a:avLst>
              <a:gd name="adj" fmla="val 5000"/>
            </a:avLst>
          </a:prstGeom>
          <a:solidFill>
            <a:schemeClr val="tx1"/>
          </a:solidFill>
          <a:ln w="12700">
            <a:solidFill>
              <a:schemeClr val="tx1"/>
            </a:solidFill>
            <a:prstDash val="solid"/>
          </a:ln>
        </p:spPr>
      </p:sp>
      <p:sp>
        <p:nvSpPr>
          <p:cNvPr id="19" name="text_2774"/>
          <p:cNvSpPr txBox="1"/>
          <p:nvPr/>
        </p:nvSpPr>
        <p:spPr>
          <a:xfrm>
            <a:off x="4617720" y="2011680"/>
            <a:ext cx="237744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정책 신경망</a:t>
            </a:r>
            <a:endParaRPr lang="ko-KR" altLang="en-US" sz="1500" dirty="0"/>
          </a:p>
          <a:p>
            <a:pPr eaLnBrk="0" algn="ctr" indent="0" marL="0">
              <a:buNone/>
            </a:pPr>
            <a:r>
              <a:rPr lang="ko-KR" altLang="en-US" sz="1500" b="1" dirty="0">
                <a:solidFill>
                  <a:schemeClr val="bg1"/>
                </a:solidFill>
              </a:rPr>
              <a:t>60만 매개변수</a:t>
            </a:r>
            <a:endParaRPr lang="ko-KR" altLang="en-US" sz="1500" dirty="0"/>
          </a:p>
          <a:p>
            <a:pPr eaLnBrk="0" algn="ctr" indent="0" marL="0">
              <a:buNone/>
            </a:pPr>
            <a:r>
              <a:rPr lang="ko-KR" altLang="en-US" sz="1500" b="1" dirty="0">
                <a:solidFill>
                  <a:schemeClr val="bg1"/>
                </a:solidFill>
              </a:rPr>
              <a:t>CPU 한 번 4 ms</a:t>
            </a:r>
            <a:endParaRPr lang="ko-KR" altLang="en-US" sz="1500" dirty="0"/>
          </a:p>
        </p:txBody>
      </p:sp>
      <p:sp>
        <p:nvSpPr>
          <p:cNvPr id="20" name="arrow_2775"/>
          <p:cNvSpPr/>
          <p:nvPr/>
        </p:nvSpPr>
        <p:spPr>
          <a:xfrm>
            <a:off x="7040880" y="2743200"/>
            <a:ext cx="640080" cy="0"/>
          </a:xfrm>
          <a:prstGeom prst="line">
            <a:avLst/>
          </a:prstGeom>
          <a:noFill/>
          <a:ln w="25400">
            <a:solidFill>
              <a:schemeClr val="tx2"/>
            </a:solidFill>
            <a:prstDash val="solid"/>
            <a:tailEnd type="triangle"/>
          </a:ln>
        </p:spPr>
      </p:sp>
      <p:sp>
        <p:nvSpPr>
          <p:cNvPr id="21" name="box_2776"/>
          <p:cNvSpPr/>
          <p:nvPr/>
        </p:nvSpPr>
        <p:spPr>
          <a:xfrm>
            <a:off x="7726680" y="2011680"/>
            <a:ext cx="3886200" cy="1463040"/>
          </a:xfrm>
          <a:prstGeom prst="roundRect">
            <a:avLst>
              <a:gd name="adj" fmla="val 5000"/>
            </a:avLst>
          </a:prstGeom>
          <a:solidFill>
            <a:schemeClr val="accent1"/>
          </a:solidFill>
          <a:ln w="12700">
            <a:solidFill>
              <a:schemeClr val="accent1"/>
            </a:solidFill>
            <a:prstDash val="solid"/>
          </a:ln>
        </p:spPr>
      </p:sp>
      <p:sp>
        <p:nvSpPr>
          <p:cNvPr id="22" name="text_2777"/>
          <p:cNvSpPr txBox="1"/>
          <p:nvPr/>
        </p:nvSpPr>
        <p:spPr>
          <a:xfrm>
            <a:off x="7772400" y="2011680"/>
            <a:ext cx="379476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앞으로 1초(10단계)의</a:t>
            </a:r>
            <a:endParaRPr lang="ko-KR" altLang="en-US" sz="1500" dirty="0"/>
          </a:p>
          <a:p>
            <a:pPr eaLnBrk="0" algn="ctr" indent="0" marL="0">
              <a:buNone/>
            </a:pPr>
            <a:r>
              <a:rPr lang="ko-KR" altLang="en-US" sz="1500" b="1" dirty="0">
                <a:solidFill>
                  <a:schemeClr val="bg1"/>
                </a:solidFill>
              </a:rPr>
              <a:t>오른팔 관절 7 + 손가락 목표</a:t>
            </a:r>
            <a:endParaRPr lang="ko-KR" altLang="en-US" sz="1500" dirty="0"/>
          </a:p>
          <a:p>
            <a:pPr eaLnBrk="0" algn="ctr" indent="0" marL="0">
              <a:buNone/>
            </a:pPr>
            <a:r>
              <a:rPr lang="ko-KR" altLang="en-US" sz="1500" b="1" dirty="0">
                <a:solidFill>
                  <a:schemeClr val="bg1"/>
                </a:solidFill>
              </a:rPr>
              <a:t>+ "다 집었다" 확률</a:t>
            </a:r>
            <a:endParaRPr lang="ko-KR" altLang="en-US" sz="1500" dirty="0"/>
          </a:p>
        </p:txBody>
      </p:sp>
      <p:sp>
        <p:nvSpPr>
          <p:cNvPr id="23" name="text_2778"/>
          <p:cNvSpPr txBox="1"/>
          <p:nvPr/>
        </p:nvSpPr>
        <p:spPr>
          <a:xfrm>
            <a:off x="4617720" y="3611880"/>
            <a:ext cx="69951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0.1초마다 새 영상으로 다시 → /joint_commands</a:t>
            </a:r>
            <a:endParaRPr lang="ko-KR" altLang="en-US" sz="1300" dirty="0"/>
          </a:p>
        </p:txBody>
      </p:sp>
      <p:graphicFrame>
        <p:nvGraphicFramePr>
          <p:cNvPr id="149" name="table_2779"/>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011680"/>
                <a:gridCol w="4754880"/>
                <a:gridCol w="4297680"/>
              </a:tblGrid>
              <a:tr h="0">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큰 VLA (OpenVLA, π0)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 모듈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매개변수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30억~70억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60만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GPU 수십 대, 시연 수십만 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 CPU 35분, 시연 600개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할 수 있는 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여러 물체, 여러 동작, 처음 보는 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빨간 상자 집기 하나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무엇을 바꾸고 무엇을 그대로 두나</a:t>
            </a:r>
            <a:endParaRPr lang="ko-KR" altLang="en-US" sz="3000" dirty="0"/>
          </a:p>
        </p:txBody>
      </p:sp>
      <p:sp>
        <p:nvSpPr>
          <p:cNvPr id="3" name="pill_27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0" name="table_278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3657600"/>
                <a:gridCol w="4663440"/>
              </a:tblGrid>
              <a:tr h="0">
                <a:tc>
                  <a:txBody>
                    <a:bodyPr/>
                    <a:lstStyle/>
                    <a:p>
                      <a:pPr eaLnBrk="0" indent="0" marL="0">
                        <a:buNone/>
                      </a:pPr>
                      <a:r>
                        <a:rPr lang="ko-KR" altLang="en-US" sz="1600" b="1" dirty="0">
                          <a:solidFill>
                            <a:schemeClr val="bg1"/>
                          </a:solidFill>
                        </a:rPr>
                        <a:t>단계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VLA 집기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계획</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LLM (Claude)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테이블까지 주행</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Nav2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상자 앞 정렬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ArUco 정밀 접근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 (항상 오른팔 기준)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집기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마커 좌표 → 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정책이 카메라를 보고 (/joint_commands 10 Hz)</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팔 접기 · 놓기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783"/>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784"/>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785"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786"/>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787"/>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학습에서도 "한 번에 하나만 바꾸기"가 중요하다. 주행·정렬·놓기는 검증된 방식을 쓰고, 집기만 학습으로 바꿔 차이를 정확히 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무엇으로 만들었나: 프레임워크</a:t>
            </a:r>
            <a:endParaRPr lang="ko-KR" altLang="en-US" sz="3000" dirty="0"/>
          </a:p>
        </p:txBody>
      </p:sp>
      <p:sp>
        <p:nvSpPr>
          <p:cNvPr id="3" name="pill_27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1" name="table_2790"/>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2194560"/>
                <a:gridCol w="822960"/>
                <a:gridCol w="3657600"/>
              </a:tblGrid>
              <a:tr h="0">
                <a:tc>
                  <a:txBody>
                    <a:bodyPr/>
                    <a:lstStyle/>
                    <a:p>
                      <a:pPr eaLnBrk="0" indent="0" marL="0">
                        <a:buNone/>
                      </a:pPr>
                      <a:r>
                        <a:rPr lang="ko-KR" altLang="en-US" sz="1300" b="1" dirty="0">
                          <a:solidFill>
                            <a:schemeClr val="bg1"/>
                          </a:solidFill>
                        </a:rPr>
                        <a:t>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버전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맡은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MuJoCo (Python)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3.12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물리(mj_step), 카메라 렌더링(Renderer), IK용 자코비안(mj_jac)</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PyTorch (CPU)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신경망(nn.Module), 자동 미분, AdamW, 저장(torch.save)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NumPy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배열, .npz 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multiprocessing</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표준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녹화를 프로세스 6개로 병렬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ROS 2 rclpy + OpenCV</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Humble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vla_pick 노드, 영상 축소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쓰지 않음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LeRobot, Hugging Face, 사전학습 가중치, GPU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01" name="table_2791"/>
          <p:cNvGraphicFramePr>
            <a:graphicFrameLocks noGrp="1"/>
          </p:cNvGraphicFramePr>
          <p:nvPr>
            <p:extLst>
              <p:ext uri="{D42A27DB-BD31-4B8C-83A1-F6EECF244321}">
                <p14:modId xmlns:p14="http://schemas.microsoft.com/office/powerpoint/2010/main" val="1579011935"/>
              </p:ext>
            </p:extLst>
          </p:nvPr>
        </p:nvGraphicFramePr>
        <p:xfrm>
          <a:off x="7498080" y="1371600"/>
          <a:ext cx="4114800" cy="914400"/>
        </p:xfrm>
        <a:graphic>
          <a:graphicData uri="http://schemas.openxmlformats.org/drawingml/2006/table">
            <a:tbl>
              <a:tblPr/>
              <a:tblGrid>
                <a:gridCol w="1737360"/>
                <a:gridCol w="548640"/>
                <a:gridCol w="1828800"/>
              </a:tblGrid>
              <a:tr h="0">
                <a:tc>
                  <a:txBody>
                    <a:bodyPr/>
                    <a:lstStyle/>
                    <a:p>
                      <a:pPr eaLnBrk="0" indent="0" marL="0">
                        <a:buNone/>
                      </a:pPr>
                      <a:r>
                        <a:rPr lang="ko-KR" altLang="en-US" sz="1300" b="1" dirty="0">
                          <a:solidFill>
                            <a:schemeClr val="bg1"/>
                          </a:solidFill>
                        </a:rPr>
                        <a:t>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sim.py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 전용 장면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expert.py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스크립트 전문가 (IK)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record.py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녹화 → .npz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model.py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정책 신경망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train.py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루프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runner.py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실행 (시간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evaluate.py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닫힌 루프 평가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vla_pick_node.py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147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노드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2792"/>
          <p:cNvSpPr/>
          <p:nvPr/>
        </p:nvSpPr>
        <p:spPr>
          <a:xfrm>
            <a:off x="548640" y="4846320"/>
            <a:ext cx="6675120" cy="1280160"/>
          </a:xfrm>
          <a:prstGeom prst="roundRect">
            <a:avLst>
              <a:gd name="adj" fmla="val 5714"/>
            </a:avLst>
          </a:prstGeom>
          <a:solidFill>
            <a:schemeClr val="bg2"/>
          </a:solidFill>
          <a:ln w="12700">
            <a:solidFill>
              <a:schemeClr val="bg2"/>
            </a:solidFill>
            <a:prstDash val="solid"/>
          </a:ln>
        </p:spPr>
      </p:sp>
      <p:sp>
        <p:nvSpPr>
          <p:cNvPr id="9" name="iconbg_2793"/>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10" name="icon_2794"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11" name="text_2795"/>
          <p:cNvSpPr txBox="1"/>
          <p:nvPr/>
        </p:nvSpPr>
        <p:spPr>
          <a:xfrm>
            <a:off x="1325880" y="4937760"/>
            <a:ext cx="56692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 없이 학습</a:t>
            </a:r>
            <a:endParaRPr lang="ko-KR" altLang="en-US" sz="1500" dirty="0"/>
          </a:p>
        </p:txBody>
      </p:sp>
      <p:sp>
        <p:nvSpPr>
          <p:cNvPr id="12" name="text_2796"/>
          <p:cNvSpPr txBox="1"/>
          <p:nvPr/>
        </p:nvSpPr>
        <p:spPr>
          <a:xfrm>
            <a:off x="777240" y="5413248"/>
            <a:ext cx="621792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학습·평가는 ROS 없이 MuJoCo만으로. 브리지와 같은 scene.xml, 같은 액추에이터·중력 보상(load_model)이라 여기서 배운 정책이 ROS 안의 로봇에 그대로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150</a:t>
            </a:fld>
            <a:endParaRPr lang="ko-KR" alt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흐름: 데이터에서 로봇까지</a:t>
            </a:r>
            <a:endParaRPr lang="ko-KR" altLang="en-US" sz="3000" dirty="0"/>
          </a:p>
        </p:txBody>
      </p:sp>
      <p:sp>
        <p:nvSpPr>
          <p:cNvPr id="3" name="pill_27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99"/>
          <p:cNvSpPr/>
          <p:nvPr/>
        </p:nvSpPr>
        <p:spPr>
          <a:xfrm>
            <a:off x="548640" y="1463040"/>
            <a:ext cx="1615440" cy="1188720"/>
          </a:xfrm>
          <a:prstGeom prst="roundRect">
            <a:avLst>
              <a:gd name="adj" fmla="val 6154"/>
            </a:avLst>
          </a:prstGeom>
          <a:solidFill>
            <a:schemeClr val="accent3"/>
          </a:solidFill>
          <a:ln w="12700">
            <a:solidFill>
              <a:schemeClr val="accent3"/>
            </a:solidFill>
            <a:prstDash val="solid"/>
          </a:ln>
        </p:spPr>
      </p:sp>
      <p:sp>
        <p:nvSpPr>
          <p:cNvPr id="7" name="text_2800"/>
          <p:cNvSpPr txBox="1"/>
          <p:nvPr/>
        </p:nvSpPr>
        <p:spPr>
          <a:xfrm>
            <a:off x="5943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sim.py + expert.py</a:t>
            </a:r>
            <a:endParaRPr lang="ko-KR" altLang="en-US" sz="1300" dirty="0"/>
          </a:p>
          <a:p>
            <a:pPr eaLnBrk="0" algn="ctr" indent="0" marL="0">
              <a:buNone/>
            </a:pPr>
            <a:r>
              <a:rPr lang="ko-KR" altLang="en-US" sz="1300" b="1" dirty="0">
                <a:solidFill>
                  <a:schemeClr val="bg1"/>
                </a:solidFill>
              </a:rPr>
              <a:t>장면 + 전문가</a:t>
            </a:r>
            <a:endParaRPr lang="ko-KR" altLang="en-US" sz="1300" dirty="0"/>
          </a:p>
        </p:txBody>
      </p:sp>
      <p:sp>
        <p:nvSpPr>
          <p:cNvPr id="8" name="arrow_2801"/>
          <p:cNvSpPr/>
          <p:nvPr/>
        </p:nvSpPr>
        <p:spPr>
          <a:xfrm>
            <a:off x="2191512" y="2057400"/>
            <a:ext cx="219456" cy="0"/>
          </a:xfrm>
          <a:prstGeom prst="line">
            <a:avLst/>
          </a:prstGeom>
          <a:noFill/>
          <a:ln w="25400">
            <a:solidFill>
              <a:schemeClr val="tx2"/>
            </a:solidFill>
            <a:prstDash val="solid"/>
            <a:tailEnd type="triangle"/>
          </a:ln>
        </p:spPr>
      </p:sp>
      <p:sp>
        <p:nvSpPr>
          <p:cNvPr id="9" name="box_2802"/>
          <p:cNvSpPr/>
          <p:nvPr/>
        </p:nvSpPr>
        <p:spPr>
          <a:xfrm>
            <a:off x="2438400" y="1463040"/>
            <a:ext cx="1615440" cy="1188720"/>
          </a:xfrm>
          <a:prstGeom prst="roundRect">
            <a:avLst>
              <a:gd name="adj" fmla="val 6154"/>
            </a:avLst>
          </a:prstGeom>
          <a:solidFill>
            <a:schemeClr val="accent2"/>
          </a:solidFill>
          <a:ln w="12700">
            <a:solidFill>
              <a:schemeClr val="accent2"/>
            </a:solidFill>
            <a:prstDash val="solid"/>
          </a:ln>
        </p:spPr>
      </p:sp>
      <p:sp>
        <p:nvSpPr>
          <p:cNvPr id="10" name="text_2803"/>
          <p:cNvSpPr txBox="1"/>
          <p:nvPr/>
        </p:nvSpPr>
        <p:spPr>
          <a:xfrm>
            <a:off x="248412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record.py</a:t>
            </a:r>
            <a:endParaRPr lang="ko-KR" altLang="en-US" sz="1300" dirty="0"/>
          </a:p>
          <a:p>
            <a:pPr eaLnBrk="0" algn="ctr" indent="0" marL="0">
              <a:buNone/>
            </a:pPr>
            <a:r>
              <a:rPr lang="ko-KR" altLang="en-US" sz="1300" b="1" dirty="0">
                <a:solidFill>
                  <a:schemeClr val="bg1"/>
                </a:solidFill>
              </a:rPr>
              <a:t>13분 · 583편</a:t>
            </a:r>
            <a:endParaRPr lang="ko-KR" altLang="en-US" sz="1300" dirty="0"/>
          </a:p>
        </p:txBody>
      </p:sp>
      <p:sp>
        <p:nvSpPr>
          <p:cNvPr id="11" name="arrow_2804"/>
          <p:cNvSpPr/>
          <p:nvPr/>
        </p:nvSpPr>
        <p:spPr>
          <a:xfrm>
            <a:off x="4081272" y="2057400"/>
            <a:ext cx="219456" cy="0"/>
          </a:xfrm>
          <a:prstGeom prst="line">
            <a:avLst/>
          </a:prstGeom>
          <a:noFill/>
          <a:ln w="25400">
            <a:solidFill>
              <a:schemeClr val="tx2"/>
            </a:solidFill>
            <a:prstDash val="solid"/>
            <a:tailEnd type="triangle"/>
          </a:ln>
        </p:spPr>
      </p:sp>
      <p:sp>
        <p:nvSpPr>
          <p:cNvPr id="12" name="box_2805"/>
          <p:cNvSpPr/>
          <p:nvPr/>
        </p:nvSpPr>
        <p:spPr>
          <a:xfrm>
            <a:off x="4328160" y="1463040"/>
            <a:ext cx="1615440" cy="1188720"/>
          </a:xfrm>
          <a:prstGeom prst="roundRect">
            <a:avLst>
              <a:gd name="adj" fmla="val 6154"/>
            </a:avLst>
          </a:prstGeom>
          <a:solidFill>
            <a:schemeClr val="bg2"/>
          </a:solidFill>
          <a:ln w="12700">
            <a:solidFill>
              <a:schemeClr val="bg2"/>
            </a:solidFill>
            <a:prstDash val="solid"/>
          </a:ln>
        </p:spPr>
      </p:sp>
      <p:sp>
        <p:nvSpPr>
          <p:cNvPr id="13" name="text_2806"/>
          <p:cNvSpPr txBox="1"/>
          <p:nvPr/>
        </p:nvSpPr>
        <p:spPr>
          <a:xfrm>
            <a:off x="437388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demos/*.npz</a:t>
            </a:r>
            <a:endParaRPr lang="ko-KR" altLang="en-US" sz="1300" dirty="0"/>
          </a:p>
          <a:p>
            <a:pPr eaLnBrk="0" algn="ctr" indent="0" marL="0">
              <a:buNone/>
            </a:pPr>
            <a:r>
              <a:rPr lang="ko-KR" altLang="en-US" sz="1300" b="1" dirty="0">
                <a:solidFill>
                  <a:schemeClr val="tx1"/>
                </a:solidFill>
              </a:rPr>
              <a:t>235 MB</a:t>
            </a:r>
            <a:endParaRPr lang="ko-KR" altLang="en-US" sz="1300" dirty="0"/>
          </a:p>
        </p:txBody>
      </p:sp>
      <p:sp>
        <p:nvSpPr>
          <p:cNvPr id="14" name="arrow_2807"/>
          <p:cNvSpPr/>
          <p:nvPr/>
        </p:nvSpPr>
        <p:spPr>
          <a:xfrm>
            <a:off x="5971032" y="2057400"/>
            <a:ext cx="219456" cy="0"/>
          </a:xfrm>
          <a:prstGeom prst="line">
            <a:avLst/>
          </a:prstGeom>
          <a:noFill/>
          <a:ln w="25400">
            <a:solidFill>
              <a:schemeClr val="tx2"/>
            </a:solidFill>
            <a:prstDash val="solid"/>
            <a:tailEnd type="triangle"/>
          </a:ln>
        </p:spPr>
      </p:sp>
      <p:sp>
        <p:nvSpPr>
          <p:cNvPr id="15" name="box_2808"/>
          <p:cNvSpPr/>
          <p:nvPr/>
        </p:nvSpPr>
        <p:spPr>
          <a:xfrm>
            <a:off x="6217920" y="1463040"/>
            <a:ext cx="1615440" cy="1188720"/>
          </a:xfrm>
          <a:prstGeom prst="roundRect">
            <a:avLst>
              <a:gd name="adj" fmla="val 6154"/>
            </a:avLst>
          </a:prstGeom>
          <a:solidFill>
            <a:schemeClr val="accent1"/>
          </a:solidFill>
          <a:ln w="12700">
            <a:solidFill>
              <a:schemeClr val="accent1"/>
            </a:solidFill>
            <a:prstDash val="solid"/>
          </a:ln>
        </p:spPr>
      </p:sp>
      <p:sp>
        <p:nvSpPr>
          <p:cNvPr id="16" name="text_2809"/>
          <p:cNvSpPr txBox="1"/>
          <p:nvPr/>
        </p:nvSpPr>
        <p:spPr>
          <a:xfrm>
            <a:off x="626364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train.py</a:t>
            </a:r>
            <a:endParaRPr lang="ko-KR" altLang="en-US" sz="1300" dirty="0"/>
          </a:p>
          <a:p>
            <a:pPr eaLnBrk="0" algn="ctr" indent="0" marL="0">
              <a:buNone/>
            </a:pPr>
            <a:r>
              <a:rPr lang="ko-KR" altLang="en-US" sz="1300" b="1" dirty="0">
                <a:solidFill>
                  <a:schemeClr val="bg1"/>
                </a:solidFill>
              </a:rPr>
              <a:t>35분 · CPU</a:t>
            </a:r>
            <a:endParaRPr lang="ko-KR" altLang="en-US" sz="1300" dirty="0"/>
          </a:p>
        </p:txBody>
      </p:sp>
      <p:sp>
        <p:nvSpPr>
          <p:cNvPr id="17" name="arrow_2810"/>
          <p:cNvSpPr/>
          <p:nvPr/>
        </p:nvSpPr>
        <p:spPr>
          <a:xfrm>
            <a:off x="7860792" y="2057400"/>
            <a:ext cx="219456" cy="0"/>
          </a:xfrm>
          <a:prstGeom prst="line">
            <a:avLst/>
          </a:prstGeom>
          <a:noFill/>
          <a:ln w="25400">
            <a:solidFill>
              <a:schemeClr val="tx2"/>
            </a:solidFill>
            <a:prstDash val="solid"/>
            <a:tailEnd type="triangle"/>
          </a:ln>
        </p:spPr>
      </p:sp>
      <p:sp>
        <p:nvSpPr>
          <p:cNvPr id="18" name="box_2811"/>
          <p:cNvSpPr/>
          <p:nvPr/>
        </p:nvSpPr>
        <p:spPr>
          <a:xfrm>
            <a:off x="8107680" y="1463040"/>
            <a:ext cx="1615440" cy="1188720"/>
          </a:xfrm>
          <a:prstGeom prst="roundRect">
            <a:avLst>
              <a:gd name="adj" fmla="val 6154"/>
            </a:avLst>
          </a:prstGeom>
          <a:solidFill>
            <a:schemeClr val="bg2"/>
          </a:solidFill>
          <a:ln w="12700">
            <a:solidFill>
              <a:schemeClr val="bg2"/>
            </a:solidFill>
            <a:prstDash val="solid"/>
          </a:ln>
        </p:spPr>
      </p:sp>
      <p:sp>
        <p:nvSpPr>
          <p:cNvPr id="19" name="text_2812"/>
          <p:cNvSpPr txBox="1"/>
          <p:nvPr/>
        </p:nvSpPr>
        <p:spPr>
          <a:xfrm>
            <a:off x="815340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policy.pt</a:t>
            </a:r>
            <a:endParaRPr lang="ko-KR" altLang="en-US" sz="1300" dirty="0"/>
          </a:p>
          <a:p>
            <a:pPr eaLnBrk="0" algn="ctr" indent="0" marL="0">
              <a:buNone/>
            </a:pPr>
            <a:r>
              <a:rPr lang="ko-KR" altLang="en-US" sz="1300" b="1" dirty="0">
                <a:solidFill>
                  <a:schemeClr val="tx1"/>
                </a:solidFill>
              </a:rPr>
              <a:t>2.4 MB</a:t>
            </a:r>
            <a:endParaRPr lang="ko-KR" altLang="en-US" sz="1300" dirty="0"/>
          </a:p>
        </p:txBody>
      </p:sp>
      <p:sp>
        <p:nvSpPr>
          <p:cNvPr id="20" name="arrow_2813"/>
          <p:cNvSpPr/>
          <p:nvPr/>
        </p:nvSpPr>
        <p:spPr>
          <a:xfrm>
            <a:off x="9750552" y="2057400"/>
            <a:ext cx="219456" cy="0"/>
          </a:xfrm>
          <a:prstGeom prst="line">
            <a:avLst/>
          </a:prstGeom>
          <a:noFill/>
          <a:ln w="25400">
            <a:solidFill>
              <a:schemeClr val="tx2"/>
            </a:solidFill>
            <a:prstDash val="solid"/>
            <a:tailEnd type="triangle"/>
          </a:ln>
        </p:spPr>
      </p:sp>
      <p:sp>
        <p:nvSpPr>
          <p:cNvPr id="21" name="box_2814"/>
          <p:cNvSpPr/>
          <p:nvPr/>
        </p:nvSpPr>
        <p:spPr>
          <a:xfrm>
            <a:off x="9997440" y="1463040"/>
            <a:ext cx="1615440" cy="1188720"/>
          </a:xfrm>
          <a:prstGeom prst="roundRect">
            <a:avLst>
              <a:gd name="adj" fmla="val 6154"/>
            </a:avLst>
          </a:prstGeom>
          <a:solidFill>
            <a:schemeClr val="tx1"/>
          </a:solidFill>
          <a:ln w="12700">
            <a:solidFill>
              <a:schemeClr val="tx1"/>
            </a:solidFill>
            <a:prstDash val="solid"/>
          </a:ln>
        </p:spPr>
      </p:sp>
      <p:sp>
        <p:nvSpPr>
          <p:cNvPr id="22" name="text_2815"/>
          <p:cNvSpPr txBox="1"/>
          <p:nvPr/>
        </p:nvSpPr>
        <p:spPr>
          <a:xfrm>
            <a:off x="100431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vla_pick 노드</a:t>
            </a:r>
            <a:endParaRPr lang="ko-KR" altLang="en-US" sz="1300" dirty="0"/>
          </a:p>
          <a:p>
            <a:pPr eaLnBrk="0" algn="ctr" indent="0" marL="0">
              <a:buNone/>
            </a:pPr>
            <a:r>
              <a:rPr lang="ko-KR" altLang="en-US" sz="1300" b="1" dirty="0">
                <a:solidFill>
                  <a:schemeClr val="bg1"/>
                </a:solidFill>
              </a:rPr>
              <a:t>ROS 2 · 10 Hz</a:t>
            </a:r>
            <a:endParaRPr lang="ko-KR" altLang="en-US" sz="1300" dirty="0"/>
          </a:p>
        </p:txBody>
      </p:sp>
      <p:sp>
        <p:nvSpPr>
          <p:cNvPr id="23" name="text_2816"/>
          <p:cNvSpPr txBox="1"/>
          <p:nvPr/>
        </p:nvSpPr>
        <p:spPr>
          <a:xfrm>
            <a:off x="5669280" y="2743200"/>
            <a:ext cx="5943600" cy="365760"/>
          </a:xfrm>
          <a:prstGeom prst="rect">
            <a:avLst/>
          </a:prstGeom>
          <a:noFill/>
          <a:ln/>
        </p:spPr>
        <p:txBody>
          <a:bodyPr wrap="square" lIns="635" tIns="635" rIns="635" bIns="635" rtlCol="0" anchor="t"/>
          <a:lstStyle/>
          <a:p>
            <a:pPr eaLnBrk="0" algn="r" indent="0" marL="0">
              <a:buNone/>
            </a:pPr>
            <a:r>
              <a:rPr lang="ko-KR" altLang="en-US" sz="1300" dirty="0">
                <a:solidFill>
                  <a:schemeClr val="tx2"/>
                </a:solidFill>
              </a:rPr>
              <a:t>└─ evaluate.py: 처음 보는 배치 100개에서 정책 vs 전문가</a:t>
            </a:r>
            <a:endParaRPr lang="ko-KR" altLang="en-US" sz="1300" dirty="0"/>
          </a:p>
        </p:txBody>
      </p:sp>
      <p:graphicFrame>
        <p:nvGraphicFramePr>
          <p:cNvPr id="152" name="table_2817"/>
          <p:cNvGraphicFramePr>
            <a:graphicFrameLocks noGrp="1"/>
          </p:cNvGraphicFramePr>
          <p:nvPr>
            <p:extLst>
              <p:ext uri="{D42A27DB-BD31-4B8C-83A1-F6EECF244321}">
                <p14:modId xmlns:p14="http://schemas.microsoft.com/office/powerpoint/2010/main" val="1579011935"/>
              </p:ext>
            </p:extLst>
          </p:nvPr>
        </p:nvGraphicFramePr>
        <p:xfrm>
          <a:off x="548640" y="3291840"/>
          <a:ext cx="11064240" cy="914400"/>
        </p:xfrm>
        <a:graphic>
          <a:graphicData uri="http://schemas.openxmlformats.org/drawingml/2006/table">
            <a:tbl>
              <a:tblPr/>
              <a:tblGrid>
                <a:gridCol w="1463040"/>
                <a:gridCol w="4572000"/>
                <a:gridCol w="5029200"/>
              </a:tblGrid>
              <a:tr h="0">
                <a:tc>
                  <a:txBody>
                    <a:bodyPr/>
                    <a:lstStyle/>
                    <a:p>
                      <a:pPr eaLnBrk="0" indent="0" marL="0">
                        <a:buNone/>
                      </a:pPr>
                      <a:r>
                        <a:rPr lang="ko-KR" altLang="en-US" sz="1400" b="1" dirty="0">
                          <a:solidFill>
                            <a:schemeClr val="bg1"/>
                          </a:solidFill>
                        </a:rPr>
                        <a:t>단계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입력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녹화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무작위 배치 (테이블, 상자, 정렬 오차)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편마다 영상 2종·관절각·정답 목표·끝 표시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모든 장면 (40,425개) + 증강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검증 오차가 가장 낮은 가중치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평가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처음 보는 배치 (seed 100000~)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정책·전문가 성공률, GIF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실행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/camera, /wrist_camera, /joint_states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/joint_commands, /vla/result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151</a:t>
            </a:fld>
            <a:endParaRPr lang="ko-KR"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모방 학습: 잘하는 사람을 따라 하기</a:t>
            </a:r>
            <a:endParaRPr lang="ko-KR" altLang="en-US" sz="3000" dirty="0"/>
          </a:p>
        </p:txBody>
      </p:sp>
      <p:sp>
        <p:nvSpPr>
          <p:cNvPr id="3" name="pill_28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num_2820"/>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2821"/>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822"/>
          <p:cNvSpPr txBox="1"/>
          <p:nvPr/>
        </p:nvSpPr>
        <p:spPr>
          <a:xfrm>
            <a:off x="1188720" y="135331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전문가가 시연한다</a:t>
            </a:r>
            <a:endParaRPr lang="ko-KR" altLang="en-US" sz="1700" dirty="0"/>
          </a:p>
        </p:txBody>
      </p:sp>
      <p:sp>
        <p:nvSpPr>
          <p:cNvPr id="9" name="text_2823"/>
          <p:cNvSpPr txBox="1"/>
          <p:nvPr/>
        </p:nvSpPr>
        <p:spPr>
          <a:xfrm>
            <a:off x="1188720" y="182880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expert.py: 상자 실제 위치 → IK → 손 벌리며 다가가기 → 비스듬히 밀어 넣기 → 쥐기 → 들기 (7.7초)</a:t>
            </a:r>
            <a:endParaRPr lang="ko-KR" altLang="en-US" sz="1400" dirty="0"/>
          </a:p>
        </p:txBody>
      </p:sp>
      <p:sp>
        <p:nvSpPr>
          <p:cNvPr id="10" name="num_2824"/>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2825"/>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826"/>
          <p:cNvSpPr txBox="1"/>
          <p:nvPr/>
        </p:nvSpPr>
        <p:spPr>
          <a:xfrm>
            <a:off x="1188720" y="258775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0.1초마다 기록한다</a:t>
            </a:r>
            <a:endParaRPr lang="ko-KR" altLang="en-US" sz="1700" dirty="0"/>
          </a:p>
        </p:txBody>
      </p:sp>
      <p:sp>
        <p:nvSpPr>
          <p:cNvPr id="13" name="text_2827"/>
          <p:cNvSpPr txBox="1"/>
          <p:nvPr/>
        </p:nvSpPr>
        <p:spPr>
          <a:xfrm>
            <a:off x="1188720" y="306324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(머리·손목 영상, 관절각, 명령 문장) → 그 순간 전문가가 보낸 관절 목표</a:t>
            </a:r>
            <a:endParaRPr lang="ko-KR" altLang="en-US" sz="1400" dirty="0"/>
          </a:p>
        </p:txBody>
      </p:sp>
      <p:sp>
        <p:nvSpPr>
          <p:cNvPr id="14" name="num_2828"/>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5" name="text_2829"/>
          <p:cNvSpPr txBox="1"/>
          <p:nvPr/>
        </p:nvSpPr>
        <p:spPr>
          <a:xfrm>
            <a:off x="548640" y="3840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830"/>
          <p:cNvSpPr txBox="1"/>
          <p:nvPr/>
        </p:nvSpPr>
        <p:spPr>
          <a:xfrm>
            <a:off x="1188720" y="382219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같은 입력에서 같은 출력을 내게 학습</a:t>
            </a:r>
            <a:endParaRPr lang="ko-KR" altLang="en-US" sz="1700" dirty="0"/>
          </a:p>
        </p:txBody>
      </p:sp>
      <p:sp>
        <p:nvSpPr>
          <p:cNvPr id="17" name="text_2831"/>
          <p:cNvSpPr txBox="1"/>
          <p:nvPr/>
        </p:nvSpPr>
        <p:spPr>
          <a:xfrm>
            <a:off x="1188720" y="429768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 학습. 정답과 예측의 차이(L1)를 줄인다. 시연 583개 = 약 4.5만 장면</a:t>
            </a:r>
            <a:endParaRPr lang="ko-KR" altLang="en-US" sz="1400" dirty="0"/>
          </a:p>
        </p:txBody>
      </p:sp>
      <p:sp>
        <p:nvSpPr>
          <p:cNvPr id="18" name="box_2832"/>
          <p:cNvSpPr/>
          <p:nvPr/>
        </p:nvSpPr>
        <p:spPr>
          <a:xfrm>
            <a:off x="548640" y="5074920"/>
            <a:ext cx="5486400" cy="1051560"/>
          </a:xfrm>
          <a:prstGeom prst="roundRect">
            <a:avLst>
              <a:gd name="adj" fmla="val 6957"/>
            </a:avLst>
          </a:prstGeom>
          <a:solidFill>
            <a:schemeClr val="bg2"/>
          </a:solidFill>
          <a:ln w="12700">
            <a:solidFill>
              <a:schemeClr val="bg2"/>
            </a:solidFill>
            <a:prstDash val="solid"/>
          </a:ln>
        </p:spPr>
      </p:sp>
      <p:sp>
        <p:nvSpPr>
          <p:cNvPr id="19" name="iconbg_2833"/>
          <p:cNvSpPr/>
          <p:nvPr/>
        </p:nvSpPr>
        <p:spPr>
          <a:xfrm>
            <a:off x="777240" y="5184648"/>
            <a:ext cx="411480" cy="411480"/>
          </a:xfrm>
          <a:prstGeom prst="ellipse">
            <a:avLst/>
          </a:prstGeom>
          <a:solidFill>
            <a:schemeClr val="accent6"/>
          </a:solidFill>
          <a:ln w="12700">
            <a:solidFill>
              <a:schemeClr val="accent6"/>
            </a:solidFill>
            <a:prstDash val="solid"/>
          </a:ln>
        </p:spPr>
      </p:sp>
      <p:pic>
        <p:nvPicPr>
          <p:cNvPr id="20" name="icon_2834" descr="ExclamationTriangle 아이콘">    </p:cNvPr>
          <p:cNvPicPr>
            <a:picLocks noChangeAspect="1"/>
          </p:cNvPicPr>
          <p:nvPr/>
        </p:nvPicPr>
        <p:blipFill>
          <a:blip r:embed="rId1"/>
          <a:stretch>
            <a:fillRect/>
          </a:stretch>
        </p:blipFill>
        <p:spPr>
          <a:xfrm>
            <a:off x="867766" y="5275174"/>
            <a:ext cx="230429" cy="230429"/>
          </a:xfrm>
          <a:prstGeom prst="rect">
            <a:avLst/>
          </a:prstGeom>
        </p:spPr>
      </p:pic>
      <p:sp>
        <p:nvSpPr>
          <p:cNvPr id="21" name="text_2835"/>
          <p:cNvSpPr txBox="1"/>
          <p:nvPr/>
        </p:nvSpPr>
        <p:spPr>
          <a:xfrm>
            <a:off x="1325880" y="51663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2" name="text_2836"/>
          <p:cNvSpPr txBox="1"/>
          <p:nvPr/>
        </p:nvSpPr>
        <p:spPr>
          <a:xfrm>
            <a:off x="777240" y="5641848"/>
            <a:ext cx="502920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정책은 실제 위치를 모른다. 영상만 보고 흉내 낸다.</a:t>
            </a:r>
            <a:endParaRPr lang="ko-KR" altLang="en-US" sz="1400" dirty="0"/>
          </a:p>
        </p:txBody>
      </p:sp>
      <p:sp>
        <p:nvSpPr>
          <p:cNvPr id="23" name="box_2837"/>
          <p:cNvSpPr/>
          <p:nvPr/>
        </p:nvSpPr>
        <p:spPr>
          <a:xfrm>
            <a:off x="6309360" y="1371600"/>
            <a:ext cx="5303520" cy="4754880"/>
          </a:xfrm>
          <a:prstGeom prst="roundRect">
            <a:avLst>
              <a:gd name="adj" fmla="val 1538"/>
            </a:avLst>
          </a:prstGeom>
          <a:solidFill>
            <a:schemeClr val="tx1"/>
          </a:solidFill>
          <a:ln w="12700">
            <a:solidFill>
              <a:schemeClr val="tx1"/>
            </a:solidFill>
            <a:prstDash val="solid"/>
          </a:ln>
        </p:spPr>
      </p:sp>
      <p:sp>
        <p:nvSpPr>
          <p:cNvPr id="24" name="code_2838"/>
          <p:cNvSpPr txBox="1"/>
          <p:nvPr/>
        </p:nvSpPr>
        <p:spPr>
          <a:xfrm>
            <a:off x="6492240" y="1508760"/>
            <a:ext cx="49377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expert.py (줄임)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grasp = box_center + [0, 0, 0.015]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pre   = grasp - 0.10 * approach + [0, 0, 0.04]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q_pre = ik.best(pre, R)          # 여러 시작점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단계 in 경유점들: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q = ik.solve(q, 직선 위의 점, 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actions.append([*q, 손가락])</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정답 = actions (10 Hz)</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152</a:t>
            </a:fld>
            <a:endParaRPr lang="ko-KR" alt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장면 (sim.py): 관찰과 행동</a:t>
            </a:r>
            <a:endParaRPr lang="ko-KR" altLang="en-US" sz="3000" dirty="0"/>
          </a:p>
        </p:txBody>
      </p:sp>
      <p:sp>
        <p:nvSpPr>
          <p:cNvPr id="3" name="pill_28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4" name="table_2841"/>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2011680"/>
                <a:gridCol w="3931920"/>
                <a:gridCol w="100584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관찰: 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head_camera, 384×216 렌더 → 3×3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72×128×3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관찰: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camera_wrist_right (fovy 66°)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96×96×3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관찰: 관절각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관절 1~7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같은 8개 관절의 위치 목표 → 위치 액추에이터 (kp 230~30)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제어 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0.1초 = mj_step(1 ms) 100번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성공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상자가 처음보다 3 cm 이상 올라감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842"/>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8" name="iconbg_2843"/>
          <p:cNvSpPr/>
          <p:nvPr/>
        </p:nvSpPr>
        <p:spPr>
          <a:xfrm>
            <a:off x="8001000" y="1600200"/>
            <a:ext cx="548640" cy="548640"/>
          </a:xfrm>
          <a:prstGeom prst="ellipse">
            <a:avLst/>
          </a:prstGeom>
          <a:solidFill>
            <a:schemeClr val="accent3"/>
          </a:solidFill>
          <a:ln w="12700">
            <a:solidFill>
              <a:schemeClr val="accent3"/>
            </a:solidFill>
            <a:prstDash val="solid"/>
          </a:ln>
        </p:spPr>
      </p:sp>
      <p:pic>
        <p:nvPicPr>
          <p:cNvPr id="9" name="icon_2844" descr="ArrowsAlt 아이콘">    </p:cNvPr>
          <p:cNvPicPr>
            <a:picLocks noChangeAspect="1"/>
          </p:cNvPicPr>
          <p:nvPr/>
        </p:nvPicPr>
        <p:blipFill>
          <a:blip r:embed="rId1"/>
          <a:stretch>
            <a:fillRect/>
          </a:stretch>
        </p:blipFill>
        <p:spPr>
          <a:xfrm>
            <a:off x="8121701" y="1720901"/>
            <a:ext cx="307238" cy="307238"/>
          </a:xfrm>
          <a:prstGeom prst="rect">
            <a:avLst/>
          </a:prstGeom>
        </p:spPr>
      </p:pic>
      <p:sp>
        <p:nvSpPr>
          <p:cNvPr id="10" name="text_2845"/>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reset(): 매번 다르게</a:t>
            </a:r>
            <a:endParaRPr lang="ko-KR" altLang="en-US" sz="1800" dirty="0"/>
          </a:p>
        </p:txBody>
      </p:sp>
      <p:sp>
        <p:nvSpPr>
          <p:cNvPr id="11" name="text_2846"/>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1. 테이블 고르기 (공급 / 작업대)</a:t>
            </a:r>
            <a:endParaRPr lang="ko-KR" altLang="en-US" sz="1300" dirty="0"/>
          </a:p>
          <a:p>
            <a:pPr eaLnBrk="0" indent="0" marL="0">
              <a:buNone/>
            </a:pPr>
            <a:r>
              <a:rPr lang="ko-KR" altLang="en-US" sz="1300" dirty="0">
                <a:solidFill>
                  <a:schemeClr val="tx1"/>
                </a:solidFill>
              </a:rPr>
              <a:t>2. 상자: 기본 자리 ±4~6 cm, 방향 ±45°</a:t>
            </a:r>
            <a:endParaRPr lang="ko-KR" altLang="en-US" sz="1300" dirty="0"/>
          </a:p>
          <a:p>
            <a:pPr eaLnBrk="0" indent="0" marL="0">
              <a:buNone/>
            </a:pPr>
            <a:r>
              <a:rPr lang="ko-KR" altLang="en-US" sz="1300" dirty="0">
                <a:solidFill>
                  <a:schemeClr val="tx1"/>
                </a:solidFill>
              </a:rPr>
              <a:t>3. 로봇: 상자가 몸 기준 (0.38, −0.15) m ± (4, 5) cm에 오게, 방향 ±8°</a:t>
            </a:r>
            <a:endParaRPr lang="ko-KR" altLang="en-US" sz="1300" dirty="0"/>
          </a:p>
          <a:p>
            <a:pPr eaLnBrk="0" indent="0" marL="0">
              <a:buNone/>
            </a:pPr>
            <a:r>
              <a:rPr lang="ko-KR" altLang="en-US" sz="1300" dirty="0">
                <a:solidFill>
                  <a:schemeClr val="tx1"/>
                </a:solidFill>
              </a:rPr>
              <a:t>4. 두 팔 tuck, 손 닫힘</a:t>
            </a:r>
            <a:endParaRPr lang="ko-KR" altLang="en-US" sz="1300" dirty="0"/>
          </a:p>
          <a:p>
            <a:pPr eaLnBrk="0" indent="0" marL="0">
              <a:buNone/>
            </a:pPr>
            <a:r>
              <a:rPr lang="ko-KR" altLang="en-US" sz="1300" dirty="0">
                <a:solidFill>
                  <a:schemeClr val="tx1"/>
                </a:solidFill>
              </a:rPr>
              <a:t>5. 0.3초 놓아 두어 자리 잡기</a:t>
            </a:r>
            <a:endParaRPr lang="ko-KR" altLang="en-US" sz="1300" dirty="0"/>
          </a:p>
          <a:p>
            <a:pPr eaLnBrk="0" indent="0" marL="0">
              <a:buNone/>
            </a:pPr>
            <a:endParaRPr lang="ko-KR" altLang="en-US" sz="1300" dirty="0"/>
          </a:p>
          <a:p>
            <a:pPr eaLnBrk="0" indent="0" marL="0">
              <a:buNone/>
            </a:pPr>
            <a:r>
              <a:rPr lang="ko-KR" altLang="en-US" sz="1300" dirty="0">
                <a:solidFill>
                  <a:schemeClr val="tx1"/>
                </a:solidFill>
              </a:rPr>
              <a:t>(0.38, −0.15) = 오른손이 가장 잘 닿는 곳 (GRASP_XY, 모듈 3과 같음)</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153</a:t>
            </a:fld>
            <a:endParaRPr lang="ko-KR"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전문가의 IK: 감쇠 최소제곱</a:t>
            </a:r>
            <a:endParaRPr lang="ko-KR" altLang="en-US" sz="3000" dirty="0"/>
          </a:p>
        </p:txBody>
      </p:sp>
      <p:sp>
        <p:nvSpPr>
          <p:cNvPr id="3" name="pill_28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49"/>
          <p:cNvSpPr/>
          <p:nvPr/>
        </p:nvSpPr>
        <p:spPr>
          <a:xfrm>
            <a:off x="548640" y="1371600"/>
            <a:ext cx="6583680" cy="3017520"/>
          </a:xfrm>
          <a:prstGeom prst="roundRect">
            <a:avLst>
              <a:gd name="adj" fmla="val 2424"/>
            </a:avLst>
          </a:prstGeom>
          <a:solidFill>
            <a:schemeClr val="tx1"/>
          </a:solidFill>
          <a:ln w="12700">
            <a:solidFill>
              <a:schemeClr val="tx1"/>
            </a:solidFill>
            <a:prstDash val="solid"/>
          </a:ln>
        </p:spPr>
      </p:sp>
      <p:sp>
        <p:nvSpPr>
          <p:cNvPr id="7" name="code_2850"/>
          <p:cNvSpPr txBox="1"/>
          <p:nvPr/>
        </p:nvSpPr>
        <p:spPr>
          <a:xfrm>
            <a:off x="731520" y="1508760"/>
            <a:ext cx="62179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  = [ p* − p ;  0.5 · rotvec(R* Rᵀ) ]       # 6차원 오차</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J  = [ Jp ; 0.5 · Jr ]     (6 × 7)             # mj_jac</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Δq = Jᵀ (J Jᵀ + λI)⁻¹ e,   λ = 1e-4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  ← clip(q + clip(Δq, ±0.2), 관절 범위)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오차가 작아질 때까지 최대 100번 (시작점 찾기 300번)</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TCP = 손 끝 사이트에서 손가락 쪽 0.14 m (두 패드 가운데)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잡는 자세 = 앞으로, 15° 아래로, 상자 면에 맞춰 ±45°</a:t>
            </a:r>
            <a:endParaRPr lang="ko-KR" altLang="en-US" sz="1300" dirty="0"/>
          </a:p>
        </p:txBody>
      </p:sp>
      <p:graphicFrame>
        <p:nvGraphicFramePr>
          <p:cNvPr id="155" name="table_2851"/>
          <p:cNvGraphicFramePr>
            <a:graphicFrameLocks noGrp="1"/>
          </p:cNvGraphicFramePr>
          <p:nvPr>
            <p:extLst>
              <p:ext uri="{D42A27DB-BD31-4B8C-83A1-F6EECF244321}">
                <p14:modId xmlns:p14="http://schemas.microsoft.com/office/powerpoint/2010/main" val="1579011935"/>
              </p:ext>
            </p:extLst>
          </p:nvPr>
        </p:nvGraphicFramePr>
        <p:xfrm>
          <a:off x="7406640" y="1371600"/>
          <a:ext cx="4206240" cy="914400"/>
        </p:xfrm>
        <a:graphic>
          <a:graphicData uri="http://schemas.openxmlformats.org/drawingml/2006/table">
            <a:tbl>
              <a:tblPr/>
              <a:tblGrid>
                <a:gridCol w="1280160"/>
                <a:gridCol w="822960"/>
                <a:gridCol w="2103120"/>
              </a:tblGrid>
              <a:tr h="0">
                <a:tc>
                  <a:txBody>
                    <a:bodyPr/>
                    <a:lstStyle/>
                    <a:p>
                      <a:pPr eaLnBrk="0" indent="0" marL="0">
                        <a:buNone/>
                      </a:pPr>
                      <a:r>
                        <a:rPr lang="ko-KR" altLang="en-US" sz="1300" b="1" dirty="0">
                          <a:solidFill>
                            <a:schemeClr val="bg1"/>
                          </a:solidFill>
                        </a:rPr>
                        <a:t>구간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reach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관절 공간, 손 벌리기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pre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사전 접근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approach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잡기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close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 닫기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lift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1.2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 cm 들기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hold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그대로 ("끝" 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852"/>
          <p:cNvSpPr/>
          <p:nvPr/>
        </p:nvSpPr>
        <p:spPr>
          <a:xfrm>
            <a:off x="548640" y="4572000"/>
            <a:ext cx="6583680" cy="1554480"/>
          </a:xfrm>
          <a:prstGeom prst="roundRect">
            <a:avLst>
              <a:gd name="adj" fmla="val 4706"/>
            </a:avLst>
          </a:prstGeom>
          <a:solidFill>
            <a:schemeClr val="bg2"/>
          </a:solidFill>
          <a:ln w="12700">
            <a:solidFill>
              <a:schemeClr val="bg2"/>
            </a:solidFill>
            <a:prstDash val="solid"/>
          </a:ln>
        </p:spPr>
      </p:sp>
      <p:sp>
        <p:nvSpPr>
          <p:cNvPr id="10" name="iconbg_2853"/>
          <p:cNvSpPr/>
          <p:nvPr/>
        </p:nvSpPr>
        <p:spPr>
          <a:xfrm>
            <a:off x="777240" y="4800600"/>
            <a:ext cx="548640" cy="548640"/>
          </a:xfrm>
          <a:prstGeom prst="ellipse">
            <a:avLst/>
          </a:prstGeom>
          <a:solidFill>
            <a:schemeClr val="accent1"/>
          </a:solidFill>
          <a:ln w="12700">
            <a:solidFill>
              <a:schemeClr val="accent1"/>
            </a:solidFill>
            <a:prstDash val="solid"/>
          </a:ln>
        </p:spPr>
      </p:sp>
      <p:pic>
        <p:nvPicPr>
          <p:cNvPr id="11" name="icon_2854" descr="Bolt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2855"/>
          <p:cNvSpPr txBox="1"/>
          <p:nvPr/>
        </p:nvSpPr>
        <p:spPr>
          <a:xfrm>
            <a:off x="1463040" y="477316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경로 만들기</a:t>
            </a:r>
            <a:endParaRPr lang="ko-KR" altLang="en-US" sz="1600" dirty="0"/>
          </a:p>
        </p:txBody>
      </p:sp>
      <p:sp>
        <p:nvSpPr>
          <p:cNvPr id="13" name="text_2856"/>
          <p:cNvSpPr txBox="1"/>
          <p:nvPr/>
        </p:nvSpPr>
        <p:spPr>
          <a:xfrm>
            <a:off x="777240" y="5440680"/>
            <a:ext cx="6126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직선 구간은 0.1초마다 점을 찍고 각 점에서 IK를 푼다. 보간은 smooth(t) = t²(3 − 2t). 모두 77개 목표 = 7.7초.</a:t>
            </a:r>
            <a:endParaRPr lang="ko-KR" altLang="en-US" sz="1400" dirty="0"/>
          </a:p>
        </p:txBody>
      </p:sp>
      <p:sp>
        <p:nvSpPr>
          <p:cNvPr id="14" name="box_2857"/>
          <p:cNvSpPr/>
          <p:nvPr/>
        </p:nvSpPr>
        <p:spPr>
          <a:xfrm>
            <a:off x="7406640" y="4480560"/>
            <a:ext cx="4206240" cy="1645920"/>
          </a:xfrm>
          <a:prstGeom prst="roundRect">
            <a:avLst>
              <a:gd name="adj" fmla="val 4444"/>
            </a:avLst>
          </a:prstGeom>
          <a:solidFill>
            <a:schemeClr val="bg2"/>
          </a:solidFill>
          <a:ln w="12700">
            <a:solidFill>
              <a:schemeClr val="bg2"/>
            </a:solidFill>
            <a:prstDash val="solid"/>
          </a:ln>
        </p:spPr>
      </p:sp>
      <p:sp>
        <p:nvSpPr>
          <p:cNvPr id="15" name="iconbg_2858"/>
          <p:cNvSpPr/>
          <p:nvPr/>
        </p:nvSpPr>
        <p:spPr>
          <a:xfrm>
            <a:off x="7635240" y="4709160"/>
            <a:ext cx="548640" cy="548640"/>
          </a:xfrm>
          <a:prstGeom prst="ellipse">
            <a:avLst/>
          </a:prstGeom>
          <a:solidFill>
            <a:schemeClr val="accent6"/>
          </a:solidFill>
          <a:ln w="12700">
            <a:solidFill>
              <a:schemeClr val="accent6"/>
            </a:solidFill>
            <a:prstDash val="solid"/>
          </a:ln>
        </p:spPr>
      </p:sp>
      <p:pic>
        <p:nvPicPr>
          <p:cNvPr id="16" name="icon_2859" descr="ExclamationTriangle 아이콘">    </p:cNvPr>
          <p:cNvPicPr>
            <a:picLocks noChangeAspect="1"/>
          </p:cNvPicPr>
          <p:nvPr/>
        </p:nvPicPr>
        <p:blipFill>
          <a:blip r:embed="rId2"/>
          <a:stretch>
            <a:fillRect/>
          </a:stretch>
        </p:blipFill>
        <p:spPr>
          <a:xfrm>
            <a:off x="7755941" y="4829861"/>
            <a:ext cx="307238" cy="307238"/>
          </a:xfrm>
          <a:prstGeom prst="rect">
            <a:avLst/>
          </a:prstGeom>
        </p:spPr>
      </p:pic>
      <p:sp>
        <p:nvSpPr>
          <p:cNvPr id="17" name="text_2860"/>
          <p:cNvSpPr txBox="1"/>
          <p:nvPr/>
        </p:nvSpPr>
        <p:spPr>
          <a:xfrm>
            <a:off x="8321040" y="4681728"/>
            <a:ext cx="3063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나쁜 예는 버린다</a:t>
            </a:r>
            <a:endParaRPr lang="ko-KR" altLang="en-US" sz="1600" dirty="0"/>
          </a:p>
        </p:txBody>
      </p:sp>
      <p:sp>
        <p:nvSpPr>
          <p:cNvPr id="18" name="text_2861"/>
          <p:cNvSpPr txBox="1"/>
          <p:nvPr/>
        </p:nvSpPr>
        <p:spPr>
          <a:xfrm>
            <a:off x="7635240" y="5349240"/>
            <a:ext cx="374904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IK가 경유점에 5 mm 넘게 못 닿은 시연은 버린다 (600개 중 17개를 실패로 버림).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154</a:t>
            </a:fld>
            <a:endParaRPr lang="ko-KR" alt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시연 한 편 (7.7초)</a:t>
            </a:r>
            <a:endParaRPr lang="ko-KR" altLang="en-US" sz="3000" dirty="0"/>
          </a:p>
        </p:txBody>
      </p:sp>
      <p:sp>
        <p:nvSpPr>
          <p:cNvPr id="3" name="pill_28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2864" descr="시연 한 편: 머리 카메라와 손목 카메라 영상 7장">    </p:cNvPr>
          <p:cNvPicPr>
            <a:picLocks noChangeAspect="1"/>
          </p:cNvPicPr>
          <p:nvPr/>
        </p:nvPicPr>
        <p:blipFill>
          <a:blip r:embed="rId1"/>
          <a:stretch>
            <a:fillRect/>
          </a:stretch>
        </p:blipFill>
        <p:spPr>
          <a:xfrm>
            <a:off x="548640" y="1544094"/>
            <a:ext cx="11064240" cy="2032453"/>
          </a:xfrm>
          <a:prstGeom prst="rect">
            <a:avLst/>
          </a:prstGeom>
        </p:spPr>
      </p:pic>
      <p:graphicFrame>
        <p:nvGraphicFramePr>
          <p:cNvPr id="156" name="table_2865"/>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2926080"/>
                <a:gridCol w="5943600"/>
              </a:tblGrid>
              <a:tr h="0">
                <a:tc>
                  <a:txBody>
                    <a:bodyPr/>
                    <a:lstStyle/>
                    <a:p>
                      <a:pPr eaLnBrk="0" indent="0" marL="0">
                        <a:buNone/>
                      </a:pPr>
                      <a:r>
                        <a:rPr lang="ko-KR" altLang="en-US" sz="1400" b="1" dirty="0">
                          <a:solidFill>
                            <a:schemeClr val="bg1"/>
                          </a:solidFill>
                        </a:rPr>
                        <a:t>기록</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모양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뜻</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head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72 × 128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머리 카메라 (ROS 1280×720을 10배 줄인 것과 같게)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wrist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 × 96 × 96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오른손 손목 카메라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state / action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8</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관절각 / 그때 전문가가 보낸 목표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done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마지막 0.5초만 1 ("다 집었다")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155</a:t>
            </a:fld>
            <a:endParaRPr lang="ko-KR" alt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작은 차이가 쌓이는 문제와 세 가지 대책</a:t>
            </a:r>
            <a:endParaRPr lang="ko-KR" altLang="en-US" sz="3000" dirty="0"/>
          </a:p>
        </p:txBody>
      </p:sp>
      <p:sp>
        <p:nvSpPr>
          <p:cNvPr id="3" name="pill_28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68"/>
          <p:cNvSpPr/>
          <p:nvPr/>
        </p:nvSpPr>
        <p:spPr>
          <a:xfrm>
            <a:off x="548640" y="1371600"/>
            <a:ext cx="3566160" cy="3566160"/>
          </a:xfrm>
          <a:prstGeom prst="roundRect">
            <a:avLst>
              <a:gd name="adj" fmla="val 2051"/>
            </a:avLst>
          </a:prstGeom>
          <a:solidFill>
            <a:schemeClr val="bg2"/>
          </a:solidFill>
          <a:ln w="12700">
            <a:solidFill>
              <a:schemeClr val="bg2"/>
            </a:solidFill>
            <a:prstDash val="solid"/>
          </a:ln>
        </p:spPr>
      </p:sp>
      <p:sp>
        <p:nvSpPr>
          <p:cNvPr id="7" name="iconbg_2869"/>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870"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871"/>
          <p:cNvSpPr txBox="1"/>
          <p:nvPr/>
        </p:nvSpPr>
        <p:spPr>
          <a:xfrm>
            <a:off x="146304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넓게 모으기</a:t>
            </a:r>
            <a:endParaRPr lang="ko-KR" altLang="en-US" sz="1800" dirty="0"/>
          </a:p>
        </p:txBody>
      </p:sp>
      <p:sp>
        <p:nvSpPr>
          <p:cNvPr id="10" name="text_2872"/>
          <p:cNvSpPr txBox="1"/>
          <p:nvPr/>
        </p:nvSpPr>
        <p:spPr>
          <a:xfrm>
            <a:off x="77724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테이블 두 곳 (파란색 / 나무색)</a:t>
            </a:r>
            <a:endParaRPr lang="ko-KR" altLang="en-US" sz="1400" dirty="0"/>
          </a:p>
          <a:p>
            <a:pPr eaLnBrk="0" indent="0" marL="0">
              <a:buNone/>
            </a:pPr>
            <a:r>
              <a:rPr lang="ko-KR" altLang="en-US" sz="1400" dirty="0">
                <a:solidFill>
                  <a:schemeClr val="tx1"/>
                </a:solidFill>
              </a:rPr>
              <a:t>상자 위치 ±4~6 cm, 방향 ±45°</a:t>
            </a:r>
            <a:endParaRPr lang="ko-KR" altLang="en-US" sz="1400" dirty="0"/>
          </a:p>
          <a:p>
            <a:pPr eaLnBrk="0" indent="0" marL="0">
              <a:buNone/>
            </a:pPr>
            <a:r>
              <a:rPr lang="ko-KR" altLang="en-US" sz="1400" dirty="0">
                <a:solidFill>
                  <a:schemeClr val="tx1"/>
                </a:solidFill>
              </a:rPr>
              <a:t>로봇 정렬 오차 ±4×5 cm, ±8°</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시연마다 무작위</a:t>
            </a:r>
            <a:endParaRPr lang="ko-KR" altLang="en-US" sz="1400" dirty="0"/>
          </a:p>
          <a:p>
            <a:pPr eaLnBrk="0" indent="0" marL="0">
              <a:buNone/>
            </a:pPr>
            <a:r>
              <a:rPr lang="ko-KR" altLang="en-US" sz="1400" dirty="0">
                <a:solidFill>
                  <a:schemeClr val="tx1"/>
                </a:solidFill>
              </a:rPr>
              <a:t>(sim.py TABLES, SPREAD)</a:t>
            </a:r>
            <a:endParaRPr lang="ko-KR" altLang="en-US" sz="1400" dirty="0"/>
          </a:p>
        </p:txBody>
      </p:sp>
      <p:sp>
        <p:nvSpPr>
          <p:cNvPr id="11" name="box_2873"/>
          <p:cNvSpPr/>
          <p:nvPr/>
        </p:nvSpPr>
        <p:spPr>
          <a:xfrm>
            <a:off x="4297680" y="1371600"/>
            <a:ext cx="3566160" cy="3566160"/>
          </a:xfrm>
          <a:prstGeom prst="roundRect">
            <a:avLst>
              <a:gd name="adj" fmla="val 2051"/>
            </a:avLst>
          </a:prstGeom>
          <a:solidFill>
            <a:schemeClr val="bg2"/>
          </a:solidFill>
          <a:ln w="12700">
            <a:solidFill>
              <a:schemeClr val="bg2"/>
            </a:solidFill>
            <a:prstDash val="solid"/>
          </a:ln>
        </p:spPr>
      </p:sp>
      <p:sp>
        <p:nvSpPr>
          <p:cNvPr id="12" name="iconbg_2874"/>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2875" descr="Redo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2876"/>
          <p:cNvSpPr txBox="1"/>
          <p:nvPr/>
        </p:nvSpPr>
        <p:spPr>
          <a:xfrm>
            <a:off x="521208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흔들어 모으기 (DART)</a:t>
            </a:r>
            <a:endParaRPr lang="ko-KR" altLang="en-US" sz="1800" dirty="0"/>
          </a:p>
        </p:txBody>
      </p:sp>
      <p:sp>
        <p:nvSpPr>
          <p:cNvPr id="15" name="text_2877"/>
          <p:cNvSpPr txBox="1"/>
          <p:nvPr/>
        </p:nvSpPr>
        <p:spPr>
          <a:xfrm>
            <a:off x="452628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시연 절반은 실제로 보내는 목표에 천천히 변하는 잡음 d를 더한다.</a:t>
            </a:r>
            <a:endParaRPr lang="ko-KR" altLang="en-US" sz="1400" dirty="0"/>
          </a:p>
          <a:p>
            <a:pPr eaLnBrk="0" indent="0" marL="0">
              <a:buNone/>
            </a:pPr>
            <a:r>
              <a:rPr lang="ko-KR" altLang="en-US" sz="1400" dirty="0">
                <a:solidFill>
                  <a:schemeClr val="tx1"/>
                </a:solidFill>
              </a:rPr>
              <a:t>d ← 0.85·d + N(0, 0.012²) rad</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기록하는 정답은 전문가 목표 그대로</a:t>
            </a:r>
            <a:endParaRPr lang="ko-KR" altLang="en-US" sz="1400" dirty="0"/>
          </a:p>
          <a:p>
            <a:pPr eaLnBrk="0" indent="0" marL="0">
              <a:buNone/>
            </a:pPr>
            <a:r>
              <a:rPr lang="ko-KR" altLang="en-US" sz="1400" dirty="0">
                <a:solidFill>
                  <a:schemeClr val="tx1"/>
                </a:solidFill>
              </a:rPr>
              <a:t>→ "어긋났을 때 돌아오는 법"이 데이터에 들어간다</a:t>
            </a:r>
            <a:endParaRPr lang="ko-KR" altLang="en-US" sz="1400" dirty="0"/>
          </a:p>
        </p:txBody>
      </p:sp>
      <p:sp>
        <p:nvSpPr>
          <p:cNvPr id="16" name="box_2878"/>
          <p:cNvSpPr/>
          <p:nvPr/>
        </p:nvSpPr>
        <p:spPr>
          <a:xfrm>
            <a:off x="8046720" y="1371600"/>
            <a:ext cx="3566160" cy="3566160"/>
          </a:xfrm>
          <a:prstGeom prst="roundRect">
            <a:avLst>
              <a:gd name="adj" fmla="val 2051"/>
            </a:avLst>
          </a:prstGeom>
          <a:solidFill>
            <a:schemeClr val="bg2"/>
          </a:solidFill>
          <a:ln w="12700">
            <a:solidFill>
              <a:schemeClr val="bg2"/>
            </a:solidFill>
            <a:prstDash val="solid"/>
          </a:ln>
        </p:spPr>
      </p:sp>
      <p:sp>
        <p:nvSpPr>
          <p:cNvPr id="17" name="iconbg_2879"/>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2880" descr="LayerGroup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2881"/>
          <p:cNvSpPr txBox="1"/>
          <p:nvPr/>
        </p:nvSpPr>
        <p:spPr>
          <a:xfrm>
            <a:off x="896112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묶음으로 내기 (ACT)</a:t>
            </a:r>
            <a:endParaRPr lang="ko-KR" altLang="en-US" sz="1800" dirty="0"/>
          </a:p>
        </p:txBody>
      </p:sp>
      <p:sp>
        <p:nvSpPr>
          <p:cNvPr id="20" name="text_2882"/>
          <p:cNvSpPr txBox="1"/>
          <p:nvPr/>
        </p:nvSpPr>
        <p:spPr>
          <a:xfrm>
            <a:off x="827532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1단계가 아니라 10단계를 한 번에 예측.</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순간 겹치는 예측 여러 개를 평균 (temporal ensembling)</a:t>
            </a:r>
            <a:endParaRPr lang="ko-KR" altLang="en-US" sz="1400" dirty="0"/>
          </a:p>
          <a:p>
            <a:pPr eaLnBrk="0" indent="0" marL="0">
              <a:buNone/>
            </a:pPr>
            <a:r>
              <a:rPr lang="ko-KR" altLang="en-US" sz="1400" dirty="0">
                <a:solidFill>
                  <a:schemeClr val="tx1"/>
                </a:solidFill>
              </a:rPr>
              <a:t>→ 떨림이 줄고 한 번의 실수가 덜 퍼진다</a:t>
            </a:r>
            <a:endParaRPr lang="ko-KR" altLang="en-US" sz="1400" dirty="0"/>
          </a:p>
        </p:txBody>
      </p:sp>
      <p:sp>
        <p:nvSpPr>
          <p:cNvPr id="21" name="box_2883"/>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2" name="iconbg_2884"/>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3" name="icon_2885" descr="Lightbulb 아이콘">    </p:cNvPr>
          <p:cNvPicPr>
            <a:picLocks noChangeAspect="1"/>
          </p:cNvPicPr>
          <p:nvPr/>
        </p:nvPicPr>
        <p:blipFill>
          <a:blip r:embed="rId4"/>
          <a:stretch>
            <a:fillRect/>
          </a:stretch>
        </p:blipFill>
        <p:spPr>
          <a:xfrm>
            <a:off x="867766" y="5320894"/>
            <a:ext cx="230429" cy="230429"/>
          </a:xfrm>
          <a:prstGeom prst="rect">
            <a:avLst/>
          </a:prstGeom>
        </p:spPr>
      </p:pic>
      <p:sp>
        <p:nvSpPr>
          <p:cNvPr id="24" name="text_2886"/>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2887"/>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운전 연수에서 강사가 일부러 핸들을 살짝 틀어 놓고 "다시 차선으로 돌아오는 법"을 가르치는 것이 DART다.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156</a:t>
            </a:fld>
            <a:endParaRPr lang="ko-KR" alt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정책의 구조 (model.py)</a:t>
            </a:r>
            <a:endParaRPr lang="ko-KR" altLang="en-US" sz="3000" dirty="0"/>
          </a:p>
        </p:txBody>
      </p:sp>
      <p:sp>
        <p:nvSpPr>
          <p:cNvPr id="3" name="pill_28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90"/>
          <p:cNvSpPr/>
          <p:nvPr/>
        </p:nvSpPr>
        <p:spPr>
          <a:xfrm>
            <a:off x="548640" y="1371600"/>
            <a:ext cx="11064240" cy="2743200"/>
          </a:xfrm>
          <a:prstGeom prst="roundRect">
            <a:avLst>
              <a:gd name="adj" fmla="val 2667"/>
            </a:avLst>
          </a:prstGeom>
          <a:solidFill>
            <a:schemeClr val="tx1"/>
          </a:solidFill>
          <a:ln w="12700">
            <a:solidFill>
              <a:schemeClr val="tx1"/>
            </a:solidFill>
            <a:prstDash val="solid"/>
          </a:ln>
        </p:spPr>
      </p:sp>
      <p:sp>
        <p:nvSpPr>
          <p:cNvPr id="7" name="code_2891"/>
          <p:cNvSpPr txBox="1"/>
          <p:nvPr/>
        </p:nvSpPr>
        <p:spPr>
          <a:xfrm>
            <a:off x="731520" y="1508760"/>
            <a:ext cx="1069848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이미지 ─ 합성곱 4층 ─ 공간 소프트맥스 ─▶ 키포인트 64개 (x, y) = 128</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(머리 72×128, 손목 96×96 각각)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명령 ── 단어 해시 (512칸) ── 단어 벡터 평균 ─▶ 32</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관절각 8 ── 정규화 ─────────────────────────▶ 8</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이어 붙이기 (296) ─ MLP 512 ─ MLP 512 ─▶ 10단계 × 8 관절 목표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"끝" 확률 1</a:t>
            </a:r>
            <a:endParaRPr lang="ko-KR" altLang="en-US" sz="1400" dirty="0"/>
          </a:p>
        </p:txBody>
      </p:sp>
      <p:graphicFrame>
        <p:nvGraphicFramePr>
          <p:cNvPr id="158" name="table_2892"/>
          <p:cNvGraphicFramePr>
            <a:graphicFrameLocks noGrp="1"/>
          </p:cNvGraphicFramePr>
          <p:nvPr>
            <p:extLst>
              <p:ext uri="{D42A27DB-BD31-4B8C-83A1-F6EECF244321}">
                <p14:modId xmlns:p14="http://schemas.microsoft.com/office/powerpoint/2010/main" val="1579011935"/>
              </p:ext>
            </p:extLst>
          </p:nvPr>
        </p:nvGraphicFramePr>
        <p:xfrm>
          <a:off x="548640" y="4297680"/>
          <a:ext cx="11064240" cy="914400"/>
        </p:xfrm>
        <a:graphic>
          <a:graphicData uri="http://schemas.openxmlformats.org/drawingml/2006/table">
            <a:tbl>
              <a:tblPr/>
              <a:tblGrid>
                <a:gridCol w="3108960"/>
                <a:gridCol w="7955280"/>
              </a:tblGrid>
              <a:tr h="0">
                <a:tc>
                  <a:txBody>
                    <a:bodyPr/>
                    <a:lstStyle/>
                    <a:p>
                      <a:pPr eaLnBrk="0" indent="0" marL="0">
                        <a:buNone/>
                      </a:pPr>
                      <a:r>
                        <a:rPr lang="ko-KR" altLang="en-US" sz="1300" b="1" dirty="0">
                          <a:solidFill>
                            <a:schemeClr val="bg1"/>
                          </a:solidFill>
                        </a:rPr>
                        <a:t>선택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집기에 필요한 것은 "어디에"다. 위치를 직접 숫자로 뽑는다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카메라 두 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멀리서는 머리 카메라, 마지막 몇 cm는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영상 흔들기 · 밝기 바꾸기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렌더링이 조금 달라도(ROS 영상 축소 방식 등) 버티게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단어 해시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LLM이 보낸 어떤 문장도 들어갈 수 있다 (정직한 한계: 지금은 물체가 하나라 언어가 거의 역할이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157</a:t>
            </a:fld>
            <a:endParaRPr lang="ko-KR" alt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층별 모양과 매개변수 (PyTorch)</a:t>
            </a:r>
            <a:endParaRPr lang="ko-KR" altLang="en-US" sz="3000" dirty="0"/>
          </a:p>
        </p:txBody>
      </p:sp>
      <p:sp>
        <p:nvSpPr>
          <p:cNvPr id="3" name="pill_28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9" name="table_2895"/>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3291840"/>
                <a:gridCol w="1828800"/>
                <a:gridCol w="1828800"/>
              </a:tblGrid>
              <a:tr h="0">
                <a:tc>
                  <a:txBody>
                    <a:bodyPr/>
                    <a:lstStyle/>
                    <a:p>
                      <a:pPr eaLnBrk="0" indent="0" marL="0">
                        <a:buNone/>
                      </a:pPr>
                      <a:r>
                        <a:rPr lang="ko-KR" altLang="en-US" sz="1300" b="1" dirty="0">
                          <a:solidFill>
                            <a:schemeClr val="bg1"/>
                          </a:solidFill>
                        </a:rPr>
                        <a:t>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입력 (0~1 → −0.5~0.5)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72 × 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96 × 96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5×5 보폭 2, 32 + GroupNorm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36 × 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48 × 48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3×3 보폭 2,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3×3 보폭 1,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1×1, 64 (키포인트 지도)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17" name="table_2896"/>
          <p:cNvGraphicFramePr>
            <a:graphicFrameLocks noGrp="1"/>
          </p:cNvGraphicFramePr>
          <p:nvPr>
            <p:extLst>
              <p:ext uri="{D42A27DB-BD31-4B8C-83A1-F6EECF244321}">
                <p14:modId xmlns:p14="http://schemas.microsoft.com/office/powerpoint/2010/main" val="1579011935"/>
              </p:ext>
            </p:extLst>
          </p:nvPr>
        </p:nvGraphicFramePr>
        <p:xfrm>
          <a:off x="7772400" y="1371600"/>
          <a:ext cx="3840480" cy="914400"/>
        </p:xfrm>
        <a:graphic>
          <a:graphicData uri="http://schemas.openxmlformats.org/drawingml/2006/table">
            <a:tbl>
              <a:tblPr/>
              <a:tblGrid>
                <a:gridCol w="2377440"/>
                <a:gridCol w="146304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머리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손목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단어 표 512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16,384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MLP 296 → 512 → 512 → 81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456,273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합계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597,329</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897"/>
          <p:cNvSpPr/>
          <p:nvPr/>
        </p:nvSpPr>
        <p:spPr>
          <a:xfrm>
            <a:off x="548640" y="4297680"/>
            <a:ext cx="11064240" cy="1828800"/>
          </a:xfrm>
          <a:prstGeom prst="roundRect">
            <a:avLst>
              <a:gd name="adj" fmla="val 4000"/>
            </a:avLst>
          </a:prstGeom>
          <a:solidFill>
            <a:schemeClr val="tx1"/>
          </a:solidFill>
          <a:ln w="12700">
            <a:solidFill>
              <a:schemeClr val="tx1"/>
            </a:solidFill>
            <a:prstDash val="solid"/>
          </a:ln>
        </p:spPr>
      </p:sp>
      <p:sp>
        <p:nvSpPr>
          <p:cNvPr id="9" name="code_2898"/>
          <p:cNvSpPr txBox="1"/>
          <p:nvPr/>
        </p:nvSpPr>
        <p:spPr>
          <a:xfrm>
            <a:off x="731520" y="4434840"/>
            <a:ext cx="1069848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forward(self, head, wrist, words, offsets, state):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z = torch.cat([self.head_enc(head - 0.5), self.wrist_enc(wrist - 0.5),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self.words(words, offsets),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(state - self.mean) / self.std], dim=1)   # (n, 296)</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out = self.trunk(z)                                      # (n, 81)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out[:, :-1].view(-1, 10, 8), out[:, -1]           # 묶음, "끝" 로짓</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158</a:t>
            </a:fld>
            <a:endParaRPr lang="ko-KR" alt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공간 소프트맥스: "어디에"를 숫자로</a:t>
            </a:r>
            <a:endParaRPr lang="ko-KR" altLang="en-US" sz="3000" dirty="0"/>
          </a:p>
        </p:txBody>
      </p:sp>
      <p:sp>
        <p:nvSpPr>
          <p:cNvPr id="3" name="pill_28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01"/>
          <p:cNvSpPr/>
          <p:nvPr/>
        </p:nvSpPr>
        <p:spPr>
          <a:xfrm>
            <a:off x="548640" y="1371600"/>
            <a:ext cx="6766560" cy="3566160"/>
          </a:xfrm>
          <a:prstGeom prst="roundRect">
            <a:avLst>
              <a:gd name="adj" fmla="val 2051"/>
            </a:avLst>
          </a:prstGeom>
          <a:solidFill>
            <a:schemeClr val="tx1"/>
          </a:solidFill>
          <a:ln w="12700">
            <a:solidFill>
              <a:schemeClr val="tx1"/>
            </a:solidFill>
            <a:prstDash val="solid"/>
          </a:ln>
        </p:spPr>
      </p:sp>
      <p:sp>
        <p:nvSpPr>
          <p:cNvPr id="7" name="code_2902"/>
          <p:cNvSpPr txBox="1"/>
          <p:nvPr/>
        </p:nvSpPr>
        <p:spPr>
          <a:xfrm>
            <a:off x="731520" y="1508760"/>
            <a:ext cx="640080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p_k(i, j) = exp(f_k(i, j)) / Σ exp(f_k)      # k번째 지도의 확률</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x̂_k = Σ p_k(i, j) · x_j                     # x_j, y_i ∈ [−1,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ŷ_k = Σ p_k(i, j) · y_i</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model.py SpatialSoftmax.forward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  = F.softmax(x.flatten(2), dim=-1).view(n, c, h, w)</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xs = torch.linspace(-1, 1, w); ys = torch.linspace(-1, 1, 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torch.cat([(p.sum(2) * xs).sum(-1),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(p.sum(3) * ys).sum(-1)], dim=1)   # (n, 2c)</a:t>
            </a:r>
            <a:endParaRPr lang="ko-KR" altLang="en-US" sz="1300" dirty="0"/>
          </a:p>
        </p:txBody>
      </p:sp>
      <p:sp>
        <p:nvSpPr>
          <p:cNvPr id="8" name="box_2903"/>
          <p:cNvSpPr/>
          <p:nvPr/>
        </p:nvSpPr>
        <p:spPr>
          <a:xfrm>
            <a:off x="7589520" y="1371600"/>
            <a:ext cx="4023360" cy="3566160"/>
          </a:xfrm>
          <a:prstGeom prst="roundRect">
            <a:avLst>
              <a:gd name="adj" fmla="val 2051"/>
            </a:avLst>
          </a:prstGeom>
          <a:solidFill>
            <a:schemeClr val="bg2"/>
          </a:solidFill>
          <a:ln w="12700">
            <a:solidFill>
              <a:schemeClr val="bg2"/>
            </a:solidFill>
            <a:prstDash val="solid"/>
          </a:ln>
        </p:spPr>
      </p:sp>
      <p:sp>
        <p:nvSpPr>
          <p:cNvPr id="9" name="iconbg_2904"/>
          <p:cNvSpPr/>
          <p:nvPr/>
        </p:nvSpPr>
        <p:spPr>
          <a:xfrm>
            <a:off x="7818120" y="1600200"/>
            <a:ext cx="548640" cy="548640"/>
          </a:xfrm>
          <a:prstGeom prst="ellipse">
            <a:avLst/>
          </a:prstGeom>
          <a:solidFill>
            <a:schemeClr val="accent1"/>
          </a:solidFill>
          <a:ln w="12700">
            <a:solidFill>
              <a:schemeClr val="accent1"/>
            </a:solidFill>
            <a:prstDash val="solid"/>
          </a:ln>
        </p:spPr>
      </p:sp>
      <p:pic>
        <p:nvPicPr>
          <p:cNvPr id="10" name="icon_2905" descr="Crosshairs 아이콘">    </p:cNvPr>
          <p:cNvPicPr>
            <a:picLocks noChangeAspect="1"/>
          </p:cNvPicPr>
          <p:nvPr/>
        </p:nvPicPr>
        <p:blipFill>
          <a:blip r:embed="rId1"/>
          <a:stretch>
            <a:fillRect/>
          </a:stretch>
        </p:blipFill>
        <p:spPr>
          <a:xfrm>
            <a:off x="7938821" y="1720901"/>
            <a:ext cx="307238" cy="307238"/>
          </a:xfrm>
          <a:prstGeom prst="rect">
            <a:avLst/>
          </a:prstGeom>
        </p:spPr>
      </p:pic>
      <p:sp>
        <p:nvSpPr>
          <p:cNvPr id="11" name="text_290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왜 평균 풀링이 아닌가</a:t>
            </a:r>
            <a:endParaRPr lang="ko-KR" altLang="en-US" sz="1800" dirty="0"/>
          </a:p>
        </p:txBody>
      </p:sp>
      <p:sp>
        <p:nvSpPr>
          <p:cNvPr id="12" name="text_2907"/>
          <p:cNvSpPr txBox="1"/>
          <p:nvPr/>
        </p:nvSpPr>
        <p:spPr>
          <a:xfrm>
            <a:off x="7818120" y="2240280"/>
            <a:ext cx="35661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평균 풀링은 "무엇이 있나"는 남기지만 "어디에"를 지운다.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공간 소프트맥스는 위치를 그대로 숫자로 넘겨 주므로, 상자가 2 cm 옮겨지면 키포인트도 그만큼 움직인다.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시연 수백 개, CPU로도 배운다</a:t>
            </a:r>
            <a:endParaRPr lang="ko-KR" altLang="en-US" sz="1400" dirty="0"/>
          </a:p>
        </p:txBody>
      </p:sp>
      <p:sp>
        <p:nvSpPr>
          <p:cNvPr id="13" name="box_2908"/>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14" name="iconbg_2909"/>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15" name="icon_2910" descr="Lightbulb 아이콘">    </p:cNvPr>
          <p:cNvPicPr>
            <a:picLocks noChangeAspect="1"/>
          </p:cNvPicPr>
          <p:nvPr/>
        </p:nvPicPr>
        <p:blipFill>
          <a:blip r:embed="rId2"/>
          <a:stretch>
            <a:fillRect/>
          </a:stretch>
        </p:blipFill>
        <p:spPr>
          <a:xfrm>
            <a:off x="867766" y="5320894"/>
            <a:ext cx="230429" cy="230429"/>
          </a:xfrm>
          <a:prstGeom prst="rect">
            <a:avLst/>
          </a:prstGeom>
        </p:spPr>
      </p:pic>
      <p:sp>
        <p:nvSpPr>
          <p:cNvPr id="16" name="text_2911"/>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7" name="text_2912"/>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사진 64장에 각각 "가장 밝은 곳에 핀을 꽂아라"를 시키고, 핀 64개의 좌표만 다음 사람에게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159</a:t>
            </a:fld>
            <a:endParaRPr lang="ko-KR" alt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설정 (train.py)</a:t>
            </a:r>
            <a:endParaRPr lang="ko-KR" altLang="en-US" sz="3000" dirty="0"/>
          </a:p>
        </p:txBody>
      </p:sp>
      <p:sp>
        <p:nvSpPr>
          <p:cNvPr id="3" name="pill_29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1" name="table_2915"/>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a:tblGrid>
                <a:gridCol w="1463040"/>
                <a:gridCol w="4846320"/>
              </a:tblGrid>
              <a:tr h="0">
                <a:tc>
                  <a:txBody>
                    <a:bodyPr/>
                    <a:lstStyle/>
                    <a:p>
                      <a:pPr eaLnBrk="0" indent="0" marL="0">
                        <a:buNone/>
                      </a:pPr>
                      <a:r>
                        <a:rPr lang="ko-KR" altLang="en-US" sz="1300" b="1" dirty="0">
                          <a:solidFill>
                            <a:schemeClr val="bg1"/>
                          </a:solidFill>
                        </a:rPr>
                        <a:t>항목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표본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525편 = 40,425장면, 검증 58편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 장면부터 10단계 목표 (끝은 마지막 목표로 채움), 평균·표준편차로 정규화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손실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L1(묶음) + 0.1 × BCE("끝")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최적화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AdamW, lr 1e-3, weight decay 1e-4, OneCycleLR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배치 · 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12,000 (약 19 에포크), CPU 8스레드 0.18 s/단계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증강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영상 ±4 px 이동, 밝기·대비 ±10%, 관절각 잡음 0.01 rad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저장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500단계마다 검증, 가장 좋을 때 policy.pt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916"/>
          <p:cNvSpPr/>
          <p:nvPr/>
        </p:nvSpPr>
        <p:spPr>
          <a:xfrm>
            <a:off x="7132320" y="1371600"/>
            <a:ext cx="4480560" cy="4754880"/>
          </a:xfrm>
          <a:prstGeom prst="roundRect">
            <a:avLst>
              <a:gd name="adj" fmla="val 1633"/>
            </a:avLst>
          </a:prstGeom>
          <a:solidFill>
            <a:schemeClr val="tx1"/>
          </a:solidFill>
          <a:ln w="12700">
            <a:solidFill>
              <a:schemeClr val="tx1"/>
            </a:solidFill>
            <a:prstDash val="solid"/>
          </a:ln>
        </p:spPr>
      </p:sp>
      <p:sp>
        <p:nvSpPr>
          <p:cNvPr id="8" name="code_2917"/>
          <p:cNvSpPr txBox="1"/>
          <p:nvPr/>
        </p:nvSpPr>
        <p:spPr>
          <a:xfrm>
            <a:off x="7315200" y="1508760"/>
            <a:ext cx="411480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학습 한 단계 (train.py)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idx = rng.integers(0, len(train), 64)</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head, wrist, words, offsets, state,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chunk, done = train.batch(idx, 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pred, logit = policy(head, wrist, words,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offsets, 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target = (chunk - mean) / std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 = F.l1_loss(pred, target) + 0.1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F.binary_cross_entropy_with_logits(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logit, done)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opt.zero_grad()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loss.backward()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opt.step()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sched.step()</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160</a:t>
            </a:fld>
            <a:endParaRPr lang="ko-KR" alt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곡선: 검증 오차</a:t>
            </a:r>
            <a:endParaRPr lang="ko-KR" altLang="en-US" sz="3000" dirty="0"/>
          </a:p>
        </p:txBody>
      </p:sp>
      <p:sp>
        <p:nvSpPr>
          <p:cNvPr id="3" name="pill_29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6" name="chart_val_l1" descr=""/>
          <p:cNvGraphicFramePr/>
          <p:nvPr/>
        </p:nvGraphicFramePr>
        <p:xfrm>
          <a:off x="548640" y="1371600"/>
          <a:ext cx="749808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2" name="table_2920"/>
          <p:cNvGraphicFramePr>
            <a:graphicFrameLocks noGrp="1"/>
          </p:cNvGraphicFramePr>
          <p:nvPr>
            <p:extLst>
              <p:ext uri="{D42A27DB-BD31-4B8C-83A1-F6EECF244321}">
                <p14:modId xmlns:p14="http://schemas.microsoft.com/office/powerpoint/2010/main" val="1579011935"/>
              </p:ext>
            </p:extLst>
          </p:nvPr>
        </p:nvGraphicFramePr>
        <p:xfrm>
          <a:off x="8321040" y="1371600"/>
          <a:ext cx="3291840" cy="914400"/>
        </p:xfrm>
        <a:graphic>
          <a:graphicData uri="http://schemas.openxmlformats.org/drawingml/2006/table">
            <a:tbl>
              <a:tblPr/>
              <a:tblGrid>
                <a:gridCol w="1463040"/>
                <a:gridCol w="914400"/>
                <a:gridCol w="91440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두 곳</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공급만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마지막 검증 L1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0.038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0.043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48/48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48/50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52/52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0/20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921"/>
          <p:cNvSpPr/>
          <p:nvPr/>
        </p:nvSpPr>
        <p:spPr>
          <a:xfrm>
            <a:off x="8321040" y="3108960"/>
            <a:ext cx="3291840" cy="3017520"/>
          </a:xfrm>
          <a:prstGeom prst="roundRect">
            <a:avLst>
              <a:gd name="adj" fmla="val 2424"/>
            </a:avLst>
          </a:prstGeom>
          <a:solidFill>
            <a:schemeClr val="bg2"/>
          </a:solidFill>
          <a:ln w="12700">
            <a:solidFill>
              <a:schemeClr val="bg2"/>
            </a:solidFill>
            <a:prstDash val="solid"/>
          </a:ln>
        </p:spPr>
      </p:sp>
      <p:sp>
        <p:nvSpPr>
          <p:cNvPr id="9" name="iconbg_2922"/>
          <p:cNvSpPr/>
          <p:nvPr/>
        </p:nvSpPr>
        <p:spPr>
          <a:xfrm>
            <a:off x="8549640" y="3337560"/>
            <a:ext cx="548640" cy="548640"/>
          </a:xfrm>
          <a:prstGeom prst="ellipse">
            <a:avLst/>
          </a:prstGeom>
          <a:solidFill>
            <a:schemeClr val="accent6"/>
          </a:solidFill>
          <a:ln w="12700">
            <a:solidFill>
              <a:schemeClr val="accent6"/>
            </a:solidFill>
            <a:prstDash val="solid"/>
          </a:ln>
        </p:spPr>
      </p:sp>
      <p:pic>
        <p:nvPicPr>
          <p:cNvPr id="10" name="icon_2923" descr="ExclamationTriangle 아이콘">    </p:cNvPr>
          <p:cNvPicPr>
            <a:picLocks noChangeAspect="1"/>
          </p:cNvPicPr>
          <p:nvPr/>
        </p:nvPicPr>
        <p:blipFill>
          <a:blip r:embed="rId2"/>
          <a:stretch>
            <a:fillRect/>
          </a:stretch>
        </p:blipFill>
        <p:spPr>
          <a:xfrm>
            <a:off x="8670341" y="3458261"/>
            <a:ext cx="307238" cy="307238"/>
          </a:xfrm>
          <a:prstGeom prst="rect">
            <a:avLst/>
          </a:prstGeom>
        </p:spPr>
      </p:pic>
      <p:sp>
        <p:nvSpPr>
          <p:cNvPr id="11" name="text_2924"/>
          <p:cNvSpPr txBox="1"/>
          <p:nvPr/>
        </p:nvSpPr>
        <p:spPr>
          <a:xfrm>
            <a:off x="9235440" y="331012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숫자만 믿지 말 것</a:t>
            </a:r>
            <a:endParaRPr lang="ko-KR" altLang="en-US" sz="1600" dirty="0"/>
          </a:p>
        </p:txBody>
      </p:sp>
      <p:sp>
        <p:nvSpPr>
          <p:cNvPr id="12" name="text_2925"/>
          <p:cNvSpPr txBox="1"/>
          <p:nvPr/>
        </p:nvSpPr>
        <p:spPr>
          <a:xfrm>
            <a:off x="8549640" y="3977640"/>
            <a:ext cx="283464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검증 오차는 "본 적 있는 종류의 장면"에서의 실력이다. 쓸 곳에서 닫힌 루프로 직접 평가해야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161</a:t>
            </a:fld>
            <a:endParaRPr lang="ko-KR" alt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실행: 묶음 예측의 시간 평균 (runner.py)</a:t>
            </a:r>
            <a:endParaRPr lang="ko-KR" altLang="en-US" sz="3000" dirty="0"/>
          </a:p>
        </p:txBody>
      </p:sp>
      <p:sp>
        <p:nvSpPr>
          <p:cNvPr id="3" name="pill_29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28"/>
          <p:cNvSpPr/>
          <p:nvPr/>
        </p:nvSpPr>
        <p:spPr>
          <a:xfrm>
            <a:off x="548640" y="1463040"/>
            <a:ext cx="438912" cy="411480"/>
          </a:xfrm>
          <a:prstGeom prst="roundRect">
            <a:avLst>
              <a:gd name="adj" fmla="val 17778"/>
            </a:avLst>
          </a:prstGeom>
          <a:solidFill>
            <a:schemeClr val="bg2"/>
          </a:solidFill>
          <a:ln w="12700">
            <a:solidFill>
              <a:schemeClr val="bg2"/>
            </a:solidFill>
            <a:prstDash val="solid"/>
          </a:ln>
        </p:spPr>
      </p:sp>
      <p:sp>
        <p:nvSpPr>
          <p:cNvPr id="7" name="box_2929"/>
          <p:cNvSpPr/>
          <p:nvPr/>
        </p:nvSpPr>
        <p:spPr>
          <a:xfrm>
            <a:off x="1024128" y="1463040"/>
            <a:ext cx="438912" cy="411480"/>
          </a:xfrm>
          <a:prstGeom prst="roundRect">
            <a:avLst>
              <a:gd name="adj" fmla="val 17778"/>
            </a:avLst>
          </a:prstGeom>
          <a:solidFill>
            <a:schemeClr val="bg2"/>
          </a:solidFill>
          <a:ln w="12700">
            <a:solidFill>
              <a:schemeClr val="bg2"/>
            </a:solidFill>
            <a:prstDash val="solid"/>
          </a:ln>
        </p:spPr>
      </p:sp>
      <p:sp>
        <p:nvSpPr>
          <p:cNvPr id="8" name="box_2930"/>
          <p:cNvSpPr/>
          <p:nvPr/>
        </p:nvSpPr>
        <p:spPr>
          <a:xfrm>
            <a:off x="1499616" y="1463040"/>
            <a:ext cx="438912" cy="411480"/>
          </a:xfrm>
          <a:prstGeom prst="roundRect">
            <a:avLst>
              <a:gd name="adj" fmla="val 17778"/>
            </a:avLst>
          </a:prstGeom>
          <a:solidFill>
            <a:schemeClr val="bg2"/>
          </a:solidFill>
          <a:ln w="12700">
            <a:solidFill>
              <a:schemeClr val="bg2"/>
            </a:solidFill>
            <a:prstDash val="solid"/>
          </a:ln>
        </p:spPr>
      </p:sp>
      <p:sp>
        <p:nvSpPr>
          <p:cNvPr id="9" name="box_2931"/>
          <p:cNvSpPr/>
          <p:nvPr/>
        </p:nvSpPr>
        <p:spPr>
          <a:xfrm>
            <a:off x="1975104" y="1463040"/>
            <a:ext cx="438912" cy="411480"/>
          </a:xfrm>
          <a:prstGeom prst="roundRect">
            <a:avLst>
              <a:gd name="adj" fmla="val 17778"/>
            </a:avLst>
          </a:prstGeom>
          <a:solidFill>
            <a:schemeClr val="accent1"/>
          </a:solidFill>
          <a:ln w="12700">
            <a:solidFill>
              <a:schemeClr val="accent1"/>
            </a:solidFill>
            <a:prstDash val="solid"/>
          </a:ln>
        </p:spPr>
      </p:sp>
      <p:sp>
        <p:nvSpPr>
          <p:cNvPr id="10" name="box_2932"/>
          <p:cNvSpPr/>
          <p:nvPr/>
        </p:nvSpPr>
        <p:spPr>
          <a:xfrm>
            <a:off x="2450592" y="1463040"/>
            <a:ext cx="438912" cy="411480"/>
          </a:xfrm>
          <a:prstGeom prst="roundRect">
            <a:avLst>
              <a:gd name="adj" fmla="val 17778"/>
            </a:avLst>
          </a:prstGeom>
          <a:solidFill>
            <a:schemeClr val="bg2"/>
          </a:solidFill>
          <a:ln w="12700">
            <a:solidFill>
              <a:schemeClr val="bg2"/>
            </a:solidFill>
            <a:prstDash val="solid"/>
          </a:ln>
        </p:spPr>
      </p:sp>
      <p:sp>
        <p:nvSpPr>
          <p:cNvPr id="11" name="box_2933"/>
          <p:cNvSpPr/>
          <p:nvPr/>
        </p:nvSpPr>
        <p:spPr>
          <a:xfrm>
            <a:off x="2926080" y="1463040"/>
            <a:ext cx="438912" cy="411480"/>
          </a:xfrm>
          <a:prstGeom prst="roundRect">
            <a:avLst>
              <a:gd name="adj" fmla="val 17778"/>
            </a:avLst>
          </a:prstGeom>
          <a:solidFill>
            <a:schemeClr val="bg2"/>
          </a:solidFill>
          <a:ln w="12700">
            <a:solidFill>
              <a:schemeClr val="bg2"/>
            </a:solidFill>
            <a:prstDash val="solid"/>
          </a:ln>
        </p:spPr>
      </p:sp>
      <p:sp>
        <p:nvSpPr>
          <p:cNvPr id="12" name="box_2934"/>
          <p:cNvSpPr/>
          <p:nvPr/>
        </p:nvSpPr>
        <p:spPr>
          <a:xfrm>
            <a:off x="3401568" y="1463040"/>
            <a:ext cx="438912" cy="411480"/>
          </a:xfrm>
          <a:prstGeom prst="roundRect">
            <a:avLst>
              <a:gd name="adj" fmla="val 17778"/>
            </a:avLst>
          </a:prstGeom>
          <a:solidFill>
            <a:schemeClr val="bg2"/>
          </a:solidFill>
          <a:ln w="12700">
            <a:solidFill>
              <a:schemeClr val="bg2"/>
            </a:solidFill>
            <a:prstDash val="solid"/>
          </a:ln>
        </p:spPr>
      </p:sp>
      <p:sp>
        <p:nvSpPr>
          <p:cNvPr id="13" name="box_2935"/>
          <p:cNvSpPr/>
          <p:nvPr/>
        </p:nvSpPr>
        <p:spPr>
          <a:xfrm>
            <a:off x="3877056" y="1463040"/>
            <a:ext cx="438912" cy="411480"/>
          </a:xfrm>
          <a:prstGeom prst="roundRect">
            <a:avLst>
              <a:gd name="adj" fmla="val 17778"/>
            </a:avLst>
          </a:prstGeom>
          <a:solidFill>
            <a:schemeClr val="bg2"/>
          </a:solidFill>
          <a:ln w="12700">
            <a:solidFill>
              <a:schemeClr val="bg2"/>
            </a:solidFill>
            <a:prstDash val="solid"/>
          </a:ln>
        </p:spPr>
      </p:sp>
      <p:sp>
        <p:nvSpPr>
          <p:cNvPr id="14" name="box_2936"/>
          <p:cNvSpPr/>
          <p:nvPr/>
        </p:nvSpPr>
        <p:spPr>
          <a:xfrm>
            <a:off x="4352544" y="1463040"/>
            <a:ext cx="438912" cy="411480"/>
          </a:xfrm>
          <a:prstGeom prst="roundRect">
            <a:avLst>
              <a:gd name="adj" fmla="val 17778"/>
            </a:avLst>
          </a:prstGeom>
          <a:solidFill>
            <a:schemeClr val="bg2"/>
          </a:solidFill>
          <a:ln w="12700">
            <a:solidFill>
              <a:schemeClr val="bg2"/>
            </a:solidFill>
            <a:prstDash val="solid"/>
          </a:ln>
        </p:spPr>
      </p:sp>
      <p:sp>
        <p:nvSpPr>
          <p:cNvPr id="15" name="box_2937"/>
          <p:cNvSpPr/>
          <p:nvPr/>
        </p:nvSpPr>
        <p:spPr>
          <a:xfrm>
            <a:off x="4828032" y="1463040"/>
            <a:ext cx="438912" cy="411480"/>
          </a:xfrm>
          <a:prstGeom prst="roundRect">
            <a:avLst>
              <a:gd name="adj" fmla="val 17778"/>
            </a:avLst>
          </a:prstGeom>
          <a:solidFill>
            <a:schemeClr val="bg2"/>
          </a:solidFill>
          <a:ln w="12700">
            <a:solidFill>
              <a:schemeClr val="bg2"/>
            </a:solidFill>
            <a:prstDash val="solid"/>
          </a:ln>
        </p:spPr>
      </p:sp>
      <p:sp>
        <p:nvSpPr>
          <p:cNvPr id="16" name="text_2938"/>
          <p:cNvSpPr txBox="1"/>
          <p:nvPr/>
        </p:nvSpPr>
        <p:spPr>
          <a:xfrm>
            <a:off x="6400800" y="146304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t−3에 예측</a:t>
            </a:r>
            <a:endParaRPr lang="ko-KR" altLang="en-US" sz="1200" dirty="0"/>
          </a:p>
        </p:txBody>
      </p:sp>
      <p:sp>
        <p:nvSpPr>
          <p:cNvPr id="17" name="box_2939"/>
          <p:cNvSpPr/>
          <p:nvPr/>
        </p:nvSpPr>
        <p:spPr>
          <a:xfrm>
            <a:off x="1024128" y="1965960"/>
            <a:ext cx="438912" cy="411480"/>
          </a:xfrm>
          <a:prstGeom prst="roundRect">
            <a:avLst>
              <a:gd name="adj" fmla="val 17778"/>
            </a:avLst>
          </a:prstGeom>
          <a:solidFill>
            <a:schemeClr val="bg2"/>
          </a:solidFill>
          <a:ln w="12700">
            <a:solidFill>
              <a:schemeClr val="bg2"/>
            </a:solidFill>
            <a:prstDash val="solid"/>
          </a:ln>
        </p:spPr>
      </p:sp>
      <p:sp>
        <p:nvSpPr>
          <p:cNvPr id="18" name="box_2940"/>
          <p:cNvSpPr/>
          <p:nvPr/>
        </p:nvSpPr>
        <p:spPr>
          <a:xfrm>
            <a:off x="1499616" y="1965960"/>
            <a:ext cx="438912" cy="411480"/>
          </a:xfrm>
          <a:prstGeom prst="roundRect">
            <a:avLst>
              <a:gd name="adj" fmla="val 17778"/>
            </a:avLst>
          </a:prstGeom>
          <a:solidFill>
            <a:schemeClr val="bg2"/>
          </a:solidFill>
          <a:ln w="12700">
            <a:solidFill>
              <a:schemeClr val="bg2"/>
            </a:solidFill>
            <a:prstDash val="solid"/>
          </a:ln>
        </p:spPr>
      </p:sp>
      <p:sp>
        <p:nvSpPr>
          <p:cNvPr id="19" name="box_2941"/>
          <p:cNvSpPr/>
          <p:nvPr/>
        </p:nvSpPr>
        <p:spPr>
          <a:xfrm>
            <a:off x="1975104" y="1965960"/>
            <a:ext cx="438912" cy="411480"/>
          </a:xfrm>
          <a:prstGeom prst="roundRect">
            <a:avLst>
              <a:gd name="adj" fmla="val 17778"/>
            </a:avLst>
          </a:prstGeom>
          <a:solidFill>
            <a:schemeClr val="accent1"/>
          </a:solidFill>
          <a:ln w="12700">
            <a:solidFill>
              <a:schemeClr val="accent1"/>
            </a:solidFill>
            <a:prstDash val="solid"/>
          </a:ln>
        </p:spPr>
      </p:sp>
      <p:sp>
        <p:nvSpPr>
          <p:cNvPr id="20" name="box_2942"/>
          <p:cNvSpPr/>
          <p:nvPr/>
        </p:nvSpPr>
        <p:spPr>
          <a:xfrm>
            <a:off x="2450592" y="1965960"/>
            <a:ext cx="438912" cy="411480"/>
          </a:xfrm>
          <a:prstGeom prst="roundRect">
            <a:avLst>
              <a:gd name="adj" fmla="val 17778"/>
            </a:avLst>
          </a:prstGeom>
          <a:solidFill>
            <a:schemeClr val="bg2"/>
          </a:solidFill>
          <a:ln w="12700">
            <a:solidFill>
              <a:schemeClr val="bg2"/>
            </a:solidFill>
            <a:prstDash val="solid"/>
          </a:ln>
        </p:spPr>
      </p:sp>
      <p:sp>
        <p:nvSpPr>
          <p:cNvPr id="21" name="box_2943"/>
          <p:cNvSpPr/>
          <p:nvPr/>
        </p:nvSpPr>
        <p:spPr>
          <a:xfrm>
            <a:off x="2926080" y="1965960"/>
            <a:ext cx="438912" cy="411480"/>
          </a:xfrm>
          <a:prstGeom prst="roundRect">
            <a:avLst>
              <a:gd name="adj" fmla="val 17778"/>
            </a:avLst>
          </a:prstGeom>
          <a:solidFill>
            <a:schemeClr val="bg2"/>
          </a:solidFill>
          <a:ln w="12700">
            <a:solidFill>
              <a:schemeClr val="bg2"/>
            </a:solidFill>
            <a:prstDash val="solid"/>
          </a:ln>
        </p:spPr>
      </p:sp>
      <p:sp>
        <p:nvSpPr>
          <p:cNvPr id="22" name="box_2944"/>
          <p:cNvSpPr/>
          <p:nvPr/>
        </p:nvSpPr>
        <p:spPr>
          <a:xfrm>
            <a:off x="3401568" y="1965960"/>
            <a:ext cx="438912" cy="411480"/>
          </a:xfrm>
          <a:prstGeom prst="roundRect">
            <a:avLst>
              <a:gd name="adj" fmla="val 17778"/>
            </a:avLst>
          </a:prstGeom>
          <a:solidFill>
            <a:schemeClr val="bg2"/>
          </a:solidFill>
          <a:ln w="12700">
            <a:solidFill>
              <a:schemeClr val="bg2"/>
            </a:solidFill>
            <a:prstDash val="solid"/>
          </a:ln>
        </p:spPr>
      </p:sp>
      <p:sp>
        <p:nvSpPr>
          <p:cNvPr id="23" name="box_2945"/>
          <p:cNvSpPr/>
          <p:nvPr/>
        </p:nvSpPr>
        <p:spPr>
          <a:xfrm>
            <a:off x="3877056" y="1965960"/>
            <a:ext cx="438912" cy="411480"/>
          </a:xfrm>
          <a:prstGeom prst="roundRect">
            <a:avLst>
              <a:gd name="adj" fmla="val 17778"/>
            </a:avLst>
          </a:prstGeom>
          <a:solidFill>
            <a:schemeClr val="bg2"/>
          </a:solidFill>
          <a:ln w="12700">
            <a:solidFill>
              <a:schemeClr val="bg2"/>
            </a:solidFill>
            <a:prstDash val="solid"/>
          </a:ln>
        </p:spPr>
      </p:sp>
      <p:sp>
        <p:nvSpPr>
          <p:cNvPr id="24" name="box_2946"/>
          <p:cNvSpPr/>
          <p:nvPr/>
        </p:nvSpPr>
        <p:spPr>
          <a:xfrm>
            <a:off x="4352544" y="1965960"/>
            <a:ext cx="438912" cy="411480"/>
          </a:xfrm>
          <a:prstGeom prst="roundRect">
            <a:avLst>
              <a:gd name="adj" fmla="val 17778"/>
            </a:avLst>
          </a:prstGeom>
          <a:solidFill>
            <a:schemeClr val="bg2"/>
          </a:solidFill>
          <a:ln w="12700">
            <a:solidFill>
              <a:schemeClr val="bg2"/>
            </a:solidFill>
            <a:prstDash val="solid"/>
          </a:ln>
        </p:spPr>
      </p:sp>
      <p:sp>
        <p:nvSpPr>
          <p:cNvPr id="25" name="box_2947"/>
          <p:cNvSpPr/>
          <p:nvPr/>
        </p:nvSpPr>
        <p:spPr>
          <a:xfrm>
            <a:off x="4828032" y="1965960"/>
            <a:ext cx="438912" cy="411480"/>
          </a:xfrm>
          <a:prstGeom prst="roundRect">
            <a:avLst>
              <a:gd name="adj" fmla="val 17778"/>
            </a:avLst>
          </a:prstGeom>
          <a:solidFill>
            <a:schemeClr val="bg2"/>
          </a:solidFill>
          <a:ln w="12700">
            <a:solidFill>
              <a:schemeClr val="bg2"/>
            </a:solidFill>
            <a:prstDash val="solid"/>
          </a:ln>
        </p:spPr>
      </p:sp>
      <p:sp>
        <p:nvSpPr>
          <p:cNvPr id="26" name="box_2948"/>
          <p:cNvSpPr/>
          <p:nvPr/>
        </p:nvSpPr>
        <p:spPr>
          <a:xfrm>
            <a:off x="5303520" y="1965960"/>
            <a:ext cx="438912" cy="411480"/>
          </a:xfrm>
          <a:prstGeom prst="roundRect">
            <a:avLst>
              <a:gd name="adj" fmla="val 17778"/>
            </a:avLst>
          </a:prstGeom>
          <a:solidFill>
            <a:schemeClr val="bg2"/>
          </a:solidFill>
          <a:ln w="12700">
            <a:solidFill>
              <a:schemeClr val="bg2"/>
            </a:solidFill>
            <a:prstDash val="solid"/>
          </a:ln>
        </p:spPr>
      </p:sp>
      <p:sp>
        <p:nvSpPr>
          <p:cNvPr id="27" name="text_2949"/>
          <p:cNvSpPr txBox="1"/>
          <p:nvPr/>
        </p:nvSpPr>
        <p:spPr>
          <a:xfrm>
            <a:off x="6400800" y="196596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t−2에 예측</a:t>
            </a:r>
            <a:endParaRPr lang="ko-KR" altLang="en-US" sz="1200" dirty="0"/>
          </a:p>
        </p:txBody>
      </p:sp>
      <p:sp>
        <p:nvSpPr>
          <p:cNvPr id="28" name="box_2950"/>
          <p:cNvSpPr/>
          <p:nvPr/>
        </p:nvSpPr>
        <p:spPr>
          <a:xfrm>
            <a:off x="1499616" y="2468880"/>
            <a:ext cx="438912" cy="411480"/>
          </a:xfrm>
          <a:prstGeom prst="roundRect">
            <a:avLst>
              <a:gd name="adj" fmla="val 17778"/>
            </a:avLst>
          </a:prstGeom>
          <a:solidFill>
            <a:schemeClr val="bg2"/>
          </a:solidFill>
          <a:ln w="12700">
            <a:solidFill>
              <a:schemeClr val="bg2"/>
            </a:solidFill>
            <a:prstDash val="solid"/>
          </a:ln>
        </p:spPr>
      </p:sp>
      <p:sp>
        <p:nvSpPr>
          <p:cNvPr id="29" name="box_2951"/>
          <p:cNvSpPr/>
          <p:nvPr/>
        </p:nvSpPr>
        <p:spPr>
          <a:xfrm>
            <a:off x="1975104" y="2468880"/>
            <a:ext cx="438912" cy="411480"/>
          </a:xfrm>
          <a:prstGeom prst="roundRect">
            <a:avLst>
              <a:gd name="adj" fmla="val 17778"/>
            </a:avLst>
          </a:prstGeom>
          <a:solidFill>
            <a:schemeClr val="accent1"/>
          </a:solidFill>
          <a:ln w="12700">
            <a:solidFill>
              <a:schemeClr val="accent1"/>
            </a:solidFill>
            <a:prstDash val="solid"/>
          </a:ln>
        </p:spPr>
      </p:sp>
      <p:sp>
        <p:nvSpPr>
          <p:cNvPr id="30" name="box_2952"/>
          <p:cNvSpPr/>
          <p:nvPr/>
        </p:nvSpPr>
        <p:spPr>
          <a:xfrm>
            <a:off x="2450592" y="2468880"/>
            <a:ext cx="438912" cy="411480"/>
          </a:xfrm>
          <a:prstGeom prst="roundRect">
            <a:avLst>
              <a:gd name="adj" fmla="val 17778"/>
            </a:avLst>
          </a:prstGeom>
          <a:solidFill>
            <a:schemeClr val="bg2"/>
          </a:solidFill>
          <a:ln w="12700">
            <a:solidFill>
              <a:schemeClr val="bg2"/>
            </a:solidFill>
            <a:prstDash val="solid"/>
          </a:ln>
        </p:spPr>
      </p:sp>
      <p:sp>
        <p:nvSpPr>
          <p:cNvPr id="31" name="box_2953"/>
          <p:cNvSpPr/>
          <p:nvPr/>
        </p:nvSpPr>
        <p:spPr>
          <a:xfrm>
            <a:off x="2926080" y="2468880"/>
            <a:ext cx="438912" cy="411480"/>
          </a:xfrm>
          <a:prstGeom prst="roundRect">
            <a:avLst>
              <a:gd name="adj" fmla="val 17778"/>
            </a:avLst>
          </a:prstGeom>
          <a:solidFill>
            <a:schemeClr val="bg2"/>
          </a:solidFill>
          <a:ln w="12700">
            <a:solidFill>
              <a:schemeClr val="bg2"/>
            </a:solidFill>
            <a:prstDash val="solid"/>
          </a:ln>
        </p:spPr>
      </p:sp>
      <p:sp>
        <p:nvSpPr>
          <p:cNvPr id="32" name="box_2954"/>
          <p:cNvSpPr/>
          <p:nvPr/>
        </p:nvSpPr>
        <p:spPr>
          <a:xfrm>
            <a:off x="3401568" y="2468880"/>
            <a:ext cx="438912" cy="411480"/>
          </a:xfrm>
          <a:prstGeom prst="roundRect">
            <a:avLst>
              <a:gd name="adj" fmla="val 17778"/>
            </a:avLst>
          </a:prstGeom>
          <a:solidFill>
            <a:schemeClr val="bg2"/>
          </a:solidFill>
          <a:ln w="12700">
            <a:solidFill>
              <a:schemeClr val="bg2"/>
            </a:solidFill>
            <a:prstDash val="solid"/>
          </a:ln>
        </p:spPr>
      </p:sp>
      <p:sp>
        <p:nvSpPr>
          <p:cNvPr id="33" name="box_2955"/>
          <p:cNvSpPr/>
          <p:nvPr/>
        </p:nvSpPr>
        <p:spPr>
          <a:xfrm>
            <a:off x="3877056" y="2468880"/>
            <a:ext cx="438912" cy="411480"/>
          </a:xfrm>
          <a:prstGeom prst="roundRect">
            <a:avLst>
              <a:gd name="adj" fmla="val 17778"/>
            </a:avLst>
          </a:prstGeom>
          <a:solidFill>
            <a:schemeClr val="bg2"/>
          </a:solidFill>
          <a:ln w="12700">
            <a:solidFill>
              <a:schemeClr val="bg2"/>
            </a:solidFill>
            <a:prstDash val="solid"/>
          </a:ln>
        </p:spPr>
      </p:sp>
      <p:sp>
        <p:nvSpPr>
          <p:cNvPr id="34" name="box_2956"/>
          <p:cNvSpPr/>
          <p:nvPr/>
        </p:nvSpPr>
        <p:spPr>
          <a:xfrm>
            <a:off x="4352544" y="2468880"/>
            <a:ext cx="438912" cy="411480"/>
          </a:xfrm>
          <a:prstGeom prst="roundRect">
            <a:avLst>
              <a:gd name="adj" fmla="val 17778"/>
            </a:avLst>
          </a:prstGeom>
          <a:solidFill>
            <a:schemeClr val="bg2"/>
          </a:solidFill>
          <a:ln w="12700">
            <a:solidFill>
              <a:schemeClr val="bg2"/>
            </a:solidFill>
            <a:prstDash val="solid"/>
          </a:ln>
        </p:spPr>
      </p:sp>
      <p:sp>
        <p:nvSpPr>
          <p:cNvPr id="35" name="box_2957"/>
          <p:cNvSpPr/>
          <p:nvPr/>
        </p:nvSpPr>
        <p:spPr>
          <a:xfrm>
            <a:off x="4828032" y="2468880"/>
            <a:ext cx="438912" cy="411480"/>
          </a:xfrm>
          <a:prstGeom prst="roundRect">
            <a:avLst>
              <a:gd name="adj" fmla="val 17778"/>
            </a:avLst>
          </a:prstGeom>
          <a:solidFill>
            <a:schemeClr val="bg2"/>
          </a:solidFill>
          <a:ln w="12700">
            <a:solidFill>
              <a:schemeClr val="bg2"/>
            </a:solidFill>
            <a:prstDash val="solid"/>
          </a:ln>
        </p:spPr>
      </p:sp>
      <p:sp>
        <p:nvSpPr>
          <p:cNvPr id="36" name="box_2958"/>
          <p:cNvSpPr/>
          <p:nvPr/>
        </p:nvSpPr>
        <p:spPr>
          <a:xfrm>
            <a:off x="5303520" y="2468880"/>
            <a:ext cx="438912" cy="411480"/>
          </a:xfrm>
          <a:prstGeom prst="roundRect">
            <a:avLst>
              <a:gd name="adj" fmla="val 17778"/>
            </a:avLst>
          </a:prstGeom>
          <a:solidFill>
            <a:schemeClr val="bg2"/>
          </a:solidFill>
          <a:ln w="12700">
            <a:solidFill>
              <a:schemeClr val="bg2"/>
            </a:solidFill>
            <a:prstDash val="solid"/>
          </a:ln>
        </p:spPr>
      </p:sp>
      <p:sp>
        <p:nvSpPr>
          <p:cNvPr id="37" name="box_2959"/>
          <p:cNvSpPr/>
          <p:nvPr/>
        </p:nvSpPr>
        <p:spPr>
          <a:xfrm>
            <a:off x="5779008" y="2468880"/>
            <a:ext cx="438912" cy="411480"/>
          </a:xfrm>
          <a:prstGeom prst="roundRect">
            <a:avLst>
              <a:gd name="adj" fmla="val 17778"/>
            </a:avLst>
          </a:prstGeom>
          <a:solidFill>
            <a:schemeClr val="bg2"/>
          </a:solidFill>
          <a:ln w="12700">
            <a:solidFill>
              <a:schemeClr val="bg2"/>
            </a:solidFill>
            <a:prstDash val="solid"/>
          </a:ln>
        </p:spPr>
      </p:sp>
      <p:sp>
        <p:nvSpPr>
          <p:cNvPr id="38" name="text_2960"/>
          <p:cNvSpPr txBox="1"/>
          <p:nvPr/>
        </p:nvSpPr>
        <p:spPr>
          <a:xfrm>
            <a:off x="6400800" y="246888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t−1에 예측</a:t>
            </a:r>
            <a:endParaRPr lang="ko-KR" altLang="en-US" sz="1200" dirty="0"/>
          </a:p>
        </p:txBody>
      </p:sp>
      <p:sp>
        <p:nvSpPr>
          <p:cNvPr id="39" name="box_2961"/>
          <p:cNvSpPr/>
          <p:nvPr/>
        </p:nvSpPr>
        <p:spPr>
          <a:xfrm>
            <a:off x="1975104" y="2971800"/>
            <a:ext cx="438912" cy="411480"/>
          </a:xfrm>
          <a:prstGeom prst="roundRect">
            <a:avLst>
              <a:gd name="adj" fmla="val 17778"/>
            </a:avLst>
          </a:prstGeom>
          <a:solidFill>
            <a:schemeClr val="accent1"/>
          </a:solidFill>
          <a:ln w="12700">
            <a:solidFill>
              <a:schemeClr val="accent1"/>
            </a:solidFill>
            <a:prstDash val="solid"/>
          </a:ln>
        </p:spPr>
      </p:sp>
      <p:sp>
        <p:nvSpPr>
          <p:cNvPr id="40" name="box_2962"/>
          <p:cNvSpPr/>
          <p:nvPr/>
        </p:nvSpPr>
        <p:spPr>
          <a:xfrm>
            <a:off x="2450592" y="2971800"/>
            <a:ext cx="438912" cy="411480"/>
          </a:xfrm>
          <a:prstGeom prst="roundRect">
            <a:avLst>
              <a:gd name="adj" fmla="val 17778"/>
            </a:avLst>
          </a:prstGeom>
          <a:solidFill>
            <a:schemeClr val="bg2"/>
          </a:solidFill>
          <a:ln w="12700">
            <a:solidFill>
              <a:schemeClr val="bg2"/>
            </a:solidFill>
            <a:prstDash val="solid"/>
          </a:ln>
        </p:spPr>
      </p:sp>
      <p:sp>
        <p:nvSpPr>
          <p:cNvPr id="41" name="box_2963"/>
          <p:cNvSpPr/>
          <p:nvPr/>
        </p:nvSpPr>
        <p:spPr>
          <a:xfrm>
            <a:off x="2926080" y="2971800"/>
            <a:ext cx="438912" cy="411480"/>
          </a:xfrm>
          <a:prstGeom prst="roundRect">
            <a:avLst>
              <a:gd name="adj" fmla="val 17778"/>
            </a:avLst>
          </a:prstGeom>
          <a:solidFill>
            <a:schemeClr val="bg2"/>
          </a:solidFill>
          <a:ln w="12700">
            <a:solidFill>
              <a:schemeClr val="bg2"/>
            </a:solidFill>
            <a:prstDash val="solid"/>
          </a:ln>
        </p:spPr>
      </p:sp>
      <p:sp>
        <p:nvSpPr>
          <p:cNvPr id="42" name="box_2964"/>
          <p:cNvSpPr/>
          <p:nvPr/>
        </p:nvSpPr>
        <p:spPr>
          <a:xfrm>
            <a:off x="3401568" y="2971800"/>
            <a:ext cx="438912" cy="411480"/>
          </a:xfrm>
          <a:prstGeom prst="roundRect">
            <a:avLst>
              <a:gd name="adj" fmla="val 17778"/>
            </a:avLst>
          </a:prstGeom>
          <a:solidFill>
            <a:schemeClr val="bg2"/>
          </a:solidFill>
          <a:ln w="12700">
            <a:solidFill>
              <a:schemeClr val="bg2"/>
            </a:solidFill>
            <a:prstDash val="solid"/>
          </a:ln>
        </p:spPr>
      </p:sp>
      <p:sp>
        <p:nvSpPr>
          <p:cNvPr id="43" name="box_2965"/>
          <p:cNvSpPr/>
          <p:nvPr/>
        </p:nvSpPr>
        <p:spPr>
          <a:xfrm>
            <a:off x="3877056" y="2971800"/>
            <a:ext cx="438912" cy="411480"/>
          </a:xfrm>
          <a:prstGeom prst="roundRect">
            <a:avLst>
              <a:gd name="adj" fmla="val 17778"/>
            </a:avLst>
          </a:prstGeom>
          <a:solidFill>
            <a:schemeClr val="bg2"/>
          </a:solidFill>
          <a:ln w="12700">
            <a:solidFill>
              <a:schemeClr val="bg2"/>
            </a:solidFill>
            <a:prstDash val="solid"/>
          </a:ln>
        </p:spPr>
      </p:sp>
      <p:sp>
        <p:nvSpPr>
          <p:cNvPr id="44" name="box_2966"/>
          <p:cNvSpPr/>
          <p:nvPr/>
        </p:nvSpPr>
        <p:spPr>
          <a:xfrm>
            <a:off x="4352544" y="2971800"/>
            <a:ext cx="438912" cy="411480"/>
          </a:xfrm>
          <a:prstGeom prst="roundRect">
            <a:avLst>
              <a:gd name="adj" fmla="val 17778"/>
            </a:avLst>
          </a:prstGeom>
          <a:solidFill>
            <a:schemeClr val="bg2"/>
          </a:solidFill>
          <a:ln w="12700">
            <a:solidFill>
              <a:schemeClr val="bg2"/>
            </a:solidFill>
            <a:prstDash val="solid"/>
          </a:ln>
        </p:spPr>
      </p:sp>
      <p:sp>
        <p:nvSpPr>
          <p:cNvPr id="45" name="box_2967"/>
          <p:cNvSpPr/>
          <p:nvPr/>
        </p:nvSpPr>
        <p:spPr>
          <a:xfrm>
            <a:off x="4828032" y="2971800"/>
            <a:ext cx="438912" cy="411480"/>
          </a:xfrm>
          <a:prstGeom prst="roundRect">
            <a:avLst>
              <a:gd name="adj" fmla="val 17778"/>
            </a:avLst>
          </a:prstGeom>
          <a:solidFill>
            <a:schemeClr val="bg2"/>
          </a:solidFill>
          <a:ln w="12700">
            <a:solidFill>
              <a:schemeClr val="bg2"/>
            </a:solidFill>
            <a:prstDash val="solid"/>
          </a:ln>
        </p:spPr>
      </p:sp>
      <p:sp>
        <p:nvSpPr>
          <p:cNvPr id="46" name="box_2968"/>
          <p:cNvSpPr/>
          <p:nvPr/>
        </p:nvSpPr>
        <p:spPr>
          <a:xfrm>
            <a:off x="5303520" y="2971800"/>
            <a:ext cx="438912" cy="411480"/>
          </a:xfrm>
          <a:prstGeom prst="roundRect">
            <a:avLst>
              <a:gd name="adj" fmla="val 17778"/>
            </a:avLst>
          </a:prstGeom>
          <a:solidFill>
            <a:schemeClr val="bg2"/>
          </a:solidFill>
          <a:ln w="12700">
            <a:solidFill>
              <a:schemeClr val="bg2"/>
            </a:solidFill>
            <a:prstDash val="solid"/>
          </a:ln>
        </p:spPr>
      </p:sp>
      <p:sp>
        <p:nvSpPr>
          <p:cNvPr id="47" name="box_2969"/>
          <p:cNvSpPr/>
          <p:nvPr/>
        </p:nvSpPr>
        <p:spPr>
          <a:xfrm>
            <a:off x="5779008" y="2971800"/>
            <a:ext cx="438912" cy="411480"/>
          </a:xfrm>
          <a:prstGeom prst="roundRect">
            <a:avLst>
              <a:gd name="adj" fmla="val 17778"/>
            </a:avLst>
          </a:prstGeom>
          <a:solidFill>
            <a:schemeClr val="bg2"/>
          </a:solidFill>
          <a:ln w="12700">
            <a:solidFill>
              <a:schemeClr val="bg2"/>
            </a:solidFill>
            <a:prstDash val="solid"/>
          </a:ln>
        </p:spPr>
      </p:sp>
      <p:sp>
        <p:nvSpPr>
          <p:cNvPr id="48" name="text_2970"/>
          <p:cNvSpPr txBox="1"/>
          <p:nvPr/>
        </p:nvSpPr>
        <p:spPr>
          <a:xfrm>
            <a:off x="6400800" y="297180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지금(t) 예측</a:t>
            </a:r>
            <a:endParaRPr lang="ko-KR" altLang="en-US" sz="1200" dirty="0"/>
          </a:p>
        </p:txBody>
      </p:sp>
      <p:sp>
        <p:nvSpPr>
          <p:cNvPr id="49" name="text_2971"/>
          <p:cNvSpPr txBox="1"/>
          <p:nvPr/>
        </p:nvSpPr>
        <p:spPr>
          <a:xfrm>
            <a:off x="548640" y="3566160"/>
            <a:ext cx="694944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주황 칸 = 모두 "지금(t)"에 대한 예측 → 가중 평균해서 보냄</a:t>
            </a:r>
            <a:endParaRPr lang="ko-KR" altLang="en-US" sz="1300" dirty="0"/>
          </a:p>
        </p:txBody>
      </p:sp>
      <p:sp>
        <p:nvSpPr>
          <p:cNvPr id="50" name="box_2972"/>
          <p:cNvSpPr/>
          <p:nvPr/>
        </p:nvSpPr>
        <p:spPr>
          <a:xfrm>
            <a:off x="548640" y="4023360"/>
            <a:ext cx="6949440" cy="2103120"/>
          </a:xfrm>
          <a:prstGeom prst="roundRect">
            <a:avLst>
              <a:gd name="adj" fmla="val 3478"/>
            </a:avLst>
          </a:prstGeom>
          <a:solidFill>
            <a:schemeClr val="tx1"/>
          </a:solidFill>
          <a:ln w="12700">
            <a:solidFill>
              <a:schemeClr val="tx1"/>
            </a:solidFill>
            <a:prstDash val="solid"/>
          </a:ln>
        </p:spPr>
      </p:sp>
      <p:sp>
        <p:nvSpPr>
          <p:cNvPr id="51" name="code_2973"/>
          <p:cNvSpPr txBox="1"/>
          <p:nvPr/>
        </p:nvSpPr>
        <p:spPr>
          <a:xfrm>
            <a:off x="731520" y="4160520"/>
            <a:ext cx="65836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a_now = Σ w_i · a_i / Σ w_i,   w_i = exp(−0.1 · i)</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 0이 가장 오래된 예측)</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runner.py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self.chunks.append(unnormalise(pred))          # 최근 10개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now = [c[n - 1 - i] for i, c in enumerate(self.chunks)]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(w[:, None] * now).sum(0) / w.sum()</a:t>
            </a:r>
            <a:endParaRPr lang="ko-KR" altLang="en-US" sz="1300" dirty="0"/>
          </a:p>
        </p:txBody>
      </p:sp>
      <p:sp>
        <p:nvSpPr>
          <p:cNvPr id="52" name="box_2974"/>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53" name="iconbg_2975"/>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54" name="icon_2976" descr="Stop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55" name="text_2977"/>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언제 멈추나</a:t>
            </a:r>
            <a:endParaRPr lang="ko-KR" altLang="en-US" sz="1800" dirty="0"/>
          </a:p>
        </p:txBody>
      </p:sp>
      <p:sp>
        <p:nvSpPr>
          <p:cNvPr id="56" name="text_2978"/>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"끝" 확률(시그모이드)이 3단계 연속 0.5를 넘으면 멈춘다.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ROS 노드는 그다음 한 번 더 확인한다: 손을 닫으라고 명령했고(목표 &gt; −0.15) 손가락이 물체에 걸려 덜 닫혔는가(|각도| &gt; 0.06).</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한 번 계산 = CPU 약 4 ms (torch.no_grad, 4스레드)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162</a:t>
            </a:fld>
            <a:endParaRPr lang="ko-KR" alt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따라 하기: 시연 녹화와 학습</a:t>
            </a:r>
            <a:endParaRPr lang="ko-KR" altLang="en-US" sz="3000" dirty="0"/>
          </a:p>
        </p:txBody>
      </p:sp>
      <p:sp>
        <p:nvSpPr>
          <p:cNvPr id="3" name="pill_29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81"/>
          <p:cNvSpPr/>
          <p:nvPr/>
        </p:nvSpPr>
        <p:spPr>
          <a:xfrm>
            <a:off x="548640" y="1371600"/>
            <a:ext cx="6675120" cy="3566160"/>
          </a:xfrm>
          <a:prstGeom prst="roundRect">
            <a:avLst>
              <a:gd name="adj" fmla="val 2051"/>
            </a:avLst>
          </a:prstGeom>
          <a:solidFill>
            <a:schemeClr val="tx1"/>
          </a:solidFill>
          <a:ln w="12700">
            <a:solidFill>
              <a:schemeClr val="tx1"/>
            </a:solidFill>
            <a:prstDash val="solid"/>
          </a:ln>
        </p:spPr>
      </p:sp>
      <p:sp>
        <p:nvSpPr>
          <p:cNvPr id="7" name="code_2982"/>
          <p:cNvSpPr txBox="1"/>
          <p:nvPr/>
        </p:nvSpPr>
        <p:spPr>
          <a:xfrm>
            <a:off x="731520" y="1508760"/>
            <a:ext cx="630936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시연 600개, 두 테이블 (약 13분, ~/unbolt_vla/demos)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record --episodes 600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583/600 episodes kept in ~/unbolt_vla/demos</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학습 (약 35분, ~/unbolt_vla/policy.pt)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train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525 training episodes (40425 steps), 58 validation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500  train 0.1132  val 0.1113  done 0.085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12000  train 0.0481  val 0.0381  done 0.044</a:t>
            </a:r>
            <a:endParaRPr lang="ko-KR" altLang="en-US" sz="1300" dirty="0"/>
          </a:p>
        </p:txBody>
      </p:sp>
      <p:sp>
        <p:nvSpPr>
          <p:cNvPr id="8" name="list_2983"/>
          <p:cNvSpPr txBox="1"/>
          <p:nvPr/>
        </p:nvSpPr>
        <p:spPr>
          <a:xfrm>
            <a:off x="548640" y="5166360"/>
            <a:ext cx="6675120" cy="10058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val = 학습에 안 쓴 시연 58개에서의 오차 (작을수록 좋음)</a:t>
            </a:r>
            <a:endParaRPr lang="ko-KR" altLang="en-US" sz="1500" dirty="0"/>
          </a:p>
          <a:p>
            <a:pPr eaLnBrk="0" marL="228600" indent="-228600">
              <a:spcAft>
                <a:spcPts val="800"/>
              </a:spcAft>
              <a:buSzPct val="100000"/>
              <a:buChar char="•"/>
            </a:pPr>
            <a:r>
              <a:rPr lang="ko-KR" altLang="en-US" sz="1500" dirty="0">
                <a:solidFill>
                  <a:schemeClr val="tx1"/>
                </a:solidFill>
              </a:rPr>
              <a:t>done = "다 집었다" 판단의 오차</a:t>
            </a:r>
            <a:endParaRPr lang="ko-KR" altLang="en-US" sz="1500" dirty="0"/>
          </a:p>
        </p:txBody>
      </p:sp>
      <p:sp>
        <p:nvSpPr>
          <p:cNvPr id="9" name="box_298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98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98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98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98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val이 처음보다 크게 줄고 policy.pt가 생긴다.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5-2</a:t>
            </a:r>
            <a:endParaRPr lang="ko-KR" altLang="en-US" sz="1400" dirty="0"/>
          </a:p>
        </p:txBody>
      </p:sp>
      <p:sp>
        <p:nvSpPr>
          <p:cNvPr id="14" name="box_298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99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99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99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99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No module named torch → pip install --user torch --index-url https://download.pytorch.org/whl/cpu</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163</a:t>
            </a:fld>
            <a:endParaRPr lang="ko-KR" alt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 보는 배치에서 평가</a:t>
            </a:r>
            <a:endParaRPr lang="ko-KR" altLang="en-US" sz="3000" dirty="0"/>
          </a:p>
        </p:txBody>
      </p:sp>
      <p:sp>
        <p:nvSpPr>
          <p:cNvPr id="3" name="pill_29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96"/>
          <p:cNvSpPr/>
          <p:nvPr/>
        </p:nvSpPr>
        <p:spPr>
          <a:xfrm>
            <a:off x="548640" y="1371600"/>
            <a:ext cx="2743200" cy="2194560"/>
          </a:xfrm>
          <a:prstGeom prst="roundRect">
            <a:avLst>
              <a:gd name="adj" fmla="val 3333"/>
            </a:avLst>
          </a:prstGeom>
          <a:solidFill>
            <a:schemeClr val="bg2"/>
          </a:solidFill>
          <a:ln w="12700">
            <a:solidFill>
              <a:schemeClr val="bg2"/>
            </a:solidFill>
            <a:prstDash val="solid"/>
          </a:ln>
        </p:spPr>
      </p:sp>
      <p:sp>
        <p:nvSpPr>
          <p:cNvPr id="7" name="text_2997"/>
          <p:cNvSpPr txBox="1"/>
          <p:nvPr/>
        </p:nvSpPr>
        <p:spPr>
          <a:xfrm>
            <a:off x="54864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1"/>
                </a:solidFill>
              </a:rPr>
              <a:t>100%</a:t>
            </a:r>
            <a:endParaRPr lang="ko-KR" altLang="en-US" sz="4800" dirty="0"/>
          </a:p>
        </p:txBody>
      </p:sp>
      <p:sp>
        <p:nvSpPr>
          <p:cNvPr id="8" name="text_2998"/>
          <p:cNvSpPr txBox="1"/>
          <p:nvPr/>
        </p:nvSpPr>
        <p:spPr>
          <a:xfrm>
            <a:off x="54864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정책 100/100 (영상만 보고)</a:t>
            </a:r>
            <a:endParaRPr lang="ko-KR" altLang="en-US" sz="1500" dirty="0"/>
          </a:p>
        </p:txBody>
      </p:sp>
      <p:sp>
        <p:nvSpPr>
          <p:cNvPr id="9" name="box_2999"/>
          <p:cNvSpPr/>
          <p:nvPr/>
        </p:nvSpPr>
        <p:spPr>
          <a:xfrm>
            <a:off x="3474720" y="1371600"/>
            <a:ext cx="2743200" cy="2194560"/>
          </a:xfrm>
          <a:prstGeom prst="roundRect">
            <a:avLst>
              <a:gd name="adj" fmla="val 3333"/>
            </a:avLst>
          </a:prstGeom>
          <a:solidFill>
            <a:schemeClr val="bg2"/>
          </a:solidFill>
          <a:ln w="12700">
            <a:solidFill>
              <a:schemeClr val="bg2"/>
            </a:solidFill>
            <a:prstDash val="solid"/>
          </a:ln>
        </p:spPr>
      </p:sp>
      <p:sp>
        <p:nvSpPr>
          <p:cNvPr id="10" name="text_3000"/>
          <p:cNvSpPr txBox="1"/>
          <p:nvPr/>
        </p:nvSpPr>
        <p:spPr>
          <a:xfrm>
            <a:off x="347472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3"/>
                </a:solidFill>
              </a:rPr>
              <a:t>100%</a:t>
            </a:r>
            <a:endParaRPr lang="ko-KR" altLang="en-US" sz="4800" dirty="0"/>
          </a:p>
        </p:txBody>
      </p:sp>
      <p:sp>
        <p:nvSpPr>
          <p:cNvPr id="11" name="text_3001"/>
          <p:cNvSpPr txBox="1"/>
          <p:nvPr/>
        </p:nvSpPr>
        <p:spPr>
          <a:xfrm>
            <a:off x="347472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전문가 100/100 (위치를 알고)</a:t>
            </a:r>
            <a:endParaRPr lang="ko-KR" altLang="en-US" sz="1500" dirty="0"/>
          </a:p>
        </p:txBody>
      </p:sp>
      <p:sp>
        <p:nvSpPr>
          <p:cNvPr id="12" name="box_3002"/>
          <p:cNvSpPr/>
          <p:nvPr/>
        </p:nvSpPr>
        <p:spPr>
          <a:xfrm>
            <a:off x="548640" y="3749040"/>
            <a:ext cx="5669280" cy="1097280"/>
          </a:xfrm>
          <a:prstGeom prst="roundRect">
            <a:avLst>
              <a:gd name="adj" fmla="val 6667"/>
            </a:avLst>
          </a:prstGeom>
          <a:solidFill>
            <a:schemeClr val="tx1"/>
          </a:solidFill>
          <a:ln w="12700">
            <a:solidFill>
              <a:schemeClr val="tx1"/>
            </a:solidFill>
            <a:prstDash val="solid"/>
          </a:ln>
        </p:spPr>
      </p:sp>
      <p:sp>
        <p:nvSpPr>
          <p:cNvPr id="13" name="code_3003"/>
          <p:cNvSpPr txBox="1"/>
          <p:nvPr/>
        </p:nvSpPr>
        <p:spPr>
          <a:xfrm>
            <a:off x="731520" y="3886200"/>
            <a:ext cx="53035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evaluate --episodes 100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supply  policy 48/48 (100%)   expert 48/48</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work    policy 52/52 (100%)   expert 52/52</a:t>
            </a:r>
            <a:endParaRPr lang="ko-KR" altLang="en-US" sz="1300" dirty="0"/>
          </a:p>
        </p:txBody>
      </p:sp>
      <p:sp>
        <p:nvSpPr>
          <p:cNvPr id="14" name="box_3004"/>
          <p:cNvSpPr/>
          <p:nvPr/>
        </p:nvSpPr>
        <p:spPr>
          <a:xfrm>
            <a:off x="548640" y="5029200"/>
            <a:ext cx="5669280" cy="1097280"/>
          </a:xfrm>
          <a:prstGeom prst="roundRect">
            <a:avLst>
              <a:gd name="adj" fmla="val 6667"/>
            </a:avLst>
          </a:prstGeom>
          <a:solidFill>
            <a:schemeClr val="bg2"/>
          </a:solidFill>
          <a:ln w="12700">
            <a:solidFill>
              <a:schemeClr val="bg2"/>
            </a:solidFill>
            <a:prstDash val="solid"/>
          </a:ln>
        </p:spPr>
      </p:sp>
      <p:sp>
        <p:nvSpPr>
          <p:cNvPr id="15" name="iconbg_3005"/>
          <p:cNvSpPr/>
          <p:nvPr/>
        </p:nvSpPr>
        <p:spPr>
          <a:xfrm>
            <a:off x="777240" y="5138928"/>
            <a:ext cx="411480" cy="411480"/>
          </a:xfrm>
          <a:prstGeom prst="ellipse">
            <a:avLst/>
          </a:prstGeom>
          <a:solidFill>
            <a:schemeClr val="accent1"/>
          </a:solidFill>
          <a:ln w="12700">
            <a:solidFill>
              <a:schemeClr val="accent1"/>
            </a:solidFill>
            <a:prstDash val="solid"/>
          </a:ln>
        </p:spPr>
      </p:sp>
      <p:pic>
        <p:nvPicPr>
          <p:cNvPr id="16" name="icon_3006" descr="Bolt 아이콘">    </p:cNvPr>
          <p:cNvPicPr>
            <a:picLocks noChangeAspect="1"/>
          </p:cNvPicPr>
          <p:nvPr/>
        </p:nvPicPr>
        <p:blipFill>
          <a:blip r:embed="rId1"/>
          <a:stretch>
            <a:fillRect/>
          </a:stretch>
        </p:blipFill>
        <p:spPr>
          <a:xfrm>
            <a:off x="867766" y="5229454"/>
            <a:ext cx="230429" cy="230429"/>
          </a:xfrm>
          <a:prstGeom prst="rect">
            <a:avLst/>
          </a:prstGeom>
        </p:spPr>
      </p:pic>
      <p:sp>
        <p:nvSpPr>
          <p:cNvPr id="17" name="text_3007"/>
          <p:cNvSpPr txBox="1"/>
          <p:nvPr/>
        </p:nvSpPr>
        <p:spPr>
          <a:xfrm>
            <a:off x="1325880" y="5120640"/>
            <a:ext cx="46634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영상으로 확인</a:t>
            </a:r>
            <a:endParaRPr lang="ko-KR" altLang="en-US" sz="1500" dirty="0"/>
          </a:p>
        </p:txBody>
      </p:sp>
      <p:sp>
        <p:nvSpPr>
          <p:cNvPr id="18" name="text_3008"/>
          <p:cNvSpPr txBox="1"/>
          <p:nvPr/>
        </p:nvSpPr>
        <p:spPr>
          <a:xfrm>
            <a:off x="777240" y="5596128"/>
            <a:ext cx="521208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--video ~/vla.gif: 처음 3편을 GIF로. --table supply|work: 한 테이블만.</a:t>
            </a:r>
            <a:endParaRPr lang="ko-KR" altLang="en-US" sz="1400" dirty="0"/>
          </a:p>
        </p:txBody>
      </p:sp>
      <p:sp>
        <p:nvSpPr>
          <p:cNvPr id="19" name="box_3009"/>
          <p:cNvSpPr/>
          <p:nvPr/>
        </p:nvSpPr>
        <p:spPr>
          <a:xfrm>
            <a:off x="6492240" y="1371600"/>
            <a:ext cx="5120640" cy="4754880"/>
          </a:xfrm>
          <a:prstGeom prst="roundRect">
            <a:avLst>
              <a:gd name="adj" fmla="val 1538"/>
            </a:avLst>
          </a:prstGeom>
          <a:solidFill>
            <a:schemeClr val="bg2"/>
          </a:solidFill>
          <a:ln w="12700">
            <a:solidFill>
              <a:schemeClr val="bg2"/>
            </a:solidFill>
            <a:prstDash val="solid"/>
          </a:ln>
        </p:spPr>
      </p:sp>
      <p:sp>
        <p:nvSpPr>
          <p:cNvPr id="20" name="iconbg_3010"/>
          <p:cNvSpPr/>
          <p:nvPr/>
        </p:nvSpPr>
        <p:spPr>
          <a:xfrm>
            <a:off x="6720840" y="1600200"/>
            <a:ext cx="548640" cy="548640"/>
          </a:xfrm>
          <a:prstGeom prst="ellipse">
            <a:avLst/>
          </a:prstGeom>
          <a:solidFill>
            <a:schemeClr val="accent3"/>
          </a:solidFill>
          <a:ln w="12700">
            <a:solidFill>
              <a:schemeClr val="accent3"/>
            </a:solidFill>
            <a:prstDash val="solid"/>
          </a:ln>
        </p:spPr>
      </p:sp>
      <p:pic>
        <p:nvPicPr>
          <p:cNvPr id="21" name="icon_3011" descr="QuestionCircle 아이콘">    </p:cNvPr>
          <p:cNvPicPr>
            <a:picLocks noChangeAspect="1"/>
          </p:cNvPicPr>
          <p:nvPr/>
        </p:nvPicPr>
        <p:blipFill>
          <a:blip r:embed="rId2"/>
          <a:stretch>
            <a:fillRect/>
          </a:stretch>
        </p:blipFill>
        <p:spPr>
          <a:xfrm>
            <a:off x="6841541" y="1720901"/>
            <a:ext cx="307238" cy="307238"/>
          </a:xfrm>
          <a:prstGeom prst="rect">
            <a:avLst/>
          </a:prstGeom>
        </p:spPr>
      </p:pic>
      <p:sp>
        <p:nvSpPr>
          <p:cNvPr id="22" name="text_3012"/>
          <p:cNvSpPr txBox="1"/>
          <p:nvPr/>
        </p:nvSpPr>
        <p:spPr>
          <a:xfrm>
            <a:off x="7406640" y="1572768"/>
            <a:ext cx="39776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3013"/>
          <p:cNvSpPr txBox="1"/>
          <p:nvPr/>
        </p:nvSpPr>
        <p:spPr>
          <a:xfrm>
            <a:off x="6720840" y="2240280"/>
            <a:ext cx="466344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100%가 나와도 끝이 아니다.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평가 배치는 학습과 같은 범위에서 뽑았다. 정렬이 더 틀어지면? (도전 과제)</a:t>
            </a:r>
            <a:endParaRPr lang="ko-KR" altLang="en-US" sz="1400" dirty="0"/>
          </a:p>
          <a:p>
            <a:pPr eaLnBrk="0" indent="0" marL="0">
              <a:buNone/>
            </a:pPr>
            <a:r>
              <a:rPr lang="ko-KR" altLang="en-US" sz="1400" dirty="0">
                <a:solidFill>
                  <a:schemeClr val="tx1"/>
                </a:solidFill>
              </a:rPr>
              <a:t>• 시뮬레이터 렌더링만 봤다. 실제 카메라, 조명, 다른 상자는?</a:t>
            </a:r>
            <a:endParaRPr lang="ko-KR" altLang="en-US" sz="1400" dirty="0"/>
          </a:p>
          <a:p>
            <a:pPr eaLnBrk="0" indent="0" marL="0">
              <a:buNone/>
            </a:pPr>
            <a:r>
              <a:rPr lang="ko-KR" altLang="en-US" sz="1400" dirty="0">
                <a:solidFill>
                  <a:schemeClr val="tx1"/>
                </a:solidFill>
              </a:rPr>
              <a:t>• 정책은 "왜" 그렇게 움직였는지 말해 주지 않는다.</a:t>
            </a:r>
            <a:endParaRPr lang="ko-KR" altLang="en-US" sz="1400" dirty="0"/>
          </a:p>
          <a:p>
            <a:pPr eaLnBrk="0" indent="0" marL="0">
              <a:buNone/>
            </a:pPr>
            <a:r>
              <a:rPr lang="ko-KR" altLang="en-US" sz="1400" dirty="0">
                <a:solidFill>
                  <a:schemeClr val="tx1"/>
                </a:solidFill>
              </a:rPr>
              <a:t>• 다음 장: 데이터가 한쪽에만 있으면 어떻게 되나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164</a:t>
            </a:fld>
            <a:endParaRPr lang="ko-KR" alt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정책은 본 것만 할 수 있다</a:t>
            </a:r>
            <a:endParaRPr lang="ko-KR" altLang="en-US" sz="3000" dirty="0"/>
          </a:p>
        </p:txBody>
      </p:sp>
      <p:sp>
        <p:nvSpPr>
          <p:cNvPr id="3" name="pill_30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6" name="table_301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1828800"/>
                <a:gridCol w="1828800"/>
                <a:gridCol w="4389120"/>
              </a:tblGrid>
              <a:tr h="0">
                <a:tc>
                  <a:txBody>
                    <a:bodyPr/>
                    <a:lstStyle/>
                    <a:p>
                      <a:pPr eaLnBrk="0" indent="0" marL="0">
                        <a:buNone/>
                      </a:pPr>
                      <a:r>
                        <a:rPr lang="ko-KR" altLang="en-US" sz="1600" b="1" dirty="0">
                          <a:solidFill>
                            <a:schemeClr val="bg1"/>
                          </a:solidFill>
                        </a:rPr>
                        <a:t>학습 데이터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공급 테이블</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실패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공급 테이블 시연 297개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48/50 (96%)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0/20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공급: 접근 시작 자세에서 멈춤 2번</a:t>
                      </a:r>
                      <a:endParaRPr lang="ko-KR" altLang="en-US" sz="1600" dirty="0"/>
                    </a:p>
                    <a:p>
                      <a:pPr eaLnBrk="0" indent="0" marL="0">
                        <a:buNone/>
                      </a:pPr>
                      <a:r>
                        <a:rPr lang="ko-KR" altLang="en-US" sz="1600" dirty="0">
                          <a:solidFill>
                            <a:schemeClr val="tx1"/>
                          </a:solidFill>
                        </a:rPr>
                        <a:t>작업대: 2초 만에 "다 집었다"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두 테이블 시연 583개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48/48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52/52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없음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3017"/>
          <p:cNvSpPr/>
          <p:nvPr/>
        </p:nvSpPr>
        <p:spPr>
          <a:xfrm>
            <a:off x="548640" y="3566160"/>
            <a:ext cx="5440680" cy="2560320"/>
          </a:xfrm>
          <a:prstGeom prst="roundRect">
            <a:avLst>
              <a:gd name="adj" fmla="val 2857"/>
            </a:avLst>
          </a:prstGeom>
          <a:solidFill>
            <a:schemeClr val="bg2"/>
          </a:solidFill>
          <a:ln w="12700">
            <a:solidFill>
              <a:schemeClr val="bg2"/>
            </a:solidFill>
            <a:prstDash val="solid"/>
          </a:ln>
        </p:spPr>
      </p:sp>
      <p:sp>
        <p:nvSpPr>
          <p:cNvPr id="8" name="iconbg_3018"/>
          <p:cNvSpPr/>
          <p:nvPr/>
        </p:nvSpPr>
        <p:spPr>
          <a:xfrm>
            <a:off x="777240" y="3794760"/>
            <a:ext cx="548640" cy="548640"/>
          </a:xfrm>
          <a:prstGeom prst="ellipse">
            <a:avLst/>
          </a:prstGeom>
          <a:solidFill>
            <a:schemeClr val="accent6"/>
          </a:solidFill>
          <a:ln w="12700">
            <a:solidFill>
              <a:schemeClr val="accent6"/>
            </a:solidFill>
            <a:prstDash val="solid"/>
          </a:ln>
        </p:spPr>
      </p:sp>
      <p:pic>
        <p:nvPicPr>
          <p:cNvPr id="9" name="icon_3019" descr="StopCircle 아이콘">    </p:cNvPr>
          <p:cNvPicPr>
            <a:picLocks noChangeAspect="1"/>
          </p:cNvPicPr>
          <p:nvPr/>
        </p:nvPicPr>
        <p:blipFill>
          <a:blip r:embed="rId1"/>
          <a:stretch>
            <a:fillRect/>
          </a:stretch>
        </p:blipFill>
        <p:spPr>
          <a:xfrm>
            <a:off x="897941" y="3915461"/>
            <a:ext cx="307238" cy="307238"/>
          </a:xfrm>
          <a:prstGeom prst="rect">
            <a:avLst/>
          </a:prstGeom>
        </p:spPr>
      </p:pic>
      <p:sp>
        <p:nvSpPr>
          <p:cNvPr id="10" name="text_3020"/>
          <p:cNvSpPr txBox="1"/>
          <p:nvPr/>
        </p:nvSpPr>
        <p:spPr>
          <a:xfrm>
            <a:off x="146304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멈춤 (stall)</a:t>
            </a:r>
            <a:endParaRPr lang="ko-KR" altLang="en-US" sz="1800" dirty="0"/>
          </a:p>
        </p:txBody>
      </p:sp>
      <p:sp>
        <p:nvSpPr>
          <p:cNvPr id="11" name="text_3021"/>
          <p:cNvSpPr txBox="1"/>
          <p:nvPr/>
        </p:nvSpPr>
        <p:spPr>
          <a:xfrm>
            <a:off x="77724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상자 위 접근 시작 자세까지 가서 서 버린다.</a:t>
            </a:r>
            <a:endParaRPr lang="ko-KR" altLang="en-US" sz="1400" dirty="0"/>
          </a:p>
          <a:p>
            <a:pPr eaLnBrk="0" indent="0" marL="0">
              <a:buNone/>
            </a:pPr>
            <a:r>
              <a:rPr lang="ko-KR" altLang="en-US" sz="1400" dirty="0">
                <a:solidFill>
                  <a:schemeClr val="tx1"/>
                </a:solidFill>
              </a:rPr>
              <a:t>전문가가 경유점마다 잠깐 서기 때문에 "멈춘 장면에서 계속 서 있기"도 그럴듯한 답이 된다. 모방 학습에서 흔한 실패.</a:t>
            </a:r>
            <a:endParaRPr lang="ko-KR" altLang="en-US" sz="1400" dirty="0"/>
          </a:p>
        </p:txBody>
      </p:sp>
      <p:sp>
        <p:nvSpPr>
          <p:cNvPr id="12" name="box_3022"/>
          <p:cNvSpPr/>
          <p:nvPr/>
        </p:nvSpPr>
        <p:spPr>
          <a:xfrm>
            <a:off x="6172200" y="3566160"/>
            <a:ext cx="5440680" cy="2560320"/>
          </a:xfrm>
          <a:prstGeom prst="roundRect">
            <a:avLst>
              <a:gd name="adj" fmla="val 2857"/>
            </a:avLst>
          </a:prstGeom>
          <a:solidFill>
            <a:schemeClr val="bg2"/>
          </a:solidFill>
          <a:ln w="12700">
            <a:solidFill>
              <a:schemeClr val="bg2"/>
            </a:solidFill>
            <a:prstDash val="solid"/>
          </a:ln>
        </p:spPr>
      </p:sp>
      <p:sp>
        <p:nvSpPr>
          <p:cNvPr id="13" name="iconbg_3023"/>
          <p:cNvSpPr/>
          <p:nvPr/>
        </p:nvSpPr>
        <p:spPr>
          <a:xfrm>
            <a:off x="6400800" y="3794760"/>
            <a:ext cx="548640" cy="548640"/>
          </a:xfrm>
          <a:prstGeom prst="ellipse">
            <a:avLst/>
          </a:prstGeom>
          <a:solidFill>
            <a:schemeClr val="accent3"/>
          </a:solidFill>
          <a:ln w="12700">
            <a:solidFill>
              <a:schemeClr val="accent3"/>
            </a:solidFill>
            <a:prstDash val="solid"/>
          </a:ln>
        </p:spPr>
      </p:sp>
      <p:pic>
        <p:nvPicPr>
          <p:cNvPr id="14" name="icon_3024" descr="Eye 아이콘">    </p:cNvPr>
          <p:cNvPicPr>
            <a:picLocks noChangeAspect="1"/>
          </p:cNvPicPr>
          <p:nvPr/>
        </p:nvPicPr>
        <p:blipFill>
          <a:blip r:embed="rId2"/>
          <a:stretch>
            <a:fillRect/>
          </a:stretch>
        </p:blipFill>
        <p:spPr>
          <a:xfrm>
            <a:off x="6521501" y="3915461"/>
            <a:ext cx="307238" cy="307238"/>
          </a:xfrm>
          <a:prstGeom prst="rect">
            <a:avLst/>
          </a:prstGeom>
        </p:spPr>
      </p:pic>
      <p:sp>
        <p:nvSpPr>
          <p:cNvPr id="15" name="text_3025"/>
          <p:cNvSpPr txBox="1"/>
          <p:nvPr/>
        </p:nvSpPr>
        <p:spPr>
          <a:xfrm>
            <a:off x="708660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처음 보는 장면</a:t>
            </a:r>
            <a:endParaRPr lang="ko-KR" altLang="en-US" sz="1800" dirty="0"/>
          </a:p>
        </p:txBody>
      </p:sp>
      <p:sp>
        <p:nvSpPr>
          <p:cNvPr id="16" name="text_3026"/>
          <p:cNvSpPr txBox="1"/>
          <p:nvPr/>
        </p:nvSpPr>
        <p:spPr>
          <a:xfrm>
            <a:off x="640080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 색, 방 배경, 로봇 방향이 바뀌면 정책에게는 다른 세상이다. 공간 소프트맥스도 "어디에"를 찾을 특징이 없다.</a:t>
            </a:r>
            <a:endParaRPr lang="ko-KR" altLang="en-US" sz="1400" dirty="0"/>
          </a:p>
          <a:p>
            <a:pPr eaLnBrk="0" indent="0" marL="0">
              <a:buNone/>
            </a:pPr>
            <a:r>
              <a:rPr lang="ko-KR" altLang="en-US" sz="1400" dirty="0">
                <a:solidFill>
                  <a:schemeClr val="tx1"/>
                </a:solidFill>
              </a:rPr>
              <a:t>→ 쓸 곳의 장면을 데이터에 넣는 것이 가장 확실한 해결.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165</a:t>
            </a:fld>
            <a:endParaRPr lang="ko-KR" alt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ROS에 끼우기: vla_pick 노드</a:t>
            </a:r>
            <a:endParaRPr lang="ko-KR" altLang="en-US" sz="3000" dirty="0"/>
          </a:p>
        </p:txBody>
      </p:sp>
      <p:sp>
        <p:nvSpPr>
          <p:cNvPr id="3" name="pill_30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29"/>
          <p:cNvSpPr/>
          <p:nvPr/>
        </p:nvSpPr>
        <p:spPr>
          <a:xfrm>
            <a:off x="548640" y="1371600"/>
            <a:ext cx="1956816" cy="1097280"/>
          </a:xfrm>
          <a:prstGeom prst="roundRect">
            <a:avLst>
              <a:gd name="adj" fmla="val 6667"/>
            </a:avLst>
          </a:prstGeom>
          <a:solidFill>
            <a:schemeClr val="accent3"/>
          </a:solidFill>
          <a:ln w="12700">
            <a:solidFill>
              <a:schemeClr val="accent3"/>
            </a:solidFill>
            <a:prstDash val="solid"/>
          </a:ln>
        </p:spPr>
      </p:sp>
      <p:sp>
        <p:nvSpPr>
          <p:cNvPr id="7" name="text_3030"/>
          <p:cNvSpPr txBox="1"/>
          <p:nvPr/>
        </p:nvSpPr>
        <p:spPr>
          <a:xfrm>
            <a:off x="594360"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pick_object</a:t>
            </a:r>
            <a:endParaRPr lang="ko-KR" altLang="en-US" sz="1400" dirty="0"/>
          </a:p>
          <a:p>
            <a:pPr eaLnBrk="0" algn="ctr" indent="0" marL="0">
              <a:buNone/>
            </a:pPr>
            <a:r>
              <a:rPr lang="ko-KR" altLang="en-US" sz="1400" b="1" dirty="0">
                <a:solidFill>
                  <a:schemeClr val="bg1"/>
                </a:solidFill>
              </a:rPr>
              <a:t>(작업 관리자)</a:t>
            </a:r>
            <a:endParaRPr lang="ko-KR" altLang="en-US" sz="1400" dirty="0"/>
          </a:p>
        </p:txBody>
      </p:sp>
      <p:sp>
        <p:nvSpPr>
          <p:cNvPr id="8" name="arrow_3031"/>
          <p:cNvSpPr/>
          <p:nvPr/>
        </p:nvSpPr>
        <p:spPr>
          <a:xfrm>
            <a:off x="2532888" y="1920240"/>
            <a:ext cx="265176" cy="0"/>
          </a:xfrm>
          <a:prstGeom prst="line">
            <a:avLst/>
          </a:prstGeom>
          <a:noFill/>
          <a:ln w="25400">
            <a:solidFill>
              <a:schemeClr val="tx2"/>
            </a:solidFill>
            <a:prstDash val="solid"/>
            <a:tailEnd type="triangle"/>
          </a:ln>
        </p:spPr>
      </p:sp>
      <p:sp>
        <p:nvSpPr>
          <p:cNvPr id="9" name="box_3032"/>
          <p:cNvSpPr/>
          <p:nvPr/>
        </p:nvSpPr>
        <p:spPr>
          <a:xfrm>
            <a:off x="2825496" y="1371600"/>
            <a:ext cx="1956816" cy="1097280"/>
          </a:xfrm>
          <a:prstGeom prst="roundRect">
            <a:avLst>
              <a:gd name="adj" fmla="val 6667"/>
            </a:avLst>
          </a:prstGeom>
          <a:solidFill>
            <a:schemeClr val="bg2"/>
          </a:solidFill>
          <a:ln w="12700">
            <a:solidFill>
              <a:schemeClr val="bg2"/>
            </a:solidFill>
            <a:prstDash val="solid"/>
          </a:ln>
        </p:spPr>
      </p:sp>
      <p:sp>
        <p:nvSpPr>
          <p:cNvPr id="10" name="text_3033"/>
          <p:cNvSpPr txBox="1"/>
          <p:nvPr/>
        </p:nvSpPr>
        <p:spPr>
          <a:xfrm>
            <a:off x="2871216"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tx1"/>
                </a:solidFill>
              </a:rPr>
              <a:t>정렬</a:t>
            </a:r>
            <a:endParaRPr lang="ko-KR" altLang="en-US" sz="1400" dirty="0"/>
          </a:p>
          <a:p>
            <a:pPr eaLnBrk="0" algn="ctr" indent="0" marL="0">
              <a:buNone/>
            </a:pPr>
            <a:r>
              <a:rPr lang="ko-KR" altLang="en-US" sz="1400" b="1" dirty="0">
                <a:solidFill>
                  <a:schemeClr val="tx1"/>
                </a:solidFill>
              </a:rPr>
              <a:t>servo_to_marker</a:t>
            </a:r>
            <a:endParaRPr lang="ko-KR" altLang="en-US" sz="1400" dirty="0"/>
          </a:p>
        </p:txBody>
      </p:sp>
      <p:sp>
        <p:nvSpPr>
          <p:cNvPr id="11" name="arrow_3034"/>
          <p:cNvSpPr/>
          <p:nvPr/>
        </p:nvSpPr>
        <p:spPr>
          <a:xfrm>
            <a:off x="4809744" y="1920240"/>
            <a:ext cx="265176" cy="0"/>
          </a:xfrm>
          <a:prstGeom prst="line">
            <a:avLst/>
          </a:prstGeom>
          <a:noFill/>
          <a:ln w="25400">
            <a:solidFill>
              <a:schemeClr val="tx2"/>
            </a:solidFill>
            <a:prstDash val="solid"/>
            <a:tailEnd type="triangle"/>
          </a:ln>
        </p:spPr>
      </p:sp>
      <p:sp>
        <p:nvSpPr>
          <p:cNvPr id="12" name="box_3035"/>
          <p:cNvSpPr/>
          <p:nvPr/>
        </p:nvSpPr>
        <p:spPr>
          <a:xfrm>
            <a:off x="5102352" y="1371600"/>
            <a:ext cx="1956816" cy="1097280"/>
          </a:xfrm>
          <a:prstGeom prst="roundRect">
            <a:avLst>
              <a:gd name="adj" fmla="val 6667"/>
            </a:avLst>
          </a:prstGeom>
          <a:solidFill>
            <a:schemeClr val="accent4"/>
          </a:solidFill>
          <a:ln w="12700">
            <a:solidFill>
              <a:schemeClr val="accent4"/>
            </a:solidFill>
            <a:prstDash val="solid"/>
          </a:ln>
        </p:spPr>
      </p:sp>
      <p:sp>
        <p:nvSpPr>
          <p:cNvPr id="13" name="text_3036"/>
          <p:cNvSpPr txBox="1"/>
          <p:nvPr/>
        </p:nvSpPr>
        <p:spPr>
          <a:xfrm>
            <a:off x="5148072"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/vla/pick</a:t>
            </a:r>
            <a:endParaRPr lang="ko-KR" altLang="en-US" sz="1400" dirty="0"/>
          </a:p>
          <a:p>
            <a:pPr eaLnBrk="0" algn="ctr" indent="0" marL="0">
              <a:buNone/>
            </a:pPr>
            <a:r>
              <a:rPr lang="ko-KR" altLang="en-US" sz="1400" b="1" dirty="0">
                <a:solidFill>
                  <a:schemeClr val="bg1"/>
                </a:solidFill>
              </a:rPr>
              <a:t>"pick up the red box"</a:t>
            </a:r>
            <a:endParaRPr lang="ko-KR" altLang="en-US" sz="1400" dirty="0"/>
          </a:p>
        </p:txBody>
      </p:sp>
      <p:sp>
        <p:nvSpPr>
          <p:cNvPr id="14" name="arrow_3037"/>
          <p:cNvSpPr/>
          <p:nvPr/>
        </p:nvSpPr>
        <p:spPr>
          <a:xfrm>
            <a:off x="7086600" y="1920240"/>
            <a:ext cx="265176" cy="0"/>
          </a:xfrm>
          <a:prstGeom prst="line">
            <a:avLst/>
          </a:prstGeom>
          <a:noFill/>
          <a:ln w="25400">
            <a:solidFill>
              <a:schemeClr val="tx2"/>
            </a:solidFill>
            <a:prstDash val="solid"/>
            <a:tailEnd type="triangle"/>
          </a:ln>
        </p:spPr>
      </p:sp>
      <p:sp>
        <p:nvSpPr>
          <p:cNvPr id="15" name="box_3038"/>
          <p:cNvSpPr/>
          <p:nvPr/>
        </p:nvSpPr>
        <p:spPr>
          <a:xfrm>
            <a:off x="7379208" y="1371600"/>
            <a:ext cx="1956816" cy="1097280"/>
          </a:xfrm>
          <a:prstGeom prst="roundRect">
            <a:avLst>
              <a:gd name="adj" fmla="val 6667"/>
            </a:avLst>
          </a:prstGeom>
          <a:solidFill>
            <a:schemeClr val="accent1"/>
          </a:solidFill>
          <a:ln w="12700">
            <a:solidFill>
              <a:schemeClr val="accent1"/>
            </a:solidFill>
            <a:prstDash val="solid"/>
          </a:ln>
        </p:spPr>
      </p:sp>
      <p:sp>
        <p:nvSpPr>
          <p:cNvPr id="16" name="text_3039"/>
          <p:cNvSpPr txBox="1"/>
          <p:nvPr/>
        </p:nvSpPr>
        <p:spPr>
          <a:xfrm>
            <a:off x="7424928"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vla_pick 노드</a:t>
            </a:r>
            <a:endParaRPr lang="ko-KR" altLang="en-US" sz="1400" dirty="0"/>
          </a:p>
          <a:p>
            <a:pPr eaLnBrk="0" algn="ctr" indent="0" marL="0">
              <a:buNone/>
            </a:pPr>
            <a:r>
              <a:rPr lang="ko-KR" altLang="en-US" sz="1400" b="1" dirty="0">
                <a:solidFill>
                  <a:schemeClr val="bg1"/>
                </a:solidFill>
              </a:rPr>
              <a:t>10 Hz</a:t>
            </a:r>
            <a:endParaRPr lang="ko-KR" altLang="en-US" sz="1400" dirty="0"/>
          </a:p>
        </p:txBody>
      </p:sp>
      <p:sp>
        <p:nvSpPr>
          <p:cNvPr id="17" name="arrow_3040"/>
          <p:cNvSpPr/>
          <p:nvPr/>
        </p:nvSpPr>
        <p:spPr>
          <a:xfrm>
            <a:off x="9363456" y="1920240"/>
            <a:ext cx="265176" cy="0"/>
          </a:xfrm>
          <a:prstGeom prst="line">
            <a:avLst/>
          </a:prstGeom>
          <a:noFill/>
          <a:ln w="25400">
            <a:solidFill>
              <a:schemeClr val="tx2"/>
            </a:solidFill>
            <a:prstDash val="solid"/>
            <a:tailEnd type="triangle"/>
          </a:ln>
        </p:spPr>
      </p:sp>
      <p:sp>
        <p:nvSpPr>
          <p:cNvPr id="18" name="box_3041"/>
          <p:cNvSpPr/>
          <p:nvPr/>
        </p:nvSpPr>
        <p:spPr>
          <a:xfrm>
            <a:off x="9656064" y="1371600"/>
            <a:ext cx="1956816" cy="1097280"/>
          </a:xfrm>
          <a:prstGeom prst="roundRect">
            <a:avLst>
              <a:gd name="adj" fmla="val 6667"/>
            </a:avLst>
          </a:prstGeom>
          <a:solidFill>
            <a:schemeClr val="accent2"/>
          </a:solidFill>
          <a:ln w="12700">
            <a:solidFill>
              <a:schemeClr val="accent2"/>
            </a:solidFill>
            <a:prstDash val="solid"/>
          </a:ln>
        </p:spPr>
      </p:sp>
      <p:sp>
        <p:nvSpPr>
          <p:cNvPr id="19" name="text_3042"/>
          <p:cNvSpPr txBox="1"/>
          <p:nvPr/>
        </p:nvSpPr>
        <p:spPr>
          <a:xfrm>
            <a:off x="9701784"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/vla/result</a:t>
            </a:r>
            <a:endParaRPr lang="ko-KR" altLang="en-US" sz="1400" dirty="0"/>
          </a:p>
          <a:p>
            <a:pPr eaLnBrk="0" algn="ctr" indent="0" marL="0">
              <a:buNone/>
            </a:pPr>
            <a:r>
              <a:rPr lang="ko-KR" altLang="en-US" sz="1400" b="1" dirty="0">
                <a:solidFill>
                  <a:schemeClr val="bg1"/>
                </a:solidFill>
              </a:rPr>
              <a:t>{ok, steps}</a:t>
            </a:r>
            <a:endParaRPr lang="ko-KR" altLang="en-US" sz="1400" dirty="0"/>
          </a:p>
        </p:txBody>
      </p:sp>
      <p:graphicFrame>
        <p:nvGraphicFramePr>
          <p:cNvPr id="167" name="table_3043"/>
          <p:cNvGraphicFramePr>
            <a:graphicFrameLocks noGrp="1"/>
          </p:cNvGraphicFramePr>
          <p:nvPr>
            <p:extLst>
              <p:ext uri="{D42A27DB-BD31-4B8C-83A1-F6EECF244321}">
                <p14:modId xmlns:p14="http://schemas.microsoft.com/office/powerpoint/2010/main" val="1579011935"/>
              </p:ext>
            </p:extLst>
          </p:nvPr>
        </p:nvGraphicFramePr>
        <p:xfrm>
          <a:off x="548640" y="2743200"/>
          <a:ext cx="6949440" cy="914400"/>
        </p:xfrm>
        <a:graphic>
          <a:graphicData uri="http://schemas.openxmlformats.org/drawingml/2006/table">
            <a:tbl>
              <a:tblPr/>
              <a:tblGrid>
                <a:gridCol w="822960"/>
                <a:gridCol w="3017520"/>
                <a:gridCol w="3108960"/>
              </a:tblGrid>
              <a:tr h="0">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/camera/image_raw → 128×72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머리 카메라 (INTER_AREA로 줄임)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/wrist_camera/image_raw</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손목 카메라 96×96 (브리지 wrist_camera_rate)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/joint_commands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0.1초마다 관절 목표 (브리지가 actuator 목표로)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/vla/status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단계, "끝" 확률 (대시보드 카드)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1" name="box_3044"/>
          <p:cNvSpPr/>
          <p:nvPr/>
        </p:nvSpPr>
        <p:spPr>
          <a:xfrm>
            <a:off x="7772400" y="2743200"/>
            <a:ext cx="3840480" cy="3383280"/>
          </a:xfrm>
          <a:prstGeom prst="roundRect">
            <a:avLst>
              <a:gd name="adj" fmla="val 2162"/>
            </a:avLst>
          </a:prstGeom>
          <a:solidFill>
            <a:schemeClr val="tx1"/>
          </a:solidFill>
          <a:ln w="12700">
            <a:solidFill>
              <a:schemeClr val="tx1"/>
            </a:solidFill>
            <a:prstDash val="solid"/>
          </a:ln>
        </p:spPr>
      </p:sp>
      <p:sp>
        <p:nvSpPr>
          <p:cNvPr id="22" name="code_3045"/>
          <p:cNvSpPr txBox="1"/>
          <p:nvPr/>
        </p:nvSpPr>
        <p:spPr>
          <a:xfrm>
            <a:off x="7955280" y="2880360"/>
            <a:ext cx="3474720" cy="3108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bringup.launch.py planner:=true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dashboard:=true pick:=vla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 런처: 모드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"VLA 집기" → 연결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166</a:t>
            </a:fld>
            <a:endParaRPr lang="ko-KR" alt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VLA 집기 모드</a:t>
            </a:r>
            <a:endParaRPr lang="ko-KR" altLang="en-US" sz="3000" dirty="0"/>
          </a:p>
        </p:txBody>
      </p:sp>
      <p:sp>
        <p:nvSpPr>
          <p:cNvPr id="3" name="pill_30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3048" descr="대시보드 VLA 집기 모드: 헤드 카메라에 상자를 쥔 손, 아래 VLA 카드에 손목 카메라와 성공 75단계">    </p:cNvPr>
          <p:cNvPicPr>
            <a:picLocks noChangeAspect="1"/>
          </p:cNvPicPr>
          <p:nvPr/>
        </p:nvPicPr>
        <p:blipFill>
          <a:blip r:embed="rId1"/>
          <a:stretch>
            <a:fillRect/>
          </a:stretch>
        </p:blipFill>
        <p:spPr>
          <a:xfrm>
            <a:off x="1195087" y="1280160"/>
            <a:ext cx="4742146" cy="4937760"/>
          </a:xfrm>
          <a:prstGeom prst="rect">
            <a:avLst/>
          </a:prstGeom>
        </p:spPr>
      </p:pic>
      <p:sp>
        <p:nvSpPr>
          <p:cNvPr id="7" name="box_3049"/>
          <p:cNvSpPr/>
          <p:nvPr/>
        </p:nvSpPr>
        <p:spPr>
          <a:xfrm>
            <a:off x="6858000" y="1371600"/>
            <a:ext cx="4754880" cy="2377440"/>
          </a:xfrm>
          <a:prstGeom prst="roundRect">
            <a:avLst>
              <a:gd name="adj" fmla="val 3077"/>
            </a:avLst>
          </a:prstGeom>
          <a:solidFill>
            <a:schemeClr val="bg2"/>
          </a:solidFill>
          <a:ln w="12700">
            <a:solidFill>
              <a:schemeClr val="bg2"/>
            </a:solidFill>
            <a:prstDash val="solid"/>
          </a:ln>
        </p:spPr>
      </p:sp>
      <p:sp>
        <p:nvSpPr>
          <p:cNvPr id="8" name="iconbg_3050"/>
          <p:cNvSpPr/>
          <p:nvPr/>
        </p:nvSpPr>
        <p:spPr>
          <a:xfrm>
            <a:off x="7086600" y="1600200"/>
            <a:ext cx="548640" cy="548640"/>
          </a:xfrm>
          <a:prstGeom prst="ellipse">
            <a:avLst/>
          </a:prstGeom>
          <a:solidFill>
            <a:schemeClr val="accent6"/>
          </a:solidFill>
          <a:ln w="12700">
            <a:solidFill>
              <a:schemeClr val="accent6"/>
            </a:solidFill>
            <a:prstDash val="solid"/>
          </a:ln>
        </p:spPr>
      </p:sp>
      <p:pic>
        <p:nvPicPr>
          <p:cNvPr id="9" name="icon_3051" descr="ExclamationTriangle 아이콘">    </p:cNvPr>
          <p:cNvPicPr>
            <a:picLocks noChangeAspect="1"/>
          </p:cNvPicPr>
          <p:nvPr/>
        </p:nvPicPr>
        <p:blipFill>
          <a:blip r:embed="rId2"/>
          <a:stretch>
            <a:fillRect/>
          </a:stretch>
        </p:blipFill>
        <p:spPr>
          <a:xfrm>
            <a:off x="7207301" y="1720901"/>
            <a:ext cx="307238" cy="307238"/>
          </a:xfrm>
          <a:prstGeom prst="rect">
            <a:avLst/>
          </a:prstGeom>
        </p:spPr>
      </p:pic>
      <p:sp>
        <p:nvSpPr>
          <p:cNvPr id="10" name="text_3052"/>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 집었다"를 믿지 말 것</a:t>
            </a:r>
            <a:endParaRPr lang="ko-KR" altLang="en-US" sz="1600" dirty="0"/>
          </a:p>
        </p:txBody>
      </p:sp>
      <p:sp>
        <p:nvSpPr>
          <p:cNvPr id="11" name="text_3053"/>
          <p:cNvSpPr txBox="1"/>
          <p:nvPr/>
        </p:nvSpPr>
        <p:spPr>
          <a:xfrm>
            <a:off x="7086600" y="2240280"/>
            <a:ext cx="429768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학습된 부품의 출력은 다른 신호로 한 번 더 확인한다.</a:t>
            </a:r>
            <a:endParaRPr lang="ko-KR" altLang="en-US" sz="1400" dirty="0"/>
          </a:p>
          <a:p>
            <a:pPr eaLnBrk="0" indent="0" marL="0">
              <a:buNone/>
            </a:pPr>
            <a:r>
              <a:rPr lang="ko-KR" altLang="en-US" sz="1400" dirty="0">
                <a:solidFill>
                  <a:schemeClr val="tx1"/>
                </a:solidFill>
              </a:rPr>
              <a:t>성공 = 손을 닫으라고 명령했고(목표 &gt; −0.15) 손가락이 덜 닫혔다(|각도| &gt; 0.06).</a:t>
            </a:r>
            <a:endParaRPr lang="ko-KR" altLang="en-US" sz="1400" dirty="0"/>
          </a:p>
        </p:txBody>
      </p:sp>
      <p:sp>
        <p:nvSpPr>
          <p:cNvPr id="12" name="box_3054"/>
          <p:cNvSpPr/>
          <p:nvPr/>
        </p:nvSpPr>
        <p:spPr>
          <a:xfrm>
            <a:off x="6858000" y="3931920"/>
            <a:ext cx="4754880" cy="2194560"/>
          </a:xfrm>
          <a:prstGeom prst="roundRect">
            <a:avLst>
              <a:gd name="adj" fmla="val 3333"/>
            </a:avLst>
          </a:prstGeom>
          <a:solidFill>
            <a:schemeClr val="bg2"/>
          </a:solidFill>
          <a:ln w="12700">
            <a:solidFill>
              <a:schemeClr val="bg2"/>
            </a:solidFill>
            <a:prstDash val="solid"/>
          </a:ln>
        </p:spPr>
      </p:sp>
      <p:sp>
        <p:nvSpPr>
          <p:cNvPr id="13" name="iconbg_3055"/>
          <p:cNvSpPr/>
          <p:nvPr/>
        </p:nvSpPr>
        <p:spPr>
          <a:xfrm>
            <a:off x="7086600" y="4160520"/>
            <a:ext cx="548640" cy="548640"/>
          </a:xfrm>
          <a:prstGeom prst="ellipse">
            <a:avLst/>
          </a:prstGeom>
          <a:solidFill>
            <a:schemeClr val="accent2"/>
          </a:solidFill>
          <a:ln w="12700">
            <a:solidFill>
              <a:schemeClr val="accent2"/>
            </a:solidFill>
            <a:prstDash val="solid"/>
          </a:ln>
        </p:spPr>
      </p:sp>
      <p:pic>
        <p:nvPicPr>
          <p:cNvPr id="14" name="icon_3056" descr="CheckCircle 아이콘">    </p:cNvPr>
          <p:cNvPicPr>
            <a:picLocks noChangeAspect="1"/>
          </p:cNvPicPr>
          <p:nvPr/>
        </p:nvPicPr>
        <p:blipFill>
          <a:blip r:embed="rId3"/>
          <a:stretch>
            <a:fillRect/>
          </a:stretch>
        </p:blipFill>
        <p:spPr>
          <a:xfrm>
            <a:off x="7207301" y="4281221"/>
            <a:ext cx="307238" cy="307238"/>
          </a:xfrm>
          <a:prstGeom prst="rect">
            <a:avLst/>
          </a:prstGeom>
        </p:spPr>
      </p:pic>
      <p:sp>
        <p:nvSpPr>
          <p:cNvPr id="15" name="text_3057"/>
          <p:cNvSpPr txBox="1"/>
          <p:nvPr/>
        </p:nvSpPr>
        <p:spPr>
          <a:xfrm>
            <a:off x="7772400" y="413308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6" name="text_3058"/>
          <p:cNvSpPr txBox="1"/>
          <p:nvPr/>
        </p:nvSpPr>
        <p:spPr>
          <a:xfrm>
            <a:off x="7086600" y="4800600"/>
            <a:ext cx="42976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"작업대로 옮겨줘" → 공급 테이블에서 정책이 집음</a:t>
            </a:r>
            <a:endParaRPr lang="ko-KR" altLang="en-US" sz="1400" dirty="0"/>
          </a:p>
          <a:p>
            <a:pPr eaLnBrk="0" indent="0" marL="0">
              <a:buNone/>
            </a:pPr>
            <a:r>
              <a:rPr lang="ko-KR" altLang="en-US" sz="1400" dirty="0">
                <a:solidFill>
                  <a:schemeClr val="tx1"/>
                </a:solidFill>
              </a:rPr>
              <a:t>"원래 자리에 다시 갖다 놔" → 작업대에서 정책이 집음</a:t>
            </a:r>
            <a:endParaRPr lang="ko-KR" altLang="en-US" sz="1400" dirty="0"/>
          </a:p>
          <a:p>
            <a:pPr eaLnBrk="0" indent="0" marL="0">
              <a:buNone/>
            </a:pPr>
            <a:r>
              <a:rPr lang="ko-KR" altLang="en-US" sz="1400" dirty="0">
                <a:solidFill>
                  <a:schemeClr val="tx1"/>
                </a:solidFill>
              </a:rPr>
              <a:t>(이 저장소에서 ROS로 4번 모두 성공)</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5-4</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167</a:t>
            </a:fld>
            <a:endParaRPr lang="ko-KR" alt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ACT · LeRobot · 큰 VLA와 비교</a:t>
            </a:r>
            <a:endParaRPr lang="ko-KR" altLang="en-US" sz="3000" dirty="0"/>
          </a:p>
        </p:txBody>
      </p:sp>
      <p:sp>
        <p:nvSpPr>
          <p:cNvPr id="3" name="pill_30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9" name="table_30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280160"/>
                <a:gridCol w="2651760"/>
                <a:gridCol w="2377440"/>
                <a:gridCol w="2286000"/>
                <a:gridCol w="246888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 모듈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ACT (2023)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OpenVLA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π0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영상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CNN 4층 + 공간 소프트맥스 (처음부터)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ResNet-18 (ImageNet)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DINOv2 + SigLIP</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SigLIP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언어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단어 해시 + 임베딩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Llama 2 7B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Gemma 2B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MLP, 10단계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트랜스포머 디코더 + CVAE,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256칸 토큰을 하나씩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flow matching, 50단계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60만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8천만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70억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33억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학습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노트북 CPU 35분, 시연 583편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과제당 시연 약 50편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수십 장, 약 97만 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대규모 사전학습 + 미세조정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062"/>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8" name="iconbg_3063"/>
          <p:cNvSpPr/>
          <p:nvPr/>
        </p:nvSpPr>
        <p:spPr>
          <a:xfrm>
            <a:off x="777240" y="4983480"/>
            <a:ext cx="548640" cy="548640"/>
          </a:xfrm>
          <a:prstGeom prst="ellipse">
            <a:avLst/>
          </a:prstGeom>
          <a:solidFill>
            <a:schemeClr val="accent1"/>
          </a:solidFill>
          <a:ln w="12700">
            <a:solidFill>
              <a:schemeClr val="accent1"/>
            </a:solidFill>
            <a:prstDash val="solid"/>
          </a:ln>
        </p:spPr>
      </p:sp>
      <p:pic>
        <p:nvPicPr>
          <p:cNvPr id="9" name="icon_3064" descr="Bolt 아이콘">    </p:cNvPr>
          <p:cNvPicPr>
            <a:picLocks noChangeAspect="1"/>
          </p:cNvPicPr>
          <p:nvPr/>
        </p:nvPicPr>
        <p:blipFill>
          <a:blip r:embed="rId1"/>
          <a:stretch>
            <a:fillRect/>
          </a:stretch>
        </p:blipFill>
        <p:spPr>
          <a:xfrm>
            <a:off x="897941" y="5104181"/>
            <a:ext cx="307238" cy="307238"/>
          </a:xfrm>
          <a:prstGeom prst="rect">
            <a:avLst/>
          </a:prstGeom>
        </p:spPr>
      </p:pic>
      <p:sp>
        <p:nvSpPr>
          <p:cNvPr id="10" name="text_3065"/>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다음 단계</a:t>
            </a:r>
            <a:endParaRPr lang="ko-KR" altLang="en-US" sz="1600" dirty="0"/>
          </a:p>
        </p:txBody>
      </p:sp>
      <p:sp>
        <p:nvSpPr>
          <p:cNvPr id="11" name="text_3066"/>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record.py → train.py → evaluate.py는 LeRobot의 "모으기 → 학습 → 평가"를 작게 손으로 짠 것이다. 구조를 이해했다면 같은 시연을 LeRobot 형식으로 옮겨 ACT를 학습해 비교해 볼 수 있다 (GPU 권장).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168</a:t>
            </a:fld>
            <a:endParaRPr lang="ko-KR" alt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한계와 다음 단계</a:t>
            </a:r>
            <a:endParaRPr lang="ko-KR" altLang="en-US" sz="3000" dirty="0"/>
          </a:p>
        </p:txBody>
      </p:sp>
      <p:sp>
        <p:nvSpPr>
          <p:cNvPr id="3" name="pill_306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6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069"/>
          <p:cNvSpPr/>
          <p:nvPr/>
        </p:nvSpPr>
        <p:spPr>
          <a:xfrm>
            <a:off x="548640" y="1371600"/>
            <a:ext cx="731520" cy="731520"/>
          </a:xfrm>
          <a:prstGeom prst="ellipse">
            <a:avLst/>
          </a:prstGeom>
          <a:solidFill>
            <a:schemeClr val="accent1"/>
          </a:solidFill>
          <a:ln w="12700">
            <a:solidFill>
              <a:schemeClr val="accent1"/>
            </a:solidFill>
            <a:prstDash val="solid"/>
          </a:ln>
        </p:spPr>
      </p:sp>
      <p:pic>
        <p:nvPicPr>
          <p:cNvPr id="7" name="icon_3070" descr="Cube 아이콘">    </p:cNvPr>
          <p:cNvPicPr>
            <a:picLocks noChangeAspect="1"/>
          </p:cNvPicPr>
          <p:nvPr/>
        </p:nvPicPr>
        <p:blipFill>
          <a:blip r:embed="rId1"/>
          <a:stretch>
            <a:fillRect/>
          </a:stretch>
        </p:blipFill>
        <p:spPr>
          <a:xfrm>
            <a:off x="709574" y="1532534"/>
            <a:ext cx="409651" cy="409651"/>
          </a:xfrm>
          <a:prstGeom prst="rect">
            <a:avLst/>
          </a:prstGeom>
        </p:spPr>
      </p:pic>
      <p:sp>
        <p:nvSpPr>
          <p:cNvPr id="8" name="text_3071"/>
          <p:cNvSpPr txBox="1"/>
          <p:nvPr/>
        </p:nvSpPr>
        <p:spPr>
          <a:xfrm>
            <a:off x="1508760" y="132588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물체가 하나뿐</a:t>
            </a:r>
            <a:endParaRPr lang="ko-KR" altLang="en-US" sz="1800" dirty="0"/>
          </a:p>
        </p:txBody>
      </p:sp>
      <p:sp>
        <p:nvSpPr>
          <p:cNvPr id="9" name="text_3072"/>
          <p:cNvSpPr txBox="1"/>
          <p:nvPr/>
        </p:nvSpPr>
        <p:spPr>
          <a:xfrm>
            <a:off x="1508760" y="173736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언어가 거의 역할이 없다 → 과제 3: 파란 상자를 추가하고 문장으로 고르게</a:t>
            </a:r>
            <a:endParaRPr lang="ko-KR" altLang="en-US" sz="1500" dirty="0"/>
          </a:p>
        </p:txBody>
      </p:sp>
      <p:sp>
        <p:nvSpPr>
          <p:cNvPr id="10" name="iconbg_3073"/>
          <p:cNvSpPr/>
          <p:nvPr/>
        </p:nvSpPr>
        <p:spPr>
          <a:xfrm>
            <a:off x="548640" y="2560320"/>
            <a:ext cx="731520" cy="731520"/>
          </a:xfrm>
          <a:prstGeom prst="ellipse">
            <a:avLst/>
          </a:prstGeom>
          <a:solidFill>
            <a:schemeClr val="accent3"/>
          </a:solidFill>
          <a:ln w="12700">
            <a:solidFill>
              <a:schemeClr val="accent3"/>
            </a:solidFill>
            <a:prstDash val="solid"/>
          </a:ln>
        </p:spPr>
      </p:sp>
      <p:pic>
        <p:nvPicPr>
          <p:cNvPr id="11" name="icon_3074" descr="Camera 아이콘">    </p:cNvPr>
          <p:cNvPicPr>
            <a:picLocks noChangeAspect="1"/>
          </p:cNvPicPr>
          <p:nvPr/>
        </p:nvPicPr>
        <p:blipFill>
          <a:blip r:embed="rId2"/>
          <a:stretch>
            <a:fillRect/>
          </a:stretch>
        </p:blipFill>
        <p:spPr>
          <a:xfrm>
            <a:off x="709574" y="2721254"/>
            <a:ext cx="409651" cy="409651"/>
          </a:xfrm>
          <a:prstGeom prst="rect">
            <a:avLst/>
          </a:prstGeom>
        </p:spPr>
      </p:pic>
      <p:sp>
        <p:nvSpPr>
          <p:cNvPr id="12" name="text_3075"/>
          <p:cNvSpPr txBox="1"/>
          <p:nvPr/>
        </p:nvSpPr>
        <p:spPr>
          <a:xfrm>
            <a:off x="1508760" y="251460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시뮬레이터 영상만</a:t>
            </a:r>
            <a:endParaRPr lang="ko-KR" altLang="en-US" sz="1800" dirty="0"/>
          </a:p>
        </p:txBody>
      </p:sp>
      <p:sp>
        <p:nvSpPr>
          <p:cNvPr id="13" name="text_3076"/>
          <p:cNvSpPr txBox="1"/>
          <p:nvPr/>
        </p:nvSpPr>
        <p:spPr>
          <a:xfrm>
            <a:off x="1508760" y="292608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실제 카메라와 렌더링의 차이(sim-to-real) → 도메인 무작위화, 실제 시연 섞기</a:t>
            </a:r>
            <a:endParaRPr lang="ko-KR" altLang="en-US" sz="1500" dirty="0"/>
          </a:p>
        </p:txBody>
      </p:sp>
      <p:sp>
        <p:nvSpPr>
          <p:cNvPr id="14" name="iconbg_3077"/>
          <p:cNvSpPr/>
          <p:nvPr/>
        </p:nvSpPr>
        <p:spPr>
          <a:xfrm>
            <a:off x="548640" y="3749040"/>
            <a:ext cx="731520" cy="731520"/>
          </a:xfrm>
          <a:prstGeom prst="ellipse">
            <a:avLst/>
          </a:prstGeom>
          <a:solidFill>
            <a:schemeClr val="accent6"/>
          </a:solidFill>
          <a:ln w="12700">
            <a:solidFill>
              <a:schemeClr val="accent6"/>
            </a:solidFill>
            <a:prstDash val="solid"/>
          </a:ln>
        </p:spPr>
      </p:sp>
      <p:pic>
        <p:nvPicPr>
          <p:cNvPr id="15" name="icon_3078" descr="ArrowsAlt 아이콘">    </p:cNvPr>
          <p:cNvPicPr>
            <a:picLocks noChangeAspect="1"/>
          </p:cNvPicPr>
          <p:nvPr/>
        </p:nvPicPr>
        <p:blipFill>
          <a:blip r:embed="rId3"/>
          <a:stretch>
            <a:fillRect/>
          </a:stretch>
        </p:blipFill>
        <p:spPr>
          <a:xfrm>
            <a:off x="709574" y="3909974"/>
            <a:ext cx="409651" cy="409651"/>
          </a:xfrm>
          <a:prstGeom prst="rect">
            <a:avLst/>
          </a:prstGeom>
        </p:spPr>
      </p:pic>
      <p:sp>
        <p:nvSpPr>
          <p:cNvPr id="16" name="text_3079"/>
          <p:cNvSpPr txBox="1"/>
          <p:nvPr/>
        </p:nvSpPr>
        <p:spPr>
          <a:xfrm>
            <a:off x="1508760" y="370332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학습한 범위 밖</a:t>
            </a:r>
            <a:endParaRPr lang="ko-KR" altLang="en-US" sz="1800" dirty="0"/>
          </a:p>
        </p:txBody>
      </p:sp>
      <p:sp>
        <p:nvSpPr>
          <p:cNvPr id="17" name="text_3080"/>
          <p:cNvSpPr txBox="1"/>
          <p:nvPr/>
        </p:nvSpPr>
        <p:spPr>
          <a:xfrm>
            <a:off x="1508760" y="411480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정렬이 더 틀어지면 실패 → 도전 과제: SPREAD 두 배로 평가</a:t>
            </a:r>
            <a:endParaRPr lang="ko-KR" altLang="en-US" sz="1500" dirty="0"/>
          </a:p>
        </p:txBody>
      </p:sp>
      <p:sp>
        <p:nvSpPr>
          <p:cNvPr id="18" name="iconbg_3081"/>
          <p:cNvSpPr/>
          <p:nvPr/>
        </p:nvSpPr>
        <p:spPr>
          <a:xfrm>
            <a:off x="548640" y="4937760"/>
            <a:ext cx="731520" cy="731520"/>
          </a:xfrm>
          <a:prstGeom prst="ellipse">
            <a:avLst/>
          </a:prstGeom>
          <a:solidFill>
            <a:schemeClr val="accent2"/>
          </a:solidFill>
          <a:ln w="12700">
            <a:solidFill>
              <a:schemeClr val="accent2"/>
            </a:solidFill>
            <a:prstDash val="solid"/>
          </a:ln>
        </p:spPr>
      </p:sp>
      <p:pic>
        <p:nvPicPr>
          <p:cNvPr id="19" name="icon_3082" descr="HandPaper 아이콘">    </p:cNvPr>
          <p:cNvPicPr>
            <a:picLocks noChangeAspect="1"/>
          </p:cNvPicPr>
          <p:nvPr/>
        </p:nvPicPr>
        <p:blipFill>
          <a:blip r:embed="rId4"/>
          <a:stretch>
            <a:fillRect/>
          </a:stretch>
        </p:blipFill>
        <p:spPr>
          <a:xfrm>
            <a:off x="709574" y="5098694"/>
            <a:ext cx="409651" cy="409651"/>
          </a:xfrm>
          <a:prstGeom prst="rect">
            <a:avLst/>
          </a:prstGeom>
        </p:spPr>
      </p:pic>
      <p:sp>
        <p:nvSpPr>
          <p:cNvPr id="20" name="text_3083"/>
          <p:cNvSpPr txBox="1"/>
          <p:nvPr/>
        </p:nvSpPr>
        <p:spPr>
          <a:xfrm>
            <a:off x="1508760" y="489204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집기 한 동작</a:t>
            </a:r>
            <a:endParaRPr lang="ko-KR" altLang="en-US" sz="1800" dirty="0"/>
          </a:p>
        </p:txBody>
      </p:sp>
      <p:sp>
        <p:nvSpPr>
          <p:cNvPr id="21" name="text_3084"/>
          <p:cNvSpPr txBox="1"/>
          <p:nvPr/>
        </p:nvSpPr>
        <p:spPr>
          <a:xfrm>
            <a:off x="1508760" y="530352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놓기·다른 동작은 데이터를 따로 모아야 → 시연 수와 성공률의 관계(과제 1)</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169</a:t>
            </a:fld>
            <a:endParaRPr lang="ko-KR" alt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한 장 요약</a:t>
            </a:r>
            <a:endParaRPr lang="ko-KR" altLang="en-US" sz="3000" dirty="0"/>
          </a:p>
        </p:txBody>
      </p:sp>
      <p:sp>
        <p:nvSpPr>
          <p:cNvPr id="3" name="pill_30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087"/>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3088"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3089"/>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VLA = 영상 + 문장 → 관절 명령</a:t>
            </a:r>
            <a:endParaRPr lang="ko-KR" altLang="en-US" sz="1800" dirty="0"/>
          </a:p>
        </p:txBody>
      </p:sp>
      <p:sp>
        <p:nvSpPr>
          <p:cNvPr id="9" name="text_3090"/>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좌표 계산 없이 0.1초마다 보고 다음 1초의 관절 목표를 낸다</a:t>
            </a:r>
            <a:endParaRPr lang="ko-KR" altLang="en-US" sz="1500" dirty="0"/>
          </a:p>
        </p:txBody>
      </p:sp>
      <p:sp>
        <p:nvSpPr>
          <p:cNvPr id="10" name="iconbg_3091"/>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3092" descr="User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3093"/>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모방 학습: 전문가 시연 → 지도 학습</a:t>
            </a:r>
            <a:endParaRPr lang="ko-KR" altLang="en-US" sz="1800" dirty="0"/>
          </a:p>
        </p:txBody>
      </p:sp>
      <p:sp>
        <p:nvSpPr>
          <p:cNvPr id="13" name="text_3094"/>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전문가는 실제 위치를 알고, 정책은 영상만 본다</a:t>
            </a:r>
            <a:endParaRPr lang="ko-KR" altLang="en-US" sz="1500" dirty="0"/>
          </a:p>
        </p:txBody>
      </p:sp>
      <p:sp>
        <p:nvSpPr>
          <p:cNvPr id="14" name="iconbg_3095"/>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3096"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3097"/>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쌓이는 오차를 막는 세 가지</a:t>
            </a:r>
            <a:endParaRPr lang="ko-KR" altLang="en-US" sz="1800" dirty="0"/>
          </a:p>
        </p:txBody>
      </p:sp>
      <p:sp>
        <p:nvSpPr>
          <p:cNvPr id="17" name="text_3098"/>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넓게 모으기, DART 잡음, 묶음 예측 + 시간 평균</a:t>
            </a:r>
            <a:endParaRPr lang="ko-KR" altLang="en-US" sz="1500" dirty="0"/>
          </a:p>
        </p:txBody>
      </p:sp>
      <p:sp>
        <p:nvSpPr>
          <p:cNvPr id="18" name="iconbg_3099"/>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3100" descr="Crosshair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3101"/>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공간 소프트맥스 + 손목 카메라</a:t>
            </a:r>
            <a:endParaRPr lang="ko-KR" altLang="en-US" sz="1800" dirty="0"/>
          </a:p>
        </p:txBody>
      </p:sp>
      <p:sp>
        <p:nvSpPr>
          <p:cNvPr id="21" name="text_3102"/>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"어디에"를 숫자로. 마지막 몇 cm는 손목 카메라</a:t>
            </a:r>
            <a:endParaRPr lang="ko-KR" altLang="en-US" sz="1500" dirty="0"/>
          </a:p>
        </p:txBody>
      </p:sp>
      <p:sp>
        <p:nvSpPr>
          <p:cNvPr id="22" name="iconbg_3103"/>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3104" descr="Link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3105"/>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한 단계만 바꿔 끼운다</a:t>
            </a:r>
            <a:endParaRPr lang="ko-KR" altLang="en-US" sz="1800" dirty="0"/>
          </a:p>
        </p:txBody>
      </p:sp>
      <p:sp>
        <p:nvSpPr>
          <p:cNvPr id="25" name="text_3106"/>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pick:=vla — 계획·주행·정렬·놓기는 그대로, 집기만 정책</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170</a:t>
            </a:fld>
            <a:endParaRPr lang="ko-KR" alt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셀프 체크</a:t>
            </a:r>
            <a:endParaRPr lang="ko-KR" altLang="en-US" sz="3000" dirty="0"/>
          </a:p>
        </p:txBody>
      </p:sp>
      <p:sp>
        <p:nvSpPr>
          <p:cNvPr id="3" name="pill_31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text_3109"/>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3110"/>
          <p:cNvSpPr/>
          <p:nvPr/>
        </p:nvSpPr>
        <p:spPr>
          <a:xfrm>
            <a:off x="548640" y="1828800"/>
            <a:ext cx="11064240" cy="476794"/>
          </a:xfrm>
          <a:prstGeom prst="roundRect">
            <a:avLst>
              <a:gd name="adj" fmla="val 15342"/>
            </a:avLst>
          </a:prstGeom>
          <a:solidFill>
            <a:schemeClr val="bg2"/>
          </a:solidFill>
          <a:ln w="12700">
            <a:solidFill>
              <a:schemeClr val="bg2"/>
            </a:solidFill>
            <a:prstDash val="solid"/>
          </a:ln>
        </p:spPr>
      </p:sp>
      <p:sp>
        <p:nvSpPr>
          <p:cNvPr id="8" name="text_3111"/>
          <p:cNvSpPr txBox="1"/>
          <p:nvPr/>
        </p:nvSpPr>
        <p:spPr>
          <a:xfrm>
            <a:off x="731520" y="1828800"/>
            <a:ext cx="731520" cy="476794"/>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3112"/>
          <p:cNvSpPr txBox="1"/>
          <p:nvPr/>
        </p:nvSpPr>
        <p:spPr>
          <a:xfrm>
            <a:off x="1463040" y="1828800"/>
            <a:ext cx="9966960" cy="476794"/>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전문가는 상자의 실제 위치를 알고 정책은 모른다. 그런데도 정책이 집을 수 있는 이유는?</a:t>
            </a:r>
            <a:endParaRPr lang="ko-KR" altLang="en-US" sz="1600" dirty="0"/>
          </a:p>
        </p:txBody>
      </p:sp>
      <p:sp>
        <p:nvSpPr>
          <p:cNvPr id="10" name="box_3113"/>
          <p:cNvSpPr/>
          <p:nvPr/>
        </p:nvSpPr>
        <p:spPr>
          <a:xfrm>
            <a:off x="548640" y="2442754"/>
            <a:ext cx="11064240" cy="476794"/>
          </a:xfrm>
          <a:prstGeom prst="roundRect">
            <a:avLst>
              <a:gd name="adj" fmla="val 15342"/>
            </a:avLst>
          </a:prstGeom>
          <a:solidFill>
            <a:schemeClr val="bg2"/>
          </a:solidFill>
          <a:ln w="12700">
            <a:solidFill>
              <a:schemeClr val="bg2"/>
            </a:solidFill>
            <a:prstDash val="solid"/>
          </a:ln>
        </p:spPr>
      </p:sp>
      <p:sp>
        <p:nvSpPr>
          <p:cNvPr id="11" name="text_3114"/>
          <p:cNvSpPr txBox="1"/>
          <p:nvPr/>
        </p:nvSpPr>
        <p:spPr>
          <a:xfrm>
            <a:off x="731520" y="2442754"/>
            <a:ext cx="731520" cy="476794"/>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3115"/>
          <p:cNvSpPr txBox="1"/>
          <p:nvPr/>
        </p:nvSpPr>
        <p:spPr>
          <a:xfrm>
            <a:off x="1463040" y="2442754"/>
            <a:ext cx="9966960" cy="476794"/>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DART에서 정답을 잡음 섞인 목표가 아니라 전문가 목표로 기록하는 이유는?</a:t>
            </a:r>
            <a:endParaRPr lang="ko-KR" altLang="en-US" sz="1600" dirty="0"/>
          </a:p>
        </p:txBody>
      </p:sp>
      <p:sp>
        <p:nvSpPr>
          <p:cNvPr id="13" name="box_3116"/>
          <p:cNvSpPr/>
          <p:nvPr/>
        </p:nvSpPr>
        <p:spPr>
          <a:xfrm>
            <a:off x="548640" y="3056709"/>
            <a:ext cx="11064240" cy="476794"/>
          </a:xfrm>
          <a:prstGeom prst="roundRect">
            <a:avLst>
              <a:gd name="adj" fmla="val 15342"/>
            </a:avLst>
          </a:prstGeom>
          <a:solidFill>
            <a:schemeClr val="bg2"/>
          </a:solidFill>
          <a:ln w="12700">
            <a:solidFill>
              <a:schemeClr val="bg2"/>
            </a:solidFill>
            <a:prstDash val="solid"/>
          </a:ln>
        </p:spPr>
      </p:sp>
      <p:sp>
        <p:nvSpPr>
          <p:cNvPr id="14" name="text_3117"/>
          <p:cNvSpPr txBox="1"/>
          <p:nvPr/>
        </p:nvSpPr>
        <p:spPr>
          <a:xfrm>
            <a:off x="731520" y="3056709"/>
            <a:ext cx="731520" cy="476794"/>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3118"/>
          <p:cNvSpPr txBox="1"/>
          <p:nvPr/>
        </p:nvSpPr>
        <p:spPr>
          <a:xfrm>
            <a:off x="1463040" y="3056709"/>
            <a:ext cx="9966960" cy="476794"/>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한 단계씩이 아니라 10단계 묶음으로 예측하는 장점은?</a:t>
            </a:r>
            <a:endParaRPr lang="ko-KR" altLang="en-US" sz="1600" dirty="0"/>
          </a:p>
        </p:txBody>
      </p:sp>
      <p:sp>
        <p:nvSpPr>
          <p:cNvPr id="16" name="box_3119"/>
          <p:cNvSpPr/>
          <p:nvPr/>
        </p:nvSpPr>
        <p:spPr>
          <a:xfrm>
            <a:off x="548640" y="3670663"/>
            <a:ext cx="11064240" cy="476794"/>
          </a:xfrm>
          <a:prstGeom prst="roundRect">
            <a:avLst>
              <a:gd name="adj" fmla="val 15342"/>
            </a:avLst>
          </a:prstGeom>
          <a:solidFill>
            <a:schemeClr val="bg2"/>
          </a:solidFill>
          <a:ln w="12700">
            <a:solidFill>
              <a:schemeClr val="bg2"/>
            </a:solidFill>
            <a:prstDash val="solid"/>
          </a:ln>
        </p:spPr>
      </p:sp>
      <p:sp>
        <p:nvSpPr>
          <p:cNvPr id="17" name="text_3120"/>
          <p:cNvSpPr txBox="1"/>
          <p:nvPr/>
        </p:nvSpPr>
        <p:spPr>
          <a:xfrm>
            <a:off x="731520" y="3670663"/>
            <a:ext cx="731520" cy="476794"/>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3121"/>
          <p:cNvSpPr txBox="1"/>
          <p:nvPr/>
        </p:nvSpPr>
        <p:spPr>
          <a:xfrm>
            <a:off x="1463040" y="3670663"/>
            <a:ext cx="9966960" cy="476794"/>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VLA 모드에서도 마커 정렬을 그대로 쓰는 이유는?</a:t>
            </a:r>
            <a:endParaRPr lang="ko-KR" altLang="en-US" sz="1600" dirty="0"/>
          </a:p>
        </p:txBody>
      </p:sp>
      <p:sp>
        <p:nvSpPr>
          <p:cNvPr id="19" name="box_3122"/>
          <p:cNvSpPr/>
          <p:nvPr/>
        </p:nvSpPr>
        <p:spPr>
          <a:xfrm>
            <a:off x="548640" y="4284617"/>
            <a:ext cx="11064240" cy="476794"/>
          </a:xfrm>
          <a:prstGeom prst="roundRect">
            <a:avLst>
              <a:gd name="adj" fmla="val 15342"/>
            </a:avLst>
          </a:prstGeom>
          <a:solidFill>
            <a:schemeClr val="bg2"/>
          </a:solidFill>
          <a:ln w="12700">
            <a:solidFill>
              <a:schemeClr val="bg2"/>
            </a:solidFill>
            <a:prstDash val="solid"/>
          </a:ln>
        </p:spPr>
      </p:sp>
      <p:sp>
        <p:nvSpPr>
          <p:cNvPr id="20" name="text_3123"/>
          <p:cNvSpPr txBox="1"/>
          <p:nvPr/>
        </p:nvSpPr>
        <p:spPr>
          <a:xfrm>
            <a:off x="731520" y="4284617"/>
            <a:ext cx="731520" cy="476794"/>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3124"/>
          <p:cNvSpPr txBox="1"/>
          <p:nvPr/>
        </p:nvSpPr>
        <p:spPr>
          <a:xfrm>
            <a:off x="1463040" y="4284617"/>
            <a:ext cx="9966960" cy="476794"/>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이 정책을 실제 로봇에 바로 쓰기 어려운 이유 두 가지는?</a:t>
            </a:r>
            <a:endParaRPr lang="ko-KR" altLang="en-US" sz="1600" dirty="0"/>
          </a:p>
        </p:txBody>
      </p:sp>
      <p:sp>
        <p:nvSpPr>
          <p:cNvPr id="22" name="box_3125"/>
          <p:cNvSpPr/>
          <p:nvPr/>
        </p:nvSpPr>
        <p:spPr>
          <a:xfrm>
            <a:off x="548640" y="4898571"/>
            <a:ext cx="11064240" cy="476794"/>
          </a:xfrm>
          <a:prstGeom prst="roundRect">
            <a:avLst>
              <a:gd name="adj" fmla="val 15342"/>
            </a:avLst>
          </a:prstGeom>
          <a:solidFill>
            <a:schemeClr val="bg2"/>
          </a:solidFill>
          <a:ln w="12700">
            <a:solidFill>
              <a:schemeClr val="bg2"/>
            </a:solidFill>
            <a:prstDash val="solid"/>
          </a:ln>
        </p:spPr>
      </p:sp>
      <p:sp>
        <p:nvSpPr>
          <p:cNvPr id="23" name="text_3126"/>
          <p:cNvSpPr txBox="1"/>
          <p:nvPr/>
        </p:nvSpPr>
        <p:spPr>
          <a:xfrm>
            <a:off x="731520" y="4898571"/>
            <a:ext cx="731520" cy="476794"/>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3127"/>
          <p:cNvSpPr txBox="1"/>
          <p:nvPr/>
        </p:nvSpPr>
        <p:spPr>
          <a:xfrm>
            <a:off x="1463040" y="4898571"/>
            <a:ext cx="9966960" cy="476794"/>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공간 소프트맥스가 평균 풀링보다 집기에 유리한 이유는?</a:t>
            </a:r>
            <a:endParaRPr lang="ko-KR" altLang="en-US" sz="1600" dirty="0"/>
          </a:p>
        </p:txBody>
      </p:sp>
      <p:sp>
        <p:nvSpPr>
          <p:cNvPr id="25" name="box_3128"/>
          <p:cNvSpPr/>
          <p:nvPr/>
        </p:nvSpPr>
        <p:spPr>
          <a:xfrm>
            <a:off x="548640" y="5512526"/>
            <a:ext cx="11064240" cy="476794"/>
          </a:xfrm>
          <a:prstGeom prst="roundRect">
            <a:avLst>
              <a:gd name="adj" fmla="val 15342"/>
            </a:avLst>
          </a:prstGeom>
          <a:solidFill>
            <a:schemeClr val="bg2"/>
          </a:solidFill>
          <a:ln w="12700">
            <a:solidFill>
              <a:schemeClr val="bg2"/>
            </a:solidFill>
            <a:prstDash val="solid"/>
          </a:ln>
        </p:spPr>
      </p:sp>
      <p:sp>
        <p:nvSpPr>
          <p:cNvPr id="26" name="text_3129"/>
          <p:cNvSpPr txBox="1"/>
          <p:nvPr/>
        </p:nvSpPr>
        <p:spPr>
          <a:xfrm>
            <a:off x="731520" y="5512526"/>
            <a:ext cx="731520" cy="476794"/>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Q7</a:t>
            </a:r>
            <a:endParaRPr lang="ko-KR" altLang="en-US" sz="1800" dirty="0"/>
          </a:p>
        </p:txBody>
      </p:sp>
      <p:sp>
        <p:nvSpPr>
          <p:cNvPr id="27" name="text_3130"/>
          <p:cNvSpPr txBox="1"/>
          <p:nvPr/>
        </p:nvSpPr>
        <p:spPr>
          <a:xfrm>
            <a:off x="1463040" y="5512526"/>
            <a:ext cx="9966960" cy="476794"/>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공급 테이블만 학습한 정책은 검증 오차가 낮았는데 작업대에서 0/20이었다. 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171</a:t>
            </a:fld>
            <a:endParaRPr lang="ko-KR" alt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a:p>
            <a:pPr eaLnBrk="0" marL="228600" indent="-228600">
              <a:spcAft>
                <a:spcPts val="800"/>
              </a:spcAft>
              <a:buSzPct val="100000"/>
              <a:buChar char="•"/>
            </a:pPr>
            <a:r>
              <a:rPr lang="ko-KR" altLang="en-US" sz="1600" dirty="0">
                <a:solidFill>
                  <a:schemeClr val="accent5"/>
                </a:solidFill>
              </a:rPr>
              <a:t>(심화) 카메라를 보고 집는 법을 배운 VLA 정책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172</a:t>
            </a:fld>
            <a:endParaRPr lang="ko-KR" alt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31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3133"/>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3134"/>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3135"/>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3136"/>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3137"/>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3138"/>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3139"/>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3140"/>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3141"/>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3142"/>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3143"/>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3144"/>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3145"/>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3146"/>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3147"/>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3148"/>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3149"/>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3150"/>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3151"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3152"/>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3153"/>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173</a:t>
            </a:fld>
            <a:endParaRPr lang="ko-KR" alt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31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156"/>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315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158"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15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3160"/>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3161"/>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3162"/>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3163"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316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3165"/>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3166"/>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3167"/>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3168"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3169"/>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3170"/>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3171"/>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3172"/>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3173"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3174"/>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3175"/>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174</a:t>
            </a:fld>
            <a:endParaRPr lang="ko-KR" alt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31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76" name="table_317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175</a:t>
            </a:fld>
            <a:endParaRPr lang="ko-KR" alt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31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181"/>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318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3183"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18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3185"/>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3186"/>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318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188"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18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3190"/>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3191"/>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3192"/>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3193"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3194"/>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3195"/>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3196"/>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3197"/>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3198"/>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176</a:t>
            </a:fld>
            <a:endParaRPr lang="ko-KR" alt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31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78" name="table_320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177</a:t>
            </a:fld>
            <a:endParaRPr lang="ko-KR" alt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32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04"/>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05"/>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1: 시뮬레이터 + RViz</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2: 지도 만들기 / 주행</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3: MoveIt / 전체 + Pick &amp; Place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unbolt_dashboard dashboard_launcher   # 브라우저의 "연결"로 켜고 끄기</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심화 모듈 5: VLA (녹화 13분 → 학습 35분 → 평가 → 집기만 정책으로)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unbolt_vla record --episodes 600 &amp;&amp; ros2 run unbolt_vla train &amp;&amp; ros2 run unbolt_vla evaluate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planner:=true dashboard:=true pick:=vla</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178</a:t>
            </a:fld>
            <a:endParaRPr lang="ko-KR" alt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32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08"/>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09"/>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179</a:t>
            </a:fld>
            <a:endParaRPr lang="ko-KR" alt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3210"/>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3211"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180</Slides>
  <Notes>180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180</vt:i4>
      </vt:variant>
    </vt:vector>
  </HeadingPairs>
  <TitlesOfParts>
    <vt:vector size="1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2026-10-27T03:52:09Z</dcterms:created>
  <dcterms:modified xsi:type="dcterms:W3CDTF">2026-10-27T03:52:09Z</dcterms:modified>
</cp:coreProperties>
</file>