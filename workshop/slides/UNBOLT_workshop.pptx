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오리엔테이션" id="{854480bc-a2bb-6fec-7bf5-ad5d227533c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모듈 1: MuJoCo + ROS 2 브리지" id="{fc1ea698-4fa4-ad17-d980-928c2548a469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모듈 2: SLAM + Nav2" id="{7f0a7038-b034-907c-458f-d45da25c927a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모듈 3: MoveIt 2 + Pick &amp; Place" id="{e8629e9b-423d-dc17-232b-6c80aeb2b09b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모듈 4: LLM 작업 계획" id="{718565e3-c2e1-682b-8e19-3c67e5a4a17f}">
          <p14:sldIdLst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</p14:sldIdLst>
        </p14:section>
        <p14:section name="마무리" id="{f4eb2f48-f26d-e983-bf66-0a3c1813da73}">
          <p14:sldIdLst>
            <p14:sldId id="305"/>
            <p14:sldId id="306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인사와 강사 소개. 이틀 동안 노트북 한 대로 시뮬레이터 안의 주행형 양팔로봇을 처음부터 끝까지 움직여 본다는 점을 강조합니다. 실물 로봇, GPU, 가상머신은 필요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 결과물을 먼저 보여 줍니다. 대시보드에 한 문장을 입력하면 LLM이 계획을 세우고, 주행과 집기·놓기를 스스로 이어서 수행합니다. 이틀 동안 이 그림의 각 부분을 아래부터 하나씩 만듭니다.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그림이 이틀의 지도입니다. 모듈 1은 맨 아래 두 층, 시뮬레이터와 ROS를 잇는 브리지. 모듈 2와 3은 그 위의 스킬, 모듈 4가 LLM 계획기입니다. 위층은 아래층이 제대로 동작한다고 믿고 만들어집니다.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오전 2시간, 오후 4시간 구성입니다. 설치는 반드시 사전에 끝내고 오도록 공지했습니다. 1일차 08:30–09:30에는 설치를 못 끝낸 사람을 위한 헬프데스크가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모듈의 결과물을 한 문장으로 정리했습니다. 모듈마다 체크포인트가 있어서, 이 문장을 직접 해 보면 통과입니다.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것이 노트북의 WSL 안에서 돕니다. WSLg 덕분에 MuJoCo와 RViz 창이 Windows 창처럼 뜹니다. 8 GB 노트북은 .wslconfig로 WSL 메모리를 6 GB로 올려야 합니다(설치 가이드 2-4). API 키가 없어도 모듈 4는 scripted 모드로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체크포인트 카드는 조교가 강의실을 한눈에 보는 수단입니다. 늦어진 학생도 각 모듈을 독립적으로 시작할 수 있게 되어 있으니 불안해하지 않아도 된다고 말해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수업 시작 전에 모두 이 명령을 실행하게 합니다. API 키 없음 경고는 정상입니다. 실패가 있는 학생은 조교가 바로 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모듈 1의 목표 네 가지입니다. 시뮬레이터와 ROS 사이에 무엇이 오가야 하는지를 직접 만든 브리지 코드로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집기처럼 손가락과 물체가 닿는 일이 중요하면 MuJoCo가 유리합니다. 대신 ROS 쪽 연결을 우리가 씁니다. 이것이 이 강습회가 MuJoCo를 고른 이유이자 모듈 1의 학습 포인트입니다.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mujoco_bridge_node.py의 run() 루프입니다. 명령을 반영하고, 실제 시간만큼 물리 스텝을 밟고, 주기가 된 토픽만 냅니다. 노트북이 느리면 한 사이클에 50 ms까지만 따라잡고 경고를 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규칙 중 첫 번째가 가장 중요합니다. use_sim_time을 빠뜨리면 TF가 "미래/과거 시간"이라며 거부하는 오류가 납니다. 그래서 이 강습회의 모든 ros2 run에 --ros-args -p use_sim_time:=true를 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로봇이 두 파일에 있습니다. RViz의 팔과 MuJoCo의 팔이 똑같이 움직이면 두 모델이 일치하는 것이고, 2단계 개발 때 FK 비교 스크립트로 정확히 일치함을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모델 파일 읽기 실습(실습 2)에서 함께 짚는 함정입니다. 시뮬레이션에서 "제어가 안 된다"는 증상은 물리 모델이 원인인 경우가 많다는 교훈입니다.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1~4를 한 장에 모았습니다. 체크포인트 1-2와 1-3을 확인시키고, frames PDF에서 odom→base_footprint는 브리지가, 나머지 링크는 robot_state_publisher가 낸다는 점을 짚어 주세요. map 프레임은 아직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_publish_scan()입니다. 실제 LiDAR는 한 바퀴 도는 동안 시간이 흐르지만 여기서는 한순간에 쏩니다(time_increment = 0). 키보드로 벽에 다가가며 정면 빔 값이 줄어드는지 확인시킵니다.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_update_odometry()입니다. 중간 방향으로 적분하면 원호 적분과 같아 정확도가 올라갑니다. 학생이 적은 오차 값은 모듈 2 도입에서 다시 꺼냅니다.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기본 과제 A의 my_scene.xml은 모듈 2 실습 6(지도에 없는 장애물)에서도 씁니다. group="3"을 주면 LiDAR에 안 보이는 이유도 질문해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점심 직후 모듈입니다. 오전에 잰 오도메트리 오차를 상기시키고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REP-105 좌표계 규칙입니다. 실습 2에서 tf2_echo map odom으로 이 값이 조금씩 바뀌는 것을 직접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 그림은 SLAM 지도와 실제 월드 벽을 겹친 것입니다. 해상도 0.05 m. 천천히 다녀야 스캔 매칭이 실패하지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Nav2는 서버 여러 개를 행동 트리가 지휘합니다. 막히면 회전, 후진, 대기 같은 복구 동작을 합니다. 실습 6에서 로그로 이것을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Humble 공식 nav2_params.yaml에서 출발해 바꾼 점만 정리했습니다. 실습 5에서 이 중 inflation과 속도를 바꿔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칸막이 문(y −0.4~0.8 m)을 지나 서쪽 방까지 다녀오게 합니다. explore_waypoints.py는 실제 위치로 정해진 경로를 도는 지도 작성 도우미이지 Nav2가 아니라는 점을 강조하세요.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체크포인트 2-3은 동쪽 방, 서쪽 방 목표 연속 도착. 이어서 nav_goal_test.py로 목표 3개의 실제 위치 오차를 표에 적게 합니다(체크포인트 2-4: 15 cm 이내).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A와 B는 global, local 두 costmap 모두 바꿔야 합니다. 일부 파라미터는 ros2 param set으로 실행 중에도 바뀝니다. 기본 과제는 이 중 두 개의 결과 제출입니다.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상자 위치는 (2.0, −1.0). 원래 경로가 정확히 그 자리를 지나기 때문에 우회가 분명하게 보입니다. 옛 지도(상자 없음)를 쓰는 것이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코드는 02_slam_nav2.md 실습 7에 있습니다. 강사 노트북에서 네 곳 모두 도착(약 11, 11, 30, 14초)을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1일차 마무리입니다. 아침에 만든 브리지 위에 SLAM과 Nav2가 올라가 한 줄로 이어졌다는 것을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2일차 시작. 어제 만든 주행 위에 팔을 얹습니다.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브리지의 trajectory_server.py가 궤적을 시간에 맞춰 보간해서 액추에이터 목표로 넣습니다. gravcomp는 컴파일된 모델을 고치면 효과가 없어서 MjSpec 단계에서 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Humble의 collisions_updater가 이 로봇에서 멈춰서 MuJoCo로 자기충돌 행렬을 계산했습니다. 개발 중에 겪은 실제 문제라 학생들에게 좋은 이야깃거리입니다.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skills.py의 상수(GRASP_PITCH, GRASP_HEIGHT, GRASP_XY)와 lower_until_contact가 이 네 문제에 대한 답입니다. 기본 과제 B에서 이 값을 바꿔 무엇이 실패하는지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ros2 launch unbolt_moveit_config moveit.launch.py. MuJoCo 뷰어의 팔이 RViz 계획과 똑같이 움직이는지 보게 합니다(체크포인트 3-1, 3-2).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arm_play.py(03 교재 실습 3)의 핵심 부분입니다. z를 0.70, 0.60으로 낮춰 보고 어디서부터 실패하는지, 이유가 도달 범위인지 섀시 충돌인지 토론합니다.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aruco_detector.py입니다. 로봇을 공급 테이블 쪽으로 돌려야 마커가 보입니다. 체크포인트 3-4는 tf2_echo로 상자까지 거리 읽기.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pick_place_demo.py는 스킬을 and로 잇습니다. 하나라도 실패하면 거기서 멈춥니다. 마지막 로그의 "N cm from the pad centre"를 적게 하세요(체크포인트 3-5: 3 cm 이내). 새로 설치한 환경에서 0.8 cm로 성공했습니다. 줄 끝은 다음 줄 처음으로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skills.py의 pick()을 위에서 아래로 읽은 것입니다. 실패하면 그리퍼를 열고, 접힌 자세에서는 다시 닫아 카메라 시야를 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도전 과제는 포스터의 "planning scene attach/detach" 항목에 해당합니다. 지금 코드는 상판만 planning scene에 넣습니다.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모듈. API 키가 없는 학생은 llm:=scripted로 따라옵니다.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LLM은 좌표, 관절각, 팔 선택을 모릅니다. 장소와 물체 이름만 고르고 구체적인 값은 작업 관리자와 스킬이 정합니다. 그래서 LLM이 엉뚱한 숫자로 로봇을 위험하게 움직일 수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task_planner_core.py의 TaskPlanner.run을 줄인 것입니다. 실제 코드에는 취소 확인, 거절(refusal) 처리, 토큰 집계가 더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포스터의 "schema vs world validation"입니다. 스키마는 생성 자체를 제약하고, 월드 검증은 실행 직전에 상태를 봅니다. 정리 질문: 스키마로는 못 막고 월드 검증으로만 막을 수 있는 예를 두 개 들어 보자.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포스터의 clarification, interrupt, failure recovery 세 가지입니다. 팔 동작을 끝까지 하는 이유: 중간에 멈추면 팔이 테이블 위 애매한 자세로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scripted는 키워드로 정해진 순서를 재생하는 시험용 대역이라 계획은 하지 않습니다. 실제 Claude는 같은 명령도 매번 계획이 조금 다를 수 있습니다. 리허설 때 최종 미션 명령의 실제 비용을 재서 여기서 말해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외부 라이브러리 없이 rosbridge 프로토콜을 직접 구현한 페이지입니다. F12 → Network → WS에서 오가는 JSON을 직접 보게 하세요. WSL이 localhost를 Windows로 전달해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도전 2는 strict 스키마가 숫자 범위를 강제하지 않는다는 점이 함정입니다. 범위는 월드 검증에서 막아야 합니다. 도전 3은 cache_read_input_tokens로 캐시 여부를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 명령창에 한 문장. 강사 시연 기준 약 80초가 걸립니다. 그동안 타임라인을 짚으며 지금 Claude가 무엇을 골랐는지 설명하세요.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시간이 남는 조를 위한 확장입니다. 복구 미션은 "하던 일"이 무엇인지 모델이 모른다는 점(대화가 새로 시작됨)을 깨닫게 하는 것이 목적입니다.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처음의 전체 구조 그림으로 돌아갑니다. 브리지가 실제 로봇 드라이버와 같은 토픽을 내도록 만들었기 때문에, 실제 로봇에서는 위 세 층을 거의 그대로 쓸 수 있다는 점을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수료 기준과 제출 방법을 안내합니다. 설문(모듈별 난이도, 설치 가이드의 막힌 지점, 시간 배분)도 이때 받습니다.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질의응답. 실제 로봇으로 옮길 때 무엇이 달라지는지(센서 노이즈, 지연, 안전) 토론으로 마무리하면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78638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4000" b="1" dirty="0">
                <a:solidFill>
                  <a:schemeClr val="bg1"/>
                </a:solidFill>
              </a:defRPr>
            </a:lvl1pPr>
          </a:lstStyle>
          <a:p>
            <a:pPr eaLnBrk="0" algn="l" indent="0" marL="0">
              <a:buNone/>
            </a:pPr>
            <a:endParaRPr lang="ko-KR" alt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ko-KR" altLang="en-US" sz="2000" dirty="0">
                <a:solidFill>
                  <a:schemeClr val="accent5"/>
                </a:solidFill>
              </a:defRPr>
            </a:lvl1pPr>
          </a:lstStyle>
          <a:p>
            <a:pPr eaLnBrk="0" indent="0" marL="0">
              <a:buNone/>
            </a:pPr>
            <a:endParaRPr lang="ko-KR" alt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ko-KR" altLang="en-US" sz="2000" b="1" dirty="0">
                <a:solidFill>
                  <a:schemeClr val="accent1"/>
                </a:solidFill>
              </a:defRPr>
            </a:lvl1pPr>
          </a:lstStyle>
          <a:p>
            <a:pPr eaLnBrk="0" indent="0" marL="0">
              <a:buNone/>
            </a:pPr>
            <a:endParaRPr lang="ko-KR" alt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3152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4000" b="1" dirty="0">
                <a:solidFill>
                  <a:schemeClr val="bg1"/>
                </a:solidFill>
              </a:defRPr>
            </a:lvl1pPr>
          </a:lstStyle>
          <a:p>
            <a:pPr eaLnBrk="0" algn="l" indent="0" marL="0">
              <a:buNone/>
            </a:pPr>
            <a:endParaRPr lang="ko-KR" alt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57600"/>
            <a:ext cx="731520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ko-KR" altLang="en-US" sz="1600" dirty="0">
                <a:solidFill>
                  <a:schemeClr val="accent5"/>
                </a:solidFill>
              </a:defRPr>
            </a:lvl1pPr>
          </a:lstStyle>
          <a:p>
            <a:pPr eaLnBrk="0" indent="0" marL="0">
              <a:buNone/>
            </a:pPr>
            <a:endParaRPr lang="ko-KR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1003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3200" b="1" dirty="0">
                <a:solidFill>
                  <a:schemeClr val="tx1"/>
                </a:solidFill>
              </a:defRPr>
            </a:lvl1pPr>
          </a:lstStyle>
          <a:p>
            <a:pPr eaLnBrk="0" algn="l" indent="0" marL="0">
              <a:buNone/>
            </a:pPr>
            <a:endParaRPr lang="ko-KR" alt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altLang="en-US" sz="1000" dirty="0">
                <a:solidFill>
                  <a:schemeClr val="tx2"/>
                </a:solidFill>
              </a:rPr>
              <a:t>UNBOLT 강습회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1004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null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chemeClr val="bg1"/>
                </a:solidFill>
              </a:rPr>
              <a:t>ROS 2 + MuJoCo로 만드는</a:t>
            </a:r>
            <a:endParaRPr lang="ko-KR" altLang="en-US" sz="4000" dirty="0"/>
          </a:p>
          <a:p>
            <a:pPr eaLnBrk="0" algn="l" indent="0" marL="0">
              <a:buNone/>
            </a:pPr>
            <a:r>
              <a:rPr lang="ko-KR" altLang="en-US" sz="4000" b="1" dirty="0">
                <a:solidFill>
                  <a:schemeClr val="bg1"/>
                </a:solidFill>
              </a:rPr>
              <a:t>주행형 양팔로봇</a:t>
            </a:r>
            <a:endParaRPr lang="ko-KR" alt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000" dirty="0">
                <a:solidFill>
                  <a:schemeClr val="accent5"/>
                </a:solidFill>
              </a:rPr>
              <a:t>시뮬레이션 모델링부터 SLAM·Nav2, MoveIt, LLM 작업 계획까지</a:t>
            </a:r>
            <a:endParaRPr lang="ko-KR" altLang="en-US" sz="2000" dirty="0"/>
          </a:p>
          <a:p>
            <a:pPr eaLnBrk="0" indent="0" marL="0">
              <a:buNone/>
            </a:pPr>
            <a:r>
              <a:rPr lang="ko-KR" altLang="en-US" sz="2000" dirty="0">
                <a:solidFill>
                  <a:schemeClr val="accent5"/>
                </a:solidFill>
              </a:rPr>
              <a:t>2일 실습 강습회</a:t>
            </a:r>
            <a:endParaRPr lang="ko-KR" altLang="en-US" sz="2000" dirty="0"/>
          </a:p>
        </p:txBody>
      </p:sp>
      <p:sp>
        <p:nvSpPr>
          <p:cNvPr id="4" name="iconbg_1"/>
          <p:cNvSpPr/>
          <p:nvPr/>
        </p:nvSpPr>
        <p:spPr>
          <a:xfrm>
            <a:off x="9052560" y="2011680"/>
            <a:ext cx="2377440" cy="23774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_2" descr="Robot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75597" y="2534717"/>
            <a:ext cx="1331366" cy="13313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목표: 한 문장으로 로봇을 움직인다</a:t>
            </a:r>
            <a:endParaRPr lang="ko-KR" altLang="en-US" sz="3200" dirty="0"/>
          </a:p>
        </p:txBody>
      </p:sp>
      <p:sp>
        <p:nvSpPr>
          <p:cNvPr id="3" name="box_3"/>
          <p:cNvSpPr/>
          <p:nvPr/>
        </p:nvSpPr>
        <p:spPr>
          <a:xfrm>
            <a:off x="548640" y="1371600"/>
            <a:ext cx="5669280" cy="14630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_4"/>
          <p:cNvSpPr txBox="1"/>
          <p:nvPr/>
        </p:nvSpPr>
        <p:spPr>
          <a:xfrm>
            <a:off x="822960" y="1508760"/>
            <a:ext cx="52120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2200" b="1" dirty="0">
                <a:solidFill>
                  <a:schemeClr val="bg1"/>
                </a:solidFill>
              </a:rPr>
              <a:t>"공급 테이블로 가서 빨간 상자를 집고</a:t>
            </a:r>
            <a:endParaRPr lang="ko-KR" altLang="en-US" sz="2200" dirty="0"/>
          </a:p>
          <a:p>
            <a:pPr eaLnBrk="0" indent="0" marL="0">
              <a:buNone/>
            </a:pPr>
            <a:r>
              <a:rPr lang="ko-KR" altLang="en-US" sz="2200" b="1" dirty="0">
                <a:solidFill>
                  <a:schemeClr val="bg1"/>
                </a:solidFill>
              </a:rPr>
              <a:t>작업대로 옮겨"</a:t>
            </a:r>
            <a:endParaRPr lang="ko-KR" altLang="en-US" sz="2200" dirty="0"/>
          </a:p>
        </p:txBody>
      </p:sp>
      <p:sp>
        <p:nvSpPr>
          <p:cNvPr id="5" name="iconbg_5"/>
          <p:cNvSpPr/>
          <p:nvPr/>
        </p:nvSpPr>
        <p:spPr>
          <a:xfrm>
            <a:off x="548640" y="31546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_6" descr="Comments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9458" y="3295498"/>
            <a:ext cx="358445" cy="358445"/>
          </a:xfrm>
          <a:prstGeom prst="rect">
            <a:avLst/>
          </a:prstGeom>
        </p:spPr>
      </p:pic>
      <p:sp>
        <p:nvSpPr>
          <p:cNvPr id="7" name="text_7"/>
          <p:cNvSpPr txBox="1"/>
          <p:nvPr/>
        </p:nvSpPr>
        <p:spPr>
          <a:xfrm>
            <a:off x="1371600" y="3108960"/>
            <a:ext cx="47548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LLM이 계획</a:t>
            </a:r>
            <a:endParaRPr lang="ko-KR" altLang="en-US" sz="1800" dirty="0"/>
          </a:p>
        </p:txBody>
      </p:sp>
      <p:sp>
        <p:nvSpPr>
          <p:cNvPr id="8" name="text_8"/>
          <p:cNvSpPr txBox="1"/>
          <p:nvPr/>
        </p:nvSpPr>
        <p:spPr>
          <a:xfrm>
            <a:off x="1371600" y="3474720"/>
            <a:ext cx="47548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명령을 이해하고 스킬 호출 순서를 정한다</a:t>
            </a:r>
            <a:endParaRPr lang="ko-KR" altLang="en-US" sz="1500" dirty="0"/>
          </a:p>
        </p:txBody>
      </p:sp>
      <p:sp>
        <p:nvSpPr>
          <p:cNvPr id="9" name="iconbg_9"/>
          <p:cNvSpPr/>
          <p:nvPr/>
        </p:nvSpPr>
        <p:spPr>
          <a:xfrm>
            <a:off x="548640" y="4142232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con_10" descr="Route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58" y="4283050"/>
            <a:ext cx="358445" cy="358445"/>
          </a:xfrm>
          <a:prstGeom prst="rect">
            <a:avLst/>
          </a:prstGeom>
        </p:spPr>
      </p:pic>
      <p:sp>
        <p:nvSpPr>
          <p:cNvPr id="11" name="text_11"/>
          <p:cNvSpPr txBox="1"/>
          <p:nvPr/>
        </p:nvSpPr>
        <p:spPr>
          <a:xfrm>
            <a:off x="1371600" y="4096512"/>
            <a:ext cx="47548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Nav2가 주행</a:t>
            </a:r>
            <a:endParaRPr lang="ko-KR" altLang="en-US" sz="1800" dirty="0"/>
          </a:p>
        </p:txBody>
      </p:sp>
      <p:sp>
        <p:nvSpPr>
          <p:cNvPr id="12" name="text_12"/>
          <p:cNvSpPr txBox="1"/>
          <p:nvPr/>
        </p:nvSpPr>
        <p:spPr>
          <a:xfrm>
            <a:off x="1371600" y="4462272"/>
            <a:ext cx="47548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지도 위에서 테이블 앞까지 간다</a:t>
            </a:r>
            <a:endParaRPr lang="ko-KR" altLang="en-US" sz="1500" dirty="0"/>
          </a:p>
        </p:txBody>
      </p:sp>
      <p:sp>
        <p:nvSpPr>
          <p:cNvPr id="13" name="iconbg_13"/>
          <p:cNvSpPr/>
          <p:nvPr/>
        </p:nvSpPr>
        <p:spPr>
          <a:xfrm>
            <a:off x="548640" y="5129784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4" name="icon_14" descr="HandPaper 아이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58" y="5270602"/>
            <a:ext cx="358445" cy="358445"/>
          </a:xfrm>
          <a:prstGeom prst="rect">
            <a:avLst/>
          </a:prstGeom>
        </p:spPr>
      </p:pic>
      <p:sp>
        <p:nvSpPr>
          <p:cNvPr id="15" name="text_15"/>
          <p:cNvSpPr txBox="1"/>
          <p:nvPr/>
        </p:nvSpPr>
        <p:spPr>
          <a:xfrm>
            <a:off x="1371600" y="5084064"/>
            <a:ext cx="47548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MoveIt이 조작</a:t>
            </a:r>
            <a:endParaRPr lang="ko-KR" altLang="en-US" sz="1800" dirty="0"/>
          </a:p>
        </p:txBody>
      </p:sp>
      <p:sp>
        <p:nvSpPr>
          <p:cNvPr id="16" name="text_16"/>
          <p:cNvSpPr txBox="1"/>
          <p:nvPr/>
        </p:nvSpPr>
        <p:spPr>
          <a:xfrm>
            <a:off x="137160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카메라로 상자를 찾아 집고 놓는다</a:t>
            </a:r>
            <a:endParaRPr lang="ko-KR" altLang="en-US" sz="1500" dirty="0"/>
          </a:p>
        </p:txBody>
      </p:sp>
      <p:pic>
        <p:nvPicPr>
          <p:cNvPr id="17" name="img_17" descr="최종 결과 웹 대시보드: 지도, 카메라, 명령창, 작업 진행 타임라인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834801"/>
            <a:ext cx="5029200" cy="382847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</a:t>
            </a:fld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전체 구조: 아래에서 위로 쌓는다</a:t>
            </a:r>
            <a:endParaRPr lang="ko-KR" altLang="en-US" sz="3200" dirty="0"/>
          </a:p>
        </p:txBody>
      </p:sp>
      <p:sp>
        <p:nvSpPr>
          <p:cNvPr id="3" name="box_18"/>
          <p:cNvSpPr/>
          <p:nvPr/>
        </p:nvSpPr>
        <p:spPr>
          <a:xfrm>
            <a:off x="548640" y="1325880"/>
            <a:ext cx="9144000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text_19"/>
          <p:cNvSpPr txBox="1"/>
          <p:nvPr/>
        </p:nvSpPr>
        <p:spPr>
          <a:xfrm>
            <a:off x="777240" y="1325880"/>
            <a:ext cx="30175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자연어 명령</a:t>
            </a:r>
            <a:endParaRPr lang="ko-KR" altLang="en-US" sz="1800" dirty="0"/>
          </a:p>
        </p:txBody>
      </p:sp>
      <p:sp>
        <p:nvSpPr>
          <p:cNvPr id="5" name="text_20"/>
          <p:cNvSpPr txBox="1"/>
          <p:nvPr/>
        </p:nvSpPr>
        <p:spPr>
          <a:xfrm>
            <a:off x="3840480" y="1325880"/>
            <a:ext cx="5760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사람 → 웹 대시보드 / CLI</a:t>
            </a:r>
            <a:endParaRPr lang="ko-KR" altLang="en-US" sz="1500" dirty="0"/>
          </a:p>
        </p:txBody>
      </p:sp>
      <p:sp>
        <p:nvSpPr>
          <p:cNvPr id="6" name="arrow_21"/>
          <p:cNvSpPr/>
          <p:nvPr/>
        </p:nvSpPr>
        <p:spPr>
          <a:xfrm>
            <a:off x="5120640" y="2057400"/>
            <a:ext cx="0" cy="246888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box_22"/>
          <p:cNvSpPr/>
          <p:nvPr/>
        </p:nvSpPr>
        <p:spPr>
          <a:xfrm>
            <a:off x="548640" y="2304288"/>
            <a:ext cx="914400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_23"/>
          <p:cNvSpPr txBox="1"/>
          <p:nvPr/>
        </p:nvSpPr>
        <p:spPr>
          <a:xfrm>
            <a:off x="777240" y="2304288"/>
            <a:ext cx="30175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bg1"/>
                </a:solidFill>
              </a:rPr>
              <a:t>LLM 작업 계획</a:t>
            </a:r>
            <a:endParaRPr lang="ko-KR" altLang="en-US" sz="1800" dirty="0"/>
          </a:p>
        </p:txBody>
      </p:sp>
      <p:sp>
        <p:nvSpPr>
          <p:cNvPr id="9" name="text_24"/>
          <p:cNvSpPr txBox="1"/>
          <p:nvPr/>
        </p:nvSpPr>
        <p:spPr>
          <a:xfrm>
            <a:off x="3840480" y="2304288"/>
            <a:ext cx="5760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bg1"/>
                </a:solidFill>
              </a:rPr>
              <a:t>Claude 도구 호출: navigate_to · pick_object · place_object</a:t>
            </a:r>
            <a:endParaRPr lang="ko-KR" altLang="en-US" sz="1500" dirty="0"/>
          </a:p>
        </p:txBody>
      </p:sp>
      <p:sp>
        <p:nvSpPr>
          <p:cNvPr id="10" name="pill_25"/>
          <p:cNvSpPr/>
          <p:nvPr/>
        </p:nvSpPr>
        <p:spPr>
          <a:xfrm>
            <a:off x="9966960" y="2505456"/>
            <a:ext cx="1645920" cy="32918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_26"/>
          <p:cNvSpPr txBox="1"/>
          <p:nvPr/>
        </p:nvSpPr>
        <p:spPr>
          <a:xfrm>
            <a:off x="9966960" y="250545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chemeClr val="tx1"/>
                </a:solidFill>
              </a:rPr>
              <a:t>모듈 4</a:t>
            </a:r>
            <a:endParaRPr lang="ko-KR" altLang="en-US" sz="1300" dirty="0"/>
          </a:p>
        </p:txBody>
      </p:sp>
      <p:sp>
        <p:nvSpPr>
          <p:cNvPr id="12" name="arrow_27"/>
          <p:cNvSpPr/>
          <p:nvPr/>
        </p:nvSpPr>
        <p:spPr>
          <a:xfrm>
            <a:off x="5120640" y="3035808"/>
            <a:ext cx="0" cy="246888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box_28"/>
          <p:cNvSpPr/>
          <p:nvPr/>
        </p:nvSpPr>
        <p:spPr>
          <a:xfrm>
            <a:off x="548640" y="3282696"/>
            <a:ext cx="914400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_29"/>
          <p:cNvSpPr txBox="1"/>
          <p:nvPr/>
        </p:nvSpPr>
        <p:spPr>
          <a:xfrm>
            <a:off x="777240" y="3282696"/>
            <a:ext cx="30175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bg1"/>
                </a:solidFill>
              </a:rPr>
              <a:t>로봇 스킬</a:t>
            </a:r>
            <a:endParaRPr lang="ko-KR" altLang="en-US" sz="1800" dirty="0"/>
          </a:p>
        </p:txBody>
      </p:sp>
      <p:sp>
        <p:nvSpPr>
          <p:cNvPr id="15" name="text_30"/>
          <p:cNvSpPr txBox="1"/>
          <p:nvPr/>
        </p:nvSpPr>
        <p:spPr>
          <a:xfrm>
            <a:off x="3840480" y="3282696"/>
            <a:ext cx="5760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bg1"/>
                </a:solidFill>
              </a:rPr>
              <a:t>Nav2 주행 · ArUco 정밀 접근 · MoveIt 2 양팔</a:t>
            </a:r>
            <a:endParaRPr lang="ko-KR" altLang="en-US" sz="1500" dirty="0"/>
          </a:p>
        </p:txBody>
      </p:sp>
      <p:sp>
        <p:nvSpPr>
          <p:cNvPr id="16" name="pill_31"/>
          <p:cNvSpPr/>
          <p:nvPr/>
        </p:nvSpPr>
        <p:spPr>
          <a:xfrm>
            <a:off x="9966960" y="3483864"/>
            <a:ext cx="1645920" cy="32918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_32"/>
          <p:cNvSpPr txBox="1"/>
          <p:nvPr/>
        </p:nvSpPr>
        <p:spPr>
          <a:xfrm>
            <a:off x="9966960" y="348386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chemeClr val="tx1"/>
                </a:solidFill>
              </a:rPr>
              <a:t>모듈 2 · 3</a:t>
            </a:r>
            <a:endParaRPr lang="ko-KR" altLang="en-US" sz="1300" dirty="0"/>
          </a:p>
        </p:txBody>
      </p:sp>
      <p:sp>
        <p:nvSpPr>
          <p:cNvPr id="18" name="arrow_33"/>
          <p:cNvSpPr/>
          <p:nvPr/>
        </p:nvSpPr>
        <p:spPr>
          <a:xfrm>
            <a:off x="5120640" y="4014216"/>
            <a:ext cx="0" cy="246888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box_34"/>
          <p:cNvSpPr/>
          <p:nvPr/>
        </p:nvSpPr>
        <p:spPr>
          <a:xfrm>
            <a:off x="548640" y="4261104"/>
            <a:ext cx="914400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_35"/>
          <p:cNvSpPr txBox="1"/>
          <p:nvPr/>
        </p:nvSpPr>
        <p:spPr>
          <a:xfrm>
            <a:off x="777240" y="4261104"/>
            <a:ext cx="30175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bg1"/>
                </a:solidFill>
              </a:rPr>
              <a:t>MuJoCo ↔ ROS 2 브리지</a:t>
            </a:r>
            <a:endParaRPr lang="ko-KR" altLang="en-US" sz="1800" dirty="0"/>
          </a:p>
        </p:txBody>
      </p:sp>
      <p:sp>
        <p:nvSpPr>
          <p:cNvPr id="21" name="text_36"/>
          <p:cNvSpPr txBox="1"/>
          <p:nvPr/>
        </p:nvSpPr>
        <p:spPr>
          <a:xfrm>
            <a:off x="3840480" y="4261104"/>
            <a:ext cx="5760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bg1"/>
                </a:solidFill>
              </a:rPr>
              <a:t>/clock · /joint_states · /odom · /scan · /tf · /camera</a:t>
            </a:r>
            <a:endParaRPr lang="ko-KR" altLang="en-US" sz="1500" dirty="0"/>
          </a:p>
        </p:txBody>
      </p:sp>
      <p:sp>
        <p:nvSpPr>
          <p:cNvPr id="22" name="pill_37"/>
          <p:cNvSpPr/>
          <p:nvPr/>
        </p:nvSpPr>
        <p:spPr>
          <a:xfrm>
            <a:off x="9966960" y="4462272"/>
            <a:ext cx="1645920" cy="32918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_38"/>
          <p:cNvSpPr txBox="1"/>
          <p:nvPr/>
        </p:nvSpPr>
        <p:spPr>
          <a:xfrm>
            <a:off x="9966960" y="446227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chemeClr val="tx1"/>
                </a:solidFill>
              </a:rPr>
              <a:t>모듈 1</a:t>
            </a:r>
            <a:endParaRPr lang="ko-KR" altLang="en-US" sz="1300" dirty="0"/>
          </a:p>
        </p:txBody>
      </p:sp>
      <p:sp>
        <p:nvSpPr>
          <p:cNvPr id="24" name="arrow_39"/>
          <p:cNvSpPr/>
          <p:nvPr/>
        </p:nvSpPr>
        <p:spPr>
          <a:xfrm>
            <a:off x="5120640" y="4992624"/>
            <a:ext cx="0" cy="246888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box_40"/>
          <p:cNvSpPr/>
          <p:nvPr/>
        </p:nvSpPr>
        <p:spPr>
          <a:xfrm>
            <a:off x="548640" y="5239512"/>
            <a:ext cx="9144000" cy="7315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6" name="text_41"/>
          <p:cNvSpPr txBox="1"/>
          <p:nvPr/>
        </p:nvSpPr>
        <p:spPr>
          <a:xfrm>
            <a:off x="777240" y="5239512"/>
            <a:ext cx="30175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bg1"/>
                </a:solidFill>
              </a:rPr>
              <a:t>MuJoCo 물리 엔진</a:t>
            </a:r>
            <a:endParaRPr lang="ko-KR" altLang="en-US" sz="1800" dirty="0"/>
          </a:p>
        </p:txBody>
      </p:sp>
      <p:sp>
        <p:nvSpPr>
          <p:cNvPr id="27" name="text_42"/>
          <p:cNvSpPr txBox="1"/>
          <p:nvPr/>
        </p:nvSpPr>
        <p:spPr>
          <a:xfrm>
            <a:off x="3840480" y="5239512"/>
            <a:ext cx="5760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bg1"/>
                </a:solidFill>
              </a:rPr>
              <a:t>접촉 · 마찰 · 액추에이터 · 렌더링</a:t>
            </a:r>
            <a:endParaRPr lang="ko-KR" altLang="en-US" sz="1500" dirty="0"/>
          </a:p>
        </p:txBody>
      </p:sp>
      <p:sp>
        <p:nvSpPr>
          <p:cNvPr id="28" name="pill_43"/>
          <p:cNvSpPr/>
          <p:nvPr/>
        </p:nvSpPr>
        <p:spPr>
          <a:xfrm>
            <a:off x="9966960" y="5440680"/>
            <a:ext cx="1645920" cy="32918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_44"/>
          <p:cNvSpPr txBox="1"/>
          <p:nvPr/>
        </p:nvSpPr>
        <p:spPr>
          <a:xfrm>
            <a:off x="9966960" y="54406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chemeClr val="tx1"/>
                </a:solidFill>
              </a:rPr>
              <a:t>모듈 1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3</a:t>
            </a:fld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2일 일정</a:t>
            </a:r>
            <a:endParaRPr lang="ko-KR" altLang="en-US" sz="3200" dirty="0"/>
          </a:p>
        </p:txBody>
      </p:sp>
      <p:sp>
        <p:nvSpPr>
          <p:cNvPr id="3" name="pill_45"/>
          <p:cNvSpPr/>
          <p:nvPr/>
        </p:nvSpPr>
        <p:spPr>
          <a:xfrm>
            <a:off x="548640" y="1325880"/>
            <a:ext cx="475488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_46"/>
          <p:cNvSpPr txBox="1"/>
          <p:nvPr/>
        </p:nvSpPr>
        <p:spPr>
          <a:xfrm>
            <a:off x="548640" y="132588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chemeClr val="bg1"/>
                </a:solidFill>
              </a:rPr>
              <a:t>사전: 집에서 설치 1~2시간 (00_install.md)</a:t>
            </a:r>
            <a:endParaRPr lang="ko-KR" altLang="en-US" sz="1300" dirty="0"/>
          </a:p>
        </p:txBody>
      </p:sp>
      <p:sp>
        <p:nvSpPr>
          <p:cNvPr id="5" name="box_47"/>
          <p:cNvSpPr/>
          <p:nvPr/>
        </p:nvSpPr>
        <p:spPr>
          <a:xfrm>
            <a:off x="548640" y="1920240"/>
            <a:ext cx="2606040" cy="41148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_48"/>
          <p:cNvSpPr txBox="1"/>
          <p:nvPr/>
        </p:nvSpPr>
        <p:spPr>
          <a:xfrm>
            <a:off x="77724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b="1" dirty="0">
                <a:solidFill>
                  <a:schemeClr val="tx2"/>
                </a:solidFill>
              </a:rPr>
              <a:t>1일차 오전</a:t>
            </a:r>
            <a:endParaRPr lang="ko-KR" altLang="en-US" sz="1500" dirty="0"/>
          </a:p>
        </p:txBody>
      </p:sp>
      <p:sp>
        <p:nvSpPr>
          <p:cNvPr id="7" name="text_49"/>
          <p:cNvSpPr txBox="1"/>
          <p:nvPr/>
        </p:nvSpPr>
        <p:spPr>
          <a:xfrm>
            <a:off x="7772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09:30–11:30</a:t>
            </a:r>
            <a:endParaRPr lang="ko-KR" altLang="en-US" sz="1500" dirty="0"/>
          </a:p>
        </p:txBody>
      </p:sp>
      <p:sp>
        <p:nvSpPr>
          <p:cNvPr id="8" name="pill_50"/>
          <p:cNvSpPr/>
          <p:nvPr/>
        </p:nvSpPr>
        <p:spPr>
          <a:xfrm>
            <a:off x="777240" y="3017520"/>
            <a:ext cx="109728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_51"/>
          <p:cNvSpPr txBox="1"/>
          <p:nvPr/>
        </p:nvSpPr>
        <p:spPr>
          <a:xfrm>
            <a:off x="777240" y="301752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chemeClr val="bg1"/>
                </a:solidFill>
              </a:rPr>
              <a:t>모듈 1</a:t>
            </a:r>
            <a:endParaRPr lang="ko-KR" altLang="en-US" sz="1300" dirty="0"/>
          </a:p>
        </p:txBody>
      </p:sp>
      <p:sp>
        <p:nvSpPr>
          <p:cNvPr id="10" name="text_52"/>
          <p:cNvSpPr txBox="1"/>
          <p:nvPr/>
        </p:nvSpPr>
        <p:spPr>
          <a:xfrm>
            <a:off x="77724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MuJoCo + ROS 2</a:t>
            </a:r>
            <a:endParaRPr lang="ko-KR" altLang="en-US" sz="1800" dirty="0"/>
          </a:p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브리지</a:t>
            </a:r>
            <a:endParaRPr lang="ko-KR" altLang="en-US" sz="1800" dirty="0"/>
          </a:p>
        </p:txBody>
      </p:sp>
      <p:sp>
        <p:nvSpPr>
          <p:cNvPr id="11" name="text_53"/>
          <p:cNvSpPr txBox="1"/>
          <p:nvPr/>
        </p:nvSpPr>
        <p:spPr>
          <a:xfrm>
            <a:off x="777240" y="4526280"/>
            <a:ext cx="21945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MJCF·URDF, TF</a:t>
            </a:r>
            <a:endParaRPr lang="ko-KR" altLang="en-US" sz="1500" dirty="0"/>
          </a:p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LiDAR, 오도메트리</a:t>
            </a:r>
            <a:endParaRPr lang="ko-KR" altLang="en-US" sz="1500" dirty="0"/>
          </a:p>
        </p:txBody>
      </p:sp>
      <p:sp>
        <p:nvSpPr>
          <p:cNvPr id="12" name="box_54"/>
          <p:cNvSpPr/>
          <p:nvPr/>
        </p:nvSpPr>
        <p:spPr>
          <a:xfrm>
            <a:off x="3364992" y="1920240"/>
            <a:ext cx="2606040" cy="41148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_55"/>
          <p:cNvSpPr txBox="1"/>
          <p:nvPr/>
        </p:nvSpPr>
        <p:spPr>
          <a:xfrm>
            <a:off x="3593592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b="1" dirty="0">
                <a:solidFill>
                  <a:schemeClr val="tx2"/>
                </a:solidFill>
              </a:rPr>
              <a:t>1일차 오후</a:t>
            </a:r>
            <a:endParaRPr lang="ko-KR" altLang="en-US" sz="1500" dirty="0"/>
          </a:p>
        </p:txBody>
      </p:sp>
      <p:sp>
        <p:nvSpPr>
          <p:cNvPr id="14" name="text_56"/>
          <p:cNvSpPr txBox="1"/>
          <p:nvPr/>
        </p:nvSpPr>
        <p:spPr>
          <a:xfrm>
            <a:off x="3593592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12:30–16:30</a:t>
            </a:r>
            <a:endParaRPr lang="ko-KR" altLang="en-US" sz="1500" dirty="0"/>
          </a:p>
        </p:txBody>
      </p:sp>
      <p:sp>
        <p:nvSpPr>
          <p:cNvPr id="15" name="pill_57"/>
          <p:cNvSpPr/>
          <p:nvPr/>
        </p:nvSpPr>
        <p:spPr>
          <a:xfrm>
            <a:off x="3593592" y="3017520"/>
            <a:ext cx="109728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_58"/>
          <p:cNvSpPr txBox="1"/>
          <p:nvPr/>
        </p:nvSpPr>
        <p:spPr>
          <a:xfrm>
            <a:off x="3593592" y="301752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chemeClr val="bg1"/>
                </a:solidFill>
              </a:rPr>
              <a:t>모듈 2</a:t>
            </a:r>
            <a:endParaRPr lang="ko-KR" altLang="en-US" sz="1300" dirty="0"/>
          </a:p>
        </p:txBody>
      </p:sp>
      <p:sp>
        <p:nvSpPr>
          <p:cNvPr id="17" name="text_59"/>
          <p:cNvSpPr txBox="1"/>
          <p:nvPr/>
        </p:nvSpPr>
        <p:spPr>
          <a:xfrm>
            <a:off x="3593592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SLAM + Nav2</a:t>
            </a:r>
            <a:endParaRPr lang="ko-KR" altLang="en-US" sz="1800" dirty="0"/>
          </a:p>
        </p:txBody>
      </p:sp>
      <p:sp>
        <p:nvSpPr>
          <p:cNvPr id="18" name="text_60"/>
          <p:cNvSpPr txBox="1"/>
          <p:nvPr/>
        </p:nvSpPr>
        <p:spPr>
          <a:xfrm>
            <a:off x="3593592" y="4526280"/>
            <a:ext cx="21945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지도 작성, AMCL</a:t>
            </a:r>
            <a:endParaRPr lang="ko-KR" altLang="en-US" sz="1500" dirty="0"/>
          </a:p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costmap, 순찰</a:t>
            </a:r>
            <a:endParaRPr lang="ko-KR" altLang="en-US" sz="1500" dirty="0"/>
          </a:p>
        </p:txBody>
      </p:sp>
      <p:sp>
        <p:nvSpPr>
          <p:cNvPr id="19" name="box_61"/>
          <p:cNvSpPr/>
          <p:nvPr/>
        </p:nvSpPr>
        <p:spPr>
          <a:xfrm>
            <a:off x="6181344" y="1920240"/>
            <a:ext cx="2606040" cy="41148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_62"/>
          <p:cNvSpPr txBox="1"/>
          <p:nvPr/>
        </p:nvSpPr>
        <p:spPr>
          <a:xfrm>
            <a:off x="6409944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b="1" dirty="0">
                <a:solidFill>
                  <a:schemeClr val="tx2"/>
                </a:solidFill>
              </a:rPr>
              <a:t>2일차 오전</a:t>
            </a:r>
            <a:endParaRPr lang="ko-KR" altLang="en-US" sz="1500" dirty="0"/>
          </a:p>
        </p:txBody>
      </p:sp>
      <p:sp>
        <p:nvSpPr>
          <p:cNvPr id="21" name="text_63"/>
          <p:cNvSpPr txBox="1"/>
          <p:nvPr/>
        </p:nvSpPr>
        <p:spPr>
          <a:xfrm>
            <a:off x="6409944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09:30–11:30</a:t>
            </a:r>
            <a:endParaRPr lang="ko-KR" altLang="en-US" sz="1500" dirty="0"/>
          </a:p>
        </p:txBody>
      </p:sp>
      <p:sp>
        <p:nvSpPr>
          <p:cNvPr id="22" name="pill_64"/>
          <p:cNvSpPr/>
          <p:nvPr/>
        </p:nvSpPr>
        <p:spPr>
          <a:xfrm>
            <a:off x="6409944" y="3017520"/>
            <a:ext cx="109728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_65"/>
          <p:cNvSpPr txBox="1"/>
          <p:nvPr/>
        </p:nvSpPr>
        <p:spPr>
          <a:xfrm>
            <a:off x="6409944" y="301752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chemeClr val="bg1"/>
                </a:solidFill>
              </a:rPr>
              <a:t>모듈 3</a:t>
            </a:r>
            <a:endParaRPr lang="ko-KR" altLang="en-US" sz="1300" dirty="0"/>
          </a:p>
        </p:txBody>
      </p:sp>
      <p:sp>
        <p:nvSpPr>
          <p:cNvPr id="24" name="text_66"/>
          <p:cNvSpPr txBox="1"/>
          <p:nvPr/>
        </p:nvSpPr>
        <p:spPr>
          <a:xfrm>
            <a:off x="6409944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MoveIt 2 + Pick &amp; Place</a:t>
            </a:r>
            <a:endParaRPr lang="ko-KR" altLang="en-US" sz="1800" dirty="0"/>
          </a:p>
        </p:txBody>
      </p:sp>
      <p:sp>
        <p:nvSpPr>
          <p:cNvPr id="25" name="text_67"/>
          <p:cNvSpPr txBox="1"/>
          <p:nvPr/>
        </p:nvSpPr>
        <p:spPr>
          <a:xfrm>
            <a:off x="6409944" y="4526280"/>
            <a:ext cx="21945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IK, Cartesian path</a:t>
            </a:r>
            <a:endParaRPr lang="ko-KR" altLang="en-US" sz="1500" dirty="0"/>
          </a:p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ArUco, 상태 기계</a:t>
            </a:r>
            <a:endParaRPr lang="ko-KR" altLang="en-US" sz="1500" dirty="0"/>
          </a:p>
        </p:txBody>
      </p:sp>
      <p:sp>
        <p:nvSpPr>
          <p:cNvPr id="26" name="box_68"/>
          <p:cNvSpPr/>
          <p:nvPr/>
        </p:nvSpPr>
        <p:spPr>
          <a:xfrm>
            <a:off x="8997696" y="1920240"/>
            <a:ext cx="2606040" cy="41148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text_69"/>
          <p:cNvSpPr txBox="1"/>
          <p:nvPr/>
        </p:nvSpPr>
        <p:spPr>
          <a:xfrm>
            <a:off x="9226296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b="1" dirty="0">
                <a:solidFill>
                  <a:schemeClr val="tx2"/>
                </a:solidFill>
              </a:rPr>
              <a:t>2일차 오후</a:t>
            </a:r>
            <a:endParaRPr lang="ko-KR" altLang="en-US" sz="1500" dirty="0"/>
          </a:p>
        </p:txBody>
      </p:sp>
      <p:sp>
        <p:nvSpPr>
          <p:cNvPr id="28" name="text_70"/>
          <p:cNvSpPr txBox="1"/>
          <p:nvPr/>
        </p:nvSpPr>
        <p:spPr>
          <a:xfrm>
            <a:off x="9226296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12:30–16:30</a:t>
            </a:r>
            <a:endParaRPr lang="ko-KR" altLang="en-US" sz="1500" dirty="0"/>
          </a:p>
        </p:txBody>
      </p:sp>
      <p:sp>
        <p:nvSpPr>
          <p:cNvPr id="29" name="pill_71"/>
          <p:cNvSpPr/>
          <p:nvPr/>
        </p:nvSpPr>
        <p:spPr>
          <a:xfrm>
            <a:off x="9226296" y="3017520"/>
            <a:ext cx="1097280" cy="32918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0" name="text_72"/>
          <p:cNvSpPr txBox="1"/>
          <p:nvPr/>
        </p:nvSpPr>
        <p:spPr>
          <a:xfrm>
            <a:off x="9226296" y="301752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chemeClr val="bg1"/>
                </a:solidFill>
              </a:rPr>
              <a:t>모듈 4</a:t>
            </a:r>
            <a:endParaRPr lang="ko-KR" altLang="en-US" sz="1300" dirty="0"/>
          </a:p>
        </p:txBody>
      </p:sp>
      <p:sp>
        <p:nvSpPr>
          <p:cNvPr id="31" name="text_73"/>
          <p:cNvSpPr txBox="1"/>
          <p:nvPr/>
        </p:nvSpPr>
        <p:spPr>
          <a:xfrm>
            <a:off x="9226296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LLM 작업 계획</a:t>
            </a:r>
            <a:endParaRPr lang="ko-KR" altLang="en-US" sz="1800" dirty="0"/>
          </a:p>
        </p:txBody>
      </p:sp>
      <p:sp>
        <p:nvSpPr>
          <p:cNvPr id="32" name="text_74"/>
          <p:cNvSpPr txBox="1"/>
          <p:nvPr/>
        </p:nvSpPr>
        <p:spPr>
          <a:xfrm>
            <a:off x="9226296" y="4526280"/>
            <a:ext cx="21945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도구 호출, 검증</a:t>
            </a:r>
            <a:endParaRPr lang="ko-KR" altLang="en-US" sz="1500" dirty="0"/>
          </a:p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대시보드, 최종 미션</a:t>
            </a:r>
            <a:endParaRPr lang="ko-KR" alt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4</a:t>
            </a:fld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모듈이 끝나면 할 수 있는 것</a:t>
            </a:r>
            <a:endParaRPr lang="ko-KR" altLang="en-US" sz="3200" dirty="0"/>
          </a:p>
        </p:txBody>
      </p:sp>
      <p:sp>
        <p:nvSpPr>
          <p:cNvPr id="3" name="box_75"/>
          <p:cNvSpPr/>
          <p:nvPr/>
        </p:nvSpPr>
        <p:spPr>
          <a:xfrm>
            <a:off x="548640" y="137160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bg_76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icon_77" descr="Cube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720901"/>
            <a:ext cx="307238" cy="307238"/>
          </a:xfrm>
          <a:prstGeom prst="rect">
            <a:avLst/>
          </a:prstGeom>
        </p:spPr>
      </p:pic>
      <p:sp>
        <p:nvSpPr>
          <p:cNvPr id="6" name="text_78"/>
          <p:cNvSpPr txBox="1"/>
          <p:nvPr/>
        </p:nvSpPr>
        <p:spPr>
          <a:xfrm>
            <a:off x="1508760" y="1572768"/>
            <a:ext cx="42519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1. 시뮬레이터와 브리지</a:t>
            </a:r>
            <a:endParaRPr lang="ko-KR" altLang="en-US" sz="1800" dirty="0"/>
          </a:p>
        </p:txBody>
      </p:sp>
      <p:sp>
        <p:nvSpPr>
          <p:cNvPr id="7" name="text_79"/>
          <p:cNvSpPr txBox="1"/>
          <p:nvPr/>
        </p:nvSpPr>
        <p:spPr>
          <a:xfrm>
            <a:off x="777240" y="2240280"/>
            <a:ext cx="49834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1"/>
                </a:solidFill>
              </a:rPr>
              <a:t>직접 만든 브리지로 로봇을 키보드로 몰고 RViz에서 센서를 본다</a:t>
            </a:r>
            <a:endParaRPr lang="ko-KR" altLang="en-US" sz="1600" dirty="0"/>
          </a:p>
        </p:txBody>
      </p:sp>
      <p:sp>
        <p:nvSpPr>
          <p:cNvPr id="8" name="box_80"/>
          <p:cNvSpPr/>
          <p:nvPr/>
        </p:nvSpPr>
        <p:spPr>
          <a:xfrm>
            <a:off x="6172200" y="137160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bg_81"/>
          <p:cNvSpPr/>
          <p:nvPr/>
        </p:nvSpPr>
        <p:spPr>
          <a:xfrm>
            <a:off x="6400800" y="16002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con_82" descr="Map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1720901"/>
            <a:ext cx="307238" cy="307238"/>
          </a:xfrm>
          <a:prstGeom prst="rect">
            <a:avLst/>
          </a:prstGeom>
        </p:spPr>
      </p:pic>
      <p:sp>
        <p:nvSpPr>
          <p:cNvPr id="11" name="text_83"/>
          <p:cNvSpPr txBox="1"/>
          <p:nvPr/>
        </p:nvSpPr>
        <p:spPr>
          <a:xfrm>
            <a:off x="7132320" y="1572768"/>
            <a:ext cx="42519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2. SLAM과 자율주행</a:t>
            </a:r>
            <a:endParaRPr lang="ko-KR" altLang="en-US" sz="1800" dirty="0"/>
          </a:p>
        </p:txBody>
      </p:sp>
      <p:sp>
        <p:nvSpPr>
          <p:cNvPr id="12" name="text_84"/>
          <p:cNvSpPr txBox="1"/>
          <p:nvPr/>
        </p:nvSpPr>
        <p:spPr>
          <a:xfrm>
            <a:off x="6400800" y="2240280"/>
            <a:ext cx="49834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1"/>
                </a:solidFill>
              </a:rPr>
              <a:t>방 지도를 만들고 목표점을 찍어 자율주행한다</a:t>
            </a:r>
            <a:endParaRPr lang="ko-KR" altLang="en-US" sz="1600" dirty="0"/>
          </a:p>
        </p:txBody>
      </p:sp>
      <p:sp>
        <p:nvSpPr>
          <p:cNvPr id="13" name="box_85"/>
          <p:cNvSpPr/>
          <p:nvPr/>
        </p:nvSpPr>
        <p:spPr>
          <a:xfrm>
            <a:off x="548640" y="379476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bg_86"/>
          <p:cNvSpPr/>
          <p:nvPr/>
        </p:nvSpPr>
        <p:spPr>
          <a:xfrm>
            <a:off x="777240" y="4023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_87" descr="HandPaper 아이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4144061"/>
            <a:ext cx="307238" cy="307238"/>
          </a:xfrm>
          <a:prstGeom prst="rect">
            <a:avLst/>
          </a:prstGeom>
        </p:spPr>
      </p:pic>
      <p:sp>
        <p:nvSpPr>
          <p:cNvPr id="16" name="text_88"/>
          <p:cNvSpPr txBox="1"/>
          <p:nvPr/>
        </p:nvSpPr>
        <p:spPr>
          <a:xfrm>
            <a:off x="1508760" y="3995928"/>
            <a:ext cx="42519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3. 양팔 조작과 Pick &amp; Place</a:t>
            </a:r>
            <a:endParaRPr lang="ko-KR" altLang="en-US" sz="1800" dirty="0"/>
          </a:p>
        </p:txBody>
      </p:sp>
      <p:sp>
        <p:nvSpPr>
          <p:cNvPr id="17" name="text_89"/>
          <p:cNvSpPr txBox="1"/>
          <p:nvPr/>
        </p:nvSpPr>
        <p:spPr>
          <a:xfrm>
            <a:off x="777240" y="4663440"/>
            <a:ext cx="49834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1"/>
                </a:solidFill>
              </a:rPr>
              <a:t>카메라로 상자를 찾아 집어서 다른 테이블에 놓는다</a:t>
            </a:r>
            <a:endParaRPr lang="ko-KR" altLang="en-US" sz="1600" dirty="0"/>
          </a:p>
        </p:txBody>
      </p:sp>
      <p:sp>
        <p:nvSpPr>
          <p:cNvPr id="18" name="box_90"/>
          <p:cNvSpPr/>
          <p:nvPr/>
        </p:nvSpPr>
        <p:spPr>
          <a:xfrm>
            <a:off x="6172200" y="379476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iconbg_91"/>
          <p:cNvSpPr/>
          <p:nvPr/>
        </p:nvSpPr>
        <p:spPr>
          <a:xfrm>
            <a:off x="6400800" y="402336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0" name="icon_92" descr="Brain 아이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501" y="4144061"/>
            <a:ext cx="307238" cy="307238"/>
          </a:xfrm>
          <a:prstGeom prst="rect">
            <a:avLst/>
          </a:prstGeom>
        </p:spPr>
      </p:pic>
      <p:sp>
        <p:nvSpPr>
          <p:cNvPr id="21" name="text_93"/>
          <p:cNvSpPr txBox="1"/>
          <p:nvPr/>
        </p:nvSpPr>
        <p:spPr>
          <a:xfrm>
            <a:off x="7132320" y="3995928"/>
            <a:ext cx="42519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4. LLM 작업 계획</a:t>
            </a:r>
            <a:endParaRPr lang="ko-KR" altLang="en-US" sz="1800" dirty="0"/>
          </a:p>
        </p:txBody>
      </p:sp>
      <p:sp>
        <p:nvSpPr>
          <p:cNvPr id="22" name="text_94"/>
          <p:cNvSpPr txBox="1"/>
          <p:nvPr/>
        </p:nvSpPr>
        <p:spPr>
          <a:xfrm>
            <a:off x="6400800" y="4663440"/>
            <a:ext cx="49834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1"/>
                </a:solidFill>
              </a:rPr>
              <a:t>자연어 한 문장으로 주행과 조작 전체를 시킨다</a:t>
            </a:r>
            <a:endParaRPr lang="ko-KR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5</a:t>
            </a:fld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실습 환경</a:t>
            </a:r>
            <a:endParaRPr lang="ko-KR" altLang="en-US" sz="3200" dirty="0"/>
          </a:p>
        </p:txBody>
      </p:sp>
      <p:sp>
        <p:nvSpPr>
          <p:cNvPr id="3" name="box_95"/>
          <p:cNvSpPr/>
          <p:nvPr/>
        </p:nvSpPr>
        <p:spPr>
          <a:xfrm>
            <a:off x="548640" y="1371600"/>
            <a:ext cx="585216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_96"/>
          <p:cNvSpPr txBox="1"/>
          <p:nvPr/>
        </p:nvSpPr>
        <p:spPr>
          <a:xfrm>
            <a:off x="777240" y="1371600"/>
            <a:ext cx="54864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MuJoCo 3.12 · OpenArm v2 · UNBOLT 코드</a:t>
            </a:r>
            <a:endParaRPr lang="ko-KR" altLang="en-US" sz="1700" dirty="0"/>
          </a:p>
        </p:txBody>
      </p:sp>
      <p:sp>
        <p:nvSpPr>
          <p:cNvPr id="5" name="box_97"/>
          <p:cNvSpPr/>
          <p:nvPr/>
        </p:nvSpPr>
        <p:spPr>
          <a:xfrm>
            <a:off x="548640" y="2286000"/>
            <a:ext cx="585216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_98"/>
          <p:cNvSpPr txBox="1"/>
          <p:nvPr/>
        </p:nvSpPr>
        <p:spPr>
          <a:xfrm>
            <a:off x="777240" y="2286000"/>
            <a:ext cx="54864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ROS 2 Humble · Nav2 · MoveIt 2</a:t>
            </a:r>
            <a:endParaRPr lang="ko-KR" altLang="en-US" sz="1700" dirty="0"/>
          </a:p>
        </p:txBody>
      </p:sp>
      <p:sp>
        <p:nvSpPr>
          <p:cNvPr id="7" name="box_99"/>
          <p:cNvSpPr/>
          <p:nvPr/>
        </p:nvSpPr>
        <p:spPr>
          <a:xfrm>
            <a:off x="548640" y="3200400"/>
            <a:ext cx="585216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_100"/>
          <p:cNvSpPr txBox="1"/>
          <p:nvPr/>
        </p:nvSpPr>
        <p:spPr>
          <a:xfrm>
            <a:off x="777240" y="3200400"/>
            <a:ext cx="54864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Ubuntu 22.04</a:t>
            </a:r>
            <a:endParaRPr lang="ko-KR" altLang="en-US" sz="1700" dirty="0"/>
          </a:p>
        </p:txBody>
      </p:sp>
      <p:sp>
        <p:nvSpPr>
          <p:cNvPr id="9" name="box_101"/>
          <p:cNvSpPr/>
          <p:nvPr/>
        </p:nvSpPr>
        <p:spPr>
          <a:xfrm>
            <a:off x="548640" y="4114800"/>
            <a:ext cx="585216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_102"/>
          <p:cNvSpPr txBox="1"/>
          <p:nvPr/>
        </p:nvSpPr>
        <p:spPr>
          <a:xfrm>
            <a:off x="777240" y="4114800"/>
            <a:ext cx="54864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WSL2 + WSLg (리눅스 GUI 창)</a:t>
            </a:r>
            <a:endParaRPr lang="ko-KR" altLang="en-US" sz="1700" dirty="0"/>
          </a:p>
        </p:txBody>
      </p:sp>
      <p:sp>
        <p:nvSpPr>
          <p:cNvPr id="11" name="box_103"/>
          <p:cNvSpPr/>
          <p:nvPr/>
        </p:nvSpPr>
        <p:spPr>
          <a:xfrm>
            <a:off x="548640" y="5029200"/>
            <a:ext cx="5852160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_104"/>
          <p:cNvSpPr txBox="1"/>
          <p:nvPr/>
        </p:nvSpPr>
        <p:spPr>
          <a:xfrm>
            <a:off x="777240" y="5029200"/>
            <a:ext cx="54864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Windows 10/11 노트북</a:t>
            </a:r>
            <a:endParaRPr lang="ko-KR" altLang="en-US" sz="1700" dirty="0"/>
          </a:p>
        </p:txBody>
      </p:sp>
      <p:sp>
        <p:nvSpPr>
          <p:cNvPr id="13" name="box_105"/>
          <p:cNvSpPr/>
          <p:nvPr/>
        </p:nvSpPr>
        <p:spPr>
          <a:xfrm>
            <a:off x="6766560" y="1371600"/>
            <a:ext cx="22860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bg_106"/>
          <p:cNvSpPr/>
          <p:nvPr/>
        </p:nvSpPr>
        <p:spPr>
          <a:xfrm>
            <a:off x="69951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_107" descr="Memory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5861" y="1720901"/>
            <a:ext cx="307238" cy="307238"/>
          </a:xfrm>
          <a:prstGeom prst="rect">
            <a:avLst/>
          </a:prstGeom>
        </p:spPr>
      </p:pic>
      <p:sp>
        <p:nvSpPr>
          <p:cNvPr id="16" name="text_108"/>
          <p:cNvSpPr txBox="1"/>
          <p:nvPr/>
        </p:nvSpPr>
        <p:spPr>
          <a:xfrm>
            <a:off x="6949440" y="2286000"/>
            <a:ext cx="1920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2400" b="1" dirty="0">
                <a:solidFill>
                  <a:schemeClr val="tx1"/>
                </a:solidFill>
              </a:rPr>
              <a:t>16 GB</a:t>
            </a:r>
            <a:endParaRPr lang="ko-KR" altLang="en-US" sz="2400" dirty="0"/>
          </a:p>
        </p:txBody>
      </p:sp>
      <p:sp>
        <p:nvSpPr>
          <p:cNvPr id="17" name="text_109"/>
          <p:cNvSpPr txBox="1"/>
          <p:nvPr/>
        </p:nvSpPr>
        <p:spPr>
          <a:xfrm>
            <a:off x="6949440" y="2834640"/>
            <a:ext cx="1920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RAM 권장 (최소 8 GB)</a:t>
            </a:r>
            <a:endParaRPr lang="ko-KR" altLang="en-US" sz="1400" dirty="0"/>
          </a:p>
        </p:txBody>
      </p:sp>
      <p:sp>
        <p:nvSpPr>
          <p:cNvPr id="18" name="box_110"/>
          <p:cNvSpPr/>
          <p:nvPr/>
        </p:nvSpPr>
        <p:spPr>
          <a:xfrm>
            <a:off x="9235440" y="1371600"/>
            <a:ext cx="22860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iconbg_111"/>
          <p:cNvSpPr/>
          <p:nvPr/>
        </p:nvSpPr>
        <p:spPr>
          <a:xfrm>
            <a:off x="946404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_112" descr="Hdd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4741" y="1720901"/>
            <a:ext cx="307238" cy="307238"/>
          </a:xfrm>
          <a:prstGeom prst="rect">
            <a:avLst/>
          </a:prstGeom>
        </p:spPr>
      </p:pic>
      <p:sp>
        <p:nvSpPr>
          <p:cNvPr id="21" name="text_113"/>
          <p:cNvSpPr txBox="1"/>
          <p:nvPr/>
        </p:nvSpPr>
        <p:spPr>
          <a:xfrm>
            <a:off x="9418320" y="2286000"/>
            <a:ext cx="1920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2400" b="1" dirty="0">
                <a:solidFill>
                  <a:schemeClr val="tx1"/>
                </a:solidFill>
              </a:rPr>
              <a:t>30 GB</a:t>
            </a:r>
            <a:endParaRPr lang="ko-KR" altLang="en-US" sz="2400" dirty="0"/>
          </a:p>
        </p:txBody>
      </p:sp>
      <p:sp>
        <p:nvSpPr>
          <p:cNvPr id="22" name="text_114"/>
          <p:cNvSpPr txBox="1"/>
          <p:nvPr/>
        </p:nvSpPr>
        <p:spPr>
          <a:xfrm>
            <a:off x="9418320" y="2834640"/>
            <a:ext cx="1920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C: 드라이브 여유</a:t>
            </a:r>
            <a:endParaRPr lang="ko-KR" altLang="en-US" sz="1400" dirty="0"/>
          </a:p>
        </p:txBody>
      </p:sp>
      <p:sp>
        <p:nvSpPr>
          <p:cNvPr id="23" name="box_115"/>
          <p:cNvSpPr/>
          <p:nvPr/>
        </p:nvSpPr>
        <p:spPr>
          <a:xfrm>
            <a:off x="6766560" y="3657600"/>
            <a:ext cx="22860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iconbg_116"/>
          <p:cNvSpPr/>
          <p:nvPr/>
        </p:nvSpPr>
        <p:spPr>
          <a:xfrm>
            <a:off x="6995160" y="3886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_117" descr="Microchip 아이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5861" y="4006901"/>
            <a:ext cx="307238" cy="307238"/>
          </a:xfrm>
          <a:prstGeom prst="rect">
            <a:avLst/>
          </a:prstGeom>
        </p:spPr>
      </p:pic>
      <p:sp>
        <p:nvSpPr>
          <p:cNvPr id="26" name="text_118"/>
          <p:cNvSpPr txBox="1"/>
          <p:nvPr/>
        </p:nvSpPr>
        <p:spPr>
          <a:xfrm>
            <a:off x="6949440" y="4572000"/>
            <a:ext cx="1920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2400" b="1" dirty="0">
                <a:solidFill>
                  <a:schemeClr val="tx1"/>
                </a:solidFill>
              </a:rPr>
              <a:t>내장 그래픽</a:t>
            </a:r>
            <a:endParaRPr lang="ko-KR" altLang="en-US" sz="2400" dirty="0"/>
          </a:p>
        </p:txBody>
      </p:sp>
      <p:sp>
        <p:nvSpPr>
          <p:cNvPr id="27" name="text_119"/>
          <p:cNvSpPr txBox="1"/>
          <p:nvPr/>
        </p:nvSpPr>
        <p:spPr>
          <a:xfrm>
            <a:off x="6949440" y="5120640"/>
            <a:ext cx="1920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GPU·Docker·VM 불필요</a:t>
            </a:r>
            <a:endParaRPr lang="ko-KR" altLang="en-US" sz="1400" dirty="0"/>
          </a:p>
        </p:txBody>
      </p:sp>
      <p:sp>
        <p:nvSpPr>
          <p:cNvPr id="28" name="box_120"/>
          <p:cNvSpPr/>
          <p:nvPr/>
        </p:nvSpPr>
        <p:spPr>
          <a:xfrm>
            <a:off x="9235440" y="3657600"/>
            <a:ext cx="22860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iconbg_121"/>
          <p:cNvSpPr/>
          <p:nvPr/>
        </p:nvSpPr>
        <p:spPr>
          <a:xfrm>
            <a:off x="9464040" y="3886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_122" descr="DollarSign 아이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4741" y="4006901"/>
            <a:ext cx="307238" cy="307238"/>
          </a:xfrm>
          <a:prstGeom prst="rect">
            <a:avLst/>
          </a:prstGeom>
        </p:spPr>
      </p:pic>
      <p:sp>
        <p:nvSpPr>
          <p:cNvPr id="31" name="text_123"/>
          <p:cNvSpPr txBox="1"/>
          <p:nvPr/>
        </p:nvSpPr>
        <p:spPr>
          <a:xfrm>
            <a:off x="9418320" y="4572000"/>
            <a:ext cx="1920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2400" b="1" dirty="0">
                <a:solidFill>
                  <a:schemeClr val="tx1"/>
                </a:solidFill>
              </a:rPr>
              <a:t>$5 이내</a:t>
            </a:r>
            <a:endParaRPr lang="ko-KR" altLang="en-US" sz="2400" dirty="0"/>
          </a:p>
        </p:txBody>
      </p:sp>
      <p:sp>
        <p:nvSpPr>
          <p:cNvPr id="32" name="text_124"/>
          <p:cNvSpPr txBox="1"/>
          <p:nvPr/>
        </p:nvSpPr>
        <p:spPr>
          <a:xfrm>
            <a:off x="9418320" y="5120640"/>
            <a:ext cx="1920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Claude API (선택)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6</a:t>
            </a:fld>
            <a:endParaRPr lang="ko-KR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진행 방식</a:t>
            </a:r>
            <a:endParaRPr lang="ko-KR" altLang="en-US" sz="3200" dirty="0"/>
          </a:p>
        </p:txBody>
      </p:sp>
      <p:sp>
        <p:nvSpPr>
          <p:cNvPr id="3" name="box_125"/>
          <p:cNvSpPr/>
          <p:nvPr/>
        </p:nvSpPr>
        <p:spPr>
          <a:xfrm>
            <a:off x="548640" y="1371600"/>
            <a:ext cx="338328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_126"/>
          <p:cNvSpPr txBox="1"/>
          <p:nvPr/>
        </p:nvSpPr>
        <p:spPr>
          <a:xfrm>
            <a:off x="822960" y="1508760"/>
            <a:ext cx="2834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2000" b="1" dirty="0">
                <a:solidFill>
                  <a:schemeClr val="tx1"/>
                </a:solidFill>
              </a:rPr>
              <a:t>개념</a:t>
            </a:r>
            <a:endParaRPr lang="ko-KR" altLang="en-US" sz="2000" dirty="0"/>
          </a:p>
        </p:txBody>
      </p:sp>
      <p:sp>
        <p:nvSpPr>
          <p:cNvPr id="5" name="text_127"/>
          <p:cNvSpPr txBox="1"/>
          <p:nvPr/>
        </p:nvSpPr>
        <p:spPr>
          <a:xfrm>
            <a:off x="822960" y="2011680"/>
            <a:ext cx="28346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20~30%</a:t>
            </a:r>
            <a:endParaRPr lang="ko-KR" altLang="en-US" sz="3000" dirty="0"/>
          </a:p>
        </p:txBody>
      </p:sp>
      <p:sp>
        <p:nvSpPr>
          <p:cNvPr id="6" name="text_128"/>
          <p:cNvSpPr txBox="1"/>
          <p:nvPr/>
        </p:nvSpPr>
        <p:spPr>
          <a:xfrm>
            <a:off x="822960" y="2697480"/>
            <a:ext cx="2834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왜 그렇게 만드는지</a:t>
            </a:r>
            <a:endParaRPr lang="ko-KR" altLang="en-US" sz="1500" dirty="0"/>
          </a:p>
        </p:txBody>
      </p:sp>
      <p:sp>
        <p:nvSpPr>
          <p:cNvPr id="7" name="arrow_129"/>
          <p:cNvSpPr/>
          <p:nvPr/>
        </p:nvSpPr>
        <p:spPr>
          <a:xfrm>
            <a:off x="3977640" y="2331720"/>
            <a:ext cx="32004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box_130"/>
          <p:cNvSpPr/>
          <p:nvPr/>
        </p:nvSpPr>
        <p:spPr>
          <a:xfrm>
            <a:off x="4343400" y="1371600"/>
            <a:ext cx="3383280" cy="1920240"/>
          </a:xfrm>
          <a:prstGeom prst="roundRect">
            <a:avLst>
              <a:gd name="adj" fmla="val 381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_131"/>
          <p:cNvSpPr txBox="1"/>
          <p:nvPr/>
        </p:nvSpPr>
        <p:spPr>
          <a:xfrm>
            <a:off x="4617720" y="1508760"/>
            <a:ext cx="2834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2000" b="1" dirty="0">
                <a:solidFill>
                  <a:schemeClr val="bg1"/>
                </a:solidFill>
              </a:rPr>
              <a:t>따라 하기</a:t>
            </a:r>
            <a:endParaRPr lang="ko-KR" altLang="en-US" sz="2000" dirty="0"/>
          </a:p>
        </p:txBody>
      </p:sp>
      <p:sp>
        <p:nvSpPr>
          <p:cNvPr id="10" name="text_132"/>
          <p:cNvSpPr txBox="1"/>
          <p:nvPr/>
        </p:nvSpPr>
        <p:spPr>
          <a:xfrm>
            <a:off x="4617720" y="2011680"/>
            <a:ext cx="28346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3000" b="1" dirty="0">
                <a:solidFill>
                  <a:schemeClr val="bg1"/>
                </a:solidFill>
              </a:rPr>
              <a:t>50%</a:t>
            </a:r>
            <a:endParaRPr lang="ko-KR" altLang="en-US" sz="3000" dirty="0"/>
          </a:p>
        </p:txBody>
      </p:sp>
      <p:sp>
        <p:nvSpPr>
          <p:cNvPr id="11" name="text_133"/>
          <p:cNvSpPr txBox="1"/>
          <p:nvPr/>
        </p:nvSpPr>
        <p:spPr>
          <a:xfrm>
            <a:off x="4617720" y="2697480"/>
            <a:ext cx="2834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bg1"/>
                </a:solidFill>
              </a:rPr>
              <a:t>명령 복사 → 결과 확인</a:t>
            </a:r>
            <a:endParaRPr lang="ko-KR" altLang="en-US" sz="1500" dirty="0"/>
          </a:p>
        </p:txBody>
      </p:sp>
      <p:sp>
        <p:nvSpPr>
          <p:cNvPr id="12" name="arrow_134"/>
          <p:cNvSpPr/>
          <p:nvPr/>
        </p:nvSpPr>
        <p:spPr>
          <a:xfrm>
            <a:off x="7772400" y="2331720"/>
            <a:ext cx="32004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box_135"/>
          <p:cNvSpPr/>
          <p:nvPr/>
        </p:nvSpPr>
        <p:spPr>
          <a:xfrm>
            <a:off x="8138160" y="1371600"/>
            <a:ext cx="338328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_136"/>
          <p:cNvSpPr txBox="1"/>
          <p:nvPr/>
        </p:nvSpPr>
        <p:spPr>
          <a:xfrm>
            <a:off x="8412480" y="1508760"/>
            <a:ext cx="2834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2000" b="1" dirty="0">
                <a:solidFill>
                  <a:schemeClr val="tx1"/>
                </a:solidFill>
              </a:rPr>
              <a:t>과제</a:t>
            </a:r>
            <a:endParaRPr lang="ko-KR" altLang="en-US" sz="2000" dirty="0"/>
          </a:p>
        </p:txBody>
      </p:sp>
      <p:sp>
        <p:nvSpPr>
          <p:cNvPr id="15" name="text_137"/>
          <p:cNvSpPr txBox="1"/>
          <p:nvPr/>
        </p:nvSpPr>
        <p:spPr>
          <a:xfrm>
            <a:off x="8412480" y="2011680"/>
            <a:ext cx="28346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20~30%</a:t>
            </a:r>
            <a:endParaRPr lang="ko-KR" altLang="en-US" sz="3000" dirty="0"/>
          </a:p>
        </p:txBody>
      </p:sp>
      <p:sp>
        <p:nvSpPr>
          <p:cNvPr id="16" name="text_138"/>
          <p:cNvSpPr txBox="1"/>
          <p:nvPr/>
        </p:nvSpPr>
        <p:spPr>
          <a:xfrm>
            <a:off x="8412480" y="2697480"/>
            <a:ext cx="2834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바꿔 보고 설명하기</a:t>
            </a:r>
            <a:endParaRPr lang="ko-KR" altLang="en-US" sz="1500" dirty="0"/>
          </a:p>
        </p:txBody>
      </p:sp>
      <p:sp>
        <p:nvSpPr>
          <p:cNvPr id="17" name="box_139"/>
          <p:cNvSpPr/>
          <p:nvPr/>
        </p:nvSpPr>
        <p:spPr>
          <a:xfrm>
            <a:off x="548640" y="3657600"/>
            <a:ext cx="548640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iconbg_140"/>
          <p:cNvSpPr/>
          <p:nvPr/>
        </p:nvSpPr>
        <p:spPr>
          <a:xfrm>
            <a:off x="777240" y="38862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con_141" descr="CheckCircle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4006901"/>
            <a:ext cx="307238" cy="307238"/>
          </a:xfrm>
          <a:prstGeom prst="rect">
            <a:avLst/>
          </a:prstGeom>
        </p:spPr>
      </p:pic>
      <p:sp>
        <p:nvSpPr>
          <p:cNvPr id="20" name="text_142"/>
          <p:cNvSpPr txBox="1"/>
          <p:nvPr/>
        </p:nvSpPr>
        <p:spPr>
          <a:xfrm>
            <a:off x="1508760" y="3858768"/>
            <a:ext cx="4297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체크포인트 카드</a:t>
            </a:r>
            <a:endParaRPr lang="ko-KR" altLang="en-US" sz="1800" dirty="0"/>
          </a:p>
        </p:txBody>
      </p:sp>
      <p:sp>
        <p:nvSpPr>
          <p:cNvPr id="21" name="text_143"/>
          <p:cNvSpPr txBox="1"/>
          <p:nvPr/>
        </p:nvSpPr>
        <p:spPr>
          <a:xfrm>
            <a:off x="777240" y="4526280"/>
            <a:ext cx="50292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노트북 뒤에 포스트잇을 붙입니다.</a:t>
            </a:r>
            <a:endParaRPr lang="ko-KR" altLang="en-US" sz="1500" dirty="0"/>
          </a:p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초록 = 통과, 빨강 = 도움 필요.</a:t>
            </a:r>
            <a:endParaRPr lang="ko-KR" altLang="en-US" sz="1500" dirty="0"/>
          </a:p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절반 이상이 통과하면 다음으로 넘어갑니다.</a:t>
            </a:r>
            <a:endParaRPr lang="ko-KR" altLang="en-US" sz="1500" dirty="0"/>
          </a:p>
        </p:txBody>
      </p:sp>
      <p:sp>
        <p:nvSpPr>
          <p:cNvPr id="22" name="box_144"/>
          <p:cNvSpPr/>
          <p:nvPr/>
        </p:nvSpPr>
        <p:spPr>
          <a:xfrm>
            <a:off x="6172200" y="3657600"/>
            <a:ext cx="544068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iconbg_145"/>
          <p:cNvSpPr/>
          <p:nvPr/>
        </p:nvSpPr>
        <p:spPr>
          <a:xfrm>
            <a:off x="6400800" y="3886200"/>
            <a:ext cx="548640" cy="54864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24" name="icon_146" descr="Wrench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4006901"/>
            <a:ext cx="307238" cy="307238"/>
          </a:xfrm>
          <a:prstGeom prst="rect">
            <a:avLst/>
          </a:prstGeom>
        </p:spPr>
      </p:pic>
      <p:sp>
        <p:nvSpPr>
          <p:cNvPr id="25" name="text_147"/>
          <p:cNvSpPr txBox="1"/>
          <p:nvPr/>
        </p:nvSpPr>
        <p:spPr>
          <a:xfrm>
            <a:off x="7132320" y="3858768"/>
            <a:ext cx="42519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막히면</a:t>
            </a:r>
            <a:endParaRPr lang="ko-KR" altLang="en-US" sz="1800" dirty="0"/>
          </a:p>
        </p:txBody>
      </p:sp>
      <p:sp>
        <p:nvSpPr>
          <p:cNvPr id="26" name="text_148"/>
          <p:cNvSpPr txBox="1"/>
          <p:nvPr/>
        </p:nvSpPr>
        <p:spPr>
          <a:xfrm>
            <a:off x="640080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오류 메시지 일부로 troubleshooting.md 검색</a:t>
            </a:r>
            <a:endParaRPr lang="ko-KR" altLang="en-US" sz="1500" dirty="0"/>
          </a:p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→ 그래도 안 되면 빨간 카드.</a:t>
            </a:r>
            <a:endParaRPr lang="ko-KR" altLang="en-US" sz="1500" dirty="0"/>
          </a:p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오류는 스크린샷보다 텍스트로 (API 키 주의).</a:t>
            </a:r>
            <a:endParaRPr lang="ko-KR" alt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7</a:t>
            </a:fld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시작 전에: 설치 점검</a:t>
            </a:r>
            <a:endParaRPr lang="ko-KR" altLang="en-US" sz="3200" dirty="0"/>
          </a:p>
        </p:txBody>
      </p:sp>
      <p:sp>
        <p:nvSpPr>
          <p:cNvPr id="3" name="box_149"/>
          <p:cNvSpPr/>
          <p:nvPr/>
        </p:nvSpPr>
        <p:spPr>
          <a:xfrm>
            <a:off x="548640" y="1371600"/>
            <a:ext cx="6675120" cy="4754880"/>
          </a:xfrm>
          <a:prstGeom prst="roundRect">
            <a:avLst>
              <a:gd name="adj" fmla="val 153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_150"/>
          <p:cNvSpPr txBox="1"/>
          <p:nvPr/>
        </p:nvSpPr>
        <p:spPr>
          <a:xfrm>
            <a:off x="731520" y="1508760"/>
            <a:ext cx="6309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bash ~/unbolt/workshop/setup/check_env.sh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화면 (WSLg)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✔ WSLg DISPLAY=:0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✔ GPU 가속 OpenGL: D3D12 (...)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ROS 2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✔ ROS 2 Humble 설치됨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✔ slam_toolbox  ✔ nav2_bringup  ✔ moveit ...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✔ mujoco 3.12.0   ✔ numpy 1.21.5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✔ OpenCV 4.5.4 (aruco)   ✔ anthropic 2.3.0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UNBOLT 코드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✔ 워크스페이스 빌드됨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✔ MuJoCo 월드 로드 + 오프스크린 렌더링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결과: 27 통과, 1 경고, 0 실패</a:t>
            </a:r>
            <a:endParaRPr lang="ko-KR" altLang="en-US" sz="1400" dirty="0"/>
          </a:p>
        </p:txBody>
      </p:sp>
      <p:sp>
        <p:nvSpPr>
          <p:cNvPr id="5" name="box_151"/>
          <p:cNvSpPr/>
          <p:nvPr/>
        </p:nvSpPr>
        <p:spPr>
          <a:xfrm>
            <a:off x="7498080" y="1371600"/>
            <a:ext cx="4114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bg_152"/>
          <p:cNvSpPr/>
          <p:nvPr/>
        </p:nvSpPr>
        <p:spPr>
          <a:xfrm>
            <a:off x="7726680" y="16002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icon_153" descr="CheckCircle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7381" y="1720901"/>
            <a:ext cx="307238" cy="307238"/>
          </a:xfrm>
          <a:prstGeom prst="rect">
            <a:avLst/>
          </a:prstGeom>
        </p:spPr>
      </p:pic>
      <p:sp>
        <p:nvSpPr>
          <p:cNvPr id="8" name="text_154"/>
          <p:cNvSpPr txBox="1"/>
          <p:nvPr/>
        </p:nvSpPr>
        <p:spPr>
          <a:xfrm>
            <a:off x="8458200" y="1572768"/>
            <a:ext cx="29260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0 실패면 준비 끝</a:t>
            </a:r>
            <a:endParaRPr lang="ko-KR" altLang="en-US" sz="1700" dirty="0"/>
          </a:p>
        </p:txBody>
      </p:sp>
      <p:sp>
        <p:nvSpPr>
          <p:cNvPr id="9" name="box_155"/>
          <p:cNvSpPr/>
          <p:nvPr/>
        </p:nvSpPr>
        <p:spPr>
          <a:xfrm>
            <a:off x="7498080" y="3017520"/>
            <a:ext cx="4114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conbg_156"/>
          <p:cNvSpPr/>
          <p:nvPr/>
        </p:nvSpPr>
        <p:spPr>
          <a:xfrm>
            <a:off x="7726680" y="324612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icon_157" descr="ExclamationTriangle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7381" y="3366821"/>
            <a:ext cx="307238" cy="307238"/>
          </a:xfrm>
          <a:prstGeom prst="rect">
            <a:avLst/>
          </a:prstGeom>
        </p:spPr>
      </p:pic>
      <p:sp>
        <p:nvSpPr>
          <p:cNvPr id="12" name="text_158"/>
          <p:cNvSpPr txBox="1"/>
          <p:nvPr/>
        </p:nvSpPr>
        <p:spPr>
          <a:xfrm>
            <a:off x="8458200" y="3218688"/>
            <a:ext cx="29260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! 경고는 괜찮다</a:t>
            </a:r>
            <a:endParaRPr lang="ko-KR" altLang="en-US" sz="1700" dirty="0"/>
          </a:p>
        </p:txBody>
      </p:sp>
      <p:sp>
        <p:nvSpPr>
          <p:cNvPr id="13" name="box_159"/>
          <p:cNvSpPr/>
          <p:nvPr/>
        </p:nvSpPr>
        <p:spPr>
          <a:xfrm>
            <a:off x="7498080" y="4663440"/>
            <a:ext cx="4114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bg_160"/>
          <p:cNvSpPr/>
          <p:nvPr/>
        </p:nvSpPr>
        <p:spPr>
          <a:xfrm>
            <a:off x="7726680" y="4892040"/>
            <a:ext cx="548640" cy="54864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icon_161" descr="Wrench 아이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7381" y="5012741"/>
            <a:ext cx="307238" cy="307238"/>
          </a:xfrm>
          <a:prstGeom prst="rect">
            <a:avLst/>
          </a:prstGeom>
        </p:spPr>
      </p:pic>
      <p:sp>
        <p:nvSpPr>
          <p:cNvPr id="16" name="text_162"/>
          <p:cNvSpPr txBox="1"/>
          <p:nvPr/>
        </p:nvSpPr>
        <p:spPr>
          <a:xfrm>
            <a:off x="8458200" y="4864608"/>
            <a:ext cx="29260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✘ 가 있으면 조교에게</a:t>
            </a:r>
            <a:endParaRPr lang="ko-KR" alt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8</a:t>
            </a:fld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2000" b="1" dirty="0">
                <a:solidFill>
                  <a:schemeClr val="accent1"/>
                </a:solidFill>
              </a:rPr>
              <a:t>모듈 1 · 1일차 09:30–11:30</a:t>
            </a:r>
            <a:endParaRPr lang="ko-KR" alt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chemeClr val="bg1"/>
                </a:solidFill>
              </a:rPr>
              <a:t>MuJoCo + ROS 2 브리지</a:t>
            </a:r>
            <a:endParaRPr lang="ko-KR" altLang="en-US" sz="4000" dirty="0"/>
          </a:p>
          <a:p>
            <a:pPr eaLnBrk="0" algn="l" indent="0" marL="0">
              <a:buNone/>
            </a:pPr>
            <a:r>
              <a:rPr lang="ko-KR" altLang="en-US" sz="4000" b="1" dirty="0">
                <a:solidFill>
                  <a:schemeClr val="bg1"/>
                </a:solidFill>
              </a:rPr>
              <a:t>주행형 양팔로봇 모델링</a:t>
            </a:r>
            <a:endParaRPr lang="ko-KR" alt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57600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accent5"/>
                </a:solidFill>
              </a:rPr>
              <a:t>브리지가 해야 하는 일: 시간, 상태, 센서, 명령</a:t>
            </a:r>
            <a:endParaRPr lang="ko-KR" altLang="en-US" sz="1600" dirty="0"/>
          </a:p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accent5"/>
                </a:solidFill>
              </a:rPr>
              <a:t>MJCF(MuJoCo)와 URDF(ROS) 두 벌의 로봇 모델</a:t>
            </a:r>
            <a:endParaRPr lang="ko-KR" altLang="en-US" sz="1600" dirty="0"/>
          </a:p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accent5"/>
                </a:solidFill>
              </a:rPr>
              <a:t>/clock · /joint_states · /odom · /scan · /tf 와 use_sim_time</a:t>
            </a:r>
            <a:endParaRPr lang="ko-KR" altLang="en-US" sz="1600" dirty="0"/>
          </a:p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accent5"/>
                </a:solidFill>
              </a:rPr>
              <a:t>LiDAR 레이캐스트와 휠 오도메트리를 코드로 읽기</a:t>
            </a:r>
            <a:endParaRPr lang="ko-KR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9</a:t>
            </a:fld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왜 Gazebo가 아니라 MuJoCo인가</a:t>
            </a:r>
            <a:endParaRPr lang="ko-KR" altLang="en-US" sz="3200" dirty="0"/>
          </a:p>
        </p:txBody>
      </p:sp>
      <p:sp>
        <p:nvSpPr>
          <p:cNvPr id="3" name="box_163"/>
          <p:cNvSpPr/>
          <p:nvPr/>
        </p:nvSpPr>
        <p:spPr>
          <a:xfrm>
            <a:off x="548640" y="1371600"/>
            <a:ext cx="544068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_164"/>
          <p:cNvSpPr txBox="1"/>
          <p:nvPr/>
        </p:nvSpPr>
        <p:spPr>
          <a:xfrm>
            <a:off x="868680" y="1554480"/>
            <a:ext cx="47548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2400" b="1" dirty="0">
                <a:solidFill>
                  <a:schemeClr val="tx1"/>
                </a:solidFill>
              </a:rPr>
              <a:t>Gazebo</a:t>
            </a:r>
            <a:endParaRPr lang="ko-KR" altLang="en-US" sz="2400" dirty="0"/>
          </a:p>
        </p:txBody>
      </p:sp>
      <p:sp>
        <p:nvSpPr>
          <p:cNvPr id="5" name="list_165"/>
          <p:cNvSpPr txBox="1"/>
          <p:nvPr/>
        </p:nvSpPr>
        <p:spPr>
          <a:xfrm>
            <a:off x="868680" y="2286000"/>
            <a:ext cx="484632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ROS 연동 플러그인이 많다</a:t>
            </a:r>
            <a:endParaRPr lang="ko-KR" altLang="en-US" sz="1700" dirty="0"/>
          </a:p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센서 종류가 많다</a:t>
            </a:r>
            <a:endParaRPr lang="ko-KR" altLang="en-US" sz="1700" dirty="0"/>
          </a:p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모바일 로봇 시뮬레이션에 강함</a:t>
            </a:r>
            <a:endParaRPr lang="ko-KR" altLang="en-US" sz="1700" dirty="0"/>
          </a:p>
        </p:txBody>
      </p:sp>
      <p:sp>
        <p:nvSpPr>
          <p:cNvPr id="6" name="box_166"/>
          <p:cNvSpPr/>
          <p:nvPr/>
        </p:nvSpPr>
        <p:spPr>
          <a:xfrm>
            <a:off x="6172200" y="1371600"/>
            <a:ext cx="5440680" cy="3291840"/>
          </a:xfrm>
          <a:prstGeom prst="roundRect">
            <a:avLst>
              <a:gd name="adj" fmla="val 222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_167"/>
          <p:cNvSpPr txBox="1"/>
          <p:nvPr/>
        </p:nvSpPr>
        <p:spPr>
          <a:xfrm>
            <a:off x="6492240" y="1554480"/>
            <a:ext cx="47548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2400" b="1" dirty="0">
                <a:solidFill>
                  <a:schemeClr val="bg1"/>
                </a:solidFill>
              </a:rPr>
              <a:t>MuJoCo</a:t>
            </a:r>
            <a:endParaRPr lang="ko-KR" altLang="en-US" sz="2400" dirty="0"/>
          </a:p>
        </p:txBody>
      </p:sp>
      <p:sp>
        <p:nvSpPr>
          <p:cNvPr id="8" name="list_168"/>
          <p:cNvSpPr txBox="1"/>
          <p:nvPr/>
        </p:nvSpPr>
        <p:spPr>
          <a:xfrm>
            <a:off x="6492240" y="2286000"/>
            <a:ext cx="484632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bg1"/>
                </a:solidFill>
              </a:rPr>
              <a:t>접촉·마찰 계산이 정확하고 빠르다</a:t>
            </a:r>
            <a:endParaRPr lang="ko-KR" altLang="en-US" sz="1700" dirty="0"/>
          </a:p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bg1"/>
                </a:solidFill>
              </a:rPr>
              <a:t>파이썬에서 바로 쓴다</a:t>
            </a:r>
            <a:endParaRPr lang="ko-KR" altLang="en-US" sz="1700" dirty="0"/>
          </a:p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bg1"/>
                </a:solidFill>
              </a:rPr>
              <a:t>조작·강화학습·접촉 많은 작업에 강함</a:t>
            </a:r>
            <a:endParaRPr lang="ko-KR" altLang="en-US" sz="1700" dirty="0"/>
          </a:p>
        </p:txBody>
      </p:sp>
      <p:sp>
        <p:nvSpPr>
          <p:cNvPr id="9" name="box_169"/>
          <p:cNvSpPr/>
          <p:nvPr/>
        </p:nvSpPr>
        <p:spPr>
          <a:xfrm>
            <a:off x="548640" y="493776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_170"/>
          <p:cNvSpPr txBox="1"/>
          <p:nvPr/>
        </p:nvSpPr>
        <p:spPr>
          <a:xfrm>
            <a:off x="822960" y="498348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MuJoCo에는 ROS 연동이 없다 → 브리지를 직접 만든다.</a:t>
            </a:r>
            <a:endParaRPr lang="ko-KR" altLang="en-US" sz="1700" dirty="0"/>
          </a:p>
          <a:p>
            <a:pPr eaLnBrk="0" indent="0" marL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직접 만들면 "시뮬레이터가 ROS에 무엇을 내줘야 하는가"를 정확히 알게 된다.</a:t>
            </a:r>
            <a:endParaRPr lang="ko-KR" alt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10</a:t>
            </a:fld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브리지의 한 바퀴</a:t>
            </a:r>
            <a:endParaRPr lang="ko-KR" altLang="en-US" sz="3200" dirty="0"/>
          </a:p>
        </p:txBody>
      </p:sp>
      <p:sp>
        <p:nvSpPr>
          <p:cNvPr id="3" name="box_171"/>
          <p:cNvSpPr/>
          <p:nvPr/>
        </p:nvSpPr>
        <p:spPr>
          <a:xfrm>
            <a:off x="548640" y="1371600"/>
            <a:ext cx="57607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_172"/>
          <p:cNvSpPr txBox="1"/>
          <p:nvPr/>
        </p:nvSpPr>
        <p:spPr>
          <a:xfrm>
            <a:off x="777240" y="1444752"/>
            <a:ext cx="53035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_apply_commands()</a:t>
            </a:r>
            <a:endParaRPr lang="ko-KR" altLang="en-US" sz="1700" dirty="0"/>
          </a:p>
        </p:txBody>
      </p:sp>
      <p:sp>
        <p:nvSpPr>
          <p:cNvPr id="5" name="text_173"/>
          <p:cNvSpPr txBox="1"/>
          <p:nvPr/>
        </p:nvSpPr>
        <p:spPr>
          <a:xfrm>
            <a:off x="777240" y="1847088"/>
            <a:ext cx="53035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/cmd_vel → 바퀴 속도, 관절 목표 → 액추에이터</a:t>
            </a:r>
            <a:endParaRPr lang="ko-KR" altLang="en-US" sz="1400" dirty="0"/>
          </a:p>
        </p:txBody>
      </p:sp>
      <p:sp>
        <p:nvSpPr>
          <p:cNvPr id="6" name="arrow_174"/>
          <p:cNvSpPr/>
          <p:nvPr/>
        </p:nvSpPr>
        <p:spPr>
          <a:xfrm>
            <a:off x="3429000" y="2331720"/>
            <a:ext cx="0" cy="22860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box_175"/>
          <p:cNvSpPr/>
          <p:nvPr/>
        </p:nvSpPr>
        <p:spPr>
          <a:xfrm>
            <a:off x="548640" y="2560320"/>
            <a:ext cx="5760720" cy="960120"/>
          </a:xfrm>
          <a:prstGeom prst="roundRect">
            <a:avLst>
              <a:gd name="adj" fmla="val 761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_176"/>
          <p:cNvSpPr txBox="1"/>
          <p:nvPr/>
        </p:nvSpPr>
        <p:spPr>
          <a:xfrm>
            <a:off x="777240" y="2633472"/>
            <a:ext cx="53035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mj_step() × N</a:t>
            </a:r>
            <a:endParaRPr lang="ko-KR" altLang="en-US" sz="1700" dirty="0"/>
          </a:p>
        </p:txBody>
      </p:sp>
      <p:sp>
        <p:nvSpPr>
          <p:cNvPr id="9" name="text_177"/>
          <p:cNvSpPr txBox="1"/>
          <p:nvPr/>
        </p:nvSpPr>
        <p:spPr>
          <a:xfrm>
            <a:off x="777240" y="3035808"/>
            <a:ext cx="53035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bg1"/>
                </a:solidFill>
              </a:rPr>
              <a:t>1 ms 간격, 실제 시간에 맞춰 따라잡기</a:t>
            </a:r>
            <a:endParaRPr lang="ko-KR" altLang="en-US" sz="1400" dirty="0"/>
          </a:p>
        </p:txBody>
      </p:sp>
      <p:sp>
        <p:nvSpPr>
          <p:cNvPr id="10" name="arrow_178"/>
          <p:cNvSpPr/>
          <p:nvPr/>
        </p:nvSpPr>
        <p:spPr>
          <a:xfrm>
            <a:off x="3429000" y="3520440"/>
            <a:ext cx="0" cy="22860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1" name="box_179"/>
          <p:cNvSpPr/>
          <p:nvPr/>
        </p:nvSpPr>
        <p:spPr>
          <a:xfrm>
            <a:off x="548640" y="3749040"/>
            <a:ext cx="57607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_180"/>
          <p:cNvSpPr txBox="1"/>
          <p:nvPr/>
        </p:nvSpPr>
        <p:spPr>
          <a:xfrm>
            <a:off x="777240" y="3822192"/>
            <a:ext cx="53035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_publish_due()</a:t>
            </a:r>
            <a:endParaRPr lang="ko-KR" altLang="en-US" sz="1700" dirty="0"/>
          </a:p>
        </p:txBody>
      </p:sp>
      <p:sp>
        <p:nvSpPr>
          <p:cNvPr id="13" name="text_181"/>
          <p:cNvSpPr txBox="1"/>
          <p:nvPr/>
        </p:nvSpPr>
        <p:spPr>
          <a:xfrm>
            <a:off x="777240" y="4224528"/>
            <a:ext cx="53035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시뮬레이션 시간 기준으로 주기가 된 것만 발행</a:t>
            </a:r>
            <a:endParaRPr lang="ko-KR" altLang="en-US" sz="1400" dirty="0"/>
          </a:p>
        </p:txBody>
      </p:sp>
      <p:sp>
        <p:nvSpPr>
          <p:cNvPr id="14" name="arrow_182"/>
          <p:cNvSpPr/>
          <p:nvPr/>
        </p:nvSpPr>
        <p:spPr>
          <a:xfrm>
            <a:off x="3429000" y="4709160"/>
            <a:ext cx="0" cy="22860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5" name="box_183"/>
          <p:cNvSpPr/>
          <p:nvPr/>
        </p:nvSpPr>
        <p:spPr>
          <a:xfrm>
            <a:off x="548640" y="4937760"/>
            <a:ext cx="576072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_184"/>
          <p:cNvSpPr txBox="1"/>
          <p:nvPr/>
        </p:nvSpPr>
        <p:spPr>
          <a:xfrm>
            <a:off x="777240" y="5010912"/>
            <a:ext cx="53035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카메라 렌더링</a:t>
            </a:r>
            <a:endParaRPr lang="ko-KR" altLang="en-US" sz="1700" dirty="0"/>
          </a:p>
        </p:txBody>
      </p:sp>
      <p:sp>
        <p:nvSpPr>
          <p:cNvPr id="17" name="text_185"/>
          <p:cNvSpPr txBox="1"/>
          <p:nvPr/>
        </p:nvSpPr>
        <p:spPr>
          <a:xfrm>
            <a:off x="777240" y="5413248"/>
            <a:ext cx="53035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오프스크린 렌더러, 5 Hz</a:t>
            </a:r>
            <a:endParaRPr lang="ko-KR" altLang="en-US" sz="1400" dirty="0"/>
          </a:p>
        </p:txBody>
      </p:sp>
      <p:sp>
        <p:nvSpPr>
          <p:cNvPr id="18" name="text_186"/>
          <p:cNvSpPr txBox="1"/>
          <p:nvPr/>
        </p:nvSpPr>
        <p:spPr>
          <a:xfrm>
            <a:off x="548640" y="6035040"/>
            <a:ext cx="57607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algn="ctr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↺ 매 사이클 반복</a:t>
            </a:r>
            <a:endParaRPr lang="ko-KR" altLang="en-US" sz="1400" dirty="0"/>
          </a:p>
        </p:txBody>
      </p:sp>
      <p:graphicFrame>
        <p:nvGraphicFramePr>
          <p:cNvPr id="12" name="table_1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371600"/>
          <a:ext cx="4937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2103120"/>
              </a:tblGrid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</a:rPr>
                        <a:t>토픽</a:t>
                      </a:r>
                      <a:endParaRPr lang="ko-KR" alt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</a:rPr>
                        <a:t>주기</a:t>
                      </a:r>
                      <a:endParaRPr lang="ko-KR" alt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</a:rPr>
                        <a:t>내용</a:t>
                      </a:r>
                      <a:endParaRPr lang="ko-KR" alt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/clock</a:t>
                      </a:r>
                      <a:endParaRPr lang="ko-KR" alt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250 Hz</a:t>
                      </a:r>
                      <a:endParaRPr lang="ko-KR" alt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시뮬레이션 시간</a:t>
                      </a:r>
                      <a:endParaRPr lang="ko-KR" alt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/joint_states</a:t>
                      </a:r>
                      <a:endParaRPr lang="ko-KR" alt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100 Hz</a:t>
                      </a:r>
                      <a:endParaRPr lang="ko-KR" alt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관절 20개</a:t>
                      </a:r>
                      <a:endParaRPr lang="ko-KR" alt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/odom + TF</a:t>
                      </a:r>
                      <a:endParaRPr lang="ko-KR" alt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50 Hz</a:t>
                      </a:r>
                      <a:endParaRPr lang="ko-KR" alt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휠 오도메트리</a:t>
                      </a:r>
                      <a:endParaRPr lang="ko-KR" alt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/imu</a:t>
                      </a:r>
                      <a:endParaRPr lang="ko-KR" alt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50 Hz</a:t>
                      </a:r>
                      <a:endParaRPr lang="ko-KR" alt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자세·각속도</a:t>
                      </a:r>
                      <a:endParaRPr lang="ko-KR" alt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/scan</a:t>
                      </a:r>
                      <a:endParaRPr lang="ko-KR" alt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10 Hz</a:t>
                      </a:r>
                      <a:endParaRPr lang="ko-KR" alt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360빔 LiDAR</a:t>
                      </a:r>
                      <a:endParaRPr lang="ko-KR" alt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/camera/*</a:t>
                      </a:r>
                      <a:endParaRPr lang="ko-KR" alt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5 Hz</a:t>
                      </a:r>
                      <a:endParaRPr lang="ko-KR" alt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헤드 카메라</a:t>
                      </a:r>
                      <a:endParaRPr lang="ko-KR" alt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11</a:t>
            </a:fld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브리지 설계 규칙 세 가지</a:t>
            </a:r>
            <a:endParaRPr lang="ko-KR" altLang="en-US" sz="3200" dirty="0"/>
          </a:p>
        </p:txBody>
      </p:sp>
      <p:sp>
        <p:nvSpPr>
          <p:cNvPr id="3" name="iconbg_188"/>
          <p:cNvSpPr/>
          <p:nvPr/>
        </p:nvSpPr>
        <p:spPr>
          <a:xfrm>
            <a:off x="548640" y="14630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con_189" descr="Clock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691" y="1644091"/>
            <a:ext cx="460858" cy="460858"/>
          </a:xfrm>
          <a:prstGeom prst="rect">
            <a:avLst/>
          </a:prstGeom>
        </p:spPr>
      </p:pic>
      <p:sp>
        <p:nvSpPr>
          <p:cNvPr id="5" name="text_190"/>
          <p:cNvSpPr txBox="1"/>
          <p:nvPr/>
        </p:nvSpPr>
        <p:spPr>
          <a:xfrm>
            <a:off x="1645920" y="1371600"/>
            <a:ext cx="9966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2000" b="1" dirty="0">
                <a:solidFill>
                  <a:schemeClr val="tx1"/>
                </a:solidFill>
              </a:rPr>
              <a:t>시간의 주인은 시뮬레이터</a:t>
            </a:r>
            <a:endParaRPr lang="ko-KR" altLang="en-US" sz="2000" dirty="0"/>
          </a:p>
        </p:txBody>
      </p:sp>
      <p:sp>
        <p:nvSpPr>
          <p:cNvPr id="6" name="text_191"/>
          <p:cNvSpPr txBox="1"/>
          <p:nvPr/>
        </p:nvSpPr>
        <p:spPr>
          <a:xfrm>
            <a:off x="1645920" y="1920240"/>
            <a:ext cx="9966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2"/>
                </a:solidFill>
              </a:rPr>
              <a:t>브리지가 /clock을 내고 모든 노드는 use_sim_time:=true. 노트북이 느려도 TF·센서 시각이 서로 맞는다.</a:t>
            </a:r>
            <a:endParaRPr lang="ko-KR" altLang="en-US" sz="1600" dirty="0"/>
          </a:p>
        </p:txBody>
      </p:sp>
      <p:sp>
        <p:nvSpPr>
          <p:cNvPr id="7" name="iconbg_192"/>
          <p:cNvSpPr/>
          <p:nvPr/>
        </p:nvSpPr>
        <p:spPr>
          <a:xfrm>
            <a:off x="548640" y="30632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con_193" descr="Sitemap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91" y="3244291"/>
            <a:ext cx="460858" cy="460858"/>
          </a:xfrm>
          <a:prstGeom prst="rect">
            <a:avLst/>
          </a:prstGeom>
        </p:spPr>
      </p:pic>
      <p:sp>
        <p:nvSpPr>
          <p:cNvPr id="9" name="text_194"/>
          <p:cNvSpPr txBox="1"/>
          <p:nvPr/>
        </p:nvSpPr>
        <p:spPr>
          <a:xfrm>
            <a:off x="1645920" y="2971800"/>
            <a:ext cx="9966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2000" b="1" dirty="0">
                <a:solidFill>
                  <a:schemeClr val="tx1"/>
                </a:solidFill>
              </a:rPr>
              <a:t>물리는 MuJoCo, 기구학 트리는 URDF</a:t>
            </a:r>
            <a:endParaRPr lang="ko-KR" altLang="en-US" sz="2000" dirty="0"/>
          </a:p>
        </p:txBody>
      </p:sp>
      <p:sp>
        <p:nvSpPr>
          <p:cNvPr id="10" name="text_195"/>
          <p:cNvSpPr txBox="1"/>
          <p:nvPr/>
        </p:nvSpPr>
        <p:spPr>
          <a:xfrm>
            <a:off x="1645920" y="3520440"/>
            <a:ext cx="9966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2"/>
                </a:solidFill>
              </a:rPr>
              <a:t>브리지는 관절 각도만 내고, 링크 좌표 변환(TF)은 robot_state_publisher가 URDF로 계산한다.</a:t>
            </a:r>
            <a:endParaRPr lang="ko-KR" altLang="en-US" sz="1600" dirty="0"/>
          </a:p>
        </p:txBody>
      </p:sp>
      <p:sp>
        <p:nvSpPr>
          <p:cNvPr id="11" name="iconbg_196"/>
          <p:cNvSpPr/>
          <p:nvPr/>
        </p:nvSpPr>
        <p:spPr>
          <a:xfrm>
            <a:off x="548640" y="466344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icon_197" descr="SatelliteDish 아이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691" y="4844491"/>
            <a:ext cx="460858" cy="460858"/>
          </a:xfrm>
          <a:prstGeom prst="rect">
            <a:avLst/>
          </a:prstGeom>
        </p:spPr>
      </p:pic>
      <p:sp>
        <p:nvSpPr>
          <p:cNvPr id="13" name="text_198"/>
          <p:cNvSpPr txBox="1"/>
          <p:nvPr/>
        </p:nvSpPr>
        <p:spPr>
          <a:xfrm>
            <a:off x="1645920" y="4572000"/>
            <a:ext cx="9966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2000" b="1" dirty="0">
                <a:solidFill>
                  <a:schemeClr val="tx1"/>
                </a:solidFill>
              </a:rPr>
              <a:t>센서는 시뮬레이터 안에서 계산</a:t>
            </a:r>
            <a:endParaRPr lang="ko-KR" altLang="en-US" sz="2000" dirty="0"/>
          </a:p>
        </p:txBody>
      </p:sp>
      <p:sp>
        <p:nvSpPr>
          <p:cNvPr id="14" name="text_199"/>
          <p:cNvSpPr txBox="1"/>
          <p:nvPr/>
        </p:nvSpPr>
        <p:spPr>
          <a:xfrm>
            <a:off x="1645920" y="5120640"/>
            <a:ext cx="9966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2"/>
                </a:solidFill>
              </a:rPr>
              <a:t>LiDAR = mj_multiRay, 오도메트리 = 바퀴 각도, 카메라 = 렌더러. 실제 드라이버와 같은 메시지로 낸다.</a:t>
            </a:r>
            <a:endParaRPr lang="ko-KR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12</a:t>
            </a:fld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로봇은 두 벌로 기술한다</a:t>
            </a:r>
            <a:endParaRPr lang="ko-KR" altLang="en-US" sz="3200" dirty="0"/>
          </a:p>
        </p:txBody>
      </p:sp>
      <p:sp>
        <p:nvSpPr>
          <p:cNvPr id="3" name="box_200"/>
          <p:cNvSpPr/>
          <p:nvPr/>
        </p:nvSpPr>
        <p:spPr>
          <a:xfrm>
            <a:off x="548640" y="1371600"/>
            <a:ext cx="5120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bg_201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icon_202" descr="Cube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720901"/>
            <a:ext cx="307238" cy="307238"/>
          </a:xfrm>
          <a:prstGeom prst="rect">
            <a:avLst/>
          </a:prstGeom>
        </p:spPr>
      </p:pic>
      <p:sp>
        <p:nvSpPr>
          <p:cNvPr id="6" name="text_203"/>
          <p:cNvSpPr txBox="1"/>
          <p:nvPr/>
        </p:nvSpPr>
        <p:spPr>
          <a:xfrm>
            <a:off x="1508760" y="1572768"/>
            <a:ext cx="39319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MJCF: models/unbolt_robot.xml</a:t>
            </a:r>
            <a:endParaRPr lang="ko-KR" altLang="en-US" sz="1700" dirty="0"/>
          </a:p>
        </p:txBody>
      </p:sp>
      <p:sp>
        <p:nvSpPr>
          <p:cNvPr id="7" name="text_204"/>
          <p:cNvSpPr txBox="1"/>
          <p:nvPr/>
        </p:nvSpPr>
        <p:spPr>
          <a:xfrm>
            <a:off x="777240" y="2240280"/>
            <a:ext cx="46634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MuJoCo 물리: 질량, 관성, 충돌, 액추에이터. 팔은 OpenArm 공식 MJCF를 &lt;attach&gt;로 붙인다.</a:t>
            </a:r>
            <a:endParaRPr lang="ko-KR" altLang="en-US" sz="1500" dirty="0"/>
          </a:p>
        </p:txBody>
      </p:sp>
      <p:sp>
        <p:nvSpPr>
          <p:cNvPr id="8" name="box_205"/>
          <p:cNvSpPr/>
          <p:nvPr/>
        </p:nvSpPr>
        <p:spPr>
          <a:xfrm>
            <a:off x="548640" y="3657600"/>
            <a:ext cx="5120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bg_206"/>
          <p:cNvSpPr/>
          <p:nvPr/>
        </p:nvSpPr>
        <p:spPr>
          <a:xfrm>
            <a:off x="777240" y="38862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con_207" descr="Sitemap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941" y="4006901"/>
            <a:ext cx="307238" cy="307238"/>
          </a:xfrm>
          <a:prstGeom prst="rect">
            <a:avLst/>
          </a:prstGeom>
        </p:spPr>
      </p:pic>
      <p:sp>
        <p:nvSpPr>
          <p:cNvPr id="11" name="text_208"/>
          <p:cNvSpPr txBox="1"/>
          <p:nvPr/>
        </p:nvSpPr>
        <p:spPr>
          <a:xfrm>
            <a:off x="1508760" y="3858768"/>
            <a:ext cx="39319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URDF: unbolt.urdf.xacro</a:t>
            </a:r>
            <a:endParaRPr lang="ko-KR" altLang="en-US" sz="1700" dirty="0"/>
          </a:p>
        </p:txBody>
      </p:sp>
      <p:sp>
        <p:nvSpPr>
          <p:cNvPr id="12" name="text_209"/>
          <p:cNvSpPr txBox="1"/>
          <p:nvPr/>
        </p:nvSpPr>
        <p:spPr>
          <a:xfrm>
            <a:off x="777240" y="4526280"/>
            <a:ext cx="46634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TF, RViz, MoveIt, Nav2 footprint. 팔은 OpenArm xacro 매크로 + preset 파일.</a:t>
            </a:r>
            <a:endParaRPr lang="ko-KR" altLang="en-US" sz="1500" dirty="0"/>
          </a:p>
        </p:txBody>
      </p:sp>
      <p:pic>
        <p:nvPicPr>
          <p:cNvPr id="13" name="img_210" descr="MuJoCo 월드: 방, 칸막이벽, 테이블, 주행형 양팔로봇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377315"/>
            <a:ext cx="5669280" cy="3188970"/>
          </a:xfrm>
          <a:prstGeom prst="rect">
            <a:avLst/>
          </a:prstGeom>
        </p:spPr>
      </p:pic>
      <p:sp>
        <p:nvSpPr>
          <p:cNvPr id="14" name="text_211"/>
          <p:cNvSpPr txBox="1"/>
          <p:nvPr/>
        </p:nvSpPr>
        <p:spPr>
          <a:xfrm>
            <a:off x="5943600" y="4709160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치수를 바꾸면 양쪽을 같이 고친다</a:t>
            </a:r>
            <a:endParaRPr lang="ko-KR" altLang="en-US" sz="1600" dirty="0"/>
          </a:p>
        </p:txBody>
      </p:sp>
      <p:sp>
        <p:nvSpPr>
          <p:cNvPr id="15" name="pill_212"/>
          <p:cNvSpPr/>
          <p:nvPr/>
        </p:nvSpPr>
        <p:spPr>
          <a:xfrm>
            <a:off x="5943600" y="5166360"/>
            <a:ext cx="2743200" cy="32918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_213"/>
          <p:cNvSpPr txBox="1"/>
          <p:nvPr/>
        </p:nvSpPr>
        <p:spPr>
          <a:xfrm>
            <a:off x="5943600" y="51663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chemeClr val="tx1"/>
                </a:solidFill>
              </a:rPr>
              <a:t>바퀴 r 0.08</a:t>
            </a:r>
            <a:endParaRPr lang="ko-KR" altLang="en-US" sz="1300" dirty="0"/>
          </a:p>
        </p:txBody>
      </p:sp>
      <p:sp>
        <p:nvSpPr>
          <p:cNvPr id="17" name="pill_214"/>
          <p:cNvSpPr/>
          <p:nvPr/>
        </p:nvSpPr>
        <p:spPr>
          <a:xfrm>
            <a:off x="8823960" y="5166360"/>
            <a:ext cx="2743200" cy="32918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_215"/>
          <p:cNvSpPr txBox="1"/>
          <p:nvPr/>
        </p:nvSpPr>
        <p:spPr>
          <a:xfrm>
            <a:off x="8823960" y="51663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chemeClr val="tx1"/>
                </a:solidFill>
              </a:rPr>
              <a:t>간격 0.45</a:t>
            </a:r>
            <a:endParaRPr lang="ko-KR" altLang="en-US" sz="1300" dirty="0"/>
          </a:p>
        </p:txBody>
      </p:sp>
      <p:sp>
        <p:nvSpPr>
          <p:cNvPr id="19" name="pill_216"/>
          <p:cNvSpPr/>
          <p:nvPr/>
        </p:nvSpPr>
        <p:spPr>
          <a:xfrm>
            <a:off x="5943600" y="5605272"/>
            <a:ext cx="2743200" cy="32918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_217"/>
          <p:cNvSpPr txBox="1"/>
          <p:nvPr/>
        </p:nvSpPr>
        <p:spPr>
          <a:xfrm>
            <a:off x="5943600" y="560527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chemeClr val="tx1"/>
                </a:solidFill>
              </a:rPr>
              <a:t>LiDAR (0.22, 0, 0.13)</a:t>
            </a:r>
            <a:endParaRPr lang="ko-KR" altLang="en-US" sz="1300" dirty="0"/>
          </a:p>
        </p:txBody>
      </p:sp>
      <p:sp>
        <p:nvSpPr>
          <p:cNvPr id="21" name="pill_218"/>
          <p:cNvSpPr/>
          <p:nvPr/>
        </p:nvSpPr>
        <p:spPr>
          <a:xfrm>
            <a:off x="8823960" y="5605272"/>
            <a:ext cx="2743200" cy="32918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_219"/>
          <p:cNvSpPr txBox="1"/>
          <p:nvPr/>
        </p:nvSpPr>
        <p:spPr>
          <a:xfrm>
            <a:off x="8823960" y="560527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chemeClr val="tx1"/>
                </a:solidFill>
              </a:rPr>
              <a:t>받침대 (-0.05, 0, 0.11)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13</a:t>
            </a:fld>
            <a:endParaRPr lang="ko-KR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함정: MuJoCo 접촉은 큰 값을 쓴다</a:t>
            </a:r>
            <a:endParaRPr lang="ko-KR" altLang="en-US" sz="3200" dirty="0"/>
          </a:p>
        </p:txBody>
      </p:sp>
      <p:sp>
        <p:nvSpPr>
          <p:cNvPr id="3" name="box_220"/>
          <p:cNvSpPr/>
          <p:nvPr/>
        </p:nvSpPr>
        <p:spPr>
          <a:xfrm>
            <a:off x="548640" y="1371600"/>
            <a:ext cx="3108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_221"/>
          <p:cNvSpPr txBox="1"/>
          <p:nvPr/>
        </p:nvSpPr>
        <p:spPr>
          <a:xfrm>
            <a:off x="731520" y="1463040"/>
            <a:ext cx="27432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캐스터</a:t>
            </a:r>
            <a:endParaRPr lang="ko-KR" altLang="en-US" sz="1600" dirty="0"/>
          </a:p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condim = 1 (마찰 없음)</a:t>
            </a:r>
            <a:endParaRPr lang="ko-KR" altLang="en-US" sz="1600" dirty="0"/>
          </a:p>
        </p:txBody>
      </p:sp>
      <p:sp>
        <p:nvSpPr>
          <p:cNvPr id="5" name="text_222"/>
          <p:cNvSpPr txBox="1"/>
          <p:nvPr/>
        </p:nvSpPr>
        <p:spPr>
          <a:xfrm>
            <a:off x="3657600" y="1371600"/>
            <a:ext cx="5486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chemeClr val="tx2"/>
                </a:solidFill>
              </a:rPr>
              <a:t>+</a:t>
            </a:r>
            <a:endParaRPr lang="ko-KR" altLang="en-US" sz="3000" dirty="0"/>
          </a:p>
        </p:txBody>
      </p:sp>
      <p:sp>
        <p:nvSpPr>
          <p:cNvPr id="6" name="box_223"/>
          <p:cNvSpPr/>
          <p:nvPr/>
        </p:nvSpPr>
        <p:spPr>
          <a:xfrm>
            <a:off x="4206240" y="1371600"/>
            <a:ext cx="3108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_224"/>
          <p:cNvSpPr txBox="1"/>
          <p:nvPr/>
        </p:nvSpPr>
        <p:spPr>
          <a:xfrm>
            <a:off x="4389120" y="1463040"/>
            <a:ext cx="27432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바닥</a:t>
            </a:r>
            <a:endParaRPr lang="ko-KR" altLang="en-US" sz="1600" dirty="0"/>
          </a:p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condim = 3</a:t>
            </a:r>
            <a:endParaRPr lang="ko-KR" altLang="en-US" sz="1600" dirty="0"/>
          </a:p>
        </p:txBody>
      </p:sp>
      <p:sp>
        <p:nvSpPr>
          <p:cNvPr id="8" name="arrow_225"/>
          <p:cNvSpPr/>
          <p:nvPr/>
        </p:nvSpPr>
        <p:spPr>
          <a:xfrm>
            <a:off x="7406640" y="2057400"/>
            <a:ext cx="54864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box_226"/>
          <p:cNvSpPr/>
          <p:nvPr/>
        </p:nvSpPr>
        <p:spPr>
          <a:xfrm>
            <a:off x="8046720" y="137160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_227"/>
          <p:cNvSpPr txBox="1"/>
          <p:nvPr/>
        </p:nvSpPr>
        <p:spPr>
          <a:xfrm>
            <a:off x="8229600" y="1463040"/>
            <a:ext cx="32004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접촉 condim = 3</a:t>
            </a:r>
            <a:endParaRPr lang="ko-KR" altLang="en-US" sz="1600" dirty="0"/>
          </a:p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캐스터가 버텨서 제자리 회전 멈춤</a:t>
            </a:r>
            <a:endParaRPr lang="ko-KR" altLang="en-US" sz="1600" dirty="0"/>
          </a:p>
        </p:txBody>
      </p:sp>
      <p:sp>
        <p:nvSpPr>
          <p:cNvPr id="11" name="text_228"/>
          <p:cNvSpPr txBox="1"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해결: 캐스터에 priority를 주면 우선순위가 높은 쪽의 값을 쓴다</a:t>
            </a:r>
            <a:endParaRPr lang="ko-KR" altLang="en-US" sz="1800" dirty="0"/>
          </a:p>
        </p:txBody>
      </p:sp>
      <p:sp>
        <p:nvSpPr>
          <p:cNvPr id="12" name="box_229"/>
          <p:cNvSpPr/>
          <p:nvPr/>
        </p:nvSpPr>
        <p:spPr>
          <a:xfrm>
            <a:off x="548640" y="3703320"/>
            <a:ext cx="1106424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code_230"/>
          <p:cNvSpPr txBox="1"/>
          <p:nvPr/>
        </p:nvSpPr>
        <p:spPr>
          <a:xfrm>
            <a:off x="731520" y="38404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200"/>
              </a:spcAft>
              <a:buNone/>
            </a:pPr>
            <a:r>
              <a:rPr lang="ko-KR" altLang="en-US" sz="15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&lt;geom type="sphere" size="0.03" condim="1" priority="2" friction="0 0 0" .../&gt;</a:t>
            </a:r>
            <a:endParaRPr lang="ko-KR" altLang="en-US" sz="1500" dirty="0"/>
          </a:p>
        </p:txBody>
      </p:sp>
      <p:sp>
        <p:nvSpPr>
          <p:cNvPr id="14" name="text_231"/>
          <p:cNvSpPr txBox="1"/>
          <p:nvPr/>
        </p:nvSpPr>
        <p:spPr>
          <a:xfrm>
            <a:off x="548640" y="4663440"/>
            <a:ext cx="110642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2"/>
                </a:solidFill>
              </a:rPr>
              <a:t>실제로 Nav2가 0.1 rad/s로 회전하다 멈추는 증상으로 나타났던 버그. 증상은 컨트롤러 튜닝 문제처럼 보이지만 원인은 접촉 모델이었다.</a:t>
            </a:r>
            <a:endParaRPr lang="ko-KR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14</a:t>
            </a:fld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실습: 브리지 띄우고 확인하기</a:t>
            </a:r>
            <a:endParaRPr lang="ko-KR" altLang="en-US" sz="3200" dirty="0"/>
          </a:p>
        </p:txBody>
      </p:sp>
      <p:sp>
        <p:nvSpPr>
          <p:cNvPr id="3" name="box_232"/>
          <p:cNvSpPr/>
          <p:nvPr/>
        </p:nvSpPr>
        <p:spPr>
          <a:xfrm>
            <a:off x="548640" y="1371600"/>
            <a:ext cx="6309360" cy="4754880"/>
          </a:xfrm>
          <a:prstGeom prst="roundRect">
            <a:avLst>
              <a:gd name="adj" fmla="val 153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_233"/>
          <p:cNvSpPr txBox="1"/>
          <p:nvPr/>
        </p:nvSpPr>
        <p:spPr>
          <a:xfrm>
            <a:off x="731520" y="1508760"/>
            <a:ext cx="59436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터미널 1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ros2 launch unbolt_mujoco_bridge sim.launch.py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터미널 2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ros2 topic hz /clock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ros2 topic hz /scan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ros2 topic echo /joint_states --once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ros2 run teleop_twist_keyboard teleop_twist_keyboard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TF 트리 그리기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~ &amp;&amp; ros2 run tf2_tools view_frames \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--ros-args -p use_sim_time:=true</a:t>
            </a:r>
            <a:endParaRPr lang="ko-KR" altLang="en-US" sz="1400" dirty="0"/>
          </a:p>
        </p:txBody>
      </p:sp>
      <p:pic>
        <p:nvPicPr>
          <p:cNvPr id="5" name="img_234" descr="RViz: 로봇 모델, LiDAR 점, TF 좌표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393341"/>
            <a:ext cx="4480560" cy="2882598"/>
          </a:xfrm>
          <a:prstGeom prst="rect">
            <a:avLst/>
          </a:prstGeom>
        </p:spPr>
      </p:pic>
      <p:sp>
        <p:nvSpPr>
          <p:cNvPr id="6" name="text_235"/>
          <p:cNvSpPr txBox="1"/>
          <p:nvPr/>
        </p:nvSpPr>
        <p:spPr>
          <a:xfrm>
            <a:off x="7132320" y="4526280"/>
            <a:ext cx="44805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✅ 1-2  /clock ≈ 250 Hz, /scan ≈ 10 Hz</a:t>
            </a:r>
            <a:endParaRPr lang="ko-KR" altLang="en-US" sz="1500" dirty="0"/>
          </a:p>
        </p:txBody>
      </p:sp>
      <p:sp>
        <p:nvSpPr>
          <p:cNvPr id="7" name="text_236"/>
          <p:cNvSpPr txBox="1"/>
          <p:nvPr/>
        </p:nvSpPr>
        <p:spPr>
          <a:xfrm>
            <a:off x="7132320" y="5029200"/>
            <a:ext cx="44805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✅ 1-3  odom → base_footprint → base_link …</a:t>
            </a:r>
            <a:endParaRPr lang="ko-KR" altLang="en-US" sz="1500" dirty="0"/>
          </a:p>
        </p:txBody>
      </p:sp>
      <p:sp>
        <p:nvSpPr>
          <p:cNvPr id="8" name="text_237"/>
          <p:cNvSpPr txBox="1"/>
          <p:nvPr/>
        </p:nvSpPr>
        <p:spPr>
          <a:xfrm>
            <a:off x="7132320" y="5532120"/>
            <a:ext cx="44805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키보드: i 앞, , 뒤, j/l 회전, k 정지</a:t>
            </a:r>
            <a:endParaRPr lang="ko-KR" alt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15</a:t>
            </a:fld>
            <a:endParaRPr lang="ko-KR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LiDAR = 광선 360개</a:t>
            </a:r>
            <a:endParaRPr lang="ko-KR" altLang="en-US" sz="3200" dirty="0"/>
          </a:p>
        </p:txBody>
      </p:sp>
      <p:sp>
        <p:nvSpPr>
          <p:cNvPr id="3" name="box_238"/>
          <p:cNvSpPr/>
          <p:nvPr/>
        </p:nvSpPr>
        <p:spPr>
          <a:xfrm>
            <a:off x="548640" y="1371600"/>
            <a:ext cx="6949440" cy="3291840"/>
          </a:xfrm>
          <a:prstGeom prst="roundRect">
            <a:avLst>
              <a:gd name="adj" fmla="val 222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_239"/>
          <p:cNvSpPr txBox="1"/>
          <p:nvPr/>
        </p:nvSpPr>
        <p:spPr>
          <a:xfrm>
            <a:off x="731520" y="1508760"/>
            <a:ext cx="6583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 = d.site_xpos[self.lidar_site].copy()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 = (self.lidar_dirs @ d.site_xmat[...].reshape(3, 3).T).ravel()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mujoco.mj_multiRay(m, d, origin, vec, LIDAR_GEOMGROUP, 1, -1,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geomid, dist, None, n, max_range)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ranges = dist.copy()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hit = ranges &gt;= 0.0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ranges[hit] += rng.normal(0.0, 0.01, hit.sum())   # 노이즈 1 cm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ranges[~hit | (ranges &gt; max_range)] = math.inf</a:t>
            </a:r>
            <a:endParaRPr lang="ko-KR" altLang="en-US" sz="1300" dirty="0"/>
          </a:p>
        </p:txBody>
      </p:sp>
      <p:sp>
        <p:nvSpPr>
          <p:cNvPr id="5" name="box_240"/>
          <p:cNvSpPr/>
          <p:nvPr/>
        </p:nvSpPr>
        <p:spPr>
          <a:xfrm>
            <a:off x="7772400" y="1371600"/>
            <a:ext cx="38404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_241"/>
          <p:cNvSpPr txBox="1"/>
          <p:nvPr/>
        </p:nvSpPr>
        <p:spPr>
          <a:xfrm>
            <a:off x="8001000" y="1572768"/>
            <a:ext cx="33832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360방향 한 번에</a:t>
            </a:r>
            <a:endParaRPr lang="ko-KR" altLang="en-US" sz="1700" dirty="0"/>
          </a:p>
        </p:txBody>
      </p:sp>
      <p:sp>
        <p:nvSpPr>
          <p:cNvPr id="7" name="text_242"/>
          <p:cNvSpPr txBox="1"/>
          <p:nvPr/>
        </p:nvSpPr>
        <p:spPr>
          <a:xfrm>
            <a:off x="8001000" y="2240280"/>
            <a:ext cx="338328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방향 벡터를 로봇 자세로 돌려 동시에 쏜다</a:t>
            </a:r>
            <a:endParaRPr lang="ko-KR" altLang="en-US" sz="1400" dirty="0"/>
          </a:p>
        </p:txBody>
      </p:sp>
      <p:sp>
        <p:nvSpPr>
          <p:cNvPr id="8" name="box_243"/>
          <p:cNvSpPr/>
          <p:nvPr/>
        </p:nvSpPr>
        <p:spPr>
          <a:xfrm>
            <a:off x="7772400" y="3017520"/>
            <a:ext cx="384048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_244"/>
          <p:cNvSpPr txBox="1"/>
          <p:nvPr/>
        </p:nvSpPr>
        <p:spPr>
          <a:xfrm>
            <a:off x="8001000" y="3218688"/>
            <a:ext cx="33832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geom 그룹 0, 1만</a:t>
            </a:r>
            <a:endParaRPr lang="ko-KR" altLang="en-US" sz="1700" dirty="0"/>
          </a:p>
        </p:txBody>
      </p:sp>
      <p:sp>
        <p:nvSpPr>
          <p:cNvPr id="10" name="text_245"/>
          <p:cNvSpPr txBox="1"/>
          <p:nvPr/>
        </p:nvSpPr>
        <p:spPr>
          <a:xfrm>
            <a:off x="8001000" y="3886200"/>
            <a:ext cx="33832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로봇 자신의 몸은 다른 그룹 → 자기 팔을 장애물로 보지 않는다</a:t>
            </a:r>
            <a:endParaRPr lang="ko-KR" altLang="en-US" sz="1400" dirty="0"/>
          </a:p>
        </p:txBody>
      </p:sp>
      <p:sp>
        <p:nvSpPr>
          <p:cNvPr id="11" name="box_246"/>
          <p:cNvSpPr/>
          <p:nvPr/>
        </p:nvSpPr>
        <p:spPr>
          <a:xfrm>
            <a:off x="548640" y="4937760"/>
            <a:ext cx="11064240" cy="1097280"/>
          </a:xfrm>
          <a:prstGeom prst="roundRect">
            <a:avLst>
              <a:gd name="adj" fmla="val 6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code_247"/>
          <p:cNvSpPr txBox="1"/>
          <p:nvPr/>
        </p:nvSpPr>
        <p:spPr>
          <a:xfrm>
            <a:off x="731520" y="50749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정면(0°) 빔 거리: i번 빔 = (i+2)번째 줄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ros2 topic echo /scan --once --field ranges | tr ',' '\n' | sed -n 182p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16</a:t>
            </a:fld>
            <a:endParaRPr lang="ko-KR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휠 오도메트리와 그 오차</a:t>
            </a:r>
            <a:endParaRPr lang="ko-KR" altLang="en-US" sz="3200" dirty="0"/>
          </a:p>
        </p:txBody>
      </p:sp>
      <p:sp>
        <p:nvSpPr>
          <p:cNvPr id="3" name="box_248"/>
          <p:cNvSpPr/>
          <p:nvPr/>
        </p:nvSpPr>
        <p:spPr>
          <a:xfrm>
            <a:off x="548640" y="1371600"/>
            <a:ext cx="6949440" cy="2743200"/>
          </a:xfrm>
          <a:prstGeom prst="roundRect">
            <a:avLst>
              <a:gd name="adj" fmla="val 2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_249"/>
          <p:cNvSpPr txBox="1"/>
          <p:nvPr/>
        </p:nvSpPr>
        <p:spPr>
          <a:xfrm>
            <a:off x="731520" y="1508760"/>
            <a:ext cx="6583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dl = (wheel[0] - prev[0]) * wheel_radius   # 왼쪽 바퀴가 굴러간 거리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 = (wheel[1] - prev[1]) * wheel_radius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   = (dl + dr) / 2.0                     # 중심 이동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dyaw = (dr - dl) / wheel_sep               # 회전량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mid  = yaw + dyaw / 2.0                    # 중간 방향으로 적분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pose = [x + ds*cos(mid), y + ds*sin(mid), yaw + dyaw]</a:t>
            </a:r>
            <a:endParaRPr lang="ko-KR" altLang="en-US" sz="1300" dirty="0"/>
          </a:p>
        </p:txBody>
      </p:sp>
      <p:sp>
        <p:nvSpPr>
          <p:cNvPr id="5" name="box_250"/>
          <p:cNvSpPr/>
          <p:nvPr/>
        </p:nvSpPr>
        <p:spPr>
          <a:xfrm>
            <a:off x="7772400" y="1371600"/>
            <a:ext cx="384048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bg_251"/>
          <p:cNvSpPr/>
          <p:nvPr/>
        </p:nvSpPr>
        <p:spPr>
          <a:xfrm>
            <a:off x="8001000" y="1600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7" name="icon_252" descr="Keyboard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1701" y="1720901"/>
            <a:ext cx="307238" cy="307238"/>
          </a:xfrm>
          <a:prstGeom prst="rect">
            <a:avLst/>
          </a:prstGeom>
        </p:spPr>
      </p:pic>
      <p:sp>
        <p:nvSpPr>
          <p:cNvPr id="8" name="text_253"/>
          <p:cNvSpPr txBox="1"/>
          <p:nvPr/>
        </p:nvSpPr>
        <p:spPr>
          <a:xfrm>
            <a:off x="8732520" y="1572768"/>
            <a:ext cx="26517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실습 6</a:t>
            </a:r>
            <a:endParaRPr lang="ko-KR" altLang="en-US" sz="1800" dirty="0"/>
          </a:p>
        </p:txBody>
      </p:sp>
      <p:sp>
        <p:nvSpPr>
          <p:cNvPr id="9" name="text_254"/>
          <p:cNvSpPr txBox="1"/>
          <p:nvPr/>
        </p:nvSpPr>
        <p:spPr>
          <a:xfrm>
            <a:off x="8001000" y="2240280"/>
            <a:ext cx="338328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키보드로 1~2분 돌아다닌 뒤 /odom과 /ground_truth/odom을 비교해 오차를 cm로 적는다</a:t>
            </a:r>
            <a:endParaRPr lang="ko-KR" altLang="en-US" sz="1500" dirty="0"/>
          </a:p>
        </p:txBody>
      </p:sp>
      <p:sp>
        <p:nvSpPr>
          <p:cNvPr id="10" name="box_255"/>
          <p:cNvSpPr/>
          <p:nvPr/>
        </p:nvSpPr>
        <p:spPr>
          <a:xfrm>
            <a:off x="548640" y="4434840"/>
            <a:ext cx="11064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_256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오차가 생기는 이유: 바퀴 미끄러짐, 캐스터 마찰, 급회전</a:t>
            </a:r>
            <a:endParaRPr lang="ko-KR" altLang="en-US" sz="1700" dirty="0"/>
          </a:p>
        </p:txBody>
      </p:sp>
      <p:sp>
        <p:nvSpPr>
          <p:cNvPr id="12" name="text_257"/>
          <p:cNvSpPr txBox="1"/>
          <p:nvPr/>
        </p:nvSpPr>
        <p:spPr>
          <a:xfrm>
            <a:off x="822960" y="5074920"/>
            <a:ext cx="10515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2"/>
                </a:solidFill>
              </a:rPr>
              <a:t>→ 이 오차를 LiDAR로 바로잡는 것이 모듈 2의 SLAM과 AMCL. 실제 로봇에는 /ground_truth가 없다.</a:t>
            </a:r>
            <a:endParaRPr lang="ko-KR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17</a:t>
            </a:fld>
            <a:endParaRPr lang="ko-KR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모듈 1 체크포인트와 과제</a:t>
            </a:r>
            <a:endParaRPr lang="ko-KR" altLang="en-US" sz="3200" dirty="0"/>
          </a:p>
        </p:txBody>
      </p:sp>
      <p:sp>
        <p:nvSpPr>
          <p:cNvPr id="3" name="text_258"/>
          <p:cNvSpPr txBox="1"/>
          <p:nvPr/>
        </p:nvSpPr>
        <p:spPr>
          <a:xfrm>
            <a:off x="548640" y="1371600"/>
            <a:ext cx="5029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2000" b="1" dirty="0">
                <a:solidFill>
                  <a:schemeClr val="tx1"/>
                </a:solidFill>
              </a:rPr>
              <a:t>체크포인트</a:t>
            </a:r>
            <a:endParaRPr lang="ko-KR" altLang="en-US" sz="2000" dirty="0"/>
          </a:p>
        </p:txBody>
      </p:sp>
      <p:sp>
        <p:nvSpPr>
          <p:cNvPr id="4" name="iconbg_259"/>
          <p:cNvSpPr/>
          <p:nvPr/>
        </p:nvSpPr>
        <p:spPr>
          <a:xfrm>
            <a:off x="548640" y="2011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con_260" descr="CheckCircle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" y="2122322"/>
            <a:ext cx="281635" cy="281635"/>
          </a:xfrm>
          <a:prstGeom prst="rect">
            <a:avLst/>
          </a:prstGeom>
        </p:spPr>
      </p:pic>
      <p:sp>
        <p:nvSpPr>
          <p:cNvPr id="6" name="text_261"/>
          <p:cNvSpPr txBox="1"/>
          <p:nvPr/>
        </p:nvSpPr>
        <p:spPr>
          <a:xfrm>
            <a:off x="1234440" y="2011680"/>
            <a:ext cx="44805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1"/>
                </a:solidFill>
              </a:rPr>
              <a:t>1-1  슬라이더로 바퀴를 돌려 로봇이 움직인다</a:t>
            </a:r>
            <a:endParaRPr lang="ko-KR" altLang="en-US" sz="1600" dirty="0"/>
          </a:p>
        </p:txBody>
      </p:sp>
      <p:sp>
        <p:nvSpPr>
          <p:cNvPr id="7" name="iconbg_262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con_263" descr="CheckCircle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" y="3082442"/>
            <a:ext cx="281635" cy="281635"/>
          </a:xfrm>
          <a:prstGeom prst="rect">
            <a:avLst/>
          </a:prstGeom>
        </p:spPr>
      </p:pic>
      <p:sp>
        <p:nvSpPr>
          <p:cNvPr id="9" name="text_264"/>
          <p:cNvSpPr txBox="1"/>
          <p:nvPr/>
        </p:nvSpPr>
        <p:spPr>
          <a:xfrm>
            <a:off x="1234440" y="2971800"/>
            <a:ext cx="44805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1"/>
                </a:solidFill>
              </a:rPr>
              <a:t>1-2  /clock 250 Hz, /scan 10 Hz</a:t>
            </a:r>
            <a:endParaRPr lang="ko-KR" altLang="en-US" sz="1600" dirty="0"/>
          </a:p>
        </p:txBody>
      </p:sp>
      <p:sp>
        <p:nvSpPr>
          <p:cNvPr id="10" name="iconbg_265"/>
          <p:cNvSpPr/>
          <p:nvPr/>
        </p:nvSpPr>
        <p:spPr>
          <a:xfrm>
            <a:off x="548640" y="39319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on_266" descr="CheckCircle 아이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" y="4042562"/>
            <a:ext cx="281635" cy="281635"/>
          </a:xfrm>
          <a:prstGeom prst="rect">
            <a:avLst/>
          </a:prstGeom>
        </p:spPr>
      </p:pic>
      <p:sp>
        <p:nvSpPr>
          <p:cNvPr id="12" name="text_267"/>
          <p:cNvSpPr txBox="1"/>
          <p:nvPr/>
        </p:nvSpPr>
        <p:spPr>
          <a:xfrm>
            <a:off x="1234440" y="3931920"/>
            <a:ext cx="44805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1"/>
                </a:solidFill>
              </a:rPr>
              <a:t>1-3  frames PDF에서 TF 트리 확인</a:t>
            </a:r>
            <a:endParaRPr lang="ko-KR" altLang="en-US" sz="1600" dirty="0"/>
          </a:p>
        </p:txBody>
      </p:sp>
      <p:sp>
        <p:nvSpPr>
          <p:cNvPr id="13" name="iconbg_268"/>
          <p:cNvSpPr/>
          <p:nvPr/>
        </p:nvSpPr>
        <p:spPr>
          <a:xfrm>
            <a:off x="548640" y="48920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con_269" descr="CheckCircle 아이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" y="5002682"/>
            <a:ext cx="281635" cy="281635"/>
          </a:xfrm>
          <a:prstGeom prst="rect">
            <a:avLst/>
          </a:prstGeom>
        </p:spPr>
      </p:pic>
      <p:sp>
        <p:nvSpPr>
          <p:cNvPr id="15" name="text_270"/>
          <p:cNvSpPr txBox="1"/>
          <p:nvPr/>
        </p:nvSpPr>
        <p:spPr>
          <a:xfrm>
            <a:off x="1234440" y="4892040"/>
            <a:ext cx="44805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1"/>
                </a:solidFill>
              </a:rPr>
              <a:t>1-4  오도메트리 오차를 cm로 적었다</a:t>
            </a:r>
            <a:endParaRPr lang="ko-KR" altLang="en-US" sz="1600" dirty="0"/>
          </a:p>
        </p:txBody>
      </p:sp>
      <p:sp>
        <p:nvSpPr>
          <p:cNvPr id="16" name="box_271"/>
          <p:cNvSpPr/>
          <p:nvPr/>
        </p:nvSpPr>
        <p:spPr>
          <a:xfrm>
            <a:off x="6035040" y="1371600"/>
            <a:ext cx="55778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_272"/>
          <p:cNvSpPr txBox="1"/>
          <p:nvPr/>
        </p:nvSpPr>
        <p:spPr>
          <a:xfrm>
            <a:off x="6263640" y="1572768"/>
            <a:ext cx="51206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기본 A. 장애물 추가</a:t>
            </a:r>
            <a:endParaRPr lang="ko-KR" altLang="en-US" sz="1700" dirty="0"/>
          </a:p>
        </p:txBody>
      </p:sp>
      <p:sp>
        <p:nvSpPr>
          <p:cNvPr id="18" name="text_273"/>
          <p:cNvSpPr txBox="1"/>
          <p:nvPr/>
        </p:nvSpPr>
        <p:spPr>
          <a:xfrm>
            <a:off x="6263640" y="2240280"/>
            <a:ext cx="51206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my_scene.xml에 상자를 넣고 sim.launch.py model_path:=… 로 LiDAR 확인</a:t>
            </a:r>
            <a:endParaRPr lang="ko-KR" altLang="en-US" sz="1400" dirty="0"/>
          </a:p>
        </p:txBody>
      </p:sp>
      <p:sp>
        <p:nvSpPr>
          <p:cNvPr id="19" name="box_274"/>
          <p:cNvSpPr/>
          <p:nvPr/>
        </p:nvSpPr>
        <p:spPr>
          <a:xfrm>
            <a:off x="6035040" y="2926080"/>
            <a:ext cx="55778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_275"/>
          <p:cNvSpPr txBox="1"/>
          <p:nvPr/>
        </p:nvSpPr>
        <p:spPr>
          <a:xfrm>
            <a:off x="6263640" y="3127248"/>
            <a:ext cx="51206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기본 B. LiDAR 파라미터</a:t>
            </a:r>
            <a:endParaRPr lang="ko-KR" altLang="en-US" sz="1700" dirty="0"/>
          </a:p>
        </p:txBody>
      </p:sp>
      <p:sp>
        <p:nvSpPr>
          <p:cNvPr id="21" name="text_276"/>
          <p:cNvSpPr txBox="1"/>
          <p:nvPr/>
        </p:nvSpPr>
        <p:spPr>
          <a:xfrm>
            <a:off x="6263640" y="3794760"/>
            <a:ext cx="51206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lidar_samples 720, lidar_noise_std 0.05 로 바꿔 비교</a:t>
            </a:r>
            <a:endParaRPr lang="ko-KR" altLang="en-US" sz="1400" dirty="0"/>
          </a:p>
        </p:txBody>
      </p:sp>
      <p:sp>
        <p:nvSpPr>
          <p:cNvPr id="22" name="box_277"/>
          <p:cNvSpPr/>
          <p:nvPr/>
        </p:nvSpPr>
        <p:spPr>
          <a:xfrm>
            <a:off x="6035040" y="4480560"/>
            <a:ext cx="5577840" cy="1600200"/>
          </a:xfrm>
          <a:prstGeom prst="roundRect">
            <a:avLst>
              <a:gd name="adj" fmla="val 457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text_278"/>
          <p:cNvSpPr txBox="1"/>
          <p:nvPr/>
        </p:nvSpPr>
        <p:spPr>
          <a:xfrm>
            <a:off x="6263640" y="4681728"/>
            <a:ext cx="51206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도전. 범퍼 센서</a:t>
            </a:r>
            <a:endParaRPr lang="ko-KR" altLang="en-US" sz="1700" dirty="0"/>
          </a:p>
        </p:txBody>
      </p:sp>
      <p:sp>
        <p:nvSpPr>
          <p:cNvPr id="24" name="text_279"/>
          <p:cNvSpPr txBox="1"/>
          <p:nvPr/>
        </p:nvSpPr>
        <p:spPr>
          <a:xfrm>
            <a:off x="6263640" y="5349240"/>
            <a:ext cx="51206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accent5"/>
                </a:solidFill>
              </a:rPr>
              <a:t>섀시 접촉 시 /bumper (Bool) 50 Hz 발행. d.contact, geom_bodyid 활용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18</a:t>
            </a:fld>
            <a:endParaRPr lang="ko-KR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2000" b="1" dirty="0">
                <a:solidFill>
                  <a:schemeClr val="accent1"/>
                </a:solidFill>
              </a:rPr>
              <a:t>모듈 2 · 1일차 12:30–16:30</a:t>
            </a:r>
            <a:endParaRPr lang="ko-KR" alt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chemeClr val="bg1"/>
                </a:solidFill>
              </a:rPr>
              <a:t>SLAM Toolbox + Nav2</a:t>
            </a:r>
            <a:endParaRPr lang="ko-KR" altLang="en-US" sz="4000" dirty="0"/>
          </a:p>
          <a:p>
            <a:pPr eaLnBrk="0" algn="l" indent="0" marL="0">
              <a:buNone/>
            </a:pPr>
            <a:r>
              <a:rPr lang="ko-KR" altLang="en-US" sz="4000" b="1" dirty="0">
                <a:solidFill>
                  <a:schemeClr val="bg1"/>
                </a:solidFill>
              </a:rPr>
              <a:t>실내 자율주행</a:t>
            </a:r>
            <a:endParaRPr lang="ko-KR" alt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57600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accent5"/>
                </a:solidFill>
              </a:rPr>
              <a:t>map → odom 보정으로 오도메트리 오차를 잡는다</a:t>
            </a:r>
            <a:endParaRPr lang="ko-KR" altLang="en-US" sz="1600" dirty="0"/>
          </a:p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accent5"/>
                </a:solidFill>
              </a:rPr>
              <a:t>slam_toolbox로 방 지도를 만들고 저장한다</a:t>
            </a:r>
            <a:endParaRPr lang="ko-KR" altLang="en-US" sz="1600" dirty="0"/>
          </a:p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accent5"/>
                </a:solidFill>
              </a:rPr>
              <a:t>AMCL, costmap, planner, controller, 행동 트리</a:t>
            </a:r>
            <a:endParaRPr lang="ko-KR" altLang="en-US" sz="1600" dirty="0"/>
          </a:p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accent5"/>
                </a:solidFill>
              </a:rPr>
              <a:t>파라미터 실험, 지도에 없는 장애물, Python 순찰</a:t>
            </a:r>
            <a:endParaRPr lang="ko-KR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19</a:t>
            </a:fld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세 개의 좌표계</a:t>
            </a:r>
            <a:endParaRPr lang="ko-KR" altLang="en-US" sz="3200" dirty="0"/>
          </a:p>
        </p:txBody>
      </p:sp>
      <p:sp>
        <p:nvSpPr>
          <p:cNvPr id="3" name="box_280"/>
          <p:cNvSpPr/>
          <p:nvPr/>
        </p:nvSpPr>
        <p:spPr>
          <a:xfrm>
            <a:off x="548640" y="1554480"/>
            <a:ext cx="3108960" cy="100584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_281"/>
          <p:cNvSpPr txBox="1"/>
          <p:nvPr/>
        </p:nvSpPr>
        <p:spPr>
          <a:xfrm>
            <a:off x="548640" y="1554480"/>
            <a:ext cx="310896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endParaRPr lang="ko-KR" altLang="en-US" sz="2200" dirty="0"/>
          </a:p>
        </p:txBody>
      </p:sp>
      <p:sp>
        <p:nvSpPr>
          <p:cNvPr id="5" name="arrow_282"/>
          <p:cNvSpPr/>
          <p:nvPr/>
        </p:nvSpPr>
        <p:spPr>
          <a:xfrm>
            <a:off x="3703320" y="2057400"/>
            <a:ext cx="731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6" name="box_283"/>
          <p:cNvSpPr/>
          <p:nvPr/>
        </p:nvSpPr>
        <p:spPr>
          <a:xfrm>
            <a:off x="4480560" y="1554480"/>
            <a:ext cx="3108960" cy="1005840"/>
          </a:xfrm>
          <a:prstGeom prst="roundRect">
            <a:avLst>
              <a:gd name="adj" fmla="val 727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_284"/>
          <p:cNvSpPr txBox="1"/>
          <p:nvPr/>
        </p:nvSpPr>
        <p:spPr>
          <a:xfrm>
            <a:off x="4480560" y="1554480"/>
            <a:ext cx="310896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odom</a:t>
            </a:r>
            <a:endParaRPr lang="ko-KR" altLang="en-US" sz="2200" dirty="0"/>
          </a:p>
        </p:txBody>
      </p:sp>
      <p:sp>
        <p:nvSpPr>
          <p:cNvPr id="8" name="arrow_285"/>
          <p:cNvSpPr/>
          <p:nvPr/>
        </p:nvSpPr>
        <p:spPr>
          <a:xfrm>
            <a:off x="7635240" y="2057400"/>
            <a:ext cx="731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box_286"/>
          <p:cNvSpPr/>
          <p:nvPr/>
        </p:nvSpPr>
        <p:spPr>
          <a:xfrm>
            <a:off x="8412480" y="1554480"/>
            <a:ext cx="3108960" cy="100584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_287"/>
          <p:cNvSpPr txBox="1"/>
          <p:nvPr/>
        </p:nvSpPr>
        <p:spPr>
          <a:xfrm>
            <a:off x="8412480" y="1554480"/>
            <a:ext cx="310896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base_footprint</a:t>
            </a:r>
            <a:endParaRPr lang="ko-KR" altLang="en-US" sz="2200" dirty="0"/>
          </a:p>
        </p:txBody>
      </p:sp>
      <p:sp>
        <p:nvSpPr>
          <p:cNvPr id="11" name="box_288"/>
          <p:cNvSpPr/>
          <p:nvPr/>
        </p:nvSpPr>
        <p:spPr>
          <a:xfrm>
            <a:off x="548640" y="2926080"/>
            <a:ext cx="548640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_289"/>
          <p:cNvSpPr txBox="1"/>
          <p:nvPr/>
        </p:nvSpPr>
        <p:spPr>
          <a:xfrm>
            <a:off x="777240" y="3127248"/>
            <a:ext cx="50292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map → odom: SLAM / AMCL</a:t>
            </a:r>
            <a:endParaRPr lang="ko-KR" altLang="en-US" sz="1700" dirty="0"/>
          </a:p>
        </p:txBody>
      </p:sp>
      <p:sp>
        <p:nvSpPr>
          <p:cNvPr id="13" name="text_290"/>
          <p:cNvSpPr txBox="1"/>
          <p:nvPr/>
        </p:nvSpPr>
        <p:spPr>
          <a:xfrm>
            <a:off x="777240" y="3794760"/>
            <a:ext cx="50292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LiDAR로 지도에 맞춰 보정. 정확하지만 보정할 때 툭 뛸 수 있다</a:t>
            </a:r>
            <a:endParaRPr lang="ko-KR" altLang="en-US" sz="1500" dirty="0"/>
          </a:p>
        </p:txBody>
      </p:sp>
      <p:sp>
        <p:nvSpPr>
          <p:cNvPr id="14" name="box_291"/>
          <p:cNvSpPr/>
          <p:nvPr/>
        </p:nvSpPr>
        <p:spPr>
          <a:xfrm>
            <a:off x="6172200" y="2926080"/>
            <a:ext cx="54406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_292"/>
          <p:cNvSpPr txBox="1"/>
          <p:nvPr/>
        </p:nvSpPr>
        <p:spPr>
          <a:xfrm>
            <a:off x="6400800" y="3127248"/>
            <a:ext cx="49834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odom → base: 브리지</a:t>
            </a:r>
            <a:endParaRPr lang="ko-KR" altLang="en-US" sz="1700" dirty="0"/>
          </a:p>
        </p:txBody>
      </p:sp>
      <p:sp>
        <p:nvSpPr>
          <p:cNvPr id="16" name="text_293"/>
          <p:cNvSpPr txBox="1"/>
          <p:nvPr/>
        </p:nvSpPr>
        <p:spPr>
          <a:xfrm>
            <a:off x="6400800" y="3794760"/>
            <a:ext cx="49834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휠 오도메트리. 부드럽고 연속적이지만 시간이 갈수록 어긋난다</a:t>
            </a:r>
            <a:endParaRPr lang="ko-KR" altLang="en-US" sz="1500" dirty="0"/>
          </a:p>
        </p:txBody>
      </p:sp>
      <p:sp>
        <p:nvSpPr>
          <p:cNvPr id="17" name="box_294"/>
          <p:cNvSpPr/>
          <p:nvPr/>
        </p:nvSpPr>
        <p:spPr>
          <a:xfrm>
            <a:off x="548640" y="489204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_295"/>
          <p:cNvSpPr txBox="1"/>
          <p:nvPr/>
        </p:nvSpPr>
        <p:spPr>
          <a:xfrm>
            <a:off x="822960" y="4892040"/>
            <a:ext cx="10515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SLAM/AMCL은 로봇 위치를 직접 바꾸지 않고 map → odom 을 조정해서 둘의 장점을 합친다</a:t>
            </a:r>
            <a:endParaRPr lang="ko-KR" alt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20</a:t>
            </a:fld>
            <a:endParaRPr lang="ko-KR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SLAM Toolbox: 스캔을 이어 붙여 지도로</a:t>
            </a:r>
            <a:endParaRPr lang="ko-KR" altLang="en-US" sz="3200" dirty="0"/>
          </a:p>
        </p:txBody>
      </p:sp>
      <p:sp>
        <p:nvSpPr>
          <p:cNvPr id="3" name="num_296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_297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1</a:t>
            </a:r>
            <a:endParaRPr lang="ko-KR" altLang="en-US" sz="1600" dirty="0"/>
          </a:p>
        </p:txBody>
      </p:sp>
      <p:sp>
        <p:nvSpPr>
          <p:cNvPr id="5" name="text_298"/>
          <p:cNvSpPr txBox="1"/>
          <p:nvPr/>
        </p:nvSpPr>
        <p:spPr>
          <a:xfrm>
            <a:off x="1188720" y="1444752"/>
            <a:ext cx="5394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스캔 매칭</a:t>
            </a:r>
            <a:endParaRPr lang="ko-KR" altLang="en-US" sz="1700" dirty="0"/>
          </a:p>
        </p:txBody>
      </p:sp>
      <p:sp>
        <p:nvSpPr>
          <p:cNvPr id="6" name="text_299"/>
          <p:cNvSpPr txBox="1"/>
          <p:nvPr/>
        </p:nvSpPr>
        <p:spPr>
          <a:xfrm>
            <a:off x="1188720" y="1920240"/>
            <a:ext cx="53949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새 스캔을 지금까지의 지도에 맞춰 오도메트리보다 정확한 위치를 구한다</a:t>
            </a:r>
            <a:endParaRPr lang="ko-KR" altLang="en-US" sz="1400" dirty="0"/>
          </a:p>
        </p:txBody>
      </p:sp>
      <p:sp>
        <p:nvSpPr>
          <p:cNvPr id="7" name="num_300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_301"/>
          <p:cNvSpPr txBox="1"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2</a:t>
            </a:r>
            <a:endParaRPr lang="ko-KR" altLang="en-US" sz="1600" dirty="0"/>
          </a:p>
        </p:txBody>
      </p:sp>
      <p:sp>
        <p:nvSpPr>
          <p:cNvPr id="9" name="text_302"/>
          <p:cNvSpPr txBox="1"/>
          <p:nvPr/>
        </p:nvSpPr>
        <p:spPr>
          <a:xfrm>
            <a:off x="1188720" y="2862072"/>
            <a:ext cx="5394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포즈 그래프</a:t>
            </a:r>
            <a:endParaRPr lang="ko-KR" altLang="en-US" sz="1700" dirty="0"/>
          </a:p>
        </p:txBody>
      </p:sp>
      <p:sp>
        <p:nvSpPr>
          <p:cNvPr id="10" name="text_303"/>
          <p:cNvSpPr txBox="1"/>
          <p:nvPr/>
        </p:nvSpPr>
        <p:spPr>
          <a:xfrm>
            <a:off x="1188720" y="3337560"/>
            <a:ext cx="53949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0.2 m / 0.2 rad 움직일 때마다 노드를 추가한다</a:t>
            </a:r>
            <a:endParaRPr lang="ko-KR" altLang="en-US" sz="1400" dirty="0"/>
          </a:p>
        </p:txBody>
      </p:sp>
      <p:sp>
        <p:nvSpPr>
          <p:cNvPr id="11" name="num_304"/>
          <p:cNvSpPr/>
          <p:nvPr/>
        </p:nvSpPr>
        <p:spPr>
          <a:xfrm>
            <a:off x="548640" y="42976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_305"/>
          <p:cNvSpPr txBox="1"/>
          <p:nvPr/>
        </p:nvSpPr>
        <p:spPr>
          <a:xfrm>
            <a:off x="5486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3</a:t>
            </a:r>
            <a:endParaRPr lang="ko-KR" altLang="en-US" sz="1600" dirty="0"/>
          </a:p>
        </p:txBody>
      </p:sp>
      <p:sp>
        <p:nvSpPr>
          <p:cNvPr id="13" name="text_306"/>
          <p:cNvSpPr txBox="1"/>
          <p:nvPr/>
        </p:nvSpPr>
        <p:spPr>
          <a:xfrm>
            <a:off x="1188720" y="4279392"/>
            <a:ext cx="5394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루프 클로저</a:t>
            </a:r>
            <a:endParaRPr lang="ko-KR" altLang="en-US" sz="1700" dirty="0"/>
          </a:p>
        </p:txBody>
      </p:sp>
      <p:sp>
        <p:nvSpPr>
          <p:cNvPr id="14" name="text_307"/>
          <p:cNvSpPr txBox="1"/>
          <p:nvPr/>
        </p:nvSpPr>
        <p:spPr>
          <a:xfrm>
            <a:off x="1188720" y="4754880"/>
            <a:ext cx="53949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왔던 곳에 돌아오면 알아보고 쌓인 오차를 그래프 전체에 나눠 줄인다</a:t>
            </a:r>
            <a:endParaRPr lang="ko-KR" altLang="en-US" sz="1400" dirty="0"/>
          </a:p>
        </p:txBody>
      </p:sp>
      <p:pic>
        <p:nvPicPr>
          <p:cNvPr id="15" name="img_308" descr="SLAM으로 만든 지도와 실제 월드 비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700011"/>
            <a:ext cx="4663440" cy="400661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21</a:t>
            </a:fld>
            <a:endParaRPr lang="ko-KR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Nav2 구조</a:t>
            </a:r>
            <a:endParaRPr lang="ko-KR" altLang="en-US" sz="3200" dirty="0"/>
          </a:p>
        </p:txBody>
      </p:sp>
      <p:sp>
        <p:nvSpPr>
          <p:cNvPr id="3" name="box_309"/>
          <p:cNvSpPr/>
          <p:nvPr/>
        </p:nvSpPr>
        <p:spPr>
          <a:xfrm>
            <a:off x="548640" y="146304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text_310"/>
          <p:cNvSpPr txBox="1"/>
          <p:nvPr/>
        </p:nvSpPr>
        <p:spPr>
          <a:xfrm>
            <a:off x="548640" y="1463040"/>
            <a:ext cx="2377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목표</a:t>
            </a:r>
            <a:endParaRPr lang="ko-KR" altLang="en-US" sz="1500" dirty="0"/>
          </a:p>
          <a:p>
            <a:pPr eaLnBrk="0" algn="ctr" indent="0" marL="0"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(RViz / Python)</a:t>
            </a:r>
            <a:endParaRPr lang="ko-KR" altLang="en-US" sz="1500" dirty="0"/>
          </a:p>
        </p:txBody>
      </p:sp>
      <p:sp>
        <p:nvSpPr>
          <p:cNvPr id="5" name="arrow_311"/>
          <p:cNvSpPr/>
          <p:nvPr/>
        </p:nvSpPr>
        <p:spPr>
          <a:xfrm>
            <a:off x="2971800" y="1920240"/>
            <a:ext cx="54864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6" name="box_312"/>
          <p:cNvSpPr/>
          <p:nvPr/>
        </p:nvSpPr>
        <p:spPr>
          <a:xfrm>
            <a:off x="3566160" y="1463040"/>
            <a:ext cx="3108960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_313"/>
          <p:cNvSpPr txBox="1"/>
          <p:nvPr/>
        </p:nvSpPr>
        <p:spPr>
          <a:xfrm>
            <a:off x="3566160" y="1463040"/>
            <a:ext cx="31089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bt_navigator</a:t>
            </a:r>
            <a:endParaRPr lang="ko-KR" altLang="en-US" sz="1400" dirty="0"/>
          </a:p>
          <a:p>
            <a:pPr ea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행동 트리: 계획→추종→복구</a:t>
            </a:r>
            <a:endParaRPr lang="ko-KR" altLang="en-US" sz="1400" dirty="0"/>
          </a:p>
        </p:txBody>
      </p:sp>
      <p:sp>
        <p:nvSpPr>
          <p:cNvPr id="8" name="box_314"/>
          <p:cNvSpPr/>
          <p:nvPr/>
        </p:nvSpPr>
        <p:spPr>
          <a:xfrm>
            <a:off x="7315200" y="1463040"/>
            <a:ext cx="4297680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_315"/>
          <p:cNvSpPr txBox="1"/>
          <p:nvPr/>
        </p:nvSpPr>
        <p:spPr>
          <a:xfrm>
            <a:off x="7315200" y="1463040"/>
            <a:ext cx="429768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planner_server (NavFn)</a:t>
            </a:r>
            <a:endParaRPr lang="ko-KR" altLang="en-US" sz="1400" dirty="0"/>
          </a:p>
          <a:p>
            <a:pPr ea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global costmap 위에서 전체 경로</a:t>
            </a:r>
            <a:endParaRPr lang="ko-KR" altLang="en-US" sz="1400" dirty="0"/>
          </a:p>
        </p:txBody>
      </p:sp>
      <p:sp>
        <p:nvSpPr>
          <p:cNvPr id="10" name="arrow_316"/>
          <p:cNvSpPr/>
          <p:nvPr/>
        </p:nvSpPr>
        <p:spPr>
          <a:xfrm>
            <a:off x="6720840" y="1920240"/>
            <a:ext cx="54864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1" name="box_317"/>
          <p:cNvSpPr/>
          <p:nvPr/>
        </p:nvSpPr>
        <p:spPr>
          <a:xfrm>
            <a:off x="7315200" y="2834640"/>
            <a:ext cx="4297680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_318"/>
          <p:cNvSpPr txBox="1"/>
          <p:nvPr/>
        </p:nvSpPr>
        <p:spPr>
          <a:xfrm>
            <a:off x="7315200" y="2834640"/>
            <a:ext cx="429768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controller_server (RPP)</a:t>
            </a:r>
            <a:endParaRPr lang="ko-KR" altLang="en-US" sz="1400" dirty="0"/>
          </a:p>
          <a:p>
            <a:pPr ea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local costmap 4×4 m → 속도</a:t>
            </a:r>
            <a:endParaRPr lang="ko-KR" altLang="en-US" sz="1400" dirty="0"/>
          </a:p>
        </p:txBody>
      </p:sp>
      <p:sp>
        <p:nvSpPr>
          <p:cNvPr id="13" name="arrow_319"/>
          <p:cNvSpPr/>
          <p:nvPr/>
        </p:nvSpPr>
        <p:spPr>
          <a:xfrm>
            <a:off x="6675120" y="2395728"/>
            <a:ext cx="621792" cy="758952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box_320"/>
          <p:cNvSpPr/>
          <p:nvPr/>
        </p:nvSpPr>
        <p:spPr>
          <a:xfrm>
            <a:off x="7315200" y="4206240"/>
            <a:ext cx="4297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_321"/>
          <p:cNvSpPr txBox="1"/>
          <p:nvPr/>
        </p:nvSpPr>
        <p:spPr>
          <a:xfrm>
            <a:off x="7315200" y="4206240"/>
            <a:ext cx="42976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velocity_smoother → /cmd_vel → 브리지</a:t>
            </a:r>
            <a:endParaRPr lang="ko-KR" altLang="en-US" sz="1400" dirty="0"/>
          </a:p>
        </p:txBody>
      </p:sp>
      <p:sp>
        <p:nvSpPr>
          <p:cNvPr id="16" name="arrow_322"/>
          <p:cNvSpPr/>
          <p:nvPr/>
        </p:nvSpPr>
        <p:spPr>
          <a:xfrm>
            <a:off x="9464040" y="3749040"/>
            <a:ext cx="0" cy="4114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box_323"/>
          <p:cNvSpPr/>
          <p:nvPr/>
        </p:nvSpPr>
        <p:spPr>
          <a:xfrm>
            <a:off x="548640" y="2834640"/>
            <a:ext cx="58521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_324"/>
          <p:cNvSpPr txBox="1"/>
          <p:nvPr/>
        </p:nvSpPr>
        <p:spPr>
          <a:xfrm>
            <a:off x="777240" y="3035808"/>
            <a:ext cx="53949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costmap = 층 세 개</a:t>
            </a:r>
            <a:endParaRPr lang="ko-KR" altLang="en-US" sz="1700" dirty="0"/>
          </a:p>
        </p:txBody>
      </p:sp>
      <p:sp>
        <p:nvSpPr>
          <p:cNvPr id="19" name="text_325"/>
          <p:cNvSpPr txBox="1"/>
          <p:nvPr/>
        </p:nvSpPr>
        <p:spPr>
          <a:xfrm>
            <a:off x="777240" y="3703320"/>
            <a:ext cx="5394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static(지도) + obstacle(LiDAR) + inflation(벽 주변 비용)</a:t>
            </a:r>
            <a:endParaRPr lang="ko-KR" altLang="en-US" sz="1500" dirty="0"/>
          </a:p>
        </p:txBody>
      </p:sp>
      <p:sp>
        <p:nvSpPr>
          <p:cNvPr id="20" name="box_326"/>
          <p:cNvSpPr/>
          <p:nvPr/>
        </p:nvSpPr>
        <p:spPr>
          <a:xfrm>
            <a:off x="548640" y="4480560"/>
            <a:ext cx="58521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iconbg_327"/>
          <p:cNvSpPr/>
          <p:nvPr/>
        </p:nvSpPr>
        <p:spPr>
          <a:xfrm>
            <a:off x="777240" y="47091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icon_328" descr="Map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4829861"/>
            <a:ext cx="307238" cy="307238"/>
          </a:xfrm>
          <a:prstGeom prst="rect">
            <a:avLst/>
          </a:prstGeom>
        </p:spPr>
      </p:pic>
      <p:sp>
        <p:nvSpPr>
          <p:cNvPr id="23" name="text_329"/>
          <p:cNvSpPr txBox="1"/>
          <p:nvPr/>
        </p:nvSpPr>
        <p:spPr>
          <a:xfrm>
            <a:off x="1508760" y="4681728"/>
            <a:ext cx="46634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AMCL</a:t>
            </a:r>
            <a:endParaRPr lang="ko-KR" altLang="en-US" sz="1700" dirty="0"/>
          </a:p>
        </p:txBody>
      </p:sp>
      <p:sp>
        <p:nvSpPr>
          <p:cNvPr id="24" name="text_330"/>
          <p:cNvSpPr txBox="1"/>
          <p:nvPr/>
        </p:nvSpPr>
        <p:spPr>
          <a:xfrm>
            <a:off x="777240" y="5349240"/>
            <a:ext cx="5394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파티클 필터: 저장된 지도 + LiDAR + 오도메트리로 map→odom 추정</a:t>
            </a:r>
            <a:endParaRPr lang="ko-KR" alt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22</a:t>
            </a:fld>
            <a:endParaRPr lang="ko-KR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이 로봇의 Nav2 설정</a:t>
            </a:r>
            <a:endParaRPr lang="ko-KR" altLang="en-US" sz="3200" dirty="0"/>
          </a:p>
        </p:txBody>
      </p:sp>
      <p:graphicFrame>
        <p:nvGraphicFramePr>
          <p:cNvPr id="24" name="table_3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754880"/>
              </a:tblGrid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b="1" dirty="0">
                          <a:solidFill>
                            <a:schemeClr val="bg1"/>
                          </a:solidFill>
                        </a:rPr>
                        <a:t>값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b="1" dirty="0">
                          <a:solidFill>
                            <a:schemeClr val="bg1"/>
                          </a:solidFill>
                        </a:rPr>
                        <a:t>이유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footprint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0.60 × 0.54 m 직사각형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섀시 + 바퀴. 원보다 문 통과가 정확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controller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Regulated Pure Pursuit, 0.35 m/s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차동구동, 제자리 회전 가능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inflation_radius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0.6 m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벽에서 여유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local costmap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4 × 4 m, 0.05 m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LiDAR 장애물만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goal tolerance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xy 0.15 m, yaw 0.2 rad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도착 판정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_332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unbolt_navigation/config/nav2_params.yaml (맨 위 주석에 공식 파일과 다른 점)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23</a:t>
            </a:fld>
            <a:endParaRPr lang="ko-KR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실습: 지도 만들기와 저장</a:t>
            </a:r>
            <a:endParaRPr lang="ko-KR" altLang="en-US" sz="3200" dirty="0"/>
          </a:p>
        </p:txBody>
      </p:sp>
      <p:sp>
        <p:nvSpPr>
          <p:cNvPr id="3" name="box_333"/>
          <p:cNvSpPr/>
          <p:nvPr/>
        </p:nvSpPr>
        <p:spPr>
          <a:xfrm>
            <a:off x="548640" y="1371600"/>
            <a:ext cx="6949440" cy="4663440"/>
          </a:xfrm>
          <a:prstGeom prst="roundRect">
            <a:avLst>
              <a:gd name="adj" fmla="val 156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_334"/>
          <p:cNvSpPr txBox="1"/>
          <p:nvPr/>
        </p:nvSpPr>
        <p:spPr>
          <a:xfrm>
            <a:off x="731520" y="1508760"/>
            <a:ext cx="65836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ros2 launch unbolt_navigation slam.launch.py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ros2 run teleop_twist_keyboard teleop_twist_keyboard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시간이 부족하면 자동 탐색 (약 2분)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ros2 run unbolt_navigation explore_waypoints.py \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--ros-args -p use_sim_time:=true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ros2 run tf2_ros tf2_echo map odom \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--ros-args -p use_sim_time:=true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mkdir -p ~/maps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ros2 run nav2_map_server map_saver_cli -f ~/maps/my_room \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--ros-args -p use_sim_time:=true</a:t>
            </a:r>
            <a:endParaRPr lang="ko-KR" altLang="en-US" sz="1400" dirty="0"/>
          </a:p>
        </p:txBody>
      </p:sp>
      <p:sp>
        <p:nvSpPr>
          <p:cNvPr id="5" name="box_335"/>
          <p:cNvSpPr/>
          <p:nvPr/>
        </p:nvSpPr>
        <p:spPr>
          <a:xfrm>
            <a:off x="7772400" y="1371600"/>
            <a:ext cx="38404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bg_336"/>
          <p:cNvSpPr/>
          <p:nvPr/>
        </p:nvSpPr>
        <p:spPr>
          <a:xfrm>
            <a:off x="8001000" y="160020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7" name="icon_337" descr="ExclamationTriangle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1701" y="1720901"/>
            <a:ext cx="307238" cy="307238"/>
          </a:xfrm>
          <a:prstGeom prst="rect">
            <a:avLst/>
          </a:prstGeom>
        </p:spPr>
      </p:pic>
      <p:sp>
        <p:nvSpPr>
          <p:cNvPr id="8" name="text_338"/>
          <p:cNvSpPr txBox="1"/>
          <p:nvPr/>
        </p:nvSpPr>
        <p:spPr>
          <a:xfrm>
            <a:off x="8732520" y="1572768"/>
            <a:ext cx="26517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천천히</a:t>
            </a:r>
            <a:endParaRPr lang="ko-KR" altLang="en-US" sz="1800" dirty="0"/>
          </a:p>
        </p:txBody>
      </p:sp>
      <p:sp>
        <p:nvSpPr>
          <p:cNvPr id="9" name="text_339"/>
          <p:cNvSpPr txBox="1"/>
          <p:nvPr/>
        </p:nvSpPr>
        <p:spPr>
          <a:xfrm>
            <a:off x="8001000" y="2240280"/>
            <a:ext cx="33832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빠르게 돌면 스캔 매칭이 실패해 벽이 이중으로 겹친다. x 키로 감속</a:t>
            </a:r>
            <a:endParaRPr lang="ko-KR" altLang="en-US" sz="1500" dirty="0"/>
          </a:p>
        </p:txBody>
      </p:sp>
      <p:sp>
        <p:nvSpPr>
          <p:cNvPr id="10" name="box_340"/>
          <p:cNvSpPr/>
          <p:nvPr/>
        </p:nvSpPr>
        <p:spPr>
          <a:xfrm>
            <a:off x="7772400" y="3749040"/>
            <a:ext cx="384048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bg_341"/>
          <p:cNvSpPr/>
          <p:nvPr/>
        </p:nvSpPr>
        <p:spPr>
          <a:xfrm>
            <a:off x="8001000" y="3977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con_342" descr="CheckCircle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1701" y="4098341"/>
            <a:ext cx="307238" cy="307238"/>
          </a:xfrm>
          <a:prstGeom prst="rect">
            <a:avLst/>
          </a:prstGeom>
        </p:spPr>
      </p:pic>
      <p:sp>
        <p:nvSpPr>
          <p:cNvPr id="13" name="text_343"/>
          <p:cNvSpPr txBox="1"/>
          <p:nvPr/>
        </p:nvSpPr>
        <p:spPr>
          <a:xfrm>
            <a:off x="8732520" y="3950208"/>
            <a:ext cx="26517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체크포인트</a:t>
            </a:r>
            <a:endParaRPr lang="ko-KR" altLang="en-US" sz="1800" dirty="0"/>
          </a:p>
        </p:txBody>
      </p:sp>
      <p:sp>
        <p:nvSpPr>
          <p:cNvPr id="14" name="text_344"/>
          <p:cNvSpPr txBox="1"/>
          <p:nvPr/>
        </p:nvSpPr>
        <p:spPr>
          <a:xfrm>
            <a:off x="8001000" y="4617720"/>
            <a:ext cx="338328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2-1 겹치지 않은 방 전체 지도</a:t>
            </a:r>
            <a:endParaRPr lang="ko-KR" altLang="en-US" sz="1500" dirty="0"/>
          </a:p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2-2 ~/maps/my_room.yaml 저장</a:t>
            </a:r>
            <a:endParaRPr lang="ko-KR" alt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24</a:t>
            </a:fld>
            <a:endParaRPr lang="ko-KR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실습: 목표점 주행</a:t>
            </a:r>
            <a:endParaRPr lang="ko-KR" altLang="en-US" sz="3200" dirty="0"/>
          </a:p>
        </p:txBody>
      </p:sp>
      <p:pic>
        <p:nvPicPr>
          <p:cNvPr id="3" name="img_345" descr="RViz의 Nav2: 지도, costmap, 전역 경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43775"/>
            <a:ext cx="6583680" cy="4519089"/>
          </a:xfrm>
          <a:prstGeom prst="rect">
            <a:avLst/>
          </a:prstGeom>
        </p:spPr>
      </p:pic>
      <p:sp>
        <p:nvSpPr>
          <p:cNvPr id="4" name="num_346"/>
          <p:cNvSpPr/>
          <p:nvPr/>
        </p:nvSpPr>
        <p:spPr>
          <a:xfrm>
            <a:off x="740664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_347"/>
          <p:cNvSpPr txBox="1"/>
          <p:nvPr/>
        </p:nvSpPr>
        <p:spPr>
          <a:xfrm>
            <a:off x="7406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1</a:t>
            </a:r>
            <a:endParaRPr lang="ko-KR" altLang="en-US" sz="1600" dirty="0"/>
          </a:p>
        </p:txBody>
      </p:sp>
      <p:sp>
        <p:nvSpPr>
          <p:cNvPr id="6" name="text_348"/>
          <p:cNvSpPr txBox="1"/>
          <p:nvPr/>
        </p:nvSpPr>
        <p:spPr>
          <a:xfrm>
            <a:off x="8046720" y="1444752"/>
            <a:ext cx="35661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위치 알려 주기</a:t>
            </a:r>
            <a:endParaRPr lang="ko-KR" altLang="en-US" sz="1700" dirty="0"/>
          </a:p>
        </p:txBody>
      </p:sp>
      <p:sp>
        <p:nvSpPr>
          <p:cNvPr id="7" name="text_349"/>
          <p:cNvSpPr txBox="1"/>
          <p:nvPr/>
        </p:nvSpPr>
        <p:spPr>
          <a:xfrm>
            <a:off x="8046720" y="1920240"/>
            <a:ext cx="35661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파티클이 어긋나면 2D Pose Estimate</a:t>
            </a:r>
            <a:endParaRPr lang="ko-KR" altLang="en-US" sz="1400" dirty="0"/>
          </a:p>
        </p:txBody>
      </p:sp>
      <p:sp>
        <p:nvSpPr>
          <p:cNvPr id="8" name="num_350"/>
          <p:cNvSpPr/>
          <p:nvPr/>
        </p:nvSpPr>
        <p:spPr>
          <a:xfrm>
            <a:off x="7406640" y="2606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_351"/>
          <p:cNvSpPr txBox="1"/>
          <p:nvPr/>
        </p:nvSpPr>
        <p:spPr>
          <a:xfrm>
            <a:off x="740664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2</a:t>
            </a:r>
            <a:endParaRPr lang="ko-KR" altLang="en-US" sz="1600" dirty="0"/>
          </a:p>
        </p:txBody>
      </p:sp>
      <p:sp>
        <p:nvSpPr>
          <p:cNvPr id="10" name="text_352"/>
          <p:cNvSpPr txBox="1"/>
          <p:nvPr/>
        </p:nvSpPr>
        <p:spPr>
          <a:xfrm>
            <a:off x="8046720" y="2587752"/>
            <a:ext cx="35661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목표 찍기</a:t>
            </a:r>
            <a:endParaRPr lang="ko-KR" altLang="en-US" sz="1700" dirty="0"/>
          </a:p>
        </p:txBody>
      </p:sp>
      <p:sp>
        <p:nvSpPr>
          <p:cNvPr id="11" name="text_353"/>
          <p:cNvSpPr txBox="1"/>
          <p:nvPr/>
        </p:nvSpPr>
        <p:spPr>
          <a:xfrm>
            <a:off x="8046720" y="3063240"/>
            <a:ext cx="35661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2D Goal Pose 드래그 = 도착 방향</a:t>
            </a:r>
            <a:endParaRPr lang="ko-KR" altLang="en-US" sz="1400" dirty="0"/>
          </a:p>
        </p:txBody>
      </p:sp>
      <p:sp>
        <p:nvSpPr>
          <p:cNvPr id="12" name="num_354"/>
          <p:cNvSpPr/>
          <p:nvPr/>
        </p:nvSpPr>
        <p:spPr>
          <a:xfrm>
            <a:off x="7406640" y="3749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_355"/>
          <p:cNvSpPr txBox="1"/>
          <p:nvPr/>
        </p:nvSpPr>
        <p:spPr>
          <a:xfrm>
            <a:off x="74066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3</a:t>
            </a:r>
            <a:endParaRPr lang="ko-KR" altLang="en-US" sz="1600" dirty="0"/>
          </a:p>
        </p:txBody>
      </p:sp>
      <p:sp>
        <p:nvSpPr>
          <p:cNvPr id="14" name="text_356"/>
          <p:cNvSpPr txBox="1"/>
          <p:nvPr/>
        </p:nvSpPr>
        <p:spPr>
          <a:xfrm>
            <a:off x="8046720" y="3730752"/>
            <a:ext cx="35661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보이는 것</a:t>
            </a:r>
            <a:endParaRPr lang="ko-KR" altLang="en-US" sz="1700" dirty="0"/>
          </a:p>
        </p:txBody>
      </p:sp>
      <p:sp>
        <p:nvSpPr>
          <p:cNvPr id="15" name="text_357"/>
          <p:cNvSpPr txBox="1"/>
          <p:nvPr/>
        </p:nvSpPr>
        <p:spPr>
          <a:xfrm>
            <a:off x="8046720" y="4206240"/>
            <a:ext cx="35661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global plan, local costmap, inflation 띠</a:t>
            </a:r>
            <a:endParaRPr lang="ko-KR" altLang="en-US" sz="1400" dirty="0"/>
          </a:p>
        </p:txBody>
      </p:sp>
      <p:sp>
        <p:nvSpPr>
          <p:cNvPr id="16" name="num_358"/>
          <p:cNvSpPr/>
          <p:nvPr/>
        </p:nvSpPr>
        <p:spPr>
          <a:xfrm>
            <a:off x="7406640" y="4892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_359"/>
          <p:cNvSpPr txBox="1"/>
          <p:nvPr/>
        </p:nvSpPr>
        <p:spPr>
          <a:xfrm>
            <a:off x="740664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4</a:t>
            </a:r>
            <a:endParaRPr lang="ko-KR" altLang="en-US" sz="1600" dirty="0"/>
          </a:p>
        </p:txBody>
      </p:sp>
      <p:sp>
        <p:nvSpPr>
          <p:cNvPr id="18" name="text_360"/>
          <p:cNvSpPr txBox="1"/>
          <p:nvPr/>
        </p:nvSpPr>
        <p:spPr>
          <a:xfrm>
            <a:off x="8046720" y="4873752"/>
            <a:ext cx="35661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내 지도로</a:t>
            </a:r>
            <a:endParaRPr lang="ko-KR" altLang="en-US" sz="1700" dirty="0"/>
          </a:p>
        </p:txBody>
      </p:sp>
      <p:sp>
        <p:nvSpPr>
          <p:cNvPr id="19" name="text_361"/>
          <p:cNvSpPr txBox="1"/>
          <p:nvPr/>
        </p:nvSpPr>
        <p:spPr>
          <a:xfrm>
            <a:off x="8046720" y="5349240"/>
            <a:ext cx="35661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navigation.launch.py map:=$HOME/maps/my_room.yaml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25</a:t>
            </a:fld>
            <a:endParaRPr lang="ko-KR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파라미터 실험</a:t>
            </a:r>
            <a:endParaRPr lang="ko-KR" altLang="en-US" sz="3200" dirty="0"/>
          </a:p>
        </p:txBody>
      </p:sp>
      <p:graphicFrame>
        <p:nvGraphicFramePr>
          <p:cNvPr id="27" name="table_3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120640"/>
                <a:gridCol w="4846320"/>
              </a:tblGrid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b="1" dirty="0">
                          <a:solidFill>
                            <a:schemeClr val="bg1"/>
                          </a:solidFill>
                        </a:rPr>
                        <a:t>실험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b="1" dirty="0">
                          <a:solidFill>
                            <a:schemeClr val="bg1"/>
                          </a:solidFill>
                        </a:rPr>
                        <a:t>바꿀 곳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b="1" dirty="0">
                          <a:solidFill>
                            <a:schemeClr val="bg1"/>
                          </a:solidFill>
                        </a:rPr>
                        <a:t>예상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inflation_radius 0.6 → 0.25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벽에 바짝 붙는 경로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B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inflation_radius 0.6 → 1.2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문을 통과하지 못할 수도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desired_linear_vel 0.35 → 0.6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빨라지지만 코너에서?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D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xy_goal_tolerance 0.15 → 0.05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도착 판정이 엄격해져 오래 걸림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box_363"/>
          <p:cNvSpPr/>
          <p:nvPr/>
        </p:nvSpPr>
        <p:spPr>
          <a:xfrm>
            <a:off x="548640" y="4343400"/>
            <a:ext cx="11064240" cy="100584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code_364"/>
          <p:cNvSpPr txBox="1"/>
          <p:nvPr/>
        </p:nvSpPr>
        <p:spPr>
          <a:xfrm>
            <a:off x="731520" y="4480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cp $(ros2 pkg prefix unbolt_navigation)/share/unbolt_navigation/config/nav2_params.yaml ~/my_nav2.yaml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ros2 launch unbolt_navigation navigation.launch.py params_file:=$HOME/my_nav2.yaml</a:t>
            </a:r>
            <a:endParaRPr lang="ko-KR" altLang="en-US" sz="1300" dirty="0"/>
          </a:p>
        </p:txBody>
      </p:sp>
      <p:sp>
        <p:nvSpPr>
          <p:cNvPr id="6" name="text_365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원본은 그대로 두고 복사본을 고친다. 같은 목표로 시간·경로를 비교해 표에 적는다.</a:t>
            </a:r>
            <a:endParaRPr lang="ko-KR" alt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26</a:t>
            </a:fld>
            <a:endParaRPr lang="ko-KR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지도에 없는 장애물</a:t>
            </a:r>
            <a:endParaRPr lang="ko-KR" altLang="en-US" sz="3200" dirty="0"/>
          </a:p>
        </p:txBody>
      </p:sp>
      <p:sp>
        <p:nvSpPr>
          <p:cNvPr id="3" name="box_366"/>
          <p:cNvSpPr/>
          <p:nvPr/>
        </p:nvSpPr>
        <p:spPr>
          <a:xfrm>
            <a:off x="548640" y="1371600"/>
            <a:ext cx="539496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_367"/>
          <p:cNvSpPr txBox="1"/>
          <p:nvPr/>
        </p:nvSpPr>
        <p:spPr>
          <a:xfrm>
            <a:off x="822960" y="1508760"/>
            <a:ext cx="484632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5400" b="1" dirty="0">
                <a:solidFill>
                  <a:schemeClr val="accent3"/>
                </a:solidFill>
              </a:rPr>
              <a:t>12초</a:t>
            </a:r>
            <a:endParaRPr lang="ko-KR" altLang="en-US" sz="5400" dirty="0"/>
          </a:p>
        </p:txBody>
      </p:sp>
      <p:sp>
        <p:nvSpPr>
          <p:cNvPr id="5" name="text_368"/>
          <p:cNvSpPr txBox="1"/>
          <p:nvPr/>
        </p:nvSpPr>
        <p:spPr>
          <a:xfrm>
            <a:off x="822960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1"/>
                </a:solidFill>
              </a:rPr>
              <a:t>상자 없음: 작업대와 기둥 사이 남쪽 길</a:t>
            </a:r>
            <a:endParaRPr lang="ko-KR" altLang="en-US" sz="1600" dirty="0"/>
          </a:p>
        </p:txBody>
      </p:sp>
      <p:sp>
        <p:nvSpPr>
          <p:cNvPr id="6" name="box_369"/>
          <p:cNvSpPr/>
          <p:nvPr/>
        </p:nvSpPr>
        <p:spPr>
          <a:xfrm>
            <a:off x="6217920" y="1371600"/>
            <a:ext cx="5394960" cy="2468880"/>
          </a:xfrm>
          <a:prstGeom prst="roundRect">
            <a:avLst>
              <a:gd name="adj" fmla="val 296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_370"/>
          <p:cNvSpPr txBox="1"/>
          <p:nvPr/>
        </p:nvSpPr>
        <p:spPr>
          <a:xfrm>
            <a:off x="6492240" y="1508760"/>
            <a:ext cx="484632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5400" b="1" dirty="0">
                <a:solidFill>
                  <a:schemeClr val="accent1"/>
                </a:solidFill>
              </a:rPr>
              <a:t>18초</a:t>
            </a:r>
            <a:endParaRPr lang="ko-KR" altLang="en-US" sz="5400" dirty="0"/>
          </a:p>
        </p:txBody>
      </p:sp>
      <p:sp>
        <p:nvSpPr>
          <p:cNvPr id="8" name="text_371"/>
          <p:cNvSpPr txBox="1"/>
          <p:nvPr/>
        </p:nvSpPr>
        <p:spPr>
          <a:xfrm>
            <a:off x="6492240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bg1"/>
                </a:solidFill>
              </a:rPr>
              <a:t>상자 있음: LiDAR가 보고 작업대 북쪽으로 우회</a:t>
            </a:r>
            <a:endParaRPr lang="ko-KR" altLang="en-US" sz="1600" dirty="0"/>
          </a:p>
        </p:txBody>
      </p:sp>
      <p:sp>
        <p:nvSpPr>
          <p:cNvPr id="9" name="list_372"/>
          <p:cNvSpPr txBox="1"/>
          <p:nvPr/>
        </p:nvSpPr>
        <p:spPr>
          <a:xfrm>
            <a:off x="548640" y="4114800"/>
            <a:ext cx="110642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obstacle layer가 LiDAR로 본 상자를 costmap에 표시 → planner가 경로를 다시 계산</a:t>
            </a:r>
            <a:endParaRPr lang="ko-KR" altLang="en-US" sz="1600" dirty="0"/>
          </a:p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너무 늦게 보이면 controller가 멈추고 행동 트리의 복구 동작(spin, backup, wait)</a:t>
            </a:r>
            <a:endParaRPr lang="ko-KR" altLang="en-US" sz="1600" dirty="0"/>
          </a:p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실행: navigation.launch.py model_path:=$UNBOLT_ROOT/models/my_scene.xml</a:t>
            </a:r>
            <a:endParaRPr lang="ko-KR" altLang="en-US" sz="1600" dirty="0"/>
          </a:p>
        </p:txBody>
      </p:sp>
      <p:sp>
        <p:nvSpPr>
          <p:cNvPr id="10" name="text_373"/>
          <p:cNvSpPr txBox="1"/>
          <p:nvPr/>
        </p:nvSpPr>
        <p:spPr>
          <a:xfrm>
            <a:off x="795528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algn="r" indent="0" marL="0">
              <a:buNone/>
            </a:pPr>
            <a:r>
              <a:rPr lang="ko-KR" altLang="en-US" sz="1100" dirty="0">
                <a:solidFill>
                  <a:schemeClr val="tx2"/>
                </a:solidFill>
              </a:rPr>
              <a:t>원점 → (3.0, −1.4), 강사 노트북 실측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27</a:t>
            </a:fld>
            <a:endParaRPr lang="ko-KR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Python으로 순찰: Nav2 Simple Commander</a:t>
            </a:r>
            <a:endParaRPr lang="ko-KR" altLang="en-US" sz="3200" dirty="0"/>
          </a:p>
        </p:txBody>
      </p:sp>
      <p:sp>
        <p:nvSpPr>
          <p:cNvPr id="3" name="box_374"/>
          <p:cNvSpPr/>
          <p:nvPr/>
        </p:nvSpPr>
        <p:spPr>
          <a:xfrm>
            <a:off x="548640" y="1371600"/>
            <a:ext cx="7315200" cy="4663440"/>
          </a:xfrm>
          <a:prstGeom prst="roundRect">
            <a:avLst>
              <a:gd name="adj" fmla="val 156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_375"/>
          <p:cNvSpPr txBox="1"/>
          <p:nvPr/>
        </p:nvSpPr>
        <p:spPr>
          <a:xfrm>
            <a:off x="731520" y="150876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nav2_simple_commander.robot_navigator import (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BasicNavigator, TaskResult)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 = [(3.2, 1.2, 0.0), (3.0, -1.4, -math.pi/2),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(-1.9, 1.6, math.pi/2), (0.0, 0.0, 0.0)]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 = BasicNavigator()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nav.waitUntilNav2Active()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x, y, yaw in POINTS: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nav.goToPose(pose(nav, x, y, yaw))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not nav.isTaskComplete():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fb = nav.getFeedback()          # distance_remaining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print(nav.getResult() == TaskResult.SUCCEEDED)</a:t>
            </a:r>
            <a:endParaRPr lang="ko-KR" altLang="en-US" sz="1400" dirty="0"/>
          </a:p>
        </p:txBody>
      </p:sp>
      <p:sp>
        <p:nvSpPr>
          <p:cNvPr id="5" name="text_376"/>
          <p:cNvSpPr txBox="1"/>
          <p:nvPr/>
        </p:nvSpPr>
        <p:spPr>
          <a:xfrm>
            <a:off x="8138160" y="1371600"/>
            <a:ext cx="34747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실행</a:t>
            </a:r>
            <a:endParaRPr lang="ko-KR" altLang="en-US" sz="1700" dirty="0"/>
          </a:p>
        </p:txBody>
      </p:sp>
      <p:sp>
        <p:nvSpPr>
          <p:cNvPr id="6" name="box_377"/>
          <p:cNvSpPr/>
          <p:nvPr/>
        </p:nvSpPr>
        <p:spPr>
          <a:xfrm>
            <a:off x="8138160" y="1828800"/>
            <a:ext cx="3474720" cy="1737360"/>
          </a:xfrm>
          <a:prstGeom prst="roundRect">
            <a:avLst>
              <a:gd name="adj" fmla="val 42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code_378"/>
          <p:cNvSpPr txBox="1"/>
          <p:nvPr/>
        </p:nvSpPr>
        <p:spPr>
          <a:xfrm>
            <a:off x="8321040" y="196596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 ~/patrol.py \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--ros-args -p \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use_sim_time:=true</a:t>
            </a:r>
            <a:endParaRPr lang="ko-KR" altLang="en-US" sz="1400" dirty="0"/>
          </a:p>
        </p:txBody>
      </p:sp>
      <p:sp>
        <p:nvSpPr>
          <p:cNvPr id="8" name="box_379"/>
          <p:cNvSpPr/>
          <p:nvPr/>
        </p:nvSpPr>
        <p:spPr>
          <a:xfrm>
            <a:off x="8138160" y="3749040"/>
            <a:ext cx="347472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bg_380"/>
          <p:cNvSpPr/>
          <p:nvPr/>
        </p:nvSpPr>
        <p:spPr>
          <a:xfrm>
            <a:off x="8366760" y="3977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_381" descr="QuestionCircle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7461" y="4098341"/>
            <a:ext cx="307238" cy="307238"/>
          </a:xfrm>
          <a:prstGeom prst="rect">
            <a:avLst/>
          </a:prstGeom>
        </p:spPr>
      </p:pic>
      <p:sp>
        <p:nvSpPr>
          <p:cNvPr id="11" name="text_382"/>
          <p:cNvSpPr txBox="1"/>
          <p:nvPr/>
        </p:nvSpPr>
        <p:spPr>
          <a:xfrm>
            <a:off x="9098280" y="3950208"/>
            <a:ext cx="22860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생각해 보기</a:t>
            </a:r>
            <a:endParaRPr lang="ko-KR" altLang="en-US" sz="1700" dirty="0"/>
          </a:p>
        </p:txBody>
      </p:sp>
      <p:sp>
        <p:nvSpPr>
          <p:cNvPr id="12" name="text_383"/>
          <p:cNvSpPr txBox="1"/>
          <p:nvPr/>
        </p:nvSpPr>
        <p:spPr>
          <a:xfrm>
            <a:off x="8366760" y="4617720"/>
            <a:ext cx="301752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goToPose 반복과</a:t>
            </a:r>
            <a:endParaRPr lang="ko-KR" altLang="en-US" sz="1500" dirty="0"/>
          </a:p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followWaypoints의 차이는?</a:t>
            </a:r>
            <a:endParaRPr lang="ko-KR" alt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28</a:t>
            </a:fld>
            <a:endParaRPr lang="ko-KR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전반부 통합 데모</a:t>
            </a:r>
            <a:endParaRPr lang="ko-KR" altLang="en-US" sz="3200" dirty="0"/>
          </a:p>
        </p:txBody>
      </p:sp>
      <p:sp>
        <p:nvSpPr>
          <p:cNvPr id="3" name="box_384"/>
          <p:cNvSpPr/>
          <p:nvPr/>
        </p:nvSpPr>
        <p:spPr>
          <a:xfrm>
            <a:off x="548640" y="1554480"/>
            <a:ext cx="1371600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_385"/>
          <p:cNvSpPr txBox="1"/>
          <p:nvPr/>
        </p:nvSpPr>
        <p:spPr>
          <a:xfrm>
            <a:off x="548640" y="1554480"/>
            <a:ext cx="13716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ros2 launch</a:t>
            </a:r>
            <a:endParaRPr lang="ko-KR" altLang="en-US" sz="1400" dirty="0"/>
          </a:p>
        </p:txBody>
      </p:sp>
      <p:sp>
        <p:nvSpPr>
          <p:cNvPr id="5" name="arrow_386"/>
          <p:cNvSpPr/>
          <p:nvPr/>
        </p:nvSpPr>
        <p:spPr>
          <a:xfrm>
            <a:off x="1938528" y="2011680"/>
            <a:ext cx="219456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6" name="box_387"/>
          <p:cNvSpPr/>
          <p:nvPr/>
        </p:nvSpPr>
        <p:spPr>
          <a:xfrm>
            <a:off x="2176272" y="1554480"/>
            <a:ext cx="1371600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_388"/>
          <p:cNvSpPr txBox="1"/>
          <p:nvPr/>
        </p:nvSpPr>
        <p:spPr>
          <a:xfrm>
            <a:off x="2176272" y="1554480"/>
            <a:ext cx="13716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MuJoCo 물리</a:t>
            </a:r>
            <a:endParaRPr lang="ko-KR" altLang="en-US" sz="1400" dirty="0"/>
          </a:p>
        </p:txBody>
      </p:sp>
      <p:sp>
        <p:nvSpPr>
          <p:cNvPr id="8" name="arrow_389"/>
          <p:cNvSpPr/>
          <p:nvPr/>
        </p:nvSpPr>
        <p:spPr>
          <a:xfrm>
            <a:off x="3566160" y="2011680"/>
            <a:ext cx="219456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box_390"/>
          <p:cNvSpPr/>
          <p:nvPr/>
        </p:nvSpPr>
        <p:spPr>
          <a:xfrm>
            <a:off x="3803904" y="1554480"/>
            <a:ext cx="1371600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_391"/>
          <p:cNvSpPr txBox="1"/>
          <p:nvPr/>
        </p:nvSpPr>
        <p:spPr>
          <a:xfrm>
            <a:off x="3803904" y="1554480"/>
            <a:ext cx="13716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브리지</a:t>
            </a:r>
            <a:endParaRPr lang="ko-KR" altLang="en-US" sz="1400" dirty="0"/>
          </a:p>
        </p:txBody>
      </p:sp>
      <p:sp>
        <p:nvSpPr>
          <p:cNvPr id="11" name="arrow_392"/>
          <p:cNvSpPr/>
          <p:nvPr/>
        </p:nvSpPr>
        <p:spPr>
          <a:xfrm>
            <a:off x="5193792" y="2011680"/>
            <a:ext cx="219456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box_393"/>
          <p:cNvSpPr/>
          <p:nvPr/>
        </p:nvSpPr>
        <p:spPr>
          <a:xfrm>
            <a:off x="5431536" y="1554480"/>
            <a:ext cx="1371600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_394"/>
          <p:cNvSpPr txBox="1"/>
          <p:nvPr/>
        </p:nvSpPr>
        <p:spPr>
          <a:xfrm>
            <a:off x="5431536" y="1554480"/>
            <a:ext cx="13716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SLAM 지도</a:t>
            </a:r>
            <a:endParaRPr lang="ko-KR" altLang="en-US" sz="1400" dirty="0"/>
          </a:p>
        </p:txBody>
      </p:sp>
      <p:sp>
        <p:nvSpPr>
          <p:cNvPr id="14" name="arrow_395"/>
          <p:cNvSpPr/>
          <p:nvPr/>
        </p:nvSpPr>
        <p:spPr>
          <a:xfrm>
            <a:off x="6821424" y="2011680"/>
            <a:ext cx="219456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5" name="box_396"/>
          <p:cNvSpPr/>
          <p:nvPr/>
        </p:nvSpPr>
        <p:spPr>
          <a:xfrm>
            <a:off x="7059168" y="1554480"/>
            <a:ext cx="1371600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_397"/>
          <p:cNvSpPr txBox="1"/>
          <p:nvPr/>
        </p:nvSpPr>
        <p:spPr>
          <a:xfrm>
            <a:off x="7059168" y="1554480"/>
            <a:ext cx="13716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AMCL</a:t>
            </a:r>
            <a:endParaRPr lang="ko-KR" altLang="en-US" sz="1400" dirty="0"/>
          </a:p>
        </p:txBody>
      </p:sp>
      <p:sp>
        <p:nvSpPr>
          <p:cNvPr id="17" name="arrow_398"/>
          <p:cNvSpPr/>
          <p:nvPr/>
        </p:nvSpPr>
        <p:spPr>
          <a:xfrm>
            <a:off x="8449056" y="2011680"/>
            <a:ext cx="219456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box_399"/>
          <p:cNvSpPr/>
          <p:nvPr/>
        </p:nvSpPr>
        <p:spPr>
          <a:xfrm>
            <a:off x="8686800" y="1554480"/>
            <a:ext cx="137160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_400"/>
          <p:cNvSpPr txBox="1"/>
          <p:nvPr/>
        </p:nvSpPr>
        <p:spPr>
          <a:xfrm>
            <a:off x="8686800" y="1554480"/>
            <a:ext cx="13716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Nav2</a:t>
            </a:r>
            <a:endParaRPr lang="ko-KR" altLang="en-US" sz="1400" dirty="0"/>
          </a:p>
        </p:txBody>
      </p:sp>
      <p:sp>
        <p:nvSpPr>
          <p:cNvPr id="20" name="arrow_401"/>
          <p:cNvSpPr/>
          <p:nvPr/>
        </p:nvSpPr>
        <p:spPr>
          <a:xfrm>
            <a:off x="10076688" y="2011680"/>
            <a:ext cx="219456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1" name="box_402"/>
          <p:cNvSpPr/>
          <p:nvPr/>
        </p:nvSpPr>
        <p:spPr>
          <a:xfrm>
            <a:off x="10314432" y="1554480"/>
            <a:ext cx="1371600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2" name="text_403"/>
          <p:cNvSpPr txBox="1"/>
          <p:nvPr/>
        </p:nvSpPr>
        <p:spPr>
          <a:xfrm>
            <a:off x="10314432" y="1554480"/>
            <a:ext cx="13716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/cmd_vel</a:t>
            </a:r>
            <a:endParaRPr lang="ko-KR" altLang="en-US" sz="1400" dirty="0"/>
          </a:p>
        </p:txBody>
      </p:sp>
      <p:sp>
        <p:nvSpPr>
          <p:cNvPr id="23" name="text_404"/>
          <p:cNvSpPr txBox="1"/>
          <p:nvPr/>
        </p:nvSpPr>
        <p:spPr>
          <a:xfrm>
            <a:off x="548640" y="2606040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algn="r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↻ /cmd_vel 은 다시 MuJoCo로</a:t>
            </a:r>
            <a:endParaRPr lang="ko-KR" altLang="en-US" sz="1400" dirty="0"/>
          </a:p>
        </p:txBody>
      </p:sp>
      <p:sp>
        <p:nvSpPr>
          <p:cNvPr id="24" name="box_405"/>
          <p:cNvSpPr/>
          <p:nvPr/>
        </p:nvSpPr>
        <p:spPr>
          <a:xfrm>
            <a:off x="548640" y="3200400"/>
            <a:ext cx="548640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iconbg_406"/>
          <p:cNvSpPr/>
          <p:nvPr/>
        </p:nvSpPr>
        <p:spPr>
          <a:xfrm>
            <a:off x="777240" y="34290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icon_407" descr="Users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3549701"/>
            <a:ext cx="307238" cy="307238"/>
          </a:xfrm>
          <a:prstGeom prst="rect">
            <a:avLst/>
          </a:prstGeom>
        </p:spPr>
      </p:pic>
      <p:sp>
        <p:nvSpPr>
          <p:cNvPr id="27" name="text_408"/>
          <p:cNvSpPr txBox="1"/>
          <p:nvPr/>
        </p:nvSpPr>
        <p:spPr>
          <a:xfrm>
            <a:off x="1508760" y="3401568"/>
            <a:ext cx="4297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조별 시연</a:t>
            </a:r>
            <a:endParaRPr lang="ko-KR" altLang="en-US" sz="1800" dirty="0"/>
          </a:p>
        </p:txBody>
      </p:sp>
      <p:sp>
        <p:nvSpPr>
          <p:cNvPr id="28" name="text_409"/>
          <p:cNvSpPr txBox="1"/>
          <p:nvPr/>
        </p:nvSpPr>
        <p:spPr>
          <a:xfrm>
            <a:off x="777240" y="4069080"/>
            <a:ext cx="50292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조마다 한 명씩: 내가 만든 지도로, 내 순찰 프로그램을 돌리고 MuJoCo와 RViz를 나란히 보여 준다</a:t>
            </a:r>
            <a:endParaRPr lang="ko-KR" altLang="en-US" sz="1500" dirty="0"/>
          </a:p>
        </p:txBody>
      </p:sp>
      <p:sp>
        <p:nvSpPr>
          <p:cNvPr id="29" name="box_410"/>
          <p:cNvSpPr/>
          <p:nvPr/>
        </p:nvSpPr>
        <p:spPr>
          <a:xfrm>
            <a:off x="6172200" y="3200400"/>
            <a:ext cx="544068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iconbg_411"/>
          <p:cNvSpPr/>
          <p:nvPr/>
        </p:nvSpPr>
        <p:spPr>
          <a:xfrm>
            <a:off x="6400800" y="3429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_412" descr="Book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3549701"/>
            <a:ext cx="307238" cy="307238"/>
          </a:xfrm>
          <a:prstGeom prst="rect">
            <a:avLst/>
          </a:prstGeom>
        </p:spPr>
      </p:pic>
      <p:sp>
        <p:nvSpPr>
          <p:cNvPr id="32" name="text_413"/>
          <p:cNvSpPr txBox="1"/>
          <p:nvPr/>
        </p:nvSpPr>
        <p:spPr>
          <a:xfrm>
            <a:off x="7132320" y="3401568"/>
            <a:ext cx="42519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과제</a:t>
            </a:r>
            <a:endParaRPr lang="ko-KR" altLang="en-US" sz="1800" dirty="0"/>
          </a:p>
        </p:txBody>
      </p:sp>
      <p:sp>
        <p:nvSpPr>
          <p:cNvPr id="33" name="text_414"/>
          <p:cNvSpPr txBox="1"/>
          <p:nvPr/>
        </p:nvSpPr>
        <p:spPr>
          <a:xfrm>
            <a:off x="6400800" y="4069080"/>
            <a:ext cx="498348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기본: 실험 A~D 중 두 개 결과 제출</a:t>
            </a:r>
            <a:endParaRPr lang="ko-KR" altLang="en-US" sz="1500" dirty="0"/>
          </a:p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도전 1: ground truth 없이 자동 지도 작성</a:t>
            </a:r>
            <a:endParaRPr lang="ko-KR" altLang="en-US" sz="1500" dirty="0"/>
          </a:p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도전 2: keepout filter로 출입 금지 구역</a:t>
            </a:r>
            <a:endParaRPr lang="ko-KR" alt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29</a:t>
            </a:fld>
            <a:endParaRPr lang="ko-KR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2000" b="1" dirty="0">
                <a:solidFill>
                  <a:schemeClr val="accent1"/>
                </a:solidFill>
              </a:rPr>
              <a:t>모듈 3 · 2일차 09:30–11:30</a:t>
            </a:r>
            <a:endParaRPr lang="ko-KR" alt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chemeClr val="bg1"/>
                </a:solidFill>
              </a:rPr>
              <a:t>MoveIt 2 양팔 제어</a:t>
            </a:r>
            <a:endParaRPr lang="ko-KR" altLang="en-US" sz="4000" dirty="0"/>
          </a:p>
          <a:p>
            <a:pPr eaLnBrk="0" algn="l" indent="0" marL="0">
              <a:buNone/>
            </a:pPr>
            <a:r>
              <a:rPr lang="ko-KR" altLang="en-US" sz="4000" b="1" dirty="0">
                <a:solidFill>
                  <a:schemeClr val="bg1"/>
                </a:solidFill>
              </a:rPr>
              <a:t>모바일 매니퓰레이션</a:t>
            </a:r>
            <a:endParaRPr lang="ko-KR" alt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57600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accent5"/>
                </a:solidFill>
              </a:rPr>
              <a:t>planning group, named state, planning scene, IK</a:t>
            </a:r>
            <a:endParaRPr lang="ko-KR" altLang="en-US" sz="1600" dirty="0"/>
          </a:p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accent5"/>
                </a:solidFill>
              </a:rPr>
              <a:t>MoveIt 궤적이 MuJoCo 액추에이터까지 가는 길</a:t>
            </a:r>
            <a:endParaRPr lang="ko-KR" altLang="en-US" sz="1600" dirty="0"/>
          </a:p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accent5"/>
                </a:solidFill>
              </a:rPr>
              <a:t>Pose goal, Cartesian path, 그리퍼를 Python에서</a:t>
            </a:r>
            <a:endParaRPr lang="ko-KR" altLang="en-US" sz="1600" dirty="0"/>
          </a:p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accent5"/>
                </a:solidFill>
              </a:rPr>
              <a:t>주행 → 정밀 접근 → 집기 → 운반 → 놓기 상태 기계</a:t>
            </a:r>
            <a:endParaRPr lang="ko-KR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30</a:t>
            </a:fld>
            <a:endParaRPr lang="ko-KR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MoveIt 2 ↔ MuJoCo 연결</a:t>
            </a:r>
            <a:endParaRPr lang="ko-KR" altLang="en-US" sz="3200" dirty="0"/>
          </a:p>
        </p:txBody>
      </p:sp>
      <p:sp>
        <p:nvSpPr>
          <p:cNvPr id="3" name="box_415"/>
          <p:cNvSpPr/>
          <p:nvPr/>
        </p:nvSpPr>
        <p:spPr>
          <a:xfrm>
            <a:off x="548640" y="1554480"/>
            <a:ext cx="2011680" cy="2377440"/>
          </a:xfrm>
          <a:prstGeom prst="roundRect">
            <a:avLst>
              <a:gd name="adj" fmla="val 363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text_416"/>
          <p:cNvSpPr txBox="1"/>
          <p:nvPr/>
        </p:nvSpPr>
        <p:spPr>
          <a:xfrm>
            <a:off x="640080" y="1645920"/>
            <a:ext cx="1828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RViz / Python</a:t>
            </a:r>
            <a:endParaRPr lang="ko-KR" altLang="en-US" sz="1600" dirty="0"/>
          </a:p>
        </p:txBody>
      </p:sp>
      <p:sp>
        <p:nvSpPr>
          <p:cNvPr id="5" name="text_417"/>
          <p:cNvSpPr txBox="1"/>
          <p:nvPr/>
        </p:nvSpPr>
        <p:spPr>
          <a:xfrm>
            <a:off x="640080" y="2514600"/>
            <a:ext cx="182880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algn="ctr" indent="0" marL="0">
              <a:buNone/>
            </a:pPr>
            <a:r>
              <a:rPr lang="ko-KR" altLang="en-US" sz="1300" dirty="0">
                <a:solidFill>
                  <a:schemeClr val="tx1"/>
                </a:solidFill>
              </a:rPr>
              <a:t>MoveGroup 액션</a:t>
            </a:r>
            <a:endParaRPr lang="ko-KR" altLang="en-US" sz="1300" dirty="0"/>
          </a:p>
          <a:p>
            <a:pPr eaLnBrk="0" algn="ctr" indent="0" marL="0">
              <a:buNone/>
            </a:pPr>
            <a:r>
              <a:rPr lang="ko-KR" altLang="en-US" sz="1300" dirty="0">
                <a:solidFill>
                  <a:schemeClr val="tx1"/>
                </a:solidFill>
              </a:rPr>
              <a:t>Cartesian 서비스</a:t>
            </a:r>
            <a:endParaRPr lang="ko-KR" altLang="en-US" sz="1300" dirty="0"/>
          </a:p>
        </p:txBody>
      </p:sp>
      <p:sp>
        <p:nvSpPr>
          <p:cNvPr id="6" name="arrow_418"/>
          <p:cNvSpPr/>
          <p:nvPr/>
        </p:nvSpPr>
        <p:spPr>
          <a:xfrm>
            <a:off x="2578608" y="2743200"/>
            <a:ext cx="237744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box_419"/>
          <p:cNvSpPr/>
          <p:nvPr/>
        </p:nvSpPr>
        <p:spPr>
          <a:xfrm>
            <a:off x="2834640" y="1554480"/>
            <a:ext cx="2011680" cy="237744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_420"/>
          <p:cNvSpPr txBox="1"/>
          <p:nvPr/>
        </p:nvSpPr>
        <p:spPr>
          <a:xfrm>
            <a:off x="2926080" y="1645920"/>
            <a:ext cx="1828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move_group</a:t>
            </a:r>
            <a:endParaRPr lang="ko-KR" altLang="en-US" sz="1600" dirty="0"/>
          </a:p>
        </p:txBody>
      </p:sp>
      <p:sp>
        <p:nvSpPr>
          <p:cNvPr id="9" name="text_421"/>
          <p:cNvSpPr txBox="1"/>
          <p:nvPr/>
        </p:nvSpPr>
        <p:spPr>
          <a:xfrm>
            <a:off x="2926080" y="2514600"/>
            <a:ext cx="182880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algn="ctr" indent="0" marL="0">
              <a:buNone/>
            </a:pPr>
            <a:r>
              <a:rPr lang="ko-KR" altLang="en-US" sz="1300" dirty="0">
                <a:solidFill>
                  <a:schemeClr val="bg1"/>
                </a:solidFill>
              </a:rPr>
              <a:t>URDF + SRDF</a:t>
            </a:r>
            <a:endParaRPr lang="ko-KR" altLang="en-US" sz="1300" dirty="0"/>
          </a:p>
          <a:p>
            <a:pPr eaLnBrk="0" algn="ctr" indent="0" marL="0">
              <a:buNone/>
            </a:pPr>
            <a:r>
              <a:rPr lang="ko-KR" altLang="en-US" sz="1300" dirty="0">
                <a:solidFill>
                  <a:schemeClr val="bg1"/>
                </a:solidFill>
              </a:rPr>
              <a:t>KDL IK · OMPL</a:t>
            </a:r>
            <a:endParaRPr lang="ko-KR" altLang="en-US" sz="1300" dirty="0"/>
          </a:p>
          <a:p>
            <a:pPr eaLnBrk="0" algn="ctr" indent="0" marL="0">
              <a:buNone/>
            </a:pPr>
            <a:r>
              <a:rPr lang="ko-KR" altLang="en-US" sz="1300" dirty="0">
                <a:solidFill>
                  <a:schemeClr val="bg1"/>
                </a:solidFill>
              </a:rPr>
              <a:t>planning scene</a:t>
            </a:r>
            <a:endParaRPr lang="ko-KR" altLang="en-US" sz="1300" dirty="0"/>
          </a:p>
        </p:txBody>
      </p:sp>
      <p:sp>
        <p:nvSpPr>
          <p:cNvPr id="10" name="arrow_422"/>
          <p:cNvSpPr/>
          <p:nvPr/>
        </p:nvSpPr>
        <p:spPr>
          <a:xfrm>
            <a:off x="4864608" y="2743200"/>
            <a:ext cx="237744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1" name="box_423"/>
          <p:cNvSpPr/>
          <p:nvPr/>
        </p:nvSpPr>
        <p:spPr>
          <a:xfrm>
            <a:off x="5120640" y="1554480"/>
            <a:ext cx="2011680" cy="2377440"/>
          </a:xfrm>
          <a:prstGeom prst="roundRect">
            <a:avLst>
              <a:gd name="adj" fmla="val 363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_424"/>
          <p:cNvSpPr txBox="1"/>
          <p:nvPr/>
        </p:nvSpPr>
        <p:spPr>
          <a:xfrm>
            <a:off x="5212080" y="1645920"/>
            <a:ext cx="1828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controller</a:t>
            </a:r>
            <a:endParaRPr lang="ko-KR" altLang="en-US" sz="1600" dirty="0"/>
          </a:p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manager</a:t>
            </a:r>
            <a:endParaRPr lang="ko-KR" altLang="en-US" sz="1600" dirty="0"/>
          </a:p>
        </p:txBody>
      </p:sp>
      <p:sp>
        <p:nvSpPr>
          <p:cNvPr id="13" name="text_425"/>
          <p:cNvSpPr txBox="1"/>
          <p:nvPr/>
        </p:nvSpPr>
        <p:spPr>
          <a:xfrm>
            <a:off x="5212080" y="2514600"/>
            <a:ext cx="182880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algn="ctr" indent="0" marL="0">
              <a:buNone/>
            </a:pPr>
            <a:r>
              <a:rPr lang="ko-KR" altLang="en-US" sz="1300" dirty="0">
                <a:solidFill>
                  <a:schemeClr val="bg1"/>
                </a:solidFill>
              </a:rPr>
              <a:t>moveit_simple_</a:t>
            </a:r>
            <a:endParaRPr lang="ko-KR" altLang="en-US" sz="1300" dirty="0"/>
          </a:p>
          <a:p>
            <a:pPr eaLnBrk="0" algn="ctr" indent="0" marL="0">
              <a:buNone/>
            </a:pPr>
            <a:r>
              <a:rPr lang="ko-KR" altLang="en-US" sz="1300" dirty="0">
                <a:solidFill>
                  <a:schemeClr val="bg1"/>
                </a:solidFill>
              </a:rPr>
              <a:t>controller_manager</a:t>
            </a:r>
            <a:endParaRPr lang="ko-KR" altLang="en-US" sz="1300" dirty="0"/>
          </a:p>
        </p:txBody>
      </p:sp>
      <p:sp>
        <p:nvSpPr>
          <p:cNvPr id="14" name="arrow_426"/>
          <p:cNvSpPr/>
          <p:nvPr/>
        </p:nvSpPr>
        <p:spPr>
          <a:xfrm>
            <a:off x="7150608" y="2743200"/>
            <a:ext cx="237744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5" name="box_427"/>
          <p:cNvSpPr/>
          <p:nvPr/>
        </p:nvSpPr>
        <p:spPr>
          <a:xfrm>
            <a:off x="7406640" y="1554480"/>
            <a:ext cx="2011680" cy="2377440"/>
          </a:xfrm>
          <a:prstGeom prst="roundRect">
            <a:avLst>
              <a:gd name="adj" fmla="val 363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_428"/>
          <p:cNvSpPr txBox="1"/>
          <p:nvPr/>
        </p:nvSpPr>
        <p:spPr>
          <a:xfrm>
            <a:off x="7498080" y="1645920"/>
            <a:ext cx="1828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trajectory</a:t>
            </a:r>
            <a:endParaRPr lang="ko-KR" altLang="en-US" sz="1600" dirty="0"/>
          </a:p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_server</a:t>
            </a:r>
            <a:endParaRPr lang="ko-KR" altLang="en-US" sz="1600" dirty="0"/>
          </a:p>
        </p:txBody>
      </p:sp>
      <p:sp>
        <p:nvSpPr>
          <p:cNvPr id="17" name="text_429"/>
          <p:cNvSpPr txBox="1"/>
          <p:nvPr/>
        </p:nvSpPr>
        <p:spPr>
          <a:xfrm>
            <a:off x="7498080" y="2514600"/>
            <a:ext cx="182880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algn="ctr" indent="0" marL="0">
              <a:buNone/>
            </a:pPr>
            <a:r>
              <a:rPr lang="ko-KR" altLang="en-US" sz="1300" dirty="0">
                <a:solidFill>
                  <a:schemeClr val="bg1"/>
                </a:solidFill>
              </a:rPr>
              <a:t>FollowJointTrajectory</a:t>
            </a:r>
            <a:endParaRPr lang="ko-KR" altLang="en-US" sz="1300" dirty="0"/>
          </a:p>
          <a:p>
            <a:pPr eaLnBrk="0" algn="ctr" indent="0" marL="0">
              <a:buNone/>
            </a:pPr>
            <a:r>
              <a:rPr lang="ko-KR" altLang="en-US" sz="1300" dirty="0">
                <a:solidFill>
                  <a:schemeClr val="bg1"/>
                </a:solidFill>
              </a:rPr>
              <a:t>× 4 (브리지 안)</a:t>
            </a:r>
            <a:endParaRPr lang="ko-KR" altLang="en-US" sz="1300" dirty="0"/>
          </a:p>
        </p:txBody>
      </p:sp>
      <p:sp>
        <p:nvSpPr>
          <p:cNvPr id="18" name="arrow_430"/>
          <p:cNvSpPr/>
          <p:nvPr/>
        </p:nvSpPr>
        <p:spPr>
          <a:xfrm>
            <a:off x="9436608" y="2743200"/>
            <a:ext cx="237744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box_431"/>
          <p:cNvSpPr/>
          <p:nvPr/>
        </p:nvSpPr>
        <p:spPr>
          <a:xfrm>
            <a:off x="9692640" y="1554480"/>
            <a:ext cx="2011680" cy="2377440"/>
          </a:xfrm>
          <a:prstGeom prst="roundRect">
            <a:avLst>
              <a:gd name="adj" fmla="val 363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_432"/>
          <p:cNvSpPr txBox="1"/>
          <p:nvPr/>
        </p:nvSpPr>
        <p:spPr>
          <a:xfrm>
            <a:off x="9784080" y="1645920"/>
            <a:ext cx="1828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MuJoCo</a:t>
            </a:r>
            <a:endParaRPr lang="ko-KR" altLang="en-US" sz="1600" dirty="0"/>
          </a:p>
        </p:txBody>
      </p:sp>
      <p:sp>
        <p:nvSpPr>
          <p:cNvPr id="21" name="text_433"/>
          <p:cNvSpPr txBox="1"/>
          <p:nvPr/>
        </p:nvSpPr>
        <p:spPr>
          <a:xfrm>
            <a:off x="9784080" y="2514600"/>
            <a:ext cx="182880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algn="ctr" indent="0" marL="0">
              <a:buNone/>
            </a:pPr>
            <a:r>
              <a:rPr lang="ko-KR" altLang="en-US" sz="1300" dirty="0">
                <a:solidFill>
                  <a:schemeClr val="bg1"/>
                </a:solidFill>
              </a:rPr>
              <a:t>위치 액추에이터</a:t>
            </a:r>
            <a:endParaRPr lang="ko-KR" altLang="en-US" sz="1300" dirty="0"/>
          </a:p>
          <a:p>
            <a:pPr eaLnBrk="0" algn="ctr" indent="0" marL="0">
              <a:buNone/>
            </a:pPr>
            <a:r>
              <a:rPr lang="ko-KR" altLang="en-US" sz="1300" dirty="0">
                <a:solidFill>
                  <a:schemeClr val="bg1"/>
                </a:solidFill>
              </a:rPr>
              <a:t>+ 중력 보상</a:t>
            </a:r>
            <a:endParaRPr lang="ko-KR" altLang="en-US" sz="1300" dirty="0"/>
          </a:p>
        </p:txBody>
      </p:sp>
      <p:sp>
        <p:nvSpPr>
          <p:cNvPr id="22" name="box_434"/>
          <p:cNvSpPr/>
          <p:nvPr/>
        </p:nvSpPr>
        <p:spPr>
          <a:xfrm>
            <a:off x="548640" y="4297680"/>
            <a:ext cx="548640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iconbg_435"/>
          <p:cNvSpPr/>
          <p:nvPr/>
        </p:nvSpPr>
        <p:spPr>
          <a:xfrm>
            <a:off x="777240" y="45262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4" name="icon_436" descr="Cogs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4646981"/>
            <a:ext cx="307238" cy="307238"/>
          </a:xfrm>
          <a:prstGeom prst="rect">
            <a:avLst/>
          </a:prstGeom>
        </p:spPr>
      </p:pic>
      <p:sp>
        <p:nvSpPr>
          <p:cNvPr id="25" name="text_437"/>
          <p:cNvSpPr txBox="1"/>
          <p:nvPr/>
        </p:nvSpPr>
        <p:spPr>
          <a:xfrm>
            <a:off x="1508760" y="4498848"/>
            <a:ext cx="42976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ros2_control 없이</a:t>
            </a:r>
            <a:endParaRPr lang="ko-KR" altLang="en-US" sz="1800" dirty="0"/>
          </a:p>
        </p:txBody>
      </p:sp>
      <p:sp>
        <p:nvSpPr>
          <p:cNvPr id="26" name="text_438"/>
          <p:cNvSpPr txBox="1"/>
          <p:nvPr/>
        </p:nvSpPr>
        <p:spPr>
          <a:xfrm>
            <a:off x="777240" y="5166360"/>
            <a:ext cx="50292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MoveIt 입장에서는 실제 로봇 컨트롤러와 똑같이 보인다</a:t>
            </a:r>
            <a:endParaRPr lang="ko-KR" altLang="en-US" sz="1500" dirty="0"/>
          </a:p>
        </p:txBody>
      </p:sp>
      <p:sp>
        <p:nvSpPr>
          <p:cNvPr id="27" name="box_439"/>
          <p:cNvSpPr/>
          <p:nvPr/>
        </p:nvSpPr>
        <p:spPr>
          <a:xfrm>
            <a:off x="6172200" y="4297680"/>
            <a:ext cx="54406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iconbg_440"/>
          <p:cNvSpPr/>
          <p:nvPr/>
        </p:nvSpPr>
        <p:spPr>
          <a:xfrm>
            <a:off x="6400800" y="45262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icon_441" descr="Robot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4646981"/>
            <a:ext cx="307238" cy="307238"/>
          </a:xfrm>
          <a:prstGeom prst="rect">
            <a:avLst/>
          </a:prstGeom>
        </p:spPr>
      </p:pic>
      <p:sp>
        <p:nvSpPr>
          <p:cNvPr id="30" name="text_442"/>
          <p:cNvSpPr txBox="1"/>
          <p:nvPr/>
        </p:nvSpPr>
        <p:spPr>
          <a:xfrm>
            <a:off x="7132320" y="4498848"/>
            <a:ext cx="42519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중력 보상 (gravcomp)</a:t>
            </a:r>
            <a:endParaRPr lang="ko-KR" altLang="en-US" sz="1800" dirty="0"/>
          </a:p>
        </p:txBody>
      </p:sp>
      <p:sp>
        <p:nvSpPr>
          <p:cNvPr id="31" name="text_443"/>
          <p:cNvSpPr txBox="1"/>
          <p:nvPr/>
        </p:nvSpPr>
        <p:spPr>
          <a:xfrm>
            <a:off x="6400800" y="5166360"/>
            <a:ext cx="49834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팔이 처지지 않고 목표 각도에 도달. 컴파일 전에 MjSpec으로 설정</a:t>
            </a:r>
            <a:endParaRPr lang="ko-KR" alt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31</a:t>
            </a:fld>
            <a:endParaRPr lang="ko-KR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SRDF: 계획 그룹과 자세</a:t>
            </a:r>
            <a:endParaRPr lang="ko-KR" altLang="en-US" sz="3200" dirty="0"/>
          </a:p>
        </p:txBody>
      </p:sp>
      <p:graphicFrame>
        <p:nvGraphicFramePr>
          <p:cNvPr id="33" name="table_4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108960"/>
                <a:gridCol w="4572000"/>
              </a:tblGrid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b="1" dirty="0">
                          <a:solidFill>
                            <a:schemeClr val="bg1"/>
                          </a:solidFill>
                        </a:rPr>
                        <a:t>그룹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b="1" dirty="0">
                          <a:solidFill>
                            <a:schemeClr val="bg1"/>
                          </a:solidFill>
                        </a:rPr>
                        <a:t>관절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b="1" dirty="0">
                          <a:solidFill>
                            <a:schemeClr val="bg1"/>
                          </a:solidFill>
                        </a:rPr>
                        <a:t>용도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left_arm / right_arm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openarm_*_joint1..7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한 팔 계획, 끝점 grasp_frame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both_arms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14개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두 팔 동시 (home, ready, tuck)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left_gripper / right_gripper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finger_joint1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open / closed</a:t>
                      </a:r>
                      <a:endParaRPr lang="ko-KR" altLang="en-US" sz="16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_445"/>
          <p:cNvSpPr txBox="1"/>
          <p:nvPr/>
        </p:nvSpPr>
        <p:spPr>
          <a:xfrm>
            <a:off x="548640" y="3611880"/>
            <a:ext cx="3657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named state</a:t>
            </a:r>
            <a:endParaRPr lang="ko-KR" altLang="en-US" sz="1800" dirty="0"/>
          </a:p>
        </p:txBody>
      </p:sp>
      <p:sp>
        <p:nvSpPr>
          <p:cNvPr id="5" name="box_446"/>
          <p:cNvSpPr/>
          <p:nvPr/>
        </p:nvSpPr>
        <p:spPr>
          <a:xfrm>
            <a:off x="548640" y="4160520"/>
            <a:ext cx="26060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_447"/>
          <p:cNvSpPr txBox="1"/>
          <p:nvPr/>
        </p:nvSpPr>
        <p:spPr>
          <a:xfrm>
            <a:off x="731520" y="4251960"/>
            <a:ext cx="224028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home</a:t>
            </a:r>
            <a:endParaRPr lang="ko-KR" altLang="en-US" sz="1800" dirty="0"/>
          </a:p>
        </p:txBody>
      </p:sp>
      <p:sp>
        <p:nvSpPr>
          <p:cNvPr id="7" name="text_448"/>
          <p:cNvSpPr txBox="1"/>
          <p:nvPr/>
        </p:nvSpPr>
        <p:spPr>
          <a:xfrm>
            <a:off x="731520" y="4800600"/>
            <a:ext cx="22402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팔을 아래로</a:t>
            </a:r>
            <a:endParaRPr lang="ko-KR" altLang="en-US" sz="1500" dirty="0"/>
          </a:p>
        </p:txBody>
      </p:sp>
      <p:sp>
        <p:nvSpPr>
          <p:cNvPr id="8" name="box_449"/>
          <p:cNvSpPr/>
          <p:nvPr/>
        </p:nvSpPr>
        <p:spPr>
          <a:xfrm>
            <a:off x="3364992" y="4160520"/>
            <a:ext cx="26060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_450"/>
          <p:cNvSpPr txBox="1"/>
          <p:nvPr/>
        </p:nvSpPr>
        <p:spPr>
          <a:xfrm>
            <a:off x="3547872" y="4251960"/>
            <a:ext cx="224028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ready</a:t>
            </a:r>
            <a:endParaRPr lang="ko-KR" altLang="en-US" sz="1800" dirty="0"/>
          </a:p>
        </p:txBody>
      </p:sp>
      <p:sp>
        <p:nvSpPr>
          <p:cNvPr id="10" name="text_451"/>
          <p:cNvSpPr txBox="1"/>
          <p:nvPr/>
        </p:nvSpPr>
        <p:spPr>
          <a:xfrm>
            <a:off x="3547872" y="4800600"/>
            <a:ext cx="22402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앞으로 준비</a:t>
            </a:r>
            <a:endParaRPr lang="ko-KR" altLang="en-US" sz="1500" dirty="0"/>
          </a:p>
        </p:txBody>
      </p:sp>
      <p:sp>
        <p:nvSpPr>
          <p:cNvPr id="11" name="box_452"/>
          <p:cNvSpPr/>
          <p:nvPr/>
        </p:nvSpPr>
        <p:spPr>
          <a:xfrm>
            <a:off x="6181344" y="4160520"/>
            <a:ext cx="26060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_453"/>
          <p:cNvSpPr txBox="1"/>
          <p:nvPr/>
        </p:nvSpPr>
        <p:spPr>
          <a:xfrm>
            <a:off x="6364224" y="4251960"/>
            <a:ext cx="224028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tuck</a:t>
            </a:r>
            <a:endParaRPr lang="ko-KR" altLang="en-US" sz="1800" dirty="0"/>
          </a:p>
        </p:txBody>
      </p:sp>
      <p:sp>
        <p:nvSpPr>
          <p:cNvPr id="13" name="text_454"/>
          <p:cNvSpPr txBox="1"/>
          <p:nvPr/>
        </p:nvSpPr>
        <p:spPr>
          <a:xfrm>
            <a:off x="6364224" y="4800600"/>
            <a:ext cx="22402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주행용 접힌 자세</a:t>
            </a:r>
            <a:endParaRPr lang="ko-KR" altLang="en-US" sz="1500" dirty="0"/>
          </a:p>
        </p:txBody>
      </p:sp>
      <p:sp>
        <p:nvSpPr>
          <p:cNvPr id="14" name="box_455"/>
          <p:cNvSpPr/>
          <p:nvPr/>
        </p:nvSpPr>
        <p:spPr>
          <a:xfrm>
            <a:off x="8997696" y="4160520"/>
            <a:ext cx="26060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_456"/>
          <p:cNvSpPr txBox="1"/>
          <p:nvPr/>
        </p:nvSpPr>
        <p:spPr>
          <a:xfrm>
            <a:off x="9180576" y="4251960"/>
            <a:ext cx="224028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/ closed</a:t>
            </a:r>
            <a:endParaRPr lang="ko-KR" altLang="en-US" sz="1800" dirty="0"/>
          </a:p>
        </p:txBody>
      </p:sp>
      <p:sp>
        <p:nvSpPr>
          <p:cNvPr id="16" name="text_457"/>
          <p:cNvSpPr txBox="1"/>
          <p:nvPr/>
        </p:nvSpPr>
        <p:spPr>
          <a:xfrm>
            <a:off x="9180576" y="4800600"/>
            <a:ext cx="22402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그리퍼</a:t>
            </a:r>
            <a:endParaRPr lang="ko-KR" altLang="en-US" sz="1500" dirty="0"/>
          </a:p>
        </p:txBody>
      </p:sp>
      <p:sp>
        <p:nvSpPr>
          <p:cNvPr id="17" name="text_458"/>
          <p:cNvSpPr txBox="1"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자기충돌 행렬은 Setup Assistant 대신 MuJoCo(mj_geomDistance)로 계산 — generate_collision_matrix.py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32</a:t>
            </a:fld>
            <a:endParaRPr lang="ko-KR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이 로봇에서 집기가 어려운 이유</a:t>
            </a:r>
            <a:endParaRPr lang="ko-KR" altLang="en-US" sz="3200" dirty="0"/>
          </a:p>
        </p:txBody>
      </p:sp>
      <p:sp>
        <p:nvSpPr>
          <p:cNvPr id="3" name="box_459"/>
          <p:cNvSpPr/>
          <p:nvPr/>
        </p:nvSpPr>
        <p:spPr>
          <a:xfrm>
            <a:off x="548640" y="137160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bg_460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_461" descr="Robot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720901"/>
            <a:ext cx="307238" cy="307238"/>
          </a:xfrm>
          <a:prstGeom prst="rect">
            <a:avLst/>
          </a:prstGeom>
        </p:spPr>
      </p:pic>
      <p:sp>
        <p:nvSpPr>
          <p:cNvPr id="6" name="text_462"/>
          <p:cNvSpPr txBox="1"/>
          <p:nvPr/>
        </p:nvSpPr>
        <p:spPr>
          <a:xfrm>
            <a:off x="1508760" y="1572768"/>
            <a:ext cx="42519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도달 범위가 좁다</a:t>
            </a:r>
            <a:endParaRPr lang="ko-KR" altLang="en-US" sz="1800" dirty="0"/>
          </a:p>
        </p:txBody>
      </p:sp>
      <p:sp>
        <p:nvSpPr>
          <p:cNvPr id="7" name="text_463"/>
          <p:cNvSpPr txBox="1"/>
          <p:nvPr/>
        </p:nvSpPr>
        <p:spPr>
          <a:xfrm>
            <a:off x="777240" y="2240280"/>
            <a:ext cx="49834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팔이 아래로 늘어진 구조라 앞쪽 x 0.30~0.45 m. 섀시가 상판 아래로 들어가게 테이블 0.65 m</a:t>
            </a:r>
            <a:endParaRPr lang="ko-KR" altLang="en-US" sz="1500" dirty="0"/>
          </a:p>
        </p:txBody>
      </p:sp>
      <p:sp>
        <p:nvSpPr>
          <p:cNvPr id="8" name="box_464"/>
          <p:cNvSpPr/>
          <p:nvPr/>
        </p:nvSpPr>
        <p:spPr>
          <a:xfrm>
            <a:off x="6172200" y="137160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bg_465"/>
          <p:cNvSpPr/>
          <p:nvPr/>
        </p:nvSpPr>
        <p:spPr>
          <a:xfrm>
            <a:off x="6400800" y="1600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_466" descr="LayerGroup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1720901"/>
            <a:ext cx="307238" cy="307238"/>
          </a:xfrm>
          <a:prstGeom prst="rect">
            <a:avLst/>
          </a:prstGeom>
        </p:spPr>
      </p:pic>
      <p:sp>
        <p:nvSpPr>
          <p:cNvPr id="11" name="text_467"/>
          <p:cNvSpPr txBox="1"/>
          <p:nvPr/>
        </p:nvSpPr>
        <p:spPr>
          <a:xfrm>
            <a:off x="7132320" y="1572768"/>
            <a:ext cx="42519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손과 상판 충돌</a:t>
            </a:r>
            <a:endParaRPr lang="ko-KR" altLang="en-US" sz="1800" dirty="0"/>
          </a:p>
        </p:txBody>
      </p:sp>
      <p:sp>
        <p:nvSpPr>
          <p:cNvPr id="12" name="text_468"/>
          <p:cNvSpPr txBox="1"/>
          <p:nvPr/>
        </p:nvSpPr>
        <p:spPr>
          <a:xfrm>
            <a:off x="6400800" y="2240280"/>
            <a:ext cx="49834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계획할 때만 상판을 planning scene에 추가, 15° 아래로 접근, 상자 중심 1.5 cm 위</a:t>
            </a:r>
            <a:endParaRPr lang="ko-KR" altLang="en-US" sz="1500" dirty="0"/>
          </a:p>
        </p:txBody>
      </p:sp>
      <p:sp>
        <p:nvSpPr>
          <p:cNvPr id="13" name="box_469"/>
          <p:cNvSpPr/>
          <p:nvPr/>
        </p:nvSpPr>
        <p:spPr>
          <a:xfrm>
            <a:off x="548640" y="374904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bg_470"/>
          <p:cNvSpPr/>
          <p:nvPr/>
        </p:nvSpPr>
        <p:spPr>
          <a:xfrm>
            <a:off x="777240" y="3977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con_471" descr="Eye 아이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4098341"/>
            <a:ext cx="307238" cy="307238"/>
          </a:xfrm>
          <a:prstGeom prst="rect">
            <a:avLst/>
          </a:prstGeom>
        </p:spPr>
      </p:pic>
      <p:sp>
        <p:nvSpPr>
          <p:cNvPr id="16" name="text_472"/>
          <p:cNvSpPr txBox="1"/>
          <p:nvPr/>
        </p:nvSpPr>
        <p:spPr>
          <a:xfrm>
            <a:off x="1508760" y="3950208"/>
            <a:ext cx="42519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가까이 가면 마커가 가려짐</a:t>
            </a:r>
            <a:endParaRPr lang="ko-KR" altLang="en-US" sz="1800" dirty="0"/>
          </a:p>
        </p:txBody>
      </p:sp>
      <p:sp>
        <p:nvSpPr>
          <p:cNvPr id="17" name="text_473"/>
          <p:cNvSpPr txBox="1"/>
          <p:nvPr/>
        </p:nvSpPr>
        <p:spPr>
          <a:xfrm>
            <a:off x="777240" y="4617720"/>
            <a:ext cx="49834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마지막으로 본 마커를 odom 좌표로 기억하고 오도메트리로 이어 씀</a:t>
            </a:r>
            <a:endParaRPr lang="ko-KR" altLang="en-US" sz="1500" dirty="0"/>
          </a:p>
        </p:txBody>
      </p:sp>
      <p:sp>
        <p:nvSpPr>
          <p:cNvPr id="18" name="box_474"/>
          <p:cNvSpPr/>
          <p:nvPr/>
        </p:nvSpPr>
        <p:spPr>
          <a:xfrm>
            <a:off x="6172200" y="374904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iconbg_475"/>
          <p:cNvSpPr/>
          <p:nvPr/>
        </p:nvSpPr>
        <p:spPr>
          <a:xfrm>
            <a:off x="6400800" y="397764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0" name="icon_476" descr="HandPaper 아이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501" y="4098341"/>
            <a:ext cx="307238" cy="307238"/>
          </a:xfrm>
          <a:prstGeom prst="rect">
            <a:avLst/>
          </a:prstGeom>
        </p:spPr>
      </p:pic>
      <p:sp>
        <p:nvSpPr>
          <p:cNvPr id="21" name="text_477"/>
          <p:cNvSpPr txBox="1"/>
          <p:nvPr/>
        </p:nvSpPr>
        <p:spPr>
          <a:xfrm>
            <a:off x="7132320" y="3950208"/>
            <a:ext cx="42519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놓을 높이가 몇 cm 틀림</a:t>
            </a:r>
            <a:endParaRPr lang="ko-KR" altLang="en-US" sz="1800" dirty="0"/>
          </a:p>
        </p:txBody>
      </p:sp>
      <p:sp>
        <p:nvSpPr>
          <p:cNvPr id="22" name="text_478"/>
          <p:cNvSpPr txBox="1"/>
          <p:nvPr/>
        </p:nvSpPr>
        <p:spPr>
          <a:xfrm>
            <a:off x="6400800" y="4617720"/>
            <a:ext cx="49834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직선으로 내리다 3 cm 이상 내려간 뒤 막히면 닿은 것: guarded move</a:t>
            </a:r>
            <a:endParaRPr lang="ko-KR" alt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33</a:t>
            </a:fld>
            <a:endParaRPr lang="ko-KR" alt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실습: RViz MotionPlanning</a:t>
            </a:r>
            <a:endParaRPr lang="ko-KR" altLang="en-US" sz="3200" dirty="0"/>
          </a:p>
        </p:txBody>
      </p:sp>
      <p:pic>
        <p:nvPicPr>
          <p:cNvPr id="3" name="img_479" descr="RViz MotionPlanning 패널과 양팔 로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1902"/>
            <a:ext cx="6583680" cy="4402836"/>
          </a:xfrm>
          <a:prstGeom prst="rect">
            <a:avLst/>
          </a:prstGeom>
        </p:spPr>
      </p:pic>
      <p:sp>
        <p:nvSpPr>
          <p:cNvPr id="4" name="num_480"/>
          <p:cNvSpPr/>
          <p:nvPr/>
        </p:nvSpPr>
        <p:spPr>
          <a:xfrm>
            <a:off x="740664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_481"/>
          <p:cNvSpPr txBox="1"/>
          <p:nvPr/>
        </p:nvSpPr>
        <p:spPr>
          <a:xfrm>
            <a:off x="7406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1</a:t>
            </a:r>
            <a:endParaRPr lang="ko-KR" altLang="en-US" sz="1600" dirty="0"/>
          </a:p>
        </p:txBody>
      </p:sp>
      <p:sp>
        <p:nvSpPr>
          <p:cNvPr id="6" name="text_482"/>
          <p:cNvSpPr txBox="1"/>
          <p:nvPr/>
        </p:nvSpPr>
        <p:spPr>
          <a:xfrm>
            <a:off x="8046720" y="1444752"/>
            <a:ext cx="35661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right_arm → tuck → home</a:t>
            </a:r>
            <a:endParaRPr lang="ko-KR" altLang="en-US" sz="1700" dirty="0"/>
          </a:p>
        </p:txBody>
      </p:sp>
      <p:sp>
        <p:nvSpPr>
          <p:cNvPr id="7" name="text_483"/>
          <p:cNvSpPr txBox="1"/>
          <p:nvPr/>
        </p:nvSpPr>
        <p:spPr>
          <a:xfrm>
            <a:off x="8046720" y="1920240"/>
            <a:ext cx="35661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Plan → 미리보기 → Execute</a:t>
            </a:r>
            <a:endParaRPr lang="ko-KR" altLang="en-US" sz="1400" dirty="0"/>
          </a:p>
        </p:txBody>
      </p:sp>
      <p:sp>
        <p:nvSpPr>
          <p:cNvPr id="8" name="num_484"/>
          <p:cNvSpPr/>
          <p:nvPr/>
        </p:nvSpPr>
        <p:spPr>
          <a:xfrm>
            <a:off x="7406640" y="2606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_485"/>
          <p:cNvSpPr txBox="1"/>
          <p:nvPr/>
        </p:nvSpPr>
        <p:spPr>
          <a:xfrm>
            <a:off x="740664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2</a:t>
            </a:r>
            <a:endParaRPr lang="ko-KR" altLang="en-US" sz="1600" dirty="0"/>
          </a:p>
        </p:txBody>
      </p:sp>
      <p:sp>
        <p:nvSpPr>
          <p:cNvPr id="10" name="text_486"/>
          <p:cNvSpPr txBox="1"/>
          <p:nvPr/>
        </p:nvSpPr>
        <p:spPr>
          <a:xfrm>
            <a:off x="8046720" y="2587752"/>
            <a:ext cx="35661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interactive marker 드래그</a:t>
            </a:r>
            <a:endParaRPr lang="ko-KR" altLang="en-US" sz="1700" dirty="0"/>
          </a:p>
        </p:txBody>
      </p:sp>
      <p:sp>
        <p:nvSpPr>
          <p:cNvPr id="11" name="text_487"/>
          <p:cNvSpPr txBox="1"/>
          <p:nvPr/>
        </p:nvSpPr>
        <p:spPr>
          <a:xfrm>
            <a:off x="8046720" y="3063240"/>
            <a:ext cx="35661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닿지 않는 곳은 IK 실패</a:t>
            </a:r>
            <a:endParaRPr lang="ko-KR" altLang="en-US" sz="1400" dirty="0"/>
          </a:p>
        </p:txBody>
      </p:sp>
      <p:sp>
        <p:nvSpPr>
          <p:cNvPr id="12" name="num_488"/>
          <p:cNvSpPr/>
          <p:nvPr/>
        </p:nvSpPr>
        <p:spPr>
          <a:xfrm>
            <a:off x="7406640" y="3749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_489"/>
          <p:cNvSpPr txBox="1"/>
          <p:nvPr/>
        </p:nvSpPr>
        <p:spPr>
          <a:xfrm>
            <a:off x="74066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3</a:t>
            </a:r>
            <a:endParaRPr lang="ko-KR" altLang="en-US" sz="1600" dirty="0"/>
          </a:p>
        </p:txBody>
      </p:sp>
      <p:sp>
        <p:nvSpPr>
          <p:cNvPr id="14" name="text_490"/>
          <p:cNvSpPr txBox="1"/>
          <p:nvPr/>
        </p:nvSpPr>
        <p:spPr>
          <a:xfrm>
            <a:off x="8046720" y="3730752"/>
            <a:ext cx="35661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both_arms → ready / tuck</a:t>
            </a:r>
            <a:endParaRPr lang="ko-KR" altLang="en-US" sz="1700" dirty="0"/>
          </a:p>
        </p:txBody>
      </p:sp>
      <p:sp>
        <p:nvSpPr>
          <p:cNvPr id="15" name="text_491"/>
          <p:cNvSpPr txBox="1"/>
          <p:nvPr/>
        </p:nvSpPr>
        <p:spPr>
          <a:xfrm>
            <a:off x="8046720" y="4206240"/>
            <a:ext cx="35661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두 팔 동시 계획</a:t>
            </a:r>
            <a:endParaRPr lang="ko-KR" altLang="en-US" sz="1400" dirty="0"/>
          </a:p>
        </p:txBody>
      </p:sp>
      <p:sp>
        <p:nvSpPr>
          <p:cNvPr id="16" name="num_492"/>
          <p:cNvSpPr/>
          <p:nvPr/>
        </p:nvSpPr>
        <p:spPr>
          <a:xfrm>
            <a:off x="7406640" y="4892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_493"/>
          <p:cNvSpPr txBox="1"/>
          <p:nvPr/>
        </p:nvSpPr>
        <p:spPr>
          <a:xfrm>
            <a:off x="740664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4</a:t>
            </a:r>
            <a:endParaRPr lang="ko-KR" altLang="en-US" sz="1600" dirty="0"/>
          </a:p>
        </p:txBody>
      </p:sp>
      <p:sp>
        <p:nvSpPr>
          <p:cNvPr id="18" name="text_494"/>
          <p:cNvSpPr txBox="1"/>
          <p:nvPr/>
        </p:nvSpPr>
        <p:spPr>
          <a:xfrm>
            <a:off x="8046720" y="4873752"/>
            <a:ext cx="35661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자동 테스트</a:t>
            </a:r>
            <a:endParaRPr lang="ko-KR" altLang="en-US" sz="1700" dirty="0"/>
          </a:p>
        </p:txBody>
      </p:sp>
      <p:sp>
        <p:nvSpPr>
          <p:cNvPr id="19" name="text_495"/>
          <p:cNvSpPr txBox="1"/>
          <p:nvPr/>
        </p:nvSpPr>
        <p:spPr>
          <a:xfrm>
            <a:off x="8046720" y="5349240"/>
            <a:ext cx="35661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moveit_test.py: 6개 동작 6/6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34</a:t>
            </a:fld>
            <a:endParaRPr lang="ko-KR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Pose goal vs Cartesian path</a:t>
            </a:r>
            <a:endParaRPr lang="ko-KR" altLang="en-US" sz="3200" dirty="0"/>
          </a:p>
        </p:txBody>
      </p:sp>
      <p:sp>
        <p:nvSpPr>
          <p:cNvPr id="3" name="box_496"/>
          <p:cNvSpPr/>
          <p:nvPr/>
        </p:nvSpPr>
        <p:spPr>
          <a:xfrm>
            <a:off x="548640" y="1371600"/>
            <a:ext cx="544068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_497"/>
          <p:cNvSpPr txBox="1"/>
          <p:nvPr/>
        </p:nvSpPr>
        <p:spPr>
          <a:xfrm>
            <a:off x="777240" y="1572768"/>
            <a:ext cx="49834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move_to_pose</a:t>
            </a:r>
            <a:endParaRPr lang="ko-KR" altLang="en-US" sz="1800" dirty="0"/>
          </a:p>
        </p:txBody>
      </p:sp>
      <p:sp>
        <p:nvSpPr>
          <p:cNvPr id="5" name="text_498"/>
          <p:cNvSpPr txBox="1"/>
          <p:nvPr/>
        </p:nvSpPr>
        <p:spPr>
          <a:xfrm>
            <a:off x="777240" y="2240280"/>
            <a:ext cx="498348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목표 자세 하나만 준다. 경로는 OMPL이 찾고 중간에 휘어질 수 있다</a:t>
            </a:r>
            <a:endParaRPr lang="ko-KR" altLang="en-US" sz="1500" dirty="0"/>
          </a:p>
        </p:txBody>
      </p:sp>
      <p:sp>
        <p:nvSpPr>
          <p:cNvPr id="6" name="box_499"/>
          <p:cNvSpPr/>
          <p:nvPr/>
        </p:nvSpPr>
        <p:spPr>
          <a:xfrm>
            <a:off x="6172200" y="1371600"/>
            <a:ext cx="5440680" cy="1920240"/>
          </a:xfrm>
          <a:prstGeom prst="roundRect">
            <a:avLst>
              <a:gd name="adj" fmla="val 381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_500"/>
          <p:cNvSpPr txBox="1"/>
          <p:nvPr/>
        </p:nvSpPr>
        <p:spPr>
          <a:xfrm>
            <a:off x="6400800" y="1572768"/>
            <a:ext cx="49834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bg1"/>
                </a:solidFill>
              </a:rPr>
              <a:t>move_linear</a:t>
            </a:r>
            <a:endParaRPr lang="ko-KR" altLang="en-US" sz="1800" dirty="0"/>
          </a:p>
        </p:txBody>
      </p:sp>
      <p:sp>
        <p:nvSpPr>
          <p:cNvPr id="8" name="text_501"/>
          <p:cNvSpPr txBox="1"/>
          <p:nvPr/>
        </p:nvSpPr>
        <p:spPr>
          <a:xfrm>
            <a:off x="6400800" y="2240280"/>
            <a:ext cx="498348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accent5"/>
                </a:solidFill>
              </a:rPr>
              <a:t>끝점이 직선으로 움직인다. 접근·들기처럼 경로가 중요할 때. 98% 미만이면 실패</a:t>
            </a:r>
            <a:endParaRPr lang="ko-KR" altLang="en-US" sz="1500" dirty="0"/>
          </a:p>
        </p:txBody>
      </p:sp>
      <p:sp>
        <p:nvSpPr>
          <p:cNvPr id="9" name="box_502"/>
          <p:cNvSpPr/>
          <p:nvPr/>
        </p:nvSpPr>
        <p:spPr>
          <a:xfrm>
            <a:off x="548640" y="3520440"/>
            <a:ext cx="11064240" cy="2514600"/>
          </a:xfrm>
          <a:prstGeom prst="roundRect">
            <a:avLst>
              <a:gd name="adj" fmla="val 290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code_503"/>
          <p:cNvSpPr txBox="1"/>
          <p:nvPr/>
        </p:nvSpPr>
        <p:spPr>
          <a:xfrm>
            <a:off x="731520" y="3657600"/>
            <a:ext cx="10698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RobotSkills(); s.wait_ready()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s.move_arms('home')                                   # named posture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s.set_gripper('right', -0.6)                          # 열기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s.move_to_pose('right', (0.38, -0.15, 0.80), grasp_rotation(0.0), 'pose')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dz in (-0.05, +0.05):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s.move_linear('right', (0.0, 0.0, dz), 'linear')   # 직선 5 cm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s.set_gripper('right', 0.0); s.move_arms('tuck')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35</a:t>
            </a:fld>
            <a:endParaRPr lang="ko-KR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ArUco로 상자 찾기</a:t>
            </a:r>
            <a:endParaRPr lang="ko-KR" altLang="en-US" sz="3200" dirty="0"/>
          </a:p>
        </p:txBody>
      </p:sp>
      <p:sp>
        <p:nvSpPr>
          <p:cNvPr id="3" name="box_504"/>
          <p:cNvSpPr/>
          <p:nvPr/>
        </p:nvSpPr>
        <p:spPr>
          <a:xfrm>
            <a:off x="548640" y="1463040"/>
            <a:ext cx="338328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_505"/>
          <p:cNvSpPr txBox="1"/>
          <p:nvPr/>
        </p:nvSpPr>
        <p:spPr>
          <a:xfrm>
            <a:off x="777240" y="1600200"/>
            <a:ext cx="29260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9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detectMarkers</a:t>
            </a:r>
            <a:endParaRPr lang="ko-KR" altLang="en-US" sz="1900" dirty="0"/>
          </a:p>
        </p:txBody>
      </p:sp>
      <p:sp>
        <p:nvSpPr>
          <p:cNvPr id="5" name="text_506"/>
          <p:cNvSpPr txBox="1"/>
          <p:nvPr/>
        </p:nvSpPr>
        <p:spPr>
          <a:xfrm>
            <a:off x="777240" y="2240280"/>
            <a:ext cx="29260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DICT_4X4_50으로</a:t>
            </a:r>
            <a:endParaRPr lang="ko-KR" altLang="en-US" sz="1500" dirty="0"/>
          </a:p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네 꼭짓점 찾기</a:t>
            </a:r>
            <a:endParaRPr lang="ko-KR" altLang="en-US" sz="1500" dirty="0"/>
          </a:p>
        </p:txBody>
      </p:sp>
      <p:sp>
        <p:nvSpPr>
          <p:cNvPr id="6" name="arrow_507"/>
          <p:cNvSpPr/>
          <p:nvPr/>
        </p:nvSpPr>
        <p:spPr>
          <a:xfrm>
            <a:off x="3977640" y="2468880"/>
            <a:ext cx="32004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box_508"/>
          <p:cNvSpPr/>
          <p:nvPr/>
        </p:nvSpPr>
        <p:spPr>
          <a:xfrm>
            <a:off x="4343400" y="1463040"/>
            <a:ext cx="3383280" cy="2011680"/>
          </a:xfrm>
          <a:prstGeom prst="roundRect">
            <a:avLst>
              <a:gd name="adj" fmla="val 363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_509"/>
          <p:cNvSpPr txBox="1"/>
          <p:nvPr/>
        </p:nvSpPr>
        <p:spPr>
          <a:xfrm>
            <a:off x="4572000" y="1600200"/>
            <a:ext cx="29260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9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solvePnP</a:t>
            </a:r>
            <a:endParaRPr lang="ko-KR" altLang="en-US" sz="1900" dirty="0"/>
          </a:p>
        </p:txBody>
      </p:sp>
      <p:sp>
        <p:nvSpPr>
          <p:cNvPr id="9" name="text_510"/>
          <p:cNvSpPr txBox="1"/>
          <p:nvPr/>
        </p:nvSpPr>
        <p:spPr>
          <a:xfrm>
            <a:off x="4572000" y="2240280"/>
            <a:ext cx="29260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bg1"/>
                </a:solidFill>
              </a:rPr>
              <a:t>마커 크기 + camera_info</a:t>
            </a:r>
            <a:endParaRPr lang="ko-KR" altLang="en-US" sz="1500" dirty="0"/>
          </a:p>
          <a:p>
            <a:pPr eaLnBrk="0" indent="0" marL="0">
              <a:buNone/>
            </a:pPr>
            <a:r>
              <a:rPr lang="ko-KR" altLang="en-US" sz="1500" dirty="0">
                <a:solidFill>
                  <a:schemeClr val="bg1"/>
                </a:solidFill>
              </a:rPr>
              <a:t>→ 카메라 기준 자세</a:t>
            </a:r>
            <a:endParaRPr lang="ko-KR" altLang="en-US" sz="1500" dirty="0"/>
          </a:p>
        </p:txBody>
      </p:sp>
      <p:sp>
        <p:nvSpPr>
          <p:cNvPr id="10" name="arrow_511"/>
          <p:cNvSpPr/>
          <p:nvPr/>
        </p:nvSpPr>
        <p:spPr>
          <a:xfrm>
            <a:off x="7772400" y="2468880"/>
            <a:ext cx="32004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1" name="box_512"/>
          <p:cNvSpPr/>
          <p:nvPr/>
        </p:nvSpPr>
        <p:spPr>
          <a:xfrm>
            <a:off x="8138160" y="1463040"/>
            <a:ext cx="338328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_513"/>
          <p:cNvSpPr txBox="1"/>
          <p:nvPr/>
        </p:nvSpPr>
        <p:spPr>
          <a:xfrm>
            <a:off x="8366760" y="1600200"/>
            <a:ext cx="29260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9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TF aruco_&lt;id&gt;</a:t>
            </a:r>
            <a:endParaRPr lang="ko-KR" altLang="en-US" sz="1900" dirty="0"/>
          </a:p>
        </p:txBody>
      </p:sp>
      <p:sp>
        <p:nvSpPr>
          <p:cNvPr id="13" name="text_514"/>
          <p:cNvSpPr txBox="1"/>
          <p:nvPr/>
        </p:nvSpPr>
        <p:spPr>
          <a:xfrm>
            <a:off x="8366760" y="2240280"/>
            <a:ext cx="29260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스킬은 base_footprint</a:t>
            </a:r>
            <a:endParaRPr lang="ko-KR" altLang="en-US" sz="1500" dirty="0"/>
          </a:p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기준으로 읽는다</a:t>
            </a:r>
            <a:endParaRPr lang="ko-KR" altLang="en-US" sz="1500" dirty="0"/>
          </a:p>
        </p:txBody>
      </p:sp>
      <p:sp>
        <p:nvSpPr>
          <p:cNvPr id="14" name="iconbg_515"/>
          <p:cNvSpPr/>
          <p:nvPr/>
        </p:nvSpPr>
        <p:spPr>
          <a:xfrm>
            <a:off x="548640" y="379476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5" name="icon_516" descr="Qrcode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3915461"/>
            <a:ext cx="307238" cy="307238"/>
          </a:xfrm>
          <a:prstGeom prst="rect">
            <a:avLst/>
          </a:prstGeom>
        </p:spPr>
      </p:pic>
      <p:sp>
        <p:nvSpPr>
          <p:cNvPr id="16" name="text_517"/>
          <p:cNvSpPr txBox="1"/>
          <p:nvPr/>
        </p:nvSpPr>
        <p:spPr>
          <a:xfrm>
            <a:off x="1234440" y="3749040"/>
            <a:ext cx="26517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마커 7</a:t>
            </a:r>
            <a:endParaRPr lang="ko-KR" altLang="en-US" sz="1600" dirty="0"/>
          </a:p>
        </p:txBody>
      </p:sp>
      <p:sp>
        <p:nvSpPr>
          <p:cNvPr id="17" name="text_518"/>
          <p:cNvSpPr txBox="1"/>
          <p:nvPr/>
        </p:nvSpPr>
        <p:spPr>
          <a:xfrm>
            <a:off x="12344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상자 윗면 3.75 cm</a:t>
            </a:r>
            <a:endParaRPr lang="ko-KR" altLang="en-US" sz="1400" dirty="0"/>
          </a:p>
        </p:txBody>
      </p:sp>
      <p:sp>
        <p:nvSpPr>
          <p:cNvPr id="18" name="iconbg_519"/>
          <p:cNvSpPr/>
          <p:nvPr/>
        </p:nvSpPr>
        <p:spPr>
          <a:xfrm>
            <a:off x="4343400" y="379476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9" name="icon_520" descr="Qrcode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4101" y="3915461"/>
            <a:ext cx="307238" cy="307238"/>
          </a:xfrm>
          <a:prstGeom prst="rect">
            <a:avLst/>
          </a:prstGeom>
        </p:spPr>
      </p:pic>
      <p:sp>
        <p:nvSpPr>
          <p:cNvPr id="20" name="text_521"/>
          <p:cNvSpPr txBox="1"/>
          <p:nvPr/>
        </p:nvSpPr>
        <p:spPr>
          <a:xfrm>
            <a:off x="5029200" y="3749040"/>
            <a:ext cx="26517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마커 5</a:t>
            </a:r>
            <a:endParaRPr lang="ko-KR" altLang="en-US" sz="1600" dirty="0"/>
          </a:p>
        </p:txBody>
      </p:sp>
      <p:sp>
        <p:nvSpPr>
          <p:cNvPr id="21" name="text_522"/>
          <p:cNvSpPr txBox="1"/>
          <p:nvPr/>
        </p:nvSpPr>
        <p:spPr>
          <a:xfrm>
            <a:off x="5029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공급 테이블 7.5 cm</a:t>
            </a:r>
            <a:endParaRPr lang="ko-KR" altLang="en-US" sz="1400" dirty="0"/>
          </a:p>
        </p:txBody>
      </p:sp>
      <p:sp>
        <p:nvSpPr>
          <p:cNvPr id="22" name="iconbg_523"/>
          <p:cNvSpPr/>
          <p:nvPr/>
        </p:nvSpPr>
        <p:spPr>
          <a:xfrm>
            <a:off x="8138160" y="379476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3" name="icon_524" descr="Qrcode 아이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8861" y="3915461"/>
            <a:ext cx="307238" cy="307238"/>
          </a:xfrm>
          <a:prstGeom prst="rect">
            <a:avLst/>
          </a:prstGeom>
        </p:spPr>
      </p:pic>
      <p:sp>
        <p:nvSpPr>
          <p:cNvPr id="24" name="text_525"/>
          <p:cNvSpPr txBox="1"/>
          <p:nvPr/>
        </p:nvSpPr>
        <p:spPr>
          <a:xfrm>
            <a:off x="8823960" y="3749040"/>
            <a:ext cx="26517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마커 3</a:t>
            </a:r>
            <a:endParaRPr lang="ko-KR" altLang="en-US" sz="1600" dirty="0"/>
          </a:p>
        </p:txBody>
      </p:sp>
      <p:sp>
        <p:nvSpPr>
          <p:cNvPr id="25" name="text_526"/>
          <p:cNvSpPr txBox="1"/>
          <p:nvPr/>
        </p:nvSpPr>
        <p:spPr>
          <a:xfrm>
            <a:off x="882396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작업대 7.5 cm</a:t>
            </a:r>
            <a:endParaRPr lang="ko-KR" altLang="en-US" sz="1400" dirty="0"/>
          </a:p>
        </p:txBody>
      </p:sp>
      <p:sp>
        <p:nvSpPr>
          <p:cNvPr id="26" name="box_527"/>
          <p:cNvSpPr/>
          <p:nvPr/>
        </p:nvSpPr>
        <p:spPr>
          <a:xfrm>
            <a:off x="548640" y="4754880"/>
            <a:ext cx="11064240" cy="1280160"/>
          </a:xfrm>
          <a:prstGeom prst="roundRect">
            <a:avLst>
              <a:gd name="adj" fmla="val 571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7" name="code_528"/>
          <p:cNvSpPr txBox="1"/>
          <p:nvPr/>
        </p:nvSpPr>
        <p:spPr>
          <a:xfrm>
            <a:off x="731520" y="489204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ros2 run rqt_image_view rqt_image_view /aruco/debug_image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ros2 run tf2_ros tf2_echo base_footprint aruco_7 --ros-args -p use_sim_time:=true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36</a:t>
            </a:fld>
            <a:endParaRPr lang="ko-KR" alt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Pick &amp; Place = 스킬을 잇는 상태 기계</a:t>
            </a:r>
            <a:endParaRPr lang="ko-KR" altLang="en-US" sz="3200" dirty="0"/>
          </a:p>
        </p:txBody>
      </p:sp>
      <p:sp>
        <p:nvSpPr>
          <p:cNvPr id="3" name="box_529"/>
          <p:cNvSpPr/>
          <p:nvPr/>
        </p:nvSpPr>
        <p:spPr>
          <a:xfrm>
            <a:off x="548640" y="137160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_530"/>
          <p:cNvSpPr txBox="1"/>
          <p:nvPr/>
        </p:nvSpPr>
        <p:spPr>
          <a:xfrm>
            <a:off x="548640" y="1371600"/>
            <a:ext cx="251460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tuck</a:t>
            </a:r>
            <a:endParaRPr lang="ko-KR" altLang="en-US" sz="1500" dirty="0"/>
          </a:p>
        </p:txBody>
      </p:sp>
      <p:sp>
        <p:nvSpPr>
          <p:cNvPr id="5" name="arrow_531"/>
          <p:cNvSpPr/>
          <p:nvPr/>
        </p:nvSpPr>
        <p:spPr>
          <a:xfrm>
            <a:off x="3081528" y="1755648"/>
            <a:ext cx="283464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6" name="box_532"/>
          <p:cNvSpPr/>
          <p:nvPr/>
        </p:nvSpPr>
        <p:spPr>
          <a:xfrm>
            <a:off x="3383280" y="137160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_533"/>
          <p:cNvSpPr txBox="1"/>
          <p:nvPr/>
        </p:nvSpPr>
        <p:spPr>
          <a:xfrm>
            <a:off x="3383280" y="1371600"/>
            <a:ext cx="251460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주행: 공급 테이블</a:t>
            </a:r>
            <a:endParaRPr lang="ko-KR" altLang="en-US" sz="1500" dirty="0"/>
          </a:p>
        </p:txBody>
      </p:sp>
      <p:sp>
        <p:nvSpPr>
          <p:cNvPr id="8" name="arrow_534"/>
          <p:cNvSpPr/>
          <p:nvPr/>
        </p:nvSpPr>
        <p:spPr>
          <a:xfrm>
            <a:off x="5916168" y="1755648"/>
            <a:ext cx="283464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box_535"/>
          <p:cNvSpPr/>
          <p:nvPr/>
        </p:nvSpPr>
        <p:spPr>
          <a:xfrm>
            <a:off x="6217920" y="137160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_536"/>
          <p:cNvSpPr txBox="1"/>
          <p:nvPr/>
        </p:nvSpPr>
        <p:spPr>
          <a:xfrm>
            <a:off x="6217920" y="1371600"/>
            <a:ext cx="251460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정밀 접근: 마커 7</a:t>
            </a:r>
            <a:endParaRPr lang="ko-KR" altLang="en-US" sz="1500" dirty="0"/>
          </a:p>
        </p:txBody>
      </p:sp>
      <p:sp>
        <p:nvSpPr>
          <p:cNvPr id="11" name="arrow_537"/>
          <p:cNvSpPr/>
          <p:nvPr/>
        </p:nvSpPr>
        <p:spPr>
          <a:xfrm>
            <a:off x="8750808" y="1755648"/>
            <a:ext cx="283464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box_538"/>
          <p:cNvSpPr/>
          <p:nvPr/>
        </p:nvSpPr>
        <p:spPr>
          <a:xfrm>
            <a:off x="9052560" y="137160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_539"/>
          <p:cNvSpPr txBox="1"/>
          <p:nvPr/>
        </p:nvSpPr>
        <p:spPr>
          <a:xfrm>
            <a:off x="9052560" y="1371600"/>
            <a:ext cx="251460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500" b="1" dirty="0">
                <a:solidFill>
                  <a:schemeClr val="bg1"/>
                </a:solidFill>
              </a:rPr>
              <a:t>집기</a:t>
            </a:r>
            <a:endParaRPr lang="ko-KR" altLang="en-US" sz="1500" dirty="0"/>
          </a:p>
        </p:txBody>
      </p:sp>
      <p:sp>
        <p:nvSpPr>
          <p:cNvPr id="14" name="box_540"/>
          <p:cNvSpPr/>
          <p:nvPr/>
        </p:nvSpPr>
        <p:spPr>
          <a:xfrm>
            <a:off x="548640" y="251460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_541"/>
          <p:cNvSpPr txBox="1"/>
          <p:nvPr/>
        </p:nvSpPr>
        <p:spPr>
          <a:xfrm>
            <a:off x="548640" y="2514600"/>
            <a:ext cx="251460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후진</a:t>
            </a:r>
            <a:endParaRPr lang="ko-KR" altLang="en-US" sz="1500" dirty="0"/>
          </a:p>
        </p:txBody>
      </p:sp>
      <p:sp>
        <p:nvSpPr>
          <p:cNvPr id="16" name="arrow_542"/>
          <p:cNvSpPr/>
          <p:nvPr/>
        </p:nvSpPr>
        <p:spPr>
          <a:xfrm>
            <a:off x="3081528" y="2898648"/>
            <a:ext cx="283464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box_543"/>
          <p:cNvSpPr/>
          <p:nvPr/>
        </p:nvSpPr>
        <p:spPr>
          <a:xfrm>
            <a:off x="3383280" y="251460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_544"/>
          <p:cNvSpPr txBox="1"/>
          <p:nvPr/>
        </p:nvSpPr>
        <p:spPr>
          <a:xfrm>
            <a:off x="3383280" y="2514600"/>
            <a:ext cx="251460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주행: 작업대</a:t>
            </a:r>
            <a:endParaRPr lang="ko-KR" altLang="en-US" sz="1500" dirty="0"/>
          </a:p>
        </p:txBody>
      </p:sp>
      <p:sp>
        <p:nvSpPr>
          <p:cNvPr id="19" name="arrow_545"/>
          <p:cNvSpPr/>
          <p:nvPr/>
        </p:nvSpPr>
        <p:spPr>
          <a:xfrm>
            <a:off x="5916168" y="2898648"/>
            <a:ext cx="283464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box_546"/>
          <p:cNvSpPr/>
          <p:nvPr/>
        </p:nvSpPr>
        <p:spPr>
          <a:xfrm>
            <a:off x="6217920" y="251460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_547"/>
          <p:cNvSpPr txBox="1"/>
          <p:nvPr/>
        </p:nvSpPr>
        <p:spPr>
          <a:xfrm>
            <a:off x="6217920" y="2514600"/>
            <a:ext cx="251460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정밀 접근: 마커 3</a:t>
            </a:r>
            <a:endParaRPr lang="ko-KR" altLang="en-US" sz="1500" dirty="0"/>
          </a:p>
        </p:txBody>
      </p:sp>
      <p:sp>
        <p:nvSpPr>
          <p:cNvPr id="22" name="arrow_548"/>
          <p:cNvSpPr/>
          <p:nvPr/>
        </p:nvSpPr>
        <p:spPr>
          <a:xfrm>
            <a:off x="8750808" y="2898648"/>
            <a:ext cx="283464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box_549"/>
          <p:cNvSpPr/>
          <p:nvPr/>
        </p:nvSpPr>
        <p:spPr>
          <a:xfrm>
            <a:off x="9052560" y="251460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_550"/>
          <p:cNvSpPr txBox="1"/>
          <p:nvPr/>
        </p:nvSpPr>
        <p:spPr>
          <a:xfrm>
            <a:off x="9052560" y="2514600"/>
            <a:ext cx="251460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500" b="1" dirty="0">
                <a:solidFill>
                  <a:schemeClr val="bg1"/>
                </a:solidFill>
              </a:rPr>
              <a:t>놓기</a:t>
            </a:r>
            <a:endParaRPr lang="ko-KR" altLang="en-US" sz="1500" dirty="0"/>
          </a:p>
        </p:txBody>
      </p:sp>
      <p:sp>
        <p:nvSpPr>
          <p:cNvPr id="25" name="arrow_551"/>
          <p:cNvSpPr/>
          <p:nvPr/>
        </p:nvSpPr>
        <p:spPr>
          <a:xfrm>
            <a:off x="10927080" y="2167128"/>
            <a:ext cx="0" cy="32004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26" name="img_552" descr="Pick &amp; Place 장면: 상자를 집고 작업대에 놓는 로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4120" y="3429000"/>
            <a:ext cx="7193280" cy="2697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37</a:t>
            </a:fld>
            <a:endParaRPr lang="ko-KR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pick() 안에서 일어나는 일</a:t>
            </a:r>
            <a:endParaRPr lang="ko-KR" altLang="en-US" sz="3200" dirty="0"/>
          </a:p>
        </p:txBody>
      </p:sp>
      <p:sp>
        <p:nvSpPr>
          <p:cNvPr id="3" name="num_553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_554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1</a:t>
            </a:r>
            <a:endParaRPr lang="ko-KR" altLang="en-US" sz="1600" dirty="0"/>
          </a:p>
        </p:txBody>
      </p:sp>
      <p:sp>
        <p:nvSpPr>
          <p:cNvPr id="5" name="text_555"/>
          <p:cNvSpPr txBox="1"/>
          <p:nvPr/>
        </p:nvSpPr>
        <p:spPr>
          <a:xfrm>
            <a:off x="1188720" y="1444752"/>
            <a:ext cx="47548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상자 중심 계산</a:t>
            </a:r>
            <a:endParaRPr lang="ko-KR" altLang="en-US" sz="1700" dirty="0"/>
          </a:p>
        </p:txBody>
      </p:sp>
      <p:sp>
        <p:nvSpPr>
          <p:cNvPr id="6" name="text_556"/>
          <p:cNvSpPr txBox="1"/>
          <p:nvPr/>
        </p:nvSpPr>
        <p:spPr>
          <a:xfrm>
            <a:off x="1188720" y="1920240"/>
            <a:ext cx="47548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마커 위치 - 2.5 cm × 마커 z축 (윗면 마커)</a:t>
            </a:r>
            <a:endParaRPr lang="ko-KR" altLang="en-US" sz="1400" dirty="0"/>
          </a:p>
        </p:txBody>
      </p:sp>
      <p:sp>
        <p:nvSpPr>
          <p:cNvPr id="7" name="num_557"/>
          <p:cNvSpPr/>
          <p:nvPr/>
        </p:nvSpPr>
        <p:spPr>
          <a:xfrm>
            <a:off x="617220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_558"/>
          <p:cNvSpPr txBox="1"/>
          <p:nvPr/>
        </p:nvSpPr>
        <p:spPr>
          <a:xfrm>
            <a:off x="61722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2</a:t>
            </a:r>
            <a:endParaRPr lang="ko-KR" altLang="en-US" sz="1600" dirty="0"/>
          </a:p>
        </p:txBody>
      </p:sp>
      <p:sp>
        <p:nvSpPr>
          <p:cNvPr id="9" name="text_559"/>
          <p:cNvSpPr txBox="1"/>
          <p:nvPr/>
        </p:nvSpPr>
        <p:spPr>
          <a:xfrm>
            <a:off x="6812280" y="1444752"/>
            <a:ext cx="47548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팔·손 방향 고르기</a:t>
            </a:r>
            <a:endParaRPr lang="ko-KR" altLang="en-US" sz="1700" dirty="0"/>
          </a:p>
        </p:txBody>
      </p:sp>
      <p:sp>
        <p:nvSpPr>
          <p:cNvPr id="10" name="text_560"/>
          <p:cNvSpPr txBox="1"/>
          <p:nvPr/>
        </p:nvSpPr>
        <p:spPr>
          <a:xfrm>
            <a:off x="6812280" y="1920240"/>
            <a:ext cx="47548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y &gt; 0 이면 왼팔, 상자 yaw에 맞춰 ±45° 안에서 회전</a:t>
            </a:r>
            <a:endParaRPr lang="ko-KR" altLang="en-US" sz="1400" dirty="0"/>
          </a:p>
        </p:txBody>
      </p:sp>
      <p:sp>
        <p:nvSpPr>
          <p:cNvPr id="11" name="num_561"/>
          <p:cNvSpPr/>
          <p:nvPr/>
        </p:nvSpPr>
        <p:spPr>
          <a:xfrm>
            <a:off x="548640" y="29718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_562"/>
          <p:cNvSpPr txBox="1"/>
          <p:nvPr/>
        </p:nvSpPr>
        <p:spPr>
          <a:xfrm>
            <a:off x="54864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3</a:t>
            </a:r>
            <a:endParaRPr lang="ko-KR" altLang="en-US" sz="1600" dirty="0"/>
          </a:p>
        </p:txBody>
      </p:sp>
      <p:sp>
        <p:nvSpPr>
          <p:cNvPr id="13" name="text_563"/>
          <p:cNvSpPr txBox="1"/>
          <p:nvPr/>
        </p:nvSpPr>
        <p:spPr>
          <a:xfrm>
            <a:off x="1188720" y="2953512"/>
            <a:ext cx="47548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planning scene에 상판</a:t>
            </a:r>
            <a:endParaRPr lang="ko-KR" altLang="en-US" sz="1700" dirty="0"/>
          </a:p>
        </p:txBody>
      </p:sp>
      <p:sp>
        <p:nvSpPr>
          <p:cNvPr id="14" name="text_564"/>
          <p:cNvSpPr txBox="1"/>
          <p:nvPr/>
        </p:nvSpPr>
        <p:spPr>
          <a:xfrm>
            <a:off x="1188720" y="3429000"/>
            <a:ext cx="47548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계획 중에만 충돌 물체로 추가</a:t>
            </a:r>
            <a:endParaRPr lang="ko-KR" altLang="en-US" sz="1400" dirty="0"/>
          </a:p>
        </p:txBody>
      </p:sp>
      <p:sp>
        <p:nvSpPr>
          <p:cNvPr id="15" name="num_565"/>
          <p:cNvSpPr/>
          <p:nvPr/>
        </p:nvSpPr>
        <p:spPr>
          <a:xfrm>
            <a:off x="6172200" y="29718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_566"/>
          <p:cNvSpPr txBox="1"/>
          <p:nvPr/>
        </p:nvSpPr>
        <p:spPr>
          <a:xfrm>
            <a:off x="617220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4</a:t>
            </a:r>
            <a:endParaRPr lang="ko-KR" altLang="en-US" sz="1600" dirty="0"/>
          </a:p>
        </p:txBody>
      </p:sp>
      <p:sp>
        <p:nvSpPr>
          <p:cNvPr id="17" name="text_567"/>
          <p:cNvSpPr txBox="1"/>
          <p:nvPr/>
        </p:nvSpPr>
        <p:spPr>
          <a:xfrm>
            <a:off x="6812280" y="2953512"/>
            <a:ext cx="47548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pre-grasp → 직선 접근</a:t>
            </a:r>
            <a:endParaRPr lang="ko-KR" altLang="en-US" sz="1700" dirty="0"/>
          </a:p>
        </p:txBody>
      </p:sp>
      <p:sp>
        <p:nvSpPr>
          <p:cNvPr id="18" name="text_568"/>
          <p:cNvSpPr txBox="1"/>
          <p:nvPr/>
        </p:nvSpPr>
        <p:spPr>
          <a:xfrm>
            <a:off x="6812280" y="3429000"/>
            <a:ext cx="47548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10 cm 뒤, 4 cm 위에서 move_linear로 다가감</a:t>
            </a:r>
            <a:endParaRPr lang="ko-KR" altLang="en-US" sz="1400" dirty="0"/>
          </a:p>
        </p:txBody>
      </p:sp>
      <p:sp>
        <p:nvSpPr>
          <p:cNvPr id="19" name="num_569"/>
          <p:cNvSpPr/>
          <p:nvPr/>
        </p:nvSpPr>
        <p:spPr>
          <a:xfrm>
            <a:off x="548640" y="44805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_570"/>
          <p:cNvSpPr txBox="1"/>
          <p:nvPr/>
        </p:nvSpPr>
        <p:spPr>
          <a:xfrm>
            <a:off x="548640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5</a:t>
            </a:r>
            <a:endParaRPr lang="ko-KR" altLang="en-US" sz="1600" dirty="0"/>
          </a:p>
        </p:txBody>
      </p:sp>
      <p:sp>
        <p:nvSpPr>
          <p:cNvPr id="21" name="text_571"/>
          <p:cNvSpPr txBox="1"/>
          <p:nvPr/>
        </p:nvSpPr>
        <p:spPr>
          <a:xfrm>
            <a:off x="1188720" y="4462272"/>
            <a:ext cx="47548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닫고 확인</a:t>
            </a:r>
            <a:endParaRPr lang="ko-KR" altLang="en-US" sz="1700" dirty="0"/>
          </a:p>
        </p:txBody>
      </p:sp>
      <p:sp>
        <p:nvSpPr>
          <p:cNvPr id="22" name="text_572"/>
          <p:cNvSpPr txBox="1"/>
          <p:nvPr/>
        </p:nvSpPr>
        <p:spPr>
          <a:xfrm>
            <a:off x="1188720" y="4937760"/>
            <a:ext cx="47548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닫은 뒤 손가락이 0.06 rad 이상 벌어져 있으면 잡은 것</a:t>
            </a:r>
            <a:endParaRPr lang="ko-KR" altLang="en-US" sz="1400" dirty="0"/>
          </a:p>
        </p:txBody>
      </p:sp>
      <p:sp>
        <p:nvSpPr>
          <p:cNvPr id="23" name="num_573"/>
          <p:cNvSpPr/>
          <p:nvPr/>
        </p:nvSpPr>
        <p:spPr>
          <a:xfrm>
            <a:off x="6172200" y="44805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_574"/>
          <p:cNvSpPr txBox="1"/>
          <p:nvPr/>
        </p:nvSpPr>
        <p:spPr>
          <a:xfrm>
            <a:off x="6172200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6</a:t>
            </a:r>
            <a:endParaRPr lang="ko-KR" altLang="en-US" sz="1600" dirty="0"/>
          </a:p>
        </p:txBody>
      </p:sp>
      <p:sp>
        <p:nvSpPr>
          <p:cNvPr id="25" name="text_575"/>
          <p:cNvSpPr txBox="1"/>
          <p:nvPr/>
        </p:nvSpPr>
        <p:spPr>
          <a:xfrm>
            <a:off x="6812280" y="4462272"/>
            <a:ext cx="47548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들기 → tuck</a:t>
            </a:r>
            <a:endParaRPr lang="ko-KR" altLang="en-US" sz="1700" dirty="0"/>
          </a:p>
        </p:txBody>
      </p:sp>
      <p:sp>
        <p:nvSpPr>
          <p:cNvPr id="26" name="text_576"/>
          <p:cNvSpPr txBox="1"/>
          <p:nvPr/>
        </p:nvSpPr>
        <p:spPr>
          <a:xfrm>
            <a:off x="6812280" y="4937760"/>
            <a:ext cx="47548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직선 8 cm 들고 접힌 자세, 상판 제거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38</a:t>
            </a:fld>
            <a:endParaRPr lang="ko-KR" alt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모듈 3 체크포인트와 과제</a:t>
            </a:r>
            <a:endParaRPr lang="ko-KR" altLang="en-US" sz="3200" dirty="0"/>
          </a:p>
        </p:txBody>
      </p:sp>
      <p:sp>
        <p:nvSpPr>
          <p:cNvPr id="3" name="text_577"/>
          <p:cNvSpPr txBox="1"/>
          <p:nvPr/>
        </p:nvSpPr>
        <p:spPr>
          <a:xfrm>
            <a:off x="548640" y="1371600"/>
            <a:ext cx="5029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2000" b="1" dirty="0">
                <a:solidFill>
                  <a:schemeClr val="tx1"/>
                </a:solidFill>
              </a:rPr>
              <a:t>체크포인트</a:t>
            </a:r>
            <a:endParaRPr lang="ko-KR" altLang="en-US" sz="2000" dirty="0"/>
          </a:p>
        </p:txBody>
      </p:sp>
      <p:sp>
        <p:nvSpPr>
          <p:cNvPr id="4" name="iconbg_578"/>
          <p:cNvSpPr/>
          <p:nvPr/>
        </p:nvSpPr>
        <p:spPr>
          <a:xfrm>
            <a:off x="548640" y="196596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con_579" descr="CheckCircle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066544"/>
            <a:ext cx="256032" cy="256032"/>
          </a:xfrm>
          <a:prstGeom prst="rect">
            <a:avLst/>
          </a:prstGeom>
        </p:spPr>
      </p:pic>
      <p:sp>
        <p:nvSpPr>
          <p:cNvPr id="6" name="text_580"/>
          <p:cNvSpPr txBox="1"/>
          <p:nvPr/>
        </p:nvSpPr>
        <p:spPr>
          <a:xfrm>
            <a:off x="1188720" y="1965960"/>
            <a:ext cx="44805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1"/>
                </a:solidFill>
              </a:rPr>
              <a:t>3-1  RViz 계획이 MuJoCo에서 실행</a:t>
            </a:r>
            <a:endParaRPr lang="ko-KR" altLang="en-US" sz="1600" dirty="0"/>
          </a:p>
        </p:txBody>
      </p:sp>
      <p:sp>
        <p:nvSpPr>
          <p:cNvPr id="7" name="iconbg_581"/>
          <p:cNvSpPr/>
          <p:nvPr/>
        </p:nvSpPr>
        <p:spPr>
          <a:xfrm>
            <a:off x="548640" y="27889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con_582" descr="CheckCircle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889504"/>
            <a:ext cx="256032" cy="256032"/>
          </a:xfrm>
          <a:prstGeom prst="rect">
            <a:avLst/>
          </a:prstGeom>
        </p:spPr>
      </p:pic>
      <p:sp>
        <p:nvSpPr>
          <p:cNvPr id="9" name="text_583"/>
          <p:cNvSpPr txBox="1"/>
          <p:nvPr/>
        </p:nvSpPr>
        <p:spPr>
          <a:xfrm>
            <a:off x="1188720" y="2788920"/>
            <a:ext cx="44805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1"/>
                </a:solidFill>
              </a:rPr>
              <a:t>3-2  moveit_test.py 6/6</a:t>
            </a:r>
            <a:endParaRPr lang="ko-KR" altLang="en-US" sz="1600" dirty="0"/>
          </a:p>
        </p:txBody>
      </p:sp>
      <p:sp>
        <p:nvSpPr>
          <p:cNvPr id="10" name="iconbg_584"/>
          <p:cNvSpPr/>
          <p:nvPr/>
        </p:nvSpPr>
        <p:spPr>
          <a:xfrm>
            <a:off x="548640" y="3611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on_585" descr="CheckCircle 아이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3712464"/>
            <a:ext cx="256032" cy="256032"/>
          </a:xfrm>
          <a:prstGeom prst="rect">
            <a:avLst/>
          </a:prstGeom>
        </p:spPr>
      </p:pic>
      <p:sp>
        <p:nvSpPr>
          <p:cNvPr id="12" name="text_586"/>
          <p:cNvSpPr txBox="1"/>
          <p:nvPr/>
        </p:nvSpPr>
        <p:spPr>
          <a:xfrm>
            <a:off x="1188720" y="3611880"/>
            <a:ext cx="44805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1"/>
                </a:solidFill>
              </a:rPr>
              <a:t>3-3  pose goal + 직선 이동 성공</a:t>
            </a:r>
            <a:endParaRPr lang="ko-KR" altLang="en-US" sz="1600" dirty="0"/>
          </a:p>
        </p:txBody>
      </p:sp>
      <p:sp>
        <p:nvSpPr>
          <p:cNvPr id="13" name="iconbg_587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con_588" descr="CheckCircle 아이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4535424"/>
            <a:ext cx="256032" cy="256032"/>
          </a:xfrm>
          <a:prstGeom prst="rect">
            <a:avLst/>
          </a:prstGeom>
        </p:spPr>
      </p:pic>
      <p:sp>
        <p:nvSpPr>
          <p:cNvPr id="15" name="text_589"/>
          <p:cNvSpPr txBox="1"/>
          <p:nvPr/>
        </p:nvSpPr>
        <p:spPr>
          <a:xfrm>
            <a:off x="1188720" y="4434840"/>
            <a:ext cx="44805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1"/>
                </a:solidFill>
              </a:rPr>
              <a:t>3-4  tf2_echo로 상자 거리 읽기</a:t>
            </a:r>
            <a:endParaRPr lang="ko-KR" altLang="en-US" sz="1600" dirty="0"/>
          </a:p>
        </p:txBody>
      </p:sp>
      <p:sp>
        <p:nvSpPr>
          <p:cNvPr id="16" name="iconbg_590"/>
          <p:cNvSpPr/>
          <p:nvPr/>
        </p:nvSpPr>
        <p:spPr>
          <a:xfrm>
            <a:off x="548640" y="52578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con_591" descr="CheckCircle 아이콘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" y="5358384"/>
            <a:ext cx="256032" cy="256032"/>
          </a:xfrm>
          <a:prstGeom prst="rect">
            <a:avLst/>
          </a:prstGeom>
        </p:spPr>
      </p:pic>
      <p:sp>
        <p:nvSpPr>
          <p:cNvPr id="18" name="text_592"/>
          <p:cNvSpPr txBox="1"/>
          <p:nvPr/>
        </p:nvSpPr>
        <p:spPr>
          <a:xfrm>
            <a:off x="1188720" y="5257800"/>
            <a:ext cx="44805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1"/>
                </a:solidFill>
              </a:rPr>
              <a:t>3-5  상자가 마커 3 위 (3 cm 이내)</a:t>
            </a:r>
            <a:endParaRPr lang="ko-KR" altLang="en-US" sz="1600" dirty="0"/>
          </a:p>
        </p:txBody>
      </p:sp>
      <p:sp>
        <p:nvSpPr>
          <p:cNvPr id="19" name="box_593"/>
          <p:cNvSpPr/>
          <p:nvPr/>
        </p:nvSpPr>
        <p:spPr>
          <a:xfrm>
            <a:off x="6035040" y="1371600"/>
            <a:ext cx="55778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_594"/>
          <p:cNvSpPr txBox="1"/>
          <p:nvPr/>
        </p:nvSpPr>
        <p:spPr>
          <a:xfrm>
            <a:off x="6263640" y="1572768"/>
            <a:ext cx="51206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기본 A. 되돌려 놓기</a:t>
            </a:r>
            <a:endParaRPr lang="ko-KR" altLang="en-US" sz="1700" dirty="0"/>
          </a:p>
        </p:txBody>
      </p:sp>
      <p:sp>
        <p:nvSpPr>
          <p:cNvPr id="21" name="text_595"/>
          <p:cNvSpPr txBox="1"/>
          <p:nvPr/>
        </p:nvSpPr>
        <p:spPr>
          <a:xfrm>
            <a:off x="6263640" y="2240280"/>
            <a:ext cx="51206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put_back.py: 작업대 → 공급 테이블(마커 5)</a:t>
            </a:r>
            <a:endParaRPr lang="ko-KR" altLang="en-US" sz="1400" dirty="0"/>
          </a:p>
        </p:txBody>
      </p:sp>
      <p:sp>
        <p:nvSpPr>
          <p:cNvPr id="22" name="box_596"/>
          <p:cNvSpPr/>
          <p:nvPr/>
        </p:nvSpPr>
        <p:spPr>
          <a:xfrm>
            <a:off x="6035040" y="2926080"/>
            <a:ext cx="55778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_597"/>
          <p:cNvSpPr txBox="1"/>
          <p:nvPr/>
        </p:nvSpPr>
        <p:spPr>
          <a:xfrm>
            <a:off x="6263640" y="3127248"/>
            <a:ext cx="51206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기본 B. 파지 파라미터</a:t>
            </a:r>
            <a:endParaRPr lang="ko-KR" altLang="en-US" sz="1700" dirty="0"/>
          </a:p>
        </p:txBody>
      </p:sp>
      <p:sp>
        <p:nvSpPr>
          <p:cNvPr id="24" name="text_598"/>
          <p:cNvSpPr txBox="1"/>
          <p:nvPr/>
        </p:nvSpPr>
        <p:spPr>
          <a:xfrm>
            <a:off x="6263640" y="3794760"/>
            <a:ext cx="51206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PRE_GRASP_UP, GRASP_HEIGHT를 0으로 바꿔 실패 원인 설명</a:t>
            </a:r>
            <a:endParaRPr lang="ko-KR" altLang="en-US" sz="1400" dirty="0"/>
          </a:p>
        </p:txBody>
      </p:sp>
      <p:sp>
        <p:nvSpPr>
          <p:cNvPr id="25" name="box_599"/>
          <p:cNvSpPr/>
          <p:nvPr/>
        </p:nvSpPr>
        <p:spPr>
          <a:xfrm>
            <a:off x="6035040" y="4480560"/>
            <a:ext cx="5577840" cy="1600200"/>
          </a:xfrm>
          <a:prstGeom prst="roundRect">
            <a:avLst>
              <a:gd name="adj" fmla="val 457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6" name="text_600"/>
          <p:cNvSpPr txBox="1"/>
          <p:nvPr/>
        </p:nvSpPr>
        <p:spPr>
          <a:xfrm>
            <a:off x="6263640" y="4681728"/>
            <a:ext cx="51206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도전. Attach / Detach</a:t>
            </a:r>
            <a:endParaRPr lang="ko-KR" altLang="en-US" sz="1700" dirty="0"/>
          </a:p>
        </p:txBody>
      </p:sp>
      <p:sp>
        <p:nvSpPr>
          <p:cNvPr id="27" name="text_601"/>
          <p:cNvSpPr txBox="1"/>
          <p:nvPr/>
        </p:nvSpPr>
        <p:spPr>
          <a:xfrm>
            <a:off x="6263640" y="5349240"/>
            <a:ext cx="51206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accent5"/>
                </a:solidFill>
              </a:rPr>
              <a:t>잡은 상자를 AttachedCollisionObject로 붙이고 놓을 때 떼기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39</a:t>
            </a:fld>
            <a:endParaRPr lang="ko-KR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2000" b="1" dirty="0">
                <a:solidFill>
                  <a:schemeClr val="accent1"/>
                </a:solidFill>
              </a:rPr>
              <a:t>모듈 4 · 2일차 12:30–16:30</a:t>
            </a:r>
            <a:endParaRPr lang="ko-KR" alt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chemeClr val="bg1"/>
                </a:solidFill>
              </a:rPr>
              <a:t>LLM 작업 계획</a:t>
            </a:r>
            <a:endParaRPr lang="ko-KR" altLang="en-US" sz="4000" dirty="0"/>
          </a:p>
          <a:p>
            <a:pPr eaLnBrk="0" algn="l" indent="0" marL="0">
              <a:buNone/>
            </a:pPr>
            <a:r>
              <a:rPr lang="ko-KR" altLang="en-US" sz="4000" b="1" dirty="0">
                <a:solidFill>
                  <a:schemeClr val="bg1"/>
                </a:solidFill>
              </a:rPr>
              <a:t>자연어에서 로봇 제어까지</a:t>
            </a:r>
            <a:endParaRPr lang="ko-KR" alt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57600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accent5"/>
                </a:solidFill>
              </a:rPr>
              <a:t>LLM은 검증된 스킬을 골라 부르는 계획기</a:t>
            </a:r>
            <a:endParaRPr lang="ko-KR" altLang="en-US" sz="1600" dirty="0"/>
          </a:p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accent5"/>
                </a:solidFill>
              </a:rPr>
              <a:t>strict 스키마로 형식을, 작업 관리자로 세계 상태를 검증</a:t>
            </a:r>
            <a:endParaRPr lang="ko-KR" altLang="en-US" sz="1600" dirty="0"/>
          </a:p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accent5"/>
                </a:solidFill>
              </a:rPr>
              <a:t>명령 → 계획 → 실행 → 결과 → 다음 계획 루프</a:t>
            </a:r>
            <a:endParaRPr lang="ko-KR" altLang="en-US" sz="1600" dirty="0"/>
          </a:p>
          <a:p>
            <a:pPr eaLnBrk="0" marL="228600" indent="-228600"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accent5"/>
                </a:solidFill>
              </a:rPr>
              <a:t>웹 대시보드와 최종 미션</a:t>
            </a:r>
            <a:endParaRPr lang="ko-KR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40</a:t>
            </a:fld>
            <a:endParaRPr lang="ko-KR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LLM은 "무엇을", 스킬은 "어떻게"</a:t>
            </a:r>
            <a:endParaRPr lang="ko-KR" altLang="en-US" sz="3200" dirty="0"/>
          </a:p>
        </p:txBody>
      </p:sp>
      <p:sp>
        <p:nvSpPr>
          <p:cNvPr id="3" name="box_602"/>
          <p:cNvSpPr/>
          <p:nvPr/>
        </p:nvSpPr>
        <p:spPr>
          <a:xfrm>
            <a:off x="548640" y="1371600"/>
            <a:ext cx="6583680" cy="1280160"/>
          </a:xfrm>
          <a:prstGeom prst="roundRect">
            <a:avLst>
              <a:gd name="adj" fmla="val 571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_603"/>
          <p:cNvSpPr txBox="1"/>
          <p:nvPr/>
        </p:nvSpPr>
        <p:spPr>
          <a:xfrm>
            <a:off x="777240" y="1463040"/>
            <a:ext cx="6217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900" b="1" dirty="0">
                <a:solidFill>
                  <a:schemeClr val="bg1"/>
                </a:solidFill>
              </a:rPr>
              <a:t>LLM (Claude)</a:t>
            </a:r>
            <a:endParaRPr lang="ko-KR" altLang="en-US" sz="1900" dirty="0"/>
          </a:p>
        </p:txBody>
      </p:sp>
      <p:sp>
        <p:nvSpPr>
          <p:cNvPr id="5" name="text_604"/>
          <p:cNvSpPr txBox="1"/>
          <p:nvPr/>
        </p:nvSpPr>
        <p:spPr>
          <a:xfrm>
            <a:off x="777240" y="2011680"/>
            <a:ext cx="6217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bg1"/>
                </a:solidFill>
              </a:rPr>
              <a:t>무엇을, 어떤 순서로</a:t>
            </a:r>
            <a:endParaRPr lang="ko-KR" altLang="en-US" sz="1600" dirty="0"/>
          </a:p>
        </p:txBody>
      </p:sp>
      <p:sp>
        <p:nvSpPr>
          <p:cNvPr id="6" name="text_605"/>
          <p:cNvSpPr txBox="1"/>
          <p:nvPr/>
        </p:nvSpPr>
        <p:spPr>
          <a:xfrm>
            <a:off x="7406640" y="1371600"/>
            <a:ext cx="42062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느리다 (초 단위) · 가끔 틀린다</a:t>
            </a:r>
            <a:endParaRPr lang="ko-KR" altLang="en-US" sz="1500" dirty="0"/>
          </a:p>
        </p:txBody>
      </p:sp>
      <p:sp>
        <p:nvSpPr>
          <p:cNvPr id="7" name="arrow_606"/>
          <p:cNvSpPr/>
          <p:nvPr/>
        </p:nvSpPr>
        <p:spPr>
          <a:xfrm>
            <a:off x="3840480" y="2651760"/>
            <a:ext cx="0" cy="32004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box_607"/>
          <p:cNvSpPr/>
          <p:nvPr/>
        </p:nvSpPr>
        <p:spPr>
          <a:xfrm>
            <a:off x="548640" y="2971800"/>
            <a:ext cx="6583680" cy="1280160"/>
          </a:xfrm>
          <a:prstGeom prst="roundRect">
            <a:avLst>
              <a:gd name="adj" fmla="val 5714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_608"/>
          <p:cNvSpPr txBox="1"/>
          <p:nvPr/>
        </p:nvSpPr>
        <p:spPr>
          <a:xfrm>
            <a:off x="777240" y="3063240"/>
            <a:ext cx="6217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900" b="1" dirty="0">
                <a:solidFill>
                  <a:schemeClr val="bg1"/>
                </a:solidFill>
              </a:rPr>
              <a:t>작업 관리자 (TaskExecutor)</a:t>
            </a:r>
            <a:endParaRPr lang="ko-KR" altLang="en-US" sz="1900" dirty="0"/>
          </a:p>
        </p:txBody>
      </p:sp>
      <p:sp>
        <p:nvSpPr>
          <p:cNvPr id="10" name="text_609"/>
          <p:cNvSpPr txBox="1"/>
          <p:nvPr/>
        </p:nvSpPr>
        <p:spPr>
          <a:xfrm>
            <a:off x="777240" y="3611880"/>
            <a:ext cx="6217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bg1"/>
                </a:solidFill>
              </a:rPr>
              <a:t>지금 할 수 있는 일인가</a:t>
            </a:r>
            <a:endParaRPr lang="ko-KR" altLang="en-US" sz="1600" dirty="0"/>
          </a:p>
        </p:txBody>
      </p:sp>
      <p:sp>
        <p:nvSpPr>
          <p:cNvPr id="11" name="text_610"/>
          <p:cNvSpPr txBox="1"/>
          <p:nvPr/>
        </p:nvSpPr>
        <p:spPr>
          <a:xfrm>
            <a:off x="7406640" y="2971800"/>
            <a:ext cx="42062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사전 조건 검사 → 오류를 LLM에 돌려줌</a:t>
            </a:r>
            <a:endParaRPr lang="ko-KR" altLang="en-US" sz="1500" dirty="0"/>
          </a:p>
        </p:txBody>
      </p:sp>
      <p:sp>
        <p:nvSpPr>
          <p:cNvPr id="12" name="arrow_611"/>
          <p:cNvSpPr/>
          <p:nvPr/>
        </p:nvSpPr>
        <p:spPr>
          <a:xfrm>
            <a:off x="3840480" y="4251960"/>
            <a:ext cx="0" cy="32004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box_612"/>
          <p:cNvSpPr/>
          <p:nvPr/>
        </p:nvSpPr>
        <p:spPr>
          <a:xfrm>
            <a:off x="548640" y="4572000"/>
            <a:ext cx="6583680" cy="1280160"/>
          </a:xfrm>
          <a:prstGeom prst="roundRect">
            <a:avLst>
              <a:gd name="adj" fmla="val 5714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_613"/>
          <p:cNvSpPr txBox="1"/>
          <p:nvPr/>
        </p:nvSpPr>
        <p:spPr>
          <a:xfrm>
            <a:off x="777240" y="4663440"/>
            <a:ext cx="6217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900" b="1" dirty="0">
                <a:solidFill>
                  <a:schemeClr val="bg1"/>
                </a:solidFill>
              </a:rPr>
              <a:t>로봇 스킬 (RobotSkills)</a:t>
            </a:r>
            <a:endParaRPr lang="ko-KR" altLang="en-US" sz="1900" dirty="0"/>
          </a:p>
        </p:txBody>
      </p:sp>
      <p:sp>
        <p:nvSpPr>
          <p:cNvPr id="15" name="text_614"/>
          <p:cNvSpPr txBox="1"/>
          <p:nvPr/>
        </p:nvSpPr>
        <p:spPr>
          <a:xfrm>
            <a:off x="777240" y="5212080"/>
            <a:ext cx="62179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bg1"/>
                </a:solidFill>
              </a:rPr>
              <a:t>어떻게</a:t>
            </a:r>
            <a:endParaRPr lang="ko-KR" altLang="en-US" sz="1600" dirty="0"/>
          </a:p>
        </p:txBody>
      </p:sp>
      <p:sp>
        <p:nvSpPr>
          <p:cNvPr id="16" name="text_615"/>
          <p:cNvSpPr txBox="1"/>
          <p:nvPr/>
        </p:nvSpPr>
        <p:spPr>
          <a:xfrm>
            <a:off x="7406640" y="4572000"/>
            <a:ext cx="42062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빠르다 (ms) · 모듈 1~3의 검증된 코드</a:t>
            </a:r>
            <a:endParaRPr lang="ko-KR" alt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41</a:t>
            </a:fld>
            <a:endParaRPr lang="ko-KR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도구 호출 루프</a:t>
            </a:r>
            <a:endParaRPr lang="ko-KR" altLang="en-US" sz="3200" dirty="0"/>
          </a:p>
        </p:txBody>
      </p:sp>
      <p:sp>
        <p:nvSpPr>
          <p:cNvPr id="3" name="box_616"/>
          <p:cNvSpPr/>
          <p:nvPr/>
        </p:nvSpPr>
        <p:spPr>
          <a:xfrm>
            <a:off x="548640" y="1371600"/>
            <a:ext cx="7406640" cy="4663440"/>
          </a:xfrm>
          <a:prstGeom prst="roundRect">
            <a:avLst>
              <a:gd name="adj" fmla="val 156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_617"/>
          <p:cNvSpPr txBox="1"/>
          <p:nvPr/>
        </p:nvSpPr>
        <p:spPr>
          <a:xfrm>
            <a:off x="731520" y="1508760"/>
            <a:ext cx="7040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messages = [{"role": "user", "content": command}]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turn in range(MAX_TURNS):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client.beta.messages.create(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model="claude-opus-5-5", system=SYSTEM_PROMPT, tools=TOOLS,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tool_choice={"type": "auto", "disable_parallel_tool_use": True},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messages=messages, ...)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messages.append({"role": "assistant", "content": response.content})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response.stop_reason != "tool_use":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최종_답변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ok, result = executor.run(call.name, call.input)   # 수십 초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messages.append({"role": "user", "content": [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tool_result(result, is_error=not ok)]})</a:t>
            </a:r>
            <a:endParaRPr lang="ko-KR" altLang="en-US" sz="1300" dirty="0"/>
          </a:p>
        </p:txBody>
      </p:sp>
      <p:sp>
        <p:nvSpPr>
          <p:cNvPr id="5" name="box_618"/>
          <p:cNvSpPr/>
          <p:nvPr/>
        </p:nvSpPr>
        <p:spPr>
          <a:xfrm>
            <a:off x="8229600" y="1371600"/>
            <a:ext cx="33832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bg_619"/>
          <p:cNvSpPr/>
          <p:nvPr/>
        </p:nvSpPr>
        <p:spPr>
          <a:xfrm>
            <a:off x="84582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_620" descr="Route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8901" y="1720901"/>
            <a:ext cx="307238" cy="307238"/>
          </a:xfrm>
          <a:prstGeom prst="rect">
            <a:avLst/>
          </a:prstGeom>
        </p:spPr>
      </p:pic>
      <p:sp>
        <p:nvSpPr>
          <p:cNvPr id="8" name="text_621"/>
          <p:cNvSpPr txBox="1"/>
          <p:nvPr/>
        </p:nvSpPr>
        <p:spPr>
          <a:xfrm>
            <a:off x="9189720" y="1572768"/>
            <a:ext cx="21945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한 번에 하나씩</a:t>
            </a:r>
            <a:endParaRPr lang="ko-KR" altLang="en-US" sz="1700" dirty="0"/>
          </a:p>
        </p:txBody>
      </p:sp>
      <p:sp>
        <p:nvSpPr>
          <p:cNvPr id="9" name="text_622"/>
          <p:cNvSpPr txBox="1"/>
          <p:nvPr/>
        </p:nvSpPr>
        <p:spPr>
          <a:xfrm>
            <a:off x="8458200" y="2240280"/>
            <a:ext cx="29260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로봇은 두 곳에 동시에 못 간다. 앞 결과를 보고 다음을 정한다</a:t>
            </a:r>
            <a:endParaRPr lang="ko-KR" altLang="en-US" sz="1500" dirty="0"/>
          </a:p>
        </p:txBody>
      </p:sp>
      <p:sp>
        <p:nvSpPr>
          <p:cNvPr id="10" name="box_623"/>
          <p:cNvSpPr/>
          <p:nvPr/>
        </p:nvSpPr>
        <p:spPr>
          <a:xfrm>
            <a:off x="8229600" y="3749040"/>
            <a:ext cx="338328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bg_624"/>
          <p:cNvSpPr/>
          <p:nvPr/>
        </p:nvSpPr>
        <p:spPr>
          <a:xfrm>
            <a:off x="8458200" y="3977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icon_625" descr="Undo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8901" y="4098341"/>
            <a:ext cx="307238" cy="307238"/>
          </a:xfrm>
          <a:prstGeom prst="rect">
            <a:avLst/>
          </a:prstGeom>
        </p:spPr>
      </p:pic>
      <p:sp>
        <p:nvSpPr>
          <p:cNvPr id="13" name="text_626"/>
          <p:cNvSpPr txBox="1"/>
          <p:nvPr/>
        </p:nvSpPr>
        <p:spPr>
          <a:xfrm>
            <a:off x="9189720" y="3950208"/>
            <a:ext cx="21945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700" b="1" dirty="0">
                <a:solidFill>
                  <a:schemeClr val="tx1"/>
                </a:solidFill>
              </a:rPr>
              <a:t>is_error</a:t>
            </a:r>
            <a:endParaRPr lang="ko-KR" altLang="en-US" sz="1700" dirty="0"/>
          </a:p>
        </p:txBody>
      </p:sp>
      <p:sp>
        <p:nvSpPr>
          <p:cNvPr id="14" name="text_627"/>
          <p:cNvSpPr txBox="1"/>
          <p:nvPr/>
        </p:nvSpPr>
        <p:spPr>
          <a:xfrm>
            <a:off x="8458200" y="4617720"/>
            <a:ext cx="292608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실패를 결과로 돌려주면 Claude가 읽고 계획을 고친다</a:t>
            </a:r>
            <a:endParaRPr lang="ko-KR" alt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42</a:t>
            </a:fld>
            <a:endParaRPr lang="ko-KR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두 단계 검증</a:t>
            </a:r>
            <a:endParaRPr lang="ko-KR" altLang="en-US" sz="3200" dirty="0"/>
          </a:p>
        </p:txBody>
      </p:sp>
      <p:sp>
        <p:nvSpPr>
          <p:cNvPr id="3" name="box_628"/>
          <p:cNvSpPr/>
          <p:nvPr/>
        </p:nvSpPr>
        <p:spPr>
          <a:xfrm>
            <a:off x="548640" y="1371600"/>
            <a:ext cx="5440680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_629"/>
          <p:cNvSpPr txBox="1"/>
          <p:nvPr/>
        </p:nvSpPr>
        <p:spPr>
          <a:xfrm>
            <a:off x="868680" y="155448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2400" b="1" dirty="0">
                <a:solidFill>
                  <a:schemeClr val="tx1"/>
                </a:solidFill>
              </a:rPr>
              <a:t>스키마 검증</a:t>
            </a:r>
            <a:endParaRPr lang="ko-KR" altLang="en-US" sz="2400" dirty="0"/>
          </a:p>
        </p:txBody>
      </p:sp>
      <p:sp>
        <p:nvSpPr>
          <p:cNvPr id="5" name="text_630"/>
          <p:cNvSpPr txBox="1"/>
          <p:nvPr/>
        </p:nvSpPr>
        <p:spPr>
          <a:xfrm>
            <a:off x="868680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 (strict: True, enum)</a:t>
            </a:r>
            <a:endParaRPr lang="ko-KR" altLang="en-US" sz="1500" dirty="0"/>
          </a:p>
        </p:txBody>
      </p:sp>
      <p:sp>
        <p:nvSpPr>
          <p:cNvPr id="6" name="text_631"/>
          <p:cNvSpPr txBox="1"/>
          <p:nvPr/>
        </p:nvSpPr>
        <p:spPr>
          <a:xfrm>
            <a:off x="868680" y="2834640"/>
            <a:ext cx="484632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700" dirty="0">
                <a:solidFill>
                  <a:schemeClr val="tx1"/>
                </a:solidFill>
              </a:rPr>
              <a:t>형식: 장소가 supply_table / work_table / home 중 하나인가</a:t>
            </a:r>
            <a:endParaRPr lang="ko-KR" altLang="en-US" sz="1700" dirty="0"/>
          </a:p>
        </p:txBody>
      </p:sp>
      <p:sp>
        <p:nvSpPr>
          <p:cNvPr id="7" name="text_632"/>
          <p:cNvSpPr txBox="1"/>
          <p:nvPr/>
        </p:nvSpPr>
        <p:spPr>
          <a:xfrm>
            <a:off x="868680" y="406908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예</a:t>
            </a:r>
            <a:endParaRPr lang="ko-KR" altLang="en-US" sz="1500" dirty="0"/>
          </a:p>
        </p:txBody>
      </p:sp>
      <p:sp>
        <p:nvSpPr>
          <p:cNvPr id="8" name="text_633"/>
          <p:cNvSpPr txBox="1"/>
          <p:nvPr/>
        </p:nvSpPr>
        <p:spPr>
          <a:xfrm>
            <a:off x="868680" y="4434840"/>
            <a:ext cx="484632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navigate_to("kitchen") → 애초에 만들 수 없음</a:t>
            </a:r>
            <a:endParaRPr lang="ko-KR" altLang="en-US" sz="1500" dirty="0"/>
          </a:p>
        </p:txBody>
      </p:sp>
      <p:sp>
        <p:nvSpPr>
          <p:cNvPr id="9" name="box_634"/>
          <p:cNvSpPr/>
          <p:nvPr/>
        </p:nvSpPr>
        <p:spPr>
          <a:xfrm>
            <a:off x="6172200" y="1371600"/>
            <a:ext cx="5440680" cy="4663440"/>
          </a:xfrm>
          <a:prstGeom prst="roundRect">
            <a:avLst>
              <a:gd name="adj" fmla="val 156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_635"/>
          <p:cNvSpPr txBox="1"/>
          <p:nvPr/>
        </p:nvSpPr>
        <p:spPr>
          <a:xfrm>
            <a:off x="6492240" y="155448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2400" b="1" dirty="0">
                <a:solidFill>
                  <a:schemeClr val="bg1"/>
                </a:solidFill>
              </a:rPr>
              <a:t>월드 검증</a:t>
            </a:r>
            <a:endParaRPr lang="ko-KR" altLang="en-US" sz="2400" dirty="0"/>
          </a:p>
        </p:txBody>
      </p:sp>
      <p:sp>
        <p:nvSpPr>
          <p:cNvPr id="11" name="text_636"/>
          <p:cNvSpPr txBox="1"/>
          <p:nvPr/>
        </p:nvSpPr>
        <p:spPr>
          <a:xfrm>
            <a:off x="6492240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TaskExecutor._tool_*</a:t>
            </a:r>
            <a:endParaRPr lang="ko-KR" altLang="en-US" sz="1500" dirty="0"/>
          </a:p>
        </p:txBody>
      </p:sp>
      <p:sp>
        <p:nvSpPr>
          <p:cNvPr id="12" name="text_637"/>
          <p:cNvSpPr txBox="1"/>
          <p:nvPr/>
        </p:nvSpPr>
        <p:spPr>
          <a:xfrm>
            <a:off x="6492240" y="2834640"/>
            <a:ext cx="484632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700" dirty="0">
                <a:solidFill>
                  <a:schemeClr val="bg1"/>
                </a:solidFill>
              </a:rPr>
              <a:t>의미: 지금 그 일을 할 수 있는 상태인가</a:t>
            </a:r>
            <a:endParaRPr lang="ko-KR" altLang="en-US" sz="1700" dirty="0"/>
          </a:p>
        </p:txBody>
      </p:sp>
      <p:sp>
        <p:nvSpPr>
          <p:cNvPr id="13" name="text_638"/>
          <p:cNvSpPr txBox="1"/>
          <p:nvPr/>
        </p:nvSpPr>
        <p:spPr>
          <a:xfrm>
            <a:off x="6492240" y="406908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b="1" dirty="0">
                <a:solidFill>
                  <a:schemeClr val="bg1"/>
                </a:solidFill>
              </a:rPr>
              <a:t>예</a:t>
            </a:r>
            <a:endParaRPr lang="ko-KR" altLang="en-US" sz="1500" dirty="0"/>
          </a:p>
        </p:txBody>
      </p:sp>
      <p:sp>
        <p:nvSpPr>
          <p:cNvPr id="14" name="text_639"/>
          <p:cNvSpPr txBox="1"/>
          <p:nvPr/>
        </p:nvSpPr>
        <p:spPr>
          <a:xfrm>
            <a:off x="6492240" y="4434840"/>
            <a:ext cx="484632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bg1"/>
                </a:solidFill>
              </a:rPr>
              <a:t>들고 있는 게 없는데 place_object → "not holding anything"</a:t>
            </a:r>
            <a:endParaRPr lang="ko-KR" alt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43</a:t>
            </a:fld>
            <a:endParaRPr lang="ko-KR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대화형 동작 세 가지</a:t>
            </a:r>
            <a:endParaRPr lang="ko-KR" altLang="en-US" sz="3200" dirty="0"/>
          </a:p>
        </p:txBody>
      </p:sp>
      <p:sp>
        <p:nvSpPr>
          <p:cNvPr id="3" name="iconbg_640"/>
          <p:cNvSpPr/>
          <p:nvPr/>
        </p:nvSpPr>
        <p:spPr>
          <a:xfrm>
            <a:off x="548640" y="146304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icon_641" descr="QuestionCircle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691" y="1644091"/>
            <a:ext cx="460858" cy="460858"/>
          </a:xfrm>
          <a:prstGeom prst="rect">
            <a:avLst/>
          </a:prstGeom>
        </p:spPr>
      </p:pic>
      <p:sp>
        <p:nvSpPr>
          <p:cNvPr id="5" name="text_642"/>
          <p:cNvSpPr txBox="1"/>
          <p:nvPr/>
        </p:nvSpPr>
        <p:spPr>
          <a:xfrm>
            <a:off x="1645920" y="1371600"/>
            <a:ext cx="9966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2000" b="1" dirty="0">
                <a:solidFill>
                  <a:schemeClr val="tx1"/>
                </a:solidFill>
              </a:rPr>
              <a:t>되묻기</a:t>
            </a:r>
            <a:endParaRPr lang="ko-KR" altLang="en-US" sz="2000" dirty="0"/>
          </a:p>
        </p:txBody>
      </p:sp>
      <p:sp>
        <p:nvSpPr>
          <p:cNvPr id="6" name="text_643"/>
          <p:cNvSpPr txBox="1"/>
          <p:nvPr/>
        </p:nvSpPr>
        <p:spPr>
          <a:xfrm>
            <a:off x="1645920" y="1920240"/>
            <a:ext cx="9966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2"/>
                </a:solidFill>
              </a:rPr>
              <a:t>모르는 물건·장소면 즉흥으로 하지 않고 가능한 일을 안내. 실습 6에서 "목적지가 없으면 질문" 규칙 추가</a:t>
            </a:r>
            <a:endParaRPr lang="ko-KR" altLang="en-US" sz="1600" dirty="0"/>
          </a:p>
        </p:txBody>
      </p:sp>
      <p:sp>
        <p:nvSpPr>
          <p:cNvPr id="7" name="iconbg_644"/>
          <p:cNvSpPr/>
          <p:nvPr/>
        </p:nvSpPr>
        <p:spPr>
          <a:xfrm>
            <a:off x="548640" y="30632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8" name="icon_645" descr="StopCircle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91" y="3244291"/>
            <a:ext cx="460858" cy="460858"/>
          </a:xfrm>
          <a:prstGeom prst="rect">
            <a:avLst/>
          </a:prstGeom>
        </p:spPr>
      </p:pic>
      <p:sp>
        <p:nvSpPr>
          <p:cNvPr id="9" name="text_646"/>
          <p:cNvSpPr txBox="1"/>
          <p:nvPr/>
        </p:nvSpPr>
        <p:spPr>
          <a:xfrm>
            <a:off x="1645920" y="2971800"/>
            <a:ext cx="9966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2000" b="1" dirty="0">
                <a:solidFill>
                  <a:schemeClr val="tx1"/>
                </a:solidFill>
              </a:rPr>
              <a:t>중단</a:t>
            </a:r>
            <a:endParaRPr lang="ko-KR" altLang="en-US" sz="2000" dirty="0"/>
          </a:p>
        </p:txBody>
      </p:sp>
      <p:sp>
        <p:nvSpPr>
          <p:cNvPr id="10" name="text_647"/>
          <p:cNvSpPr txBox="1"/>
          <p:nvPr/>
        </p:nvSpPr>
        <p:spPr>
          <a:xfrm>
            <a:off x="1645920" y="3520440"/>
            <a:ext cx="9966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2"/>
                </a:solidFill>
              </a:rPr>
              <a:t>/task_cancel → 주행·정밀 접근은 즉시 정지, 진행 중인 팔 동작은 끝내고 다음 단계를 시작하지 않음</a:t>
            </a:r>
            <a:endParaRPr lang="ko-KR" altLang="en-US" sz="1600" dirty="0"/>
          </a:p>
        </p:txBody>
      </p:sp>
      <p:sp>
        <p:nvSpPr>
          <p:cNvPr id="11" name="iconbg_648"/>
          <p:cNvSpPr/>
          <p:nvPr/>
        </p:nvSpPr>
        <p:spPr>
          <a:xfrm>
            <a:off x="548640" y="46634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con_649" descr="Undo 아이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691" y="4844491"/>
            <a:ext cx="460858" cy="460858"/>
          </a:xfrm>
          <a:prstGeom prst="rect">
            <a:avLst/>
          </a:prstGeom>
        </p:spPr>
      </p:pic>
      <p:sp>
        <p:nvSpPr>
          <p:cNvPr id="13" name="text_650"/>
          <p:cNvSpPr txBox="1"/>
          <p:nvPr/>
        </p:nvSpPr>
        <p:spPr>
          <a:xfrm>
            <a:off x="1645920" y="4572000"/>
            <a:ext cx="99669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2000" b="1" dirty="0">
                <a:solidFill>
                  <a:schemeClr val="tx1"/>
                </a:solidFill>
              </a:rPr>
              <a:t>실패 복구</a:t>
            </a:r>
            <a:endParaRPr lang="ko-KR" altLang="en-US" sz="2000" dirty="0"/>
          </a:p>
        </p:txBody>
      </p:sp>
      <p:sp>
        <p:nvSpPr>
          <p:cNvPr id="14" name="text_651"/>
          <p:cNvSpPr txBox="1"/>
          <p:nvPr/>
        </p:nvSpPr>
        <p:spPr>
          <a:xfrm>
            <a:off x="1645920" y="5120640"/>
            <a:ext cx="9966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2"/>
                </a:solidFill>
              </a:rPr>
              <a:t>실패 메시지를 읽고 될 것 같으면 한 번 재시도, 아니면 멈추고 현재 상태(상자를 든 채 등)를 보고</a:t>
            </a:r>
            <a:endParaRPr lang="ko-KR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44</a:t>
            </a:fld>
            <a:endParaRPr lang="ko-KR" alt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실습: 대역에서 실제 Claude로</a:t>
            </a:r>
            <a:endParaRPr lang="ko-KR" altLang="en-US" sz="3200" dirty="0"/>
          </a:p>
        </p:txBody>
      </p:sp>
      <p:sp>
        <p:nvSpPr>
          <p:cNvPr id="3" name="box_652"/>
          <p:cNvSpPr/>
          <p:nvPr/>
        </p:nvSpPr>
        <p:spPr>
          <a:xfrm>
            <a:off x="548640" y="1371600"/>
            <a:ext cx="7406640" cy="4663440"/>
          </a:xfrm>
          <a:prstGeom prst="roundRect">
            <a:avLst>
              <a:gd name="adj" fmla="val 156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_653"/>
          <p:cNvSpPr txBox="1"/>
          <p:nvPr/>
        </p:nvSpPr>
        <p:spPr>
          <a:xfrm>
            <a:off x="731520" y="1508760"/>
            <a:ext cx="7040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1) LLM 없이 로봇 쪽 전체 확인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ros2 launch unbolt_manipulation bringup.launch.py \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planner:=true llm:=scripted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ros2 run unbolt_manipulation ask "빨간 상자를 작업대로 옮겨줘"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2) 실제 Claude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ros2 launch unbolt_manipulation bringup.launch.py planner:=true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ros2 run unbolt_manipulation ask "파란 공 좀 가져다 줄래?"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ros2 run unbolt_manipulation ask "이제 빨간 상자를 원래 자리에 다시 갖다 놔"</a:t>
            </a: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endParaRPr lang="ko-KR" altLang="en-US" sz="13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3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tokens: … in / … out (about $…)</a:t>
            </a:r>
            <a:endParaRPr lang="ko-KR" altLang="en-US" sz="1300" dirty="0"/>
          </a:p>
        </p:txBody>
      </p:sp>
      <p:sp>
        <p:nvSpPr>
          <p:cNvPr id="5" name="box_654"/>
          <p:cNvSpPr/>
          <p:nvPr/>
        </p:nvSpPr>
        <p:spPr>
          <a:xfrm>
            <a:off x="8229600" y="1371600"/>
            <a:ext cx="338328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bg_655"/>
          <p:cNvSpPr/>
          <p:nvPr/>
        </p:nvSpPr>
        <p:spPr>
          <a:xfrm>
            <a:off x="8458200" y="16002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icon_656" descr="CheckCircle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8901" y="1720901"/>
            <a:ext cx="307238" cy="307238"/>
          </a:xfrm>
          <a:prstGeom prst="rect">
            <a:avLst/>
          </a:prstGeom>
        </p:spPr>
      </p:pic>
      <p:sp>
        <p:nvSpPr>
          <p:cNvPr id="8" name="text_657"/>
          <p:cNvSpPr txBox="1"/>
          <p:nvPr/>
        </p:nvSpPr>
        <p:spPr>
          <a:xfrm>
            <a:off x="9189720" y="1572768"/>
            <a:ext cx="21945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모르는 물건</a:t>
            </a:r>
            <a:endParaRPr lang="ko-KR" altLang="en-US" sz="1800" dirty="0"/>
          </a:p>
        </p:txBody>
      </p:sp>
      <p:sp>
        <p:nvSpPr>
          <p:cNvPr id="9" name="text_658"/>
          <p:cNvSpPr txBox="1"/>
          <p:nvPr/>
        </p:nvSpPr>
        <p:spPr>
          <a:xfrm>
            <a:off x="8458200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도구를 부르지 않고 안내만 하면 체크포인트 4-2 통과</a:t>
            </a:r>
            <a:endParaRPr lang="ko-KR" altLang="en-US" sz="1500" dirty="0"/>
          </a:p>
        </p:txBody>
      </p:sp>
      <p:sp>
        <p:nvSpPr>
          <p:cNvPr id="10" name="box_659"/>
          <p:cNvSpPr/>
          <p:nvPr/>
        </p:nvSpPr>
        <p:spPr>
          <a:xfrm>
            <a:off x="8229600" y="3840480"/>
            <a:ext cx="33832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bg_660"/>
          <p:cNvSpPr/>
          <p:nvPr/>
        </p:nvSpPr>
        <p:spPr>
          <a:xfrm>
            <a:off x="8458200" y="4069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_661" descr="DollarSign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8901" y="4189781"/>
            <a:ext cx="307238" cy="307238"/>
          </a:xfrm>
          <a:prstGeom prst="rect">
            <a:avLst/>
          </a:prstGeom>
        </p:spPr>
      </p:pic>
      <p:sp>
        <p:nvSpPr>
          <p:cNvPr id="13" name="text_662"/>
          <p:cNvSpPr txBox="1"/>
          <p:nvPr/>
        </p:nvSpPr>
        <p:spPr>
          <a:xfrm>
            <a:off x="9189720" y="4041648"/>
            <a:ext cx="21945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비용</a:t>
            </a:r>
            <a:endParaRPr lang="ko-KR" altLang="en-US" sz="1800" dirty="0"/>
          </a:p>
        </p:txBody>
      </p:sp>
      <p:sp>
        <p:nvSpPr>
          <p:cNvPr id="14" name="text_663"/>
          <p:cNvSpPr txBox="1"/>
          <p:nvPr/>
        </p:nvSpPr>
        <p:spPr>
          <a:xfrm>
            <a:off x="8458200" y="4709160"/>
            <a:ext cx="29260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입력 $4 · 출력 $20 / 100만 토큰. ask가 명령마다 출력</a:t>
            </a:r>
            <a:endParaRPr lang="ko-KR" alt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45</a:t>
            </a:fld>
            <a:endParaRPr lang="ko-KR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웹 대시보드와 데이터 흐름</a:t>
            </a:r>
            <a:endParaRPr lang="ko-KR" altLang="en-US" sz="3200" dirty="0"/>
          </a:p>
        </p:txBody>
      </p:sp>
      <p:pic>
        <p:nvPicPr>
          <p:cNvPr id="3" name="img_664" descr="웹 대시보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4276"/>
            <a:ext cx="5120640" cy="3898087"/>
          </a:xfrm>
          <a:prstGeom prst="rect">
            <a:avLst/>
          </a:prstGeom>
        </p:spPr>
      </p:pic>
      <p:sp>
        <p:nvSpPr>
          <p:cNvPr id="4" name="box_665"/>
          <p:cNvSpPr/>
          <p:nvPr/>
        </p:nvSpPr>
        <p:spPr>
          <a:xfrm>
            <a:off x="6035040" y="1371600"/>
            <a:ext cx="5577840" cy="822960"/>
          </a:xfrm>
          <a:prstGeom prst="roundRect">
            <a:avLst>
              <a:gd name="adj" fmla="val 888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_666"/>
          <p:cNvSpPr txBox="1"/>
          <p:nvPr/>
        </p:nvSpPr>
        <p:spPr>
          <a:xfrm>
            <a:off x="6035040" y="1371600"/>
            <a:ext cx="55778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브라우저 (index.html)  http://localhost:8080</a:t>
            </a:r>
            <a:endParaRPr lang="ko-KR" altLang="en-US" sz="1500" dirty="0"/>
          </a:p>
        </p:txBody>
      </p:sp>
      <p:sp>
        <p:nvSpPr>
          <p:cNvPr id="6" name="arrow_667"/>
          <p:cNvSpPr/>
          <p:nvPr/>
        </p:nvSpPr>
        <p:spPr>
          <a:xfrm>
            <a:off x="8823960" y="2240280"/>
            <a:ext cx="0" cy="4114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text_668"/>
          <p:cNvSpPr txBox="1"/>
          <p:nvPr/>
        </p:nvSpPr>
        <p:spPr>
          <a:xfrm>
            <a:off x="8961120" y="2240280"/>
            <a:ext cx="26517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200" dirty="0">
                <a:solidFill>
                  <a:schemeClr val="tx2"/>
                </a:solidFill>
              </a:rPr>
              <a:t>WebSocket :9090 · rosbridge v2 JSON</a:t>
            </a:r>
            <a:endParaRPr lang="ko-KR" altLang="en-US" sz="1200" dirty="0"/>
          </a:p>
        </p:txBody>
      </p:sp>
      <p:sp>
        <p:nvSpPr>
          <p:cNvPr id="8" name="box_669"/>
          <p:cNvSpPr/>
          <p:nvPr/>
        </p:nvSpPr>
        <p:spPr>
          <a:xfrm>
            <a:off x="6035040" y="2697480"/>
            <a:ext cx="5577840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_670"/>
          <p:cNvSpPr txBox="1"/>
          <p:nvPr/>
        </p:nvSpPr>
        <p:spPr>
          <a:xfrm>
            <a:off x="6035040" y="2697480"/>
            <a:ext cx="55778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chemeClr val="bg1"/>
                </a:solidFill>
              </a:rPr>
              <a:t>rosbridge_websocket</a:t>
            </a:r>
            <a:endParaRPr lang="ko-KR" altLang="en-US" sz="1600" dirty="0"/>
          </a:p>
        </p:txBody>
      </p:sp>
      <p:sp>
        <p:nvSpPr>
          <p:cNvPr id="10" name="arrow_671"/>
          <p:cNvSpPr/>
          <p:nvPr/>
        </p:nvSpPr>
        <p:spPr>
          <a:xfrm>
            <a:off x="8823960" y="3566160"/>
            <a:ext cx="0" cy="36576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graphicFrame>
        <p:nvGraphicFramePr>
          <p:cNvPr id="47" name="table_6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3977640"/>
          <a:ext cx="55778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011680"/>
              </a:tblGrid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300" b="1" dirty="0">
                          <a:solidFill>
                            <a:schemeClr val="bg1"/>
                          </a:solidFill>
                        </a:rPr>
                        <a:t>토픽</a:t>
                      </a:r>
                      <a:endParaRPr lang="ko-KR" alt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300" b="1" dirty="0">
                          <a:solidFill>
                            <a:schemeClr val="bg1"/>
                          </a:solidFill>
                        </a:rPr>
                        <a:t>방향</a:t>
                      </a:r>
                      <a:endParaRPr lang="ko-KR" alt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/task_command</a:t>
                      </a:r>
                      <a:endParaRPr lang="ko-KR" alt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→ task_planner</a:t>
                      </a:r>
                      <a:endParaRPr lang="ko-KR" alt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/task_status (JSON 이벤트)</a:t>
                      </a:r>
                      <a:endParaRPr lang="ko-KR" alt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← task_planner</a:t>
                      </a:r>
                      <a:endParaRPr lang="ko-KR" alt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/scan · /plan · 로봇 위치</a:t>
                      </a:r>
                      <a:endParaRPr lang="ko-KR" alt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← 브리지·Nav2</a:t>
                      </a:r>
                      <a:endParaRPr lang="ko-KR" alt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/aruco/debug_image/compressed</a:t>
                      </a:r>
                      <a:endParaRPr lang="ko-KR" alt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← 마커 검출</a:t>
                      </a:r>
                      <a:endParaRPr lang="ko-KR" alt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46</a:t>
            </a:fld>
            <a:endParaRPr lang="ko-KR" alt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프롬프트와 도구 고치기</a:t>
            </a:r>
            <a:endParaRPr lang="ko-KR" altLang="en-US" sz="3200" dirty="0"/>
          </a:p>
        </p:txBody>
      </p:sp>
      <p:sp>
        <p:nvSpPr>
          <p:cNvPr id="3" name="text_673"/>
          <p:cNvSpPr txBox="1"/>
          <p:nvPr/>
        </p:nvSpPr>
        <p:spPr>
          <a:xfrm>
            <a:off x="548640" y="1371600"/>
            <a:ext cx="6858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6-A. 되묻기 규칙 추가 (SYSTEM_PROMPT)</a:t>
            </a:r>
            <a:endParaRPr lang="ko-KR" altLang="en-US" sz="1800" dirty="0"/>
          </a:p>
        </p:txBody>
      </p:sp>
      <p:sp>
        <p:nvSpPr>
          <p:cNvPr id="4" name="box_674"/>
          <p:cNvSpPr/>
          <p:nvPr/>
        </p:nvSpPr>
        <p:spPr>
          <a:xfrm>
            <a:off x="548640" y="1920240"/>
            <a:ext cx="6858000" cy="14630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code_675"/>
          <p:cNvSpPr txBox="1"/>
          <p:nvPr/>
        </p:nvSpPr>
        <p:spPr>
          <a:xfrm>
            <a:off x="731520" y="2057400"/>
            <a:ext cx="6492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If the command does not say where to take the object,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 not guess: ask the person which table, in one short</a:t>
            </a:r>
            <a:endParaRPr lang="ko-KR" altLang="en-US" sz="1400" dirty="0"/>
          </a:p>
          <a:p>
            <a:pPr eaLnBrk="0" indent="0" marL="0">
              <a:spcAft>
                <a:spcPts val="200"/>
              </a:spcAft>
              <a:buNone/>
            </a:pPr>
            <a:r>
              <a:rPr lang="ko-KR" altLang="en-US" sz="1400" dirty="0">
                <a:solidFill>
                  <a:srgbClr val="E8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question, and do not call any tool.</a:t>
            </a:r>
            <a:endParaRPr lang="ko-KR" altLang="en-US" sz="1400" dirty="0"/>
          </a:p>
        </p:txBody>
      </p:sp>
      <p:sp>
        <p:nvSpPr>
          <p:cNvPr id="6" name="text_676"/>
          <p:cNvSpPr txBox="1"/>
          <p:nvPr/>
        </p:nvSpPr>
        <p:spPr>
          <a:xfrm>
            <a:off x="548640" y="3611880"/>
            <a:ext cx="6858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2"/>
                </a:solidFill>
              </a:rPr>
              <a:t>"빨간 상자 좀 옮겨 줘" → 질문하는가?</a:t>
            </a:r>
            <a:endParaRPr lang="ko-KR" altLang="en-US" sz="1600" dirty="0"/>
          </a:p>
          <a:p>
            <a:pPr eaLnBrk="0" indent="0" marL="0">
              <a:buNone/>
            </a:pPr>
            <a:r>
              <a:rPr lang="ko-KR" altLang="en-US" sz="1600" dirty="0">
                <a:solidFill>
                  <a:schemeClr val="tx2"/>
                </a:solidFill>
              </a:rPr>
              <a:t>그다음 "작업대로"만 보내면? → 명령마다 대화가 새로 시작돼 기억하지 못한다</a:t>
            </a:r>
            <a:endParaRPr lang="ko-KR" altLang="en-US" sz="1600" dirty="0"/>
          </a:p>
        </p:txBody>
      </p:sp>
      <p:sp>
        <p:nvSpPr>
          <p:cNvPr id="7" name="text_677"/>
          <p:cNvSpPr txBox="1"/>
          <p:nvPr/>
        </p:nvSpPr>
        <p:spPr>
          <a:xfrm>
            <a:off x="548640" y="5120640"/>
            <a:ext cx="6858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빌드 불필요: --symlink-install, bringup만 다시 시작</a:t>
            </a:r>
            <a:endParaRPr lang="ko-KR" altLang="en-US" sz="1500" dirty="0"/>
          </a:p>
        </p:txBody>
      </p:sp>
      <p:sp>
        <p:nvSpPr>
          <p:cNvPr id="8" name="box_678"/>
          <p:cNvSpPr/>
          <p:nvPr/>
        </p:nvSpPr>
        <p:spPr>
          <a:xfrm>
            <a:off x="7772400" y="1371600"/>
            <a:ext cx="3840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_679"/>
          <p:cNvSpPr txBox="1"/>
          <p:nvPr/>
        </p:nvSpPr>
        <p:spPr>
          <a:xfrm>
            <a:off x="8001000" y="1572768"/>
            <a:ext cx="33832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도전 1. 대화 이어 가기</a:t>
            </a:r>
            <a:endParaRPr lang="ko-KR" altLang="en-US" sz="1600" dirty="0"/>
          </a:p>
        </p:txBody>
      </p:sp>
      <p:sp>
        <p:nvSpPr>
          <p:cNvPr id="10" name="text_680"/>
          <p:cNvSpPr txBox="1"/>
          <p:nvPr/>
        </p:nvSpPr>
        <p:spPr>
          <a:xfrm>
            <a:off x="8001000" y="2240280"/>
            <a:ext cx="33832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최근 명령·답을 다음 명령에</a:t>
            </a:r>
            <a:endParaRPr lang="ko-KR" altLang="en-US" sz="1400" dirty="0"/>
          </a:p>
        </p:txBody>
      </p:sp>
      <p:sp>
        <p:nvSpPr>
          <p:cNvPr id="11" name="box_681"/>
          <p:cNvSpPr/>
          <p:nvPr/>
        </p:nvSpPr>
        <p:spPr>
          <a:xfrm>
            <a:off x="7772400" y="2971800"/>
            <a:ext cx="3840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_682"/>
          <p:cNvSpPr txBox="1"/>
          <p:nvPr/>
        </p:nvSpPr>
        <p:spPr>
          <a:xfrm>
            <a:off x="8001000" y="3172968"/>
            <a:ext cx="33832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도전 2. drive_forward</a:t>
            </a:r>
            <a:endParaRPr lang="ko-KR" altLang="en-US" sz="1600" dirty="0"/>
          </a:p>
        </p:txBody>
      </p:sp>
      <p:sp>
        <p:nvSpPr>
          <p:cNvPr id="13" name="text_683"/>
          <p:cNvSpPr txBox="1"/>
          <p:nvPr/>
        </p:nvSpPr>
        <p:spPr>
          <a:xfrm>
            <a:off x="8001000" y="3840480"/>
            <a:ext cx="33832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−0.5~0.5 m, 월드 검증 포함</a:t>
            </a:r>
            <a:endParaRPr lang="ko-KR" altLang="en-US" sz="1400" dirty="0"/>
          </a:p>
        </p:txBody>
      </p:sp>
      <p:sp>
        <p:nvSpPr>
          <p:cNvPr id="14" name="box_684"/>
          <p:cNvSpPr/>
          <p:nvPr/>
        </p:nvSpPr>
        <p:spPr>
          <a:xfrm>
            <a:off x="7772400" y="4572000"/>
            <a:ext cx="3840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_685"/>
          <p:cNvSpPr txBox="1"/>
          <p:nvPr/>
        </p:nvSpPr>
        <p:spPr>
          <a:xfrm>
            <a:off x="8001000" y="4773168"/>
            <a:ext cx="33832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600" b="1" dirty="0">
                <a:solidFill>
                  <a:schemeClr val="tx1"/>
                </a:solidFill>
              </a:rPr>
              <a:t>도전 3. 비용 줄이기</a:t>
            </a:r>
            <a:endParaRPr lang="ko-KR" altLang="en-US" sz="1600" dirty="0"/>
          </a:p>
        </p:txBody>
      </p:sp>
      <p:sp>
        <p:nvSpPr>
          <p:cNvPr id="16" name="text_686"/>
          <p:cNvSpPr txBox="1"/>
          <p:nvPr/>
        </p:nvSpPr>
        <p:spPr>
          <a:xfrm>
            <a:off x="8001000" y="5440680"/>
            <a:ext cx="33832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400" dirty="0">
                <a:solidFill>
                  <a:schemeClr val="tx1"/>
                </a:solidFill>
              </a:rPr>
              <a:t>prompt caching 전후 비교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47</a:t>
            </a:fld>
            <a:endParaRPr lang="ko-KR" alt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최종 미션</a:t>
            </a:r>
            <a:endParaRPr lang="ko-KR" altLang="en-US" sz="3200" dirty="0"/>
          </a:p>
        </p:txBody>
      </p:sp>
      <p:sp>
        <p:nvSpPr>
          <p:cNvPr id="3" name="box_687"/>
          <p:cNvSpPr/>
          <p:nvPr/>
        </p:nvSpPr>
        <p:spPr>
          <a:xfrm>
            <a:off x="548640" y="1371600"/>
            <a:ext cx="11064240" cy="1737360"/>
          </a:xfrm>
          <a:prstGeom prst="roundRect">
            <a:avLst>
              <a:gd name="adj" fmla="val 42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iconbg_688"/>
          <p:cNvSpPr/>
          <p:nvPr/>
        </p:nvSpPr>
        <p:spPr>
          <a:xfrm>
            <a:off x="914400" y="1737360"/>
            <a:ext cx="1005840" cy="1005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_689" descr="FlagCheckered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5" y="1958645"/>
            <a:ext cx="563270" cy="563270"/>
          </a:xfrm>
          <a:prstGeom prst="rect">
            <a:avLst/>
          </a:prstGeom>
        </p:spPr>
      </p:pic>
      <p:sp>
        <p:nvSpPr>
          <p:cNvPr id="6" name="text_690"/>
          <p:cNvSpPr txBox="1"/>
          <p:nvPr/>
        </p:nvSpPr>
        <p:spPr>
          <a:xfrm>
            <a:off x="2194560" y="1371600"/>
            <a:ext cx="91440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2600" b="1" dirty="0">
                <a:solidFill>
                  <a:schemeClr val="bg1"/>
                </a:solidFill>
              </a:rPr>
              <a:t>"공급 테이블로 가서 빨간 상자를 집고 작업대로 옮겨"</a:t>
            </a:r>
            <a:endParaRPr lang="ko-KR" altLang="en-US" sz="2600" dirty="0"/>
          </a:p>
        </p:txBody>
      </p:sp>
      <p:sp>
        <p:nvSpPr>
          <p:cNvPr id="7" name="box_691"/>
          <p:cNvSpPr/>
          <p:nvPr/>
        </p:nvSpPr>
        <p:spPr>
          <a:xfrm>
            <a:off x="548640" y="3429000"/>
            <a:ext cx="3520440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_692"/>
          <p:cNvSpPr txBox="1"/>
          <p:nvPr/>
        </p:nvSpPr>
        <p:spPr>
          <a:xfrm>
            <a:off x="822960" y="3611880"/>
            <a:ext cx="30175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b="1" dirty="0">
                <a:solidFill>
                  <a:schemeClr val="tx2"/>
                </a:solidFill>
              </a:rPr>
              <a:t>위치</a:t>
            </a:r>
            <a:endParaRPr lang="ko-KR" altLang="en-US" sz="1600" dirty="0"/>
          </a:p>
        </p:txBody>
      </p:sp>
      <p:sp>
        <p:nvSpPr>
          <p:cNvPr id="9" name="text_693"/>
          <p:cNvSpPr txBox="1"/>
          <p:nvPr/>
        </p:nvSpPr>
        <p:spPr>
          <a:xfrm>
            <a:off x="82296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3600" b="1" dirty="0">
                <a:solidFill>
                  <a:schemeClr val="accent1"/>
                </a:solidFill>
              </a:rPr>
              <a:t>마커 3 위</a:t>
            </a:r>
            <a:endParaRPr lang="ko-KR" altLang="en-US" sz="3600" dirty="0"/>
          </a:p>
        </p:txBody>
      </p:sp>
      <p:sp>
        <p:nvSpPr>
          <p:cNvPr id="10" name="text_694"/>
          <p:cNvSpPr txBox="1"/>
          <p:nvPr/>
        </p:nvSpPr>
        <p:spPr>
          <a:xfrm>
            <a:off x="822960" y="5029200"/>
            <a:ext cx="30175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대시보드 지도 · MuJoCo 화면</a:t>
            </a:r>
            <a:endParaRPr lang="ko-KR" altLang="en-US" sz="1500" dirty="0"/>
          </a:p>
        </p:txBody>
      </p:sp>
      <p:sp>
        <p:nvSpPr>
          <p:cNvPr id="11" name="box_695"/>
          <p:cNvSpPr/>
          <p:nvPr/>
        </p:nvSpPr>
        <p:spPr>
          <a:xfrm>
            <a:off x="4297680" y="3429000"/>
            <a:ext cx="3520440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_696"/>
          <p:cNvSpPr txBox="1"/>
          <p:nvPr/>
        </p:nvSpPr>
        <p:spPr>
          <a:xfrm>
            <a:off x="4572000" y="3611880"/>
            <a:ext cx="30175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b="1" dirty="0">
                <a:solidFill>
                  <a:schemeClr val="tx2"/>
                </a:solidFill>
              </a:rPr>
              <a:t>개입</a:t>
            </a:r>
            <a:endParaRPr lang="ko-KR" altLang="en-US" sz="1600" dirty="0"/>
          </a:p>
        </p:txBody>
      </p:sp>
      <p:sp>
        <p:nvSpPr>
          <p:cNvPr id="13" name="text_697"/>
          <p:cNvSpPr txBox="1"/>
          <p:nvPr/>
        </p:nvSpPr>
        <p:spPr>
          <a:xfrm>
            <a:off x="457200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3600" b="1" dirty="0">
                <a:solidFill>
                  <a:schemeClr val="accent1"/>
                </a:solidFill>
              </a:rPr>
              <a:t>0번</a:t>
            </a:r>
            <a:endParaRPr lang="ko-KR" altLang="en-US" sz="3600" dirty="0"/>
          </a:p>
        </p:txBody>
      </p:sp>
      <p:sp>
        <p:nvSpPr>
          <p:cNvPr id="14" name="text_698"/>
          <p:cNvSpPr txBox="1"/>
          <p:nvPr/>
        </p:nvSpPr>
        <p:spPr>
          <a:xfrm>
            <a:off x="4572000" y="5029200"/>
            <a:ext cx="30175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취소·재명령 없이 한 문장으로</a:t>
            </a:r>
            <a:endParaRPr lang="ko-KR" altLang="en-US" sz="1500" dirty="0"/>
          </a:p>
        </p:txBody>
      </p:sp>
      <p:sp>
        <p:nvSpPr>
          <p:cNvPr id="15" name="box_699"/>
          <p:cNvSpPr/>
          <p:nvPr/>
        </p:nvSpPr>
        <p:spPr>
          <a:xfrm>
            <a:off x="8046720" y="3429000"/>
            <a:ext cx="3520440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_700"/>
          <p:cNvSpPr txBox="1"/>
          <p:nvPr/>
        </p:nvSpPr>
        <p:spPr>
          <a:xfrm>
            <a:off x="8321040" y="3611880"/>
            <a:ext cx="30175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b="1" dirty="0">
                <a:solidFill>
                  <a:schemeClr val="tx2"/>
                </a:solidFill>
              </a:rPr>
              <a:t>시간</a:t>
            </a:r>
            <a:endParaRPr lang="ko-KR" altLang="en-US" sz="1600" dirty="0"/>
          </a:p>
        </p:txBody>
      </p:sp>
      <p:sp>
        <p:nvSpPr>
          <p:cNvPr id="17" name="text_701"/>
          <p:cNvSpPr txBox="1"/>
          <p:nvPr/>
        </p:nvSpPr>
        <p:spPr>
          <a:xfrm>
            <a:off x="832104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3600" b="1" dirty="0">
                <a:solidFill>
                  <a:schemeClr val="accent1"/>
                </a:solidFill>
              </a:rPr>
              <a:t>3분 이내</a:t>
            </a:r>
            <a:endParaRPr lang="ko-KR" altLang="en-US" sz="3600" dirty="0"/>
          </a:p>
        </p:txBody>
      </p:sp>
      <p:sp>
        <p:nvSpPr>
          <p:cNvPr id="18" name="text_702"/>
          <p:cNvSpPr txBox="1"/>
          <p:nvPr/>
        </p:nvSpPr>
        <p:spPr>
          <a:xfrm>
            <a:off x="8321040" y="5029200"/>
            <a:ext cx="30175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타임라인 총 시간</a:t>
            </a:r>
            <a:endParaRPr lang="ko-KR" alt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48</a:t>
            </a:fld>
            <a:endParaRPr lang="ko-KR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추가 미션 (조별 경쟁)</a:t>
            </a:r>
            <a:endParaRPr lang="ko-KR" altLang="en-US" sz="3200" dirty="0"/>
          </a:p>
        </p:txBody>
      </p:sp>
      <p:sp>
        <p:nvSpPr>
          <p:cNvPr id="3" name="box_703"/>
          <p:cNvSpPr/>
          <p:nvPr/>
        </p:nvSpPr>
        <p:spPr>
          <a:xfrm>
            <a:off x="548640" y="1371600"/>
            <a:ext cx="352044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bg_704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con_705" descr="Undo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720901"/>
            <a:ext cx="307238" cy="307238"/>
          </a:xfrm>
          <a:prstGeom prst="rect">
            <a:avLst/>
          </a:prstGeom>
        </p:spPr>
      </p:pic>
      <p:sp>
        <p:nvSpPr>
          <p:cNvPr id="6" name="text_706"/>
          <p:cNvSpPr txBox="1"/>
          <p:nvPr/>
        </p:nvSpPr>
        <p:spPr>
          <a:xfrm>
            <a:off x="1508760" y="1572768"/>
            <a:ext cx="23317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왕복</a:t>
            </a:r>
            <a:endParaRPr lang="ko-KR" altLang="en-US" sz="1800" dirty="0"/>
          </a:p>
        </p:txBody>
      </p:sp>
      <p:sp>
        <p:nvSpPr>
          <p:cNvPr id="7" name="text_707"/>
          <p:cNvSpPr txBox="1"/>
          <p:nvPr/>
        </p:nvSpPr>
        <p:spPr>
          <a:xfrm>
            <a:off x="777240" y="2240280"/>
            <a:ext cx="306324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"상자를 원래 자리에 갖다 놓고 처음 위치로 돌아와"</a:t>
            </a:r>
            <a:endParaRPr lang="ko-KR" altLang="en-US" sz="1500" dirty="0"/>
          </a:p>
          <a:p>
            <a:pPr eaLnBrk="0" indent="0" marL="0">
              <a:buNone/>
            </a:pPr>
            <a:endParaRPr lang="ko-KR" altLang="en-US" sz="1500" dirty="0"/>
          </a:p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한 문장으로 세 단계</a:t>
            </a:r>
            <a:endParaRPr lang="ko-KR" altLang="en-US" sz="1500" dirty="0"/>
          </a:p>
        </p:txBody>
      </p:sp>
      <p:sp>
        <p:nvSpPr>
          <p:cNvPr id="8" name="box_708"/>
          <p:cNvSpPr/>
          <p:nvPr/>
        </p:nvSpPr>
        <p:spPr>
          <a:xfrm>
            <a:off x="4325112" y="1371600"/>
            <a:ext cx="352044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bg_709"/>
          <p:cNvSpPr/>
          <p:nvPr/>
        </p:nvSpPr>
        <p:spPr>
          <a:xfrm>
            <a:off x="4553712" y="1600200"/>
            <a:ext cx="548640" cy="54864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0" name="icon_710" descr="StopCircle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413" y="1720901"/>
            <a:ext cx="307238" cy="307238"/>
          </a:xfrm>
          <a:prstGeom prst="rect">
            <a:avLst/>
          </a:prstGeom>
        </p:spPr>
      </p:pic>
      <p:sp>
        <p:nvSpPr>
          <p:cNvPr id="11" name="text_711"/>
          <p:cNvSpPr txBox="1"/>
          <p:nvPr/>
        </p:nvSpPr>
        <p:spPr>
          <a:xfrm>
            <a:off x="5285232" y="1572768"/>
            <a:ext cx="23317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복구</a:t>
            </a:r>
            <a:endParaRPr lang="ko-KR" altLang="en-US" sz="1800" dirty="0"/>
          </a:p>
        </p:txBody>
      </p:sp>
      <p:sp>
        <p:nvSpPr>
          <p:cNvPr id="12" name="text_712"/>
          <p:cNvSpPr txBox="1"/>
          <p:nvPr/>
        </p:nvSpPr>
        <p:spPr>
          <a:xfrm>
            <a:off x="4553712" y="2240280"/>
            <a:ext cx="306324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주행 중 작업 취소 → "하던 일 계속해" 한 문장으로 마무리시키기</a:t>
            </a:r>
            <a:endParaRPr lang="ko-KR" altLang="en-US" sz="1500" dirty="0"/>
          </a:p>
          <a:p>
            <a:pPr eaLnBrk="0" indent="0" marL="0">
              <a:buNone/>
            </a:pPr>
            <a:endParaRPr lang="ko-KR" altLang="en-US" sz="1500" dirty="0"/>
          </a:p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프롬프트를 어떻게 고칠까?</a:t>
            </a:r>
            <a:endParaRPr lang="ko-KR" altLang="en-US" sz="1500" dirty="0"/>
          </a:p>
        </p:txBody>
      </p:sp>
      <p:sp>
        <p:nvSpPr>
          <p:cNvPr id="13" name="box_713"/>
          <p:cNvSpPr/>
          <p:nvPr/>
        </p:nvSpPr>
        <p:spPr>
          <a:xfrm>
            <a:off x="8092440" y="1371600"/>
            <a:ext cx="352044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bg_714"/>
          <p:cNvSpPr/>
          <p:nvPr/>
        </p:nvSpPr>
        <p:spPr>
          <a:xfrm>
            <a:off x="832104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_715" descr="Wrench 아이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1741" y="1720901"/>
            <a:ext cx="307238" cy="307238"/>
          </a:xfrm>
          <a:prstGeom prst="rect">
            <a:avLst/>
          </a:prstGeom>
        </p:spPr>
      </p:pic>
      <p:sp>
        <p:nvSpPr>
          <p:cNvPr id="16" name="text_716"/>
          <p:cNvSpPr txBox="1"/>
          <p:nvPr/>
        </p:nvSpPr>
        <p:spPr>
          <a:xfrm>
            <a:off x="9052560" y="1572768"/>
            <a:ext cx="23317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새 도구</a:t>
            </a:r>
            <a:endParaRPr lang="ko-KR" altLang="en-US" sz="1800" dirty="0"/>
          </a:p>
        </p:txBody>
      </p:sp>
      <p:sp>
        <p:nvSpPr>
          <p:cNvPr id="17" name="text_717"/>
          <p:cNvSpPr txBox="1"/>
          <p:nvPr/>
        </p:nvSpPr>
        <p:spPr>
          <a:xfrm>
            <a:off x="8321040" y="2240280"/>
            <a:ext cx="306324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도전 2의 drive_forward를 추가하고 그것을 쓰는 명령 만들기</a:t>
            </a:r>
            <a:endParaRPr lang="ko-KR" altLang="en-US" sz="1500" dirty="0"/>
          </a:p>
        </p:txBody>
      </p:sp>
      <p:sp>
        <p:nvSpPr>
          <p:cNvPr id="18" name="text_718"/>
          <p:cNvSpPr txBox="1"/>
          <p:nvPr/>
        </p:nvSpPr>
        <p:spPr>
          <a:xfrm>
            <a:off x="548640" y="4754880"/>
            <a:ext cx="11064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2"/>
                </a:solidFill>
              </a:rPr>
              <a:t>조마다 성공한 미션 수와 걸린 시간을 칠판에 적는다</a:t>
            </a:r>
            <a:endParaRPr lang="ko-KR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49</a:t>
            </a:fld>
            <a:endParaRPr lang="ko-KR" alt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2일 동안 만든 것</a:t>
            </a:r>
            <a:endParaRPr lang="ko-KR" altLang="en-US" sz="3200" dirty="0"/>
          </a:p>
        </p:txBody>
      </p:sp>
      <p:sp>
        <p:nvSpPr>
          <p:cNvPr id="3" name="pill_719"/>
          <p:cNvSpPr/>
          <p:nvPr/>
        </p:nvSpPr>
        <p:spPr>
          <a:xfrm>
            <a:off x="548640" y="1618488"/>
            <a:ext cx="137160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_720"/>
          <p:cNvSpPr txBox="1"/>
          <p:nvPr/>
        </p:nvSpPr>
        <p:spPr>
          <a:xfrm>
            <a:off x="548640" y="16184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chemeClr val="bg1"/>
                </a:solidFill>
              </a:rPr>
              <a:t>모듈 1</a:t>
            </a:r>
            <a:endParaRPr lang="ko-KR" altLang="en-US" sz="1300" dirty="0"/>
          </a:p>
        </p:txBody>
      </p:sp>
      <p:sp>
        <p:nvSpPr>
          <p:cNvPr id="5" name="box_721"/>
          <p:cNvSpPr/>
          <p:nvPr/>
        </p:nvSpPr>
        <p:spPr>
          <a:xfrm>
            <a:off x="2194560" y="1371600"/>
            <a:ext cx="94183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_722"/>
          <p:cNvSpPr txBox="1"/>
          <p:nvPr/>
        </p:nvSpPr>
        <p:spPr>
          <a:xfrm>
            <a:off x="2423160" y="1371600"/>
            <a:ext cx="90525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직접 만든 MuJoCo ↔ ROS 2 브리지: 시간, 센서, 명령</a:t>
            </a:r>
            <a:endParaRPr lang="ko-KR" altLang="en-US" sz="1800" dirty="0"/>
          </a:p>
        </p:txBody>
      </p:sp>
      <p:sp>
        <p:nvSpPr>
          <p:cNvPr id="7" name="pill_723"/>
          <p:cNvSpPr/>
          <p:nvPr/>
        </p:nvSpPr>
        <p:spPr>
          <a:xfrm>
            <a:off x="548640" y="2670048"/>
            <a:ext cx="137160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_724"/>
          <p:cNvSpPr txBox="1"/>
          <p:nvPr/>
        </p:nvSpPr>
        <p:spPr>
          <a:xfrm>
            <a:off x="548640" y="267004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chemeClr val="bg1"/>
                </a:solidFill>
              </a:rPr>
              <a:t>모듈 2</a:t>
            </a:r>
            <a:endParaRPr lang="ko-KR" altLang="en-US" sz="1300" dirty="0"/>
          </a:p>
        </p:txBody>
      </p:sp>
      <p:sp>
        <p:nvSpPr>
          <p:cNvPr id="9" name="box_725"/>
          <p:cNvSpPr/>
          <p:nvPr/>
        </p:nvSpPr>
        <p:spPr>
          <a:xfrm>
            <a:off x="2194560" y="2423160"/>
            <a:ext cx="94183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_726"/>
          <p:cNvSpPr txBox="1"/>
          <p:nvPr/>
        </p:nvSpPr>
        <p:spPr>
          <a:xfrm>
            <a:off x="2423160" y="2423160"/>
            <a:ext cx="90525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SLAM 지도 + Nav2 자율주행, 지도에 없는 장애물 회피</a:t>
            </a:r>
            <a:endParaRPr lang="ko-KR" altLang="en-US" sz="1800" dirty="0"/>
          </a:p>
        </p:txBody>
      </p:sp>
      <p:sp>
        <p:nvSpPr>
          <p:cNvPr id="11" name="pill_727"/>
          <p:cNvSpPr/>
          <p:nvPr/>
        </p:nvSpPr>
        <p:spPr>
          <a:xfrm>
            <a:off x="548640" y="3721608"/>
            <a:ext cx="13716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_728"/>
          <p:cNvSpPr txBox="1"/>
          <p:nvPr/>
        </p:nvSpPr>
        <p:spPr>
          <a:xfrm>
            <a:off x="548640" y="37216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chemeClr val="bg1"/>
                </a:solidFill>
              </a:rPr>
              <a:t>모듈 3</a:t>
            </a:r>
            <a:endParaRPr lang="ko-KR" altLang="en-US" sz="1300" dirty="0"/>
          </a:p>
        </p:txBody>
      </p:sp>
      <p:sp>
        <p:nvSpPr>
          <p:cNvPr id="13" name="box_729"/>
          <p:cNvSpPr/>
          <p:nvPr/>
        </p:nvSpPr>
        <p:spPr>
          <a:xfrm>
            <a:off x="2194560" y="3474720"/>
            <a:ext cx="94183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_730"/>
          <p:cNvSpPr txBox="1"/>
          <p:nvPr/>
        </p:nvSpPr>
        <p:spPr>
          <a:xfrm>
            <a:off x="2423160" y="3474720"/>
            <a:ext cx="90525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MoveIt 2 양팔 + ArUco 정밀 접근 + Pick &amp; Place</a:t>
            </a:r>
            <a:endParaRPr lang="ko-KR" altLang="en-US" sz="1800" dirty="0"/>
          </a:p>
        </p:txBody>
      </p:sp>
      <p:sp>
        <p:nvSpPr>
          <p:cNvPr id="15" name="pill_731"/>
          <p:cNvSpPr/>
          <p:nvPr/>
        </p:nvSpPr>
        <p:spPr>
          <a:xfrm>
            <a:off x="548640" y="4773168"/>
            <a:ext cx="1371600" cy="32918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_732"/>
          <p:cNvSpPr txBox="1"/>
          <p:nvPr/>
        </p:nvSpPr>
        <p:spPr>
          <a:xfrm>
            <a:off x="548640" y="477316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chemeClr val="bg1"/>
                </a:solidFill>
              </a:rPr>
              <a:t>모듈 4</a:t>
            </a:r>
            <a:endParaRPr lang="ko-KR" altLang="en-US" sz="1300" dirty="0"/>
          </a:p>
        </p:txBody>
      </p:sp>
      <p:sp>
        <p:nvSpPr>
          <p:cNvPr id="17" name="box_733"/>
          <p:cNvSpPr/>
          <p:nvPr/>
        </p:nvSpPr>
        <p:spPr>
          <a:xfrm>
            <a:off x="2194560" y="4526280"/>
            <a:ext cx="94183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_734"/>
          <p:cNvSpPr txBox="1"/>
          <p:nvPr/>
        </p:nvSpPr>
        <p:spPr>
          <a:xfrm>
            <a:off x="2423160" y="4526280"/>
            <a:ext cx="90525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Claude 도구 호출 계획기 + 검증 + 웹 대시보드</a:t>
            </a:r>
            <a:endParaRPr lang="ko-KR" altLang="en-US" sz="1800" dirty="0"/>
          </a:p>
        </p:txBody>
      </p:sp>
      <p:sp>
        <p:nvSpPr>
          <p:cNvPr id="19" name="text_735"/>
          <p:cNvSpPr txBox="1"/>
          <p:nvPr/>
        </p:nvSpPr>
        <p:spPr>
          <a:xfrm>
            <a:off x="548640" y="5669280"/>
            <a:ext cx="1106424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2"/>
                </a:solidFill>
              </a:rPr>
              <a:t>위층은 아래층을 믿고 만들었다 → 실제 로봇에서는 맨 아래 층만 실제 드라이버로 바뀐다</a:t>
            </a:r>
            <a:endParaRPr lang="ko-KR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50</a:t>
            </a:fld>
            <a:endParaRPr lang="ko-KR" alt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chemeClr val="tx1"/>
                </a:solidFill>
              </a:rPr>
              <a:t>수료와 과제 제출</a:t>
            </a:r>
            <a:endParaRPr lang="ko-KR" altLang="en-US" sz="3200" dirty="0"/>
          </a:p>
        </p:txBody>
      </p:sp>
      <p:sp>
        <p:nvSpPr>
          <p:cNvPr id="3" name="box_736"/>
          <p:cNvSpPr/>
          <p:nvPr/>
        </p:nvSpPr>
        <p:spPr>
          <a:xfrm>
            <a:off x="548640" y="1371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bg_737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con_738" descr="CheckCircle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720901"/>
            <a:ext cx="307238" cy="307238"/>
          </a:xfrm>
          <a:prstGeom prst="rect">
            <a:avLst/>
          </a:prstGeom>
        </p:spPr>
      </p:pic>
      <p:sp>
        <p:nvSpPr>
          <p:cNvPr id="6" name="text_739"/>
          <p:cNvSpPr txBox="1"/>
          <p:nvPr/>
        </p:nvSpPr>
        <p:spPr>
          <a:xfrm>
            <a:off x="1508760" y="1572768"/>
            <a:ext cx="23317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체크포인트</a:t>
            </a:r>
            <a:endParaRPr lang="ko-KR" altLang="en-US" sz="1800" dirty="0"/>
          </a:p>
        </p:txBody>
      </p:sp>
      <p:sp>
        <p:nvSpPr>
          <p:cNvPr id="7" name="text_740"/>
          <p:cNvSpPr txBox="1"/>
          <p:nvPr/>
        </p:nvSpPr>
        <p:spPr>
          <a:xfrm>
            <a:off x="777240" y="2240280"/>
            <a:ext cx="30632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모듈 1~4의 ✅ 모두 통과</a:t>
            </a:r>
            <a:endParaRPr lang="ko-KR" altLang="en-US" sz="1500" dirty="0"/>
          </a:p>
        </p:txBody>
      </p:sp>
      <p:sp>
        <p:nvSpPr>
          <p:cNvPr id="8" name="box_741"/>
          <p:cNvSpPr/>
          <p:nvPr/>
        </p:nvSpPr>
        <p:spPr>
          <a:xfrm>
            <a:off x="4325112" y="1371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bg_742"/>
          <p:cNvSpPr/>
          <p:nvPr/>
        </p:nvSpPr>
        <p:spPr>
          <a:xfrm>
            <a:off x="4553712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_743" descr="FlagCheckered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413" y="1720901"/>
            <a:ext cx="307238" cy="307238"/>
          </a:xfrm>
          <a:prstGeom prst="rect">
            <a:avLst/>
          </a:prstGeom>
        </p:spPr>
      </p:pic>
      <p:sp>
        <p:nvSpPr>
          <p:cNvPr id="11" name="text_744"/>
          <p:cNvSpPr txBox="1"/>
          <p:nvPr/>
        </p:nvSpPr>
        <p:spPr>
          <a:xfrm>
            <a:off x="5285232" y="1572768"/>
            <a:ext cx="23317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최종 미션</a:t>
            </a:r>
            <a:endParaRPr lang="ko-KR" altLang="en-US" sz="1800" dirty="0"/>
          </a:p>
        </p:txBody>
      </p:sp>
      <p:sp>
        <p:nvSpPr>
          <p:cNvPr id="12" name="text_745"/>
          <p:cNvSpPr txBox="1"/>
          <p:nvPr/>
        </p:nvSpPr>
        <p:spPr>
          <a:xfrm>
            <a:off x="4553712" y="2240280"/>
            <a:ext cx="30632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자연어 한 문장으로 상자 옮기기 성공</a:t>
            </a:r>
            <a:endParaRPr lang="ko-KR" altLang="en-US" sz="1500" dirty="0"/>
          </a:p>
        </p:txBody>
      </p:sp>
      <p:sp>
        <p:nvSpPr>
          <p:cNvPr id="13" name="box_746"/>
          <p:cNvSpPr/>
          <p:nvPr/>
        </p:nvSpPr>
        <p:spPr>
          <a:xfrm>
            <a:off x="8092440" y="1371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bg_747"/>
          <p:cNvSpPr/>
          <p:nvPr/>
        </p:nvSpPr>
        <p:spPr>
          <a:xfrm>
            <a:off x="8321040" y="1600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con_748" descr="Book 아이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1741" y="1720901"/>
            <a:ext cx="307238" cy="307238"/>
          </a:xfrm>
          <a:prstGeom prst="rect">
            <a:avLst/>
          </a:prstGeom>
        </p:spPr>
      </p:pic>
      <p:sp>
        <p:nvSpPr>
          <p:cNvPr id="16" name="text_749"/>
          <p:cNvSpPr txBox="1"/>
          <p:nvPr/>
        </p:nvSpPr>
        <p:spPr>
          <a:xfrm>
            <a:off x="9052560" y="1572768"/>
            <a:ext cx="23317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과제 1개 이상</a:t>
            </a:r>
            <a:endParaRPr lang="ko-KR" altLang="en-US" sz="1800" dirty="0"/>
          </a:p>
        </p:txBody>
      </p:sp>
      <p:sp>
        <p:nvSpPr>
          <p:cNvPr id="17" name="text_750"/>
          <p:cNvSpPr txBox="1"/>
          <p:nvPr/>
        </p:nvSpPr>
        <p:spPr>
          <a:xfrm>
            <a:off x="8321040" y="2240280"/>
            <a:ext cx="30632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500" dirty="0">
                <a:solidFill>
                  <a:schemeClr val="tx1"/>
                </a:solidFill>
              </a:rPr>
              <a:t>기본 또는 도전 과제. 스크린샷 + 짧은 설명</a:t>
            </a:r>
            <a:endParaRPr lang="ko-KR" altLang="en-US" sz="1500" dirty="0"/>
          </a:p>
        </p:txBody>
      </p:sp>
      <p:sp>
        <p:nvSpPr>
          <p:cNvPr id="18" name="box_751"/>
          <p:cNvSpPr/>
          <p:nvPr/>
        </p:nvSpPr>
        <p:spPr>
          <a:xfrm>
            <a:off x="548640" y="3657600"/>
            <a:ext cx="110642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_752"/>
          <p:cNvSpPr txBox="1"/>
          <p:nvPr/>
        </p:nvSpPr>
        <p:spPr>
          <a:xfrm>
            <a:off x="822960" y="3794760"/>
            <a:ext cx="10515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800" b="1" dirty="0">
                <a:solidFill>
                  <a:schemeClr val="tx1"/>
                </a:solidFill>
              </a:rPr>
              <a:t>자료는 저장소의 workshop/ 폴더에</a:t>
            </a:r>
            <a:endParaRPr lang="ko-KR" altLang="en-US" sz="1800" dirty="0"/>
          </a:p>
        </p:txBody>
      </p:sp>
      <p:sp>
        <p:nvSpPr>
          <p:cNvPr id="20" name="text_753"/>
          <p:cNvSpPr txBox="1"/>
          <p:nvPr/>
        </p:nvSpPr>
        <p:spPr>
          <a:xfrm>
            <a:off x="822960" y="4297680"/>
            <a:ext cx="10515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indent="0" marL="0">
              <a:buNone/>
            </a:pPr>
            <a:r>
              <a:rPr lang="ko-KR" altLang="en-US" sz="1600" dirty="0">
                <a:solidFill>
                  <a:schemeClr val="tx2"/>
                </a:solidFill>
              </a:rPr>
              <a:t>00_install.md · 01~04 모듈 교재 · troubleshooting.md · instructor_guide.md</a:t>
            </a:r>
            <a:endParaRPr lang="ko-KR" altLang="en-US" sz="1600" dirty="0"/>
          </a:p>
          <a:p>
            <a:pPr eaLnBrk="0" indent="0" marL="0">
              <a:buNone/>
            </a:pPr>
            <a:r>
              <a:rPr lang="ko-KR" altLang="en-US" sz="1600" dirty="0">
                <a:solidFill>
                  <a:schemeClr val="tx2"/>
                </a:solidFill>
              </a:rPr>
              <a:t>강습회가 끝난 뒤 API 키는 Console에서 삭제, WSL 삭제는 설치 가이드 부록 B</a:t>
            </a:r>
            <a:endParaRPr lang="ko-KR" alt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51</a:t>
            </a:fld>
            <a:endParaRPr lang="ko-KR" alt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chemeClr val="bg1"/>
                </a:solidFill>
              </a:rPr>
              <a:t>질문과 토론</a:t>
            </a:r>
            <a:endParaRPr lang="ko-KR" alt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000" dirty="0">
                <a:solidFill>
                  <a:schemeClr val="accent5"/>
                </a:solidFill>
              </a:rPr>
              <a:t>이틀 동안 수고 많으셨습니다</a:t>
            </a:r>
            <a:endParaRPr lang="ko-KR" altLang="en-US" sz="2000" dirty="0"/>
          </a:p>
        </p:txBody>
      </p:sp>
      <p:sp>
        <p:nvSpPr>
          <p:cNvPr id="4" name="iconbg_754"/>
          <p:cNvSpPr/>
          <p:nvPr/>
        </p:nvSpPr>
        <p:spPr>
          <a:xfrm>
            <a:off x="9052560" y="2011680"/>
            <a:ext cx="2377440" cy="23774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_755" descr="Comments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75597" y="2534717"/>
            <a:ext cx="1331366" cy="133136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UNBOLT Workshop">
  <a:themeElements>
    <a:clrScheme name="UNBOLT Workshop">
      <a:dk1>
        <a:srgbClr val="1B2430"/>
      </a:dk1>
      <a:lt1>
        <a:srgbClr val="FFFFFF"/>
      </a:lt1>
      <a:dk2>
        <a:srgbClr val="4A5668"/>
      </a:dk2>
      <a:lt2>
        <a:srgbClr val="F1F3F6"/>
      </a:lt2>
      <a:accent1>
        <a:srgbClr val="F2711C"/>
      </a:accent1>
      <a:accent2>
        <a:srgbClr val="2A9D8F"/>
      </a:accent2>
      <a:accent3>
        <a:srgbClr val="3D5A80"/>
      </a:accent3>
      <a:accent4>
        <a:srgbClr val="E9C46A"/>
      </a:accent4>
      <a:accent5>
        <a:srgbClr val="C9D1DC"/>
      </a:accent5>
      <a:accent6>
        <a:srgbClr val="D62839"/>
      </a:accent6>
      <a:hlink>
        <a:srgbClr val="2A9D8F"/>
      </a:hlink>
      <a:folHlink>
        <a:srgbClr val="3D5A80"/>
      </a:folHlink>
    </a:clrScheme>
    <a:fontScheme name="UNBOLT Workshop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UNBOLT 강습회: ROS 2 + MuJoCo로 만드는 주행형 양팔로봇</dc:title>
  <dc:subject>PptxGenJS Presentation</dc:subject>
  <dc:creator>UNBOLT</dc:creator>
  <cp:lastModifiedBy>UNBOLT</cp:lastModifiedBy>
  <cp:revision>1</cp:revision>
  <dcterms:created xsi:type="dcterms:W3CDTF">2026-10-24T23:17:13Z</dcterms:created>
  <dcterms:modified xsi:type="dcterms:W3CDTF">2026-10-24T23:17:13Z</dcterms:modified>
</cp:coreProperties>
</file>